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13" r:id="rId2"/>
    <p:sldId id="369" r:id="rId3"/>
    <p:sldId id="372" r:id="rId4"/>
    <p:sldId id="373" r:id="rId5"/>
    <p:sldId id="374" r:id="rId6"/>
    <p:sldId id="375" r:id="rId7"/>
    <p:sldId id="376" r:id="rId8"/>
    <p:sldId id="377" r:id="rId9"/>
    <p:sldId id="378" r:id="rId10"/>
    <p:sldId id="379" r:id="rId11"/>
    <p:sldId id="383" r:id="rId12"/>
    <p:sldId id="384" r:id="rId13"/>
    <p:sldId id="385" r:id="rId14"/>
    <p:sldId id="386" r:id="rId15"/>
    <p:sldId id="387" r:id="rId16"/>
    <p:sldId id="388" r:id="rId17"/>
    <p:sldId id="389" r:id="rId18"/>
    <p:sldId id="392" r:id="rId19"/>
    <p:sldId id="318" r:id="rId20"/>
    <p:sldId id="315" r:id="rId21"/>
    <p:sldId id="381" r:id="rId22"/>
    <p:sldId id="382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99FF99"/>
    <a:srgbClr val="CCFFFF"/>
    <a:srgbClr val="99CCFF"/>
    <a:srgbClr val="000099"/>
    <a:srgbClr val="FFFF99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4626" autoAdjust="0"/>
  </p:normalViewPr>
  <p:slideViewPr>
    <p:cSldViewPr snapToGrid="0">
      <p:cViewPr>
        <p:scale>
          <a:sx n="100" d="100"/>
          <a:sy n="100" d="100"/>
        </p:scale>
        <p:origin x="-1944" y="-666"/>
      </p:cViewPr>
      <p:guideLst>
        <p:guide orient="horz" pos="2096"/>
        <p:guide pos="14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3540" y="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t" anchorCtr="0" compatLnSpc="1">
            <a:prstTxWarp prst="textNoShape">
              <a:avLst/>
            </a:prstTxWarp>
          </a:bodyPr>
          <a:lstStyle>
            <a:lvl1pPr defTabSz="890588">
              <a:defRPr sz="1200"/>
            </a:lvl1pPr>
          </a:lstStyle>
          <a:p>
            <a:endParaRPr lang="en-US" altLang="zh-CN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t" anchorCtr="0" compatLnSpc="1">
            <a:prstTxWarp prst="textNoShape">
              <a:avLst/>
            </a:prstTxWarp>
          </a:bodyPr>
          <a:lstStyle>
            <a:lvl1pPr algn="r" defTabSz="890588">
              <a:defRPr sz="1200"/>
            </a:lvl1pPr>
          </a:lstStyle>
          <a:p>
            <a:endParaRPr lang="en-US" altLang="zh-CN"/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3388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b" anchorCtr="0" compatLnSpc="1">
            <a:prstTxWarp prst="textNoShape">
              <a:avLst/>
            </a:prstTxWarp>
          </a:bodyPr>
          <a:lstStyle>
            <a:lvl1pPr defTabSz="890588">
              <a:defRPr sz="1200"/>
            </a:lvl1pPr>
          </a:lstStyle>
          <a:p>
            <a:endParaRPr lang="en-US" altLang="zh-CN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b" anchorCtr="0" compatLnSpc="1">
            <a:prstTxWarp prst="textNoShape">
              <a:avLst/>
            </a:prstTxWarp>
          </a:bodyPr>
          <a:lstStyle>
            <a:lvl1pPr algn="r" defTabSz="890588">
              <a:defRPr sz="1200"/>
            </a:lvl1pPr>
          </a:lstStyle>
          <a:p>
            <a:fld id="{BFA4785B-FECB-4EE5-840C-E16C67416DF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705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t" anchorCtr="0" compatLnSpc="1">
            <a:prstTxWarp prst="textNoShape">
              <a:avLst/>
            </a:prstTxWarp>
          </a:bodyPr>
          <a:lstStyle>
            <a:lvl1pPr defTabSz="890588"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t" anchorCtr="0" compatLnSpc="1">
            <a:prstTxWarp prst="textNoShape">
              <a:avLst/>
            </a:prstTxWarp>
          </a:bodyPr>
          <a:lstStyle>
            <a:lvl1pPr algn="r" defTabSz="890588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4988"/>
            <a:ext cx="5029200" cy="4113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3388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b" anchorCtr="0" compatLnSpc="1">
            <a:prstTxWarp prst="textNoShape">
              <a:avLst/>
            </a:prstTxWarp>
          </a:bodyPr>
          <a:lstStyle>
            <a:lvl1pPr defTabSz="890588"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b" anchorCtr="0" compatLnSpc="1">
            <a:prstTxWarp prst="textNoShape">
              <a:avLst/>
            </a:prstTxWarp>
          </a:bodyPr>
          <a:lstStyle>
            <a:lvl1pPr algn="r" defTabSz="890588">
              <a:defRPr sz="1200"/>
            </a:lvl1pPr>
          </a:lstStyle>
          <a:p>
            <a:fld id="{F1558BFD-52F6-4A7D-8FC9-DC6652961A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37451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58BFD-52F6-4A7D-8FC9-DC6652961A06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58BFD-52F6-4A7D-8FC9-DC6652961A06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58BFD-52F6-4A7D-8FC9-DC6652961A06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58BFD-52F6-4A7D-8FC9-DC6652961A06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r">
              <a:defRPr sz="32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1752600"/>
          </a:xfrm>
        </p:spPr>
        <p:txBody>
          <a:bodyPr/>
          <a:lstStyle>
            <a:lvl1pPr marL="0" indent="0" algn="r">
              <a:buFontTx/>
              <a:buNone/>
              <a:defRPr b="0">
                <a:latin typeface="Arial Black" pitchFamily="34" charset="0"/>
              </a:defRPr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609600" y="6172200"/>
            <a:ext cx="51054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 userDrawn="1"/>
        </p:nvSpPr>
        <p:spPr bwMode="auto">
          <a:xfrm>
            <a:off x="-92075" y="-111125"/>
            <a:ext cx="1387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5129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32" name="Text Box 12"/>
          <p:cNvSpPr txBox="1">
            <a:spLocks noChangeArrowheads="1"/>
          </p:cNvSpPr>
          <p:nvPr userDrawn="1"/>
        </p:nvSpPr>
        <p:spPr bwMode="auto">
          <a:xfrm>
            <a:off x="2913154" y="13081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800" dirty="0">
                <a:ea typeface="宋体" pitchFamily="2" charset="-122"/>
              </a:rPr>
              <a:t>Department of </a:t>
            </a:r>
            <a:r>
              <a:rPr lang="en-US" altLang="zh-CN" sz="1800" dirty="0" smtClean="0">
                <a:ea typeface="宋体" pitchFamily="2" charset="-122"/>
              </a:rPr>
              <a:t>Electrical Engineering</a:t>
            </a:r>
            <a:endParaRPr lang="en-US" altLang="zh-CN" sz="1800" dirty="0">
              <a:ea typeface="宋体" pitchFamily="2" charset="-122"/>
            </a:endParaRPr>
          </a:p>
          <a:p>
            <a:pPr algn="r"/>
            <a:r>
              <a:rPr lang="en-US" altLang="zh-CN" sz="1600" dirty="0" smtClean="0">
                <a:ea typeface="宋体" pitchFamily="2" charset="-122"/>
              </a:rPr>
              <a:t>University of Arkansas</a:t>
            </a:r>
            <a:endParaRPr lang="en-US" altLang="zh-CN" sz="1600" dirty="0">
              <a:ea typeface="宋体" pitchFamily="2" charset="-122"/>
            </a:endParaRPr>
          </a:p>
        </p:txBody>
      </p:sp>
      <p:pic>
        <p:nvPicPr>
          <p:cNvPr id="5136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8950" y="1400175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F5BE08-55F9-4E30-A5DD-C7DBD84A0467}" type="slidenum">
              <a:rPr lang="zh-CN" altLang="en-US"/>
              <a:pPr/>
              <a:t>‹#›</a:t>
            </a:fld>
            <a:endParaRPr lang="en-US" altLang="zh-CN"/>
          </a:p>
        </p:txBody>
      </p:sp>
      <p:pic>
        <p:nvPicPr>
          <p:cNvPr id="211971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124" y="6200775"/>
            <a:ext cx="1780761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2EE0F0-74F9-4880-AAD0-F95DFA1D91A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876300"/>
            <a:ext cx="3810000" cy="524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876300"/>
            <a:ext cx="3810000" cy="524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DF24B5-7FA1-43E6-B599-09FC0D7D94F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BC741-3781-40D0-9394-0BE4DD82712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CA5DE8-2530-412C-B5A6-820B01D1FB3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58FD31-DFD6-4B7F-A700-30DEED69215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B0B11D-8824-4DD3-A71F-3EF8D1821DB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AE479B-F123-4C69-A903-9EC9AFFB41F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4EC236-B9F2-4565-9371-1D6EAB3C1B7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350" y="177800"/>
            <a:ext cx="202565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9400" y="177800"/>
            <a:ext cx="592455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C6F663-F921-4539-92E4-D0F1EAEC243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1778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876300"/>
            <a:ext cx="7772400" cy="524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756400" y="6223000"/>
            <a:ext cx="2197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3700" y="61595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0" y="0"/>
            <a:ext cx="1387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 b="0">
                <a:latin typeface="+mj-lt"/>
                <a:ea typeface="宋体" pitchFamily="2" charset="-122"/>
              </a:defRPr>
            </a:lvl1pPr>
          </a:lstStyle>
          <a:p>
            <a:fld id="{FEBAFD76-7711-4372-A664-F38C08563AF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4" name="Line 10"/>
          <p:cNvSpPr>
            <a:spLocks noChangeShapeType="1"/>
          </p:cNvSpPr>
          <p:nvPr userDrawn="1"/>
        </p:nvSpPr>
        <p:spPr bwMode="auto">
          <a:xfrm>
            <a:off x="152400" y="812800"/>
            <a:ext cx="883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035" name="Picture 11" descr="ssulogo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09563" y="6215063"/>
            <a:ext cx="1006475" cy="43973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 b="1">
          <a:solidFill>
            <a:srgbClr val="000099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2400" dirty="0" smtClean="0">
                <a:ea typeface="宋体" pitchFamily="2" charset="-122"/>
              </a:rPr>
              <a:t>ELEG4623/ELEG5663 Communication Theory</a:t>
            </a:r>
            <a:r>
              <a:rPr lang="en-US" altLang="zh-CN" dirty="0" smtClean="0">
                <a:ea typeface="宋体" pitchFamily="2" charset="-122"/>
              </a:rPr>
              <a:t/>
            </a:r>
            <a:br>
              <a:rPr lang="en-US" altLang="zh-CN" dirty="0" smtClean="0">
                <a:ea typeface="宋体" pitchFamily="2" charset="-122"/>
              </a:rPr>
            </a:br>
            <a:r>
              <a:rPr lang="en-US" altLang="zh-CN" dirty="0" smtClean="0">
                <a:ea typeface="宋体" pitchFamily="2" charset="-122"/>
              </a:rPr>
              <a:t>Ch</a:t>
            </a:r>
            <a:r>
              <a:rPr lang="en-US" altLang="zh-CN" dirty="0">
                <a:ea typeface="宋体" pitchFamily="2" charset="-122"/>
              </a:rPr>
              <a:t>. </a:t>
            </a:r>
            <a:r>
              <a:rPr lang="en-US" altLang="zh-CN" dirty="0" smtClean="0">
                <a:ea typeface="宋体" pitchFamily="2" charset="-122"/>
              </a:rPr>
              <a:t>0 Introduction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746500"/>
            <a:ext cx="6400800" cy="1752600"/>
          </a:xfrm>
        </p:spPr>
        <p:txBody>
          <a:bodyPr/>
          <a:lstStyle/>
          <a:p>
            <a:r>
              <a:rPr lang="en-US" altLang="zh-CN" sz="1900" b="1" dirty="0">
                <a:ea typeface="宋体" pitchFamily="2" charset="-122"/>
              </a:rPr>
              <a:t>Dr. </a:t>
            </a:r>
            <a:r>
              <a:rPr lang="en-US" altLang="zh-CN" sz="1900" b="1" dirty="0" err="1">
                <a:ea typeface="宋体" pitchFamily="2" charset="-122"/>
              </a:rPr>
              <a:t>Jingxian</a:t>
            </a:r>
            <a:r>
              <a:rPr lang="en-US" altLang="zh-CN" sz="1900" b="1" dirty="0">
                <a:ea typeface="宋体" pitchFamily="2" charset="-122"/>
              </a:rPr>
              <a:t> Wu</a:t>
            </a:r>
          </a:p>
          <a:p>
            <a:r>
              <a:rPr lang="en-US" altLang="zh-CN" sz="1600" dirty="0" smtClean="0">
                <a:ea typeface="宋体" pitchFamily="2" charset="-122"/>
              </a:rPr>
              <a:t>wuj@uark.edu</a:t>
            </a:r>
            <a:endParaRPr lang="en-US" altLang="zh-CN" sz="1600" dirty="0">
              <a:ea typeface="宋体" pitchFamily="2" charset="-122"/>
            </a:endParaRPr>
          </a:p>
          <a:p>
            <a:endParaRPr lang="en-US" altLang="zh-CN" sz="1600" dirty="0">
              <a:ea typeface="宋体" pitchFamily="2" charset="-122"/>
            </a:endParaRPr>
          </a:p>
          <a:p>
            <a:endParaRPr lang="zh-CN" altLang="en-US" sz="1600" dirty="0">
              <a:ea typeface="宋体" pitchFamily="2" charset="-122"/>
            </a:endParaRP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7731125" y="10445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5A7E-875A-4520-8C20-BA5BAF6C5EF6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Historical Background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Elements of a Communication System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Digital Communication </a:t>
            </a:r>
            <a:r>
              <a:rPr lang="en-US" dirty="0" err="1" smtClean="0"/>
              <a:t>v.s</a:t>
            </a:r>
            <a:r>
              <a:rPr lang="en-US" dirty="0" smtClean="0"/>
              <a:t>. Analog Communication</a:t>
            </a:r>
          </a:p>
          <a:p>
            <a:endParaRPr lang="en-US" dirty="0"/>
          </a:p>
          <a:p>
            <a:r>
              <a:rPr lang="en-US" dirty="0" smtClean="0"/>
              <a:t>Underpinning Theories of Communication Systems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HISTORICAL 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Historical Background</a:t>
            </a:r>
          </a:p>
          <a:p>
            <a:pPr lvl="1"/>
            <a:r>
              <a:rPr lang="en-US" dirty="0" smtClean="0"/>
              <a:t>1838: Cooke and Wheatstone build the </a:t>
            </a:r>
            <a:r>
              <a:rPr lang="en-US" dirty="0" smtClean="0"/>
              <a:t>telegraph</a:t>
            </a:r>
            <a:endParaRPr lang="en-US" dirty="0" smtClean="0"/>
          </a:p>
          <a:p>
            <a:pPr lvl="1"/>
            <a:r>
              <a:rPr lang="en-US" dirty="0" smtClean="0"/>
              <a:t>1844: Morse demonstrates the telegraph line between Baltimore, MD and Washington, DC</a:t>
            </a:r>
          </a:p>
          <a:p>
            <a:pPr lvl="1"/>
            <a:r>
              <a:rPr lang="en-US" dirty="0" smtClean="0"/>
              <a:t>1858: the first transatlantic cable is laid (fails after 26 years)</a:t>
            </a:r>
          </a:p>
          <a:p>
            <a:pPr lvl="1"/>
            <a:r>
              <a:rPr lang="en-US" dirty="0" smtClean="0"/>
              <a:t>1864: Maxwell predicts electromagnetic radiation</a:t>
            </a:r>
          </a:p>
          <a:p>
            <a:pPr lvl="1"/>
            <a:r>
              <a:rPr lang="en-US" dirty="0" smtClean="0"/>
              <a:t>1876: Bell develops and patents the telephone</a:t>
            </a:r>
          </a:p>
          <a:p>
            <a:pPr lvl="1"/>
            <a:r>
              <a:rPr lang="en-US" dirty="0" smtClean="0"/>
              <a:t>1887: Hertz verifies Maxwell’s theory</a:t>
            </a:r>
          </a:p>
          <a:p>
            <a:pPr lvl="1"/>
            <a:r>
              <a:rPr lang="en-US" dirty="0" smtClean="0"/>
              <a:t>1894: Lodge demonstrates wireless communication over a distance of 150 yards.</a:t>
            </a:r>
          </a:p>
          <a:p>
            <a:pPr lvl="1"/>
            <a:r>
              <a:rPr lang="en-US" dirty="0" smtClean="0"/>
              <a:t>1901: Marconi transmits and receives the first transatlantic wireless signals.</a:t>
            </a:r>
          </a:p>
          <a:p>
            <a:pPr lvl="1"/>
            <a:r>
              <a:rPr lang="en-US" dirty="0" smtClean="0"/>
              <a:t>1920: KDKA, Pittsburgh, PA, begins the first scheduled radio </a:t>
            </a:r>
            <a:r>
              <a:rPr lang="en-US" dirty="0" smtClean="0"/>
              <a:t>broadcasts</a:t>
            </a:r>
            <a:endParaRPr lang="en-US" dirty="0" smtClean="0"/>
          </a:p>
          <a:p>
            <a:pPr lvl="1"/>
            <a:r>
              <a:rPr lang="en-US" dirty="0" smtClean="0"/>
              <a:t>1926: Baird and Jenkins demonstrate television</a:t>
            </a:r>
          </a:p>
          <a:p>
            <a:pPr lvl="1"/>
            <a:r>
              <a:rPr lang="en-US" dirty="0" smtClean="0"/>
              <a:t>1933: Armstrong invents frequency modulation (FM)</a:t>
            </a:r>
          </a:p>
          <a:p>
            <a:pPr lvl="1"/>
            <a:r>
              <a:rPr lang="en-US" dirty="0" smtClean="0"/>
              <a:t>1935: Watson-Watt develops the first practical radar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BE08-55F9-4E30-A5DD-C7DBD84A0467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450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HISTORICAL 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Historical Background (Cont’d)</a:t>
            </a:r>
          </a:p>
          <a:p>
            <a:pPr lvl="1"/>
            <a:r>
              <a:rPr lang="en-US" dirty="0" smtClean="0"/>
              <a:t>1948: Shannon publishes his work on information theory.</a:t>
            </a:r>
          </a:p>
          <a:p>
            <a:pPr lvl="1"/>
            <a:r>
              <a:rPr lang="en-US" dirty="0" smtClean="0"/>
              <a:t>1953: NTSC color television is introduced in the U.S.</a:t>
            </a:r>
          </a:p>
          <a:p>
            <a:pPr lvl="1"/>
            <a:r>
              <a:rPr lang="en-US" dirty="0" smtClean="0"/>
              <a:t>1961: Stereo FM broadcasts begin in the U.S.</a:t>
            </a:r>
          </a:p>
          <a:p>
            <a:pPr lvl="1"/>
            <a:r>
              <a:rPr lang="en-US" dirty="0" smtClean="0"/>
              <a:t>1962: Satellite communication begins with Telstar I (between U.S. and Europe)</a:t>
            </a:r>
          </a:p>
          <a:p>
            <a:pPr lvl="1"/>
            <a:r>
              <a:rPr lang="en-US" dirty="0" smtClean="0"/>
              <a:t>1963-66: Error-correction codes and adaptive equalization for high-speed digital communications are developed.</a:t>
            </a:r>
          </a:p>
          <a:p>
            <a:pPr lvl="1"/>
            <a:r>
              <a:rPr lang="en-US" dirty="0" smtClean="0"/>
              <a:t>1971: ARPANET (prototype of Internet) </a:t>
            </a:r>
            <a:r>
              <a:rPr lang="en-US" dirty="0" smtClean="0"/>
              <a:t>was put </a:t>
            </a:r>
            <a:r>
              <a:rPr lang="en-US" dirty="0" smtClean="0"/>
              <a:t>in service</a:t>
            </a:r>
          </a:p>
          <a:p>
            <a:pPr lvl="1"/>
            <a:r>
              <a:rPr lang="en-US" dirty="0" smtClean="0"/>
              <a:t>1972: Motorola demonstrates the cellular telephone.</a:t>
            </a:r>
          </a:p>
          <a:p>
            <a:pPr lvl="1"/>
            <a:r>
              <a:rPr lang="en-US" dirty="0" smtClean="0"/>
              <a:t>1980: Bell System fiber-optic communication is developed. </a:t>
            </a:r>
          </a:p>
          <a:p>
            <a:pPr lvl="1"/>
            <a:r>
              <a:rPr lang="en-US" dirty="0" smtClean="0"/>
              <a:t>1981: FCC adopts rules creating commercial cellular telephone service</a:t>
            </a:r>
          </a:p>
          <a:p>
            <a:pPr lvl="1"/>
            <a:r>
              <a:rPr lang="en-US" dirty="0" smtClean="0"/>
              <a:t>1985: ARPANET </a:t>
            </a:r>
            <a:r>
              <a:rPr lang="en-US" dirty="0" smtClean="0"/>
              <a:t>renamed </a:t>
            </a:r>
            <a:r>
              <a:rPr lang="en-US" dirty="0" smtClean="0"/>
              <a:t>Internet</a:t>
            </a:r>
          </a:p>
          <a:p>
            <a:pPr lvl="1"/>
            <a:r>
              <a:rPr lang="en-US" dirty="0" smtClean="0"/>
              <a:t>1988-1989: installation of trans-Pacific and trans-Atlantic optical cables for light-wave communications. </a:t>
            </a:r>
          </a:p>
          <a:p>
            <a:pPr lvl="1"/>
            <a:r>
              <a:rPr lang="en-US" dirty="0" smtClean="0"/>
              <a:t>1990: World Wide Web was introduced</a:t>
            </a:r>
          </a:p>
          <a:p>
            <a:pPr lvl="1"/>
            <a:r>
              <a:rPr lang="en-US" dirty="0" smtClean="0"/>
              <a:t>1990 – Present: digital communication systems widely deployed 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BE08-55F9-4E30-A5DD-C7DBD84A0467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389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5A7E-875A-4520-8C20-BA5BAF6C5EF6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Historical Background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en-US" dirty="0"/>
          </a:p>
          <a:p>
            <a:r>
              <a:rPr lang="en-US" dirty="0" smtClean="0"/>
              <a:t>Elements of a Communication System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Digital Communication </a:t>
            </a:r>
            <a:r>
              <a:rPr lang="en-US" dirty="0" err="1" smtClean="0">
                <a:solidFill>
                  <a:schemeClr val="accent3">
                    <a:lumMod val="50000"/>
                  </a:schemeClr>
                </a:solidFill>
              </a:rPr>
              <a:t>v.s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. Analog Communication</a:t>
            </a: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Underpinning Theories of Communication Systems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80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Communication system:</a:t>
            </a:r>
          </a:p>
          <a:p>
            <a:pPr lvl="1"/>
            <a:r>
              <a:rPr lang="en-US" dirty="0" smtClean="0"/>
              <a:t>A system designed to transfer information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BE08-55F9-4E30-A5DD-C7DBD84A0467}" type="slidenum">
              <a:rPr lang="zh-CN" altLang="en-US" smtClean="0"/>
              <a:pPr/>
              <a:t>6</a:t>
            </a:fld>
            <a:endParaRPr lang="en-US" altLang="zh-CN" dirty="0"/>
          </a:p>
        </p:txBody>
      </p:sp>
      <p:pic>
        <p:nvPicPr>
          <p:cNvPr id="10" name="Picture 9" descr="tvtower_colo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2" y="2647950"/>
            <a:ext cx="777875" cy="158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tv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424" y="3246438"/>
            <a:ext cx="957263" cy="102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hone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2" y="4395788"/>
            <a:ext cx="995362" cy="112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hone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012" y="4584700"/>
            <a:ext cx="903287" cy="103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reeform 13"/>
          <p:cNvSpPr>
            <a:spLocks/>
          </p:cNvSpPr>
          <p:nvPr/>
        </p:nvSpPr>
        <p:spPr bwMode="auto">
          <a:xfrm>
            <a:off x="3073399" y="5249863"/>
            <a:ext cx="1447800" cy="390525"/>
          </a:xfrm>
          <a:custGeom>
            <a:avLst/>
            <a:gdLst>
              <a:gd name="T0" fmla="*/ 0 w 816"/>
              <a:gd name="T1" fmla="*/ 17 h 246"/>
              <a:gd name="T2" fmla="*/ 80 w 816"/>
              <a:gd name="T3" fmla="*/ 57 h 246"/>
              <a:gd name="T4" fmla="*/ 128 w 816"/>
              <a:gd name="T5" fmla="*/ 89 h 246"/>
              <a:gd name="T6" fmla="*/ 296 w 816"/>
              <a:gd name="T7" fmla="*/ 185 h 246"/>
              <a:gd name="T8" fmla="*/ 464 w 816"/>
              <a:gd name="T9" fmla="*/ 193 h 246"/>
              <a:gd name="T10" fmla="*/ 480 w 816"/>
              <a:gd name="T11" fmla="*/ 129 h 246"/>
              <a:gd name="T12" fmla="*/ 392 w 816"/>
              <a:gd name="T13" fmla="*/ 1 h 246"/>
              <a:gd name="T14" fmla="*/ 296 w 816"/>
              <a:gd name="T15" fmla="*/ 9 h 246"/>
              <a:gd name="T16" fmla="*/ 288 w 816"/>
              <a:gd name="T17" fmla="*/ 33 h 246"/>
              <a:gd name="T18" fmla="*/ 368 w 816"/>
              <a:gd name="T19" fmla="*/ 161 h 246"/>
              <a:gd name="T20" fmla="*/ 816 w 816"/>
              <a:gd name="T21" fmla="*/ 185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16" h="246">
                <a:moveTo>
                  <a:pt x="0" y="17"/>
                </a:moveTo>
                <a:cubicBezTo>
                  <a:pt x="28" y="26"/>
                  <a:pt x="55" y="42"/>
                  <a:pt x="80" y="57"/>
                </a:cubicBezTo>
                <a:cubicBezTo>
                  <a:pt x="96" y="67"/>
                  <a:pt x="128" y="89"/>
                  <a:pt x="128" y="89"/>
                </a:cubicBezTo>
                <a:cubicBezTo>
                  <a:pt x="153" y="164"/>
                  <a:pt x="227" y="173"/>
                  <a:pt x="296" y="185"/>
                </a:cubicBezTo>
                <a:cubicBezTo>
                  <a:pt x="352" y="213"/>
                  <a:pt x="379" y="233"/>
                  <a:pt x="464" y="193"/>
                </a:cubicBezTo>
                <a:cubicBezTo>
                  <a:pt x="484" y="184"/>
                  <a:pt x="480" y="129"/>
                  <a:pt x="480" y="129"/>
                </a:cubicBezTo>
                <a:cubicBezTo>
                  <a:pt x="470" y="61"/>
                  <a:pt x="461" y="24"/>
                  <a:pt x="392" y="1"/>
                </a:cubicBezTo>
                <a:cubicBezTo>
                  <a:pt x="360" y="4"/>
                  <a:pt x="327" y="0"/>
                  <a:pt x="296" y="9"/>
                </a:cubicBezTo>
                <a:cubicBezTo>
                  <a:pt x="288" y="11"/>
                  <a:pt x="288" y="25"/>
                  <a:pt x="288" y="33"/>
                </a:cubicBezTo>
                <a:cubicBezTo>
                  <a:pt x="288" y="125"/>
                  <a:pt x="291" y="142"/>
                  <a:pt x="368" y="161"/>
                </a:cubicBezTo>
                <a:cubicBezTo>
                  <a:pt x="495" y="246"/>
                  <a:pt x="677" y="185"/>
                  <a:pt x="816" y="185"/>
                </a:cubicBezTo>
              </a:path>
            </a:pathLst>
          </a:custGeom>
          <a:noFill/>
          <a:ln w="38100" cmpd="sng">
            <a:solidFill>
              <a:srgbClr val="CC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6222999" y="5156200"/>
            <a:ext cx="1143000" cy="436563"/>
          </a:xfrm>
          <a:custGeom>
            <a:avLst/>
            <a:gdLst>
              <a:gd name="T0" fmla="*/ 376 w 376"/>
              <a:gd name="T1" fmla="*/ 20 h 235"/>
              <a:gd name="T2" fmla="*/ 272 w 376"/>
              <a:gd name="T3" fmla="*/ 44 h 235"/>
              <a:gd name="T4" fmla="*/ 224 w 376"/>
              <a:gd name="T5" fmla="*/ 68 h 235"/>
              <a:gd name="T6" fmla="*/ 104 w 376"/>
              <a:gd name="T7" fmla="*/ 108 h 235"/>
              <a:gd name="T8" fmla="*/ 80 w 376"/>
              <a:gd name="T9" fmla="*/ 116 h 235"/>
              <a:gd name="T10" fmla="*/ 64 w 376"/>
              <a:gd name="T11" fmla="*/ 164 h 235"/>
              <a:gd name="T12" fmla="*/ 72 w 376"/>
              <a:gd name="T13" fmla="*/ 212 h 235"/>
              <a:gd name="T14" fmla="*/ 224 w 376"/>
              <a:gd name="T15" fmla="*/ 204 h 235"/>
              <a:gd name="T16" fmla="*/ 216 w 376"/>
              <a:gd name="T17" fmla="*/ 100 h 235"/>
              <a:gd name="T18" fmla="*/ 160 w 376"/>
              <a:gd name="T19" fmla="*/ 44 h 235"/>
              <a:gd name="T20" fmla="*/ 0 w 376"/>
              <a:gd name="T21" fmla="*/ 4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76" h="235">
                <a:moveTo>
                  <a:pt x="376" y="20"/>
                </a:moveTo>
                <a:cubicBezTo>
                  <a:pt x="343" y="25"/>
                  <a:pt x="303" y="29"/>
                  <a:pt x="272" y="44"/>
                </a:cubicBezTo>
                <a:cubicBezTo>
                  <a:pt x="210" y="75"/>
                  <a:pt x="284" y="48"/>
                  <a:pt x="224" y="68"/>
                </a:cubicBezTo>
                <a:cubicBezTo>
                  <a:pt x="187" y="105"/>
                  <a:pt x="158" y="101"/>
                  <a:pt x="104" y="108"/>
                </a:cubicBezTo>
                <a:cubicBezTo>
                  <a:pt x="96" y="111"/>
                  <a:pt x="85" y="109"/>
                  <a:pt x="80" y="116"/>
                </a:cubicBezTo>
                <a:cubicBezTo>
                  <a:pt x="70" y="130"/>
                  <a:pt x="64" y="164"/>
                  <a:pt x="64" y="164"/>
                </a:cubicBezTo>
                <a:cubicBezTo>
                  <a:pt x="67" y="180"/>
                  <a:pt x="56" y="208"/>
                  <a:pt x="72" y="212"/>
                </a:cubicBezTo>
                <a:cubicBezTo>
                  <a:pt x="121" y="224"/>
                  <a:pt x="184" y="235"/>
                  <a:pt x="224" y="204"/>
                </a:cubicBezTo>
                <a:cubicBezTo>
                  <a:pt x="251" y="183"/>
                  <a:pt x="220" y="135"/>
                  <a:pt x="216" y="100"/>
                </a:cubicBezTo>
                <a:cubicBezTo>
                  <a:pt x="211" y="64"/>
                  <a:pt x="186" y="59"/>
                  <a:pt x="160" y="44"/>
                </a:cubicBezTo>
                <a:cubicBezTo>
                  <a:pt x="81" y="0"/>
                  <a:pt x="111" y="4"/>
                  <a:pt x="0" y="4"/>
                </a:cubicBezTo>
              </a:path>
            </a:pathLst>
          </a:custGeom>
          <a:noFill/>
          <a:ln w="38100" cmpd="sng">
            <a:solidFill>
              <a:srgbClr val="CC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4521199" y="5124450"/>
            <a:ext cx="1676400" cy="431800"/>
          </a:xfrm>
          <a:custGeom>
            <a:avLst/>
            <a:gdLst>
              <a:gd name="T0" fmla="*/ 0 w 1056"/>
              <a:gd name="T1" fmla="*/ 272 h 272"/>
              <a:gd name="T2" fmla="*/ 344 w 1056"/>
              <a:gd name="T3" fmla="*/ 168 h 272"/>
              <a:gd name="T4" fmla="*/ 480 w 1056"/>
              <a:gd name="T5" fmla="*/ 152 h 272"/>
              <a:gd name="T6" fmla="*/ 824 w 1056"/>
              <a:gd name="T7" fmla="*/ 24 h 272"/>
              <a:gd name="T8" fmla="*/ 1056 w 1056"/>
              <a:gd name="T9" fmla="*/ 24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56" h="272">
                <a:moveTo>
                  <a:pt x="0" y="272"/>
                </a:moveTo>
                <a:cubicBezTo>
                  <a:pt x="115" y="243"/>
                  <a:pt x="232" y="205"/>
                  <a:pt x="344" y="168"/>
                </a:cubicBezTo>
                <a:cubicBezTo>
                  <a:pt x="368" y="160"/>
                  <a:pt x="472" y="153"/>
                  <a:pt x="480" y="152"/>
                </a:cubicBezTo>
                <a:cubicBezTo>
                  <a:pt x="601" y="122"/>
                  <a:pt x="706" y="63"/>
                  <a:pt x="824" y="24"/>
                </a:cubicBezTo>
                <a:cubicBezTo>
                  <a:pt x="897" y="0"/>
                  <a:pt x="979" y="24"/>
                  <a:pt x="1056" y="24"/>
                </a:cubicBezTo>
              </a:path>
            </a:pathLst>
          </a:custGeom>
          <a:noFill/>
          <a:ln w="38100" cap="flat" cmpd="sng">
            <a:solidFill>
              <a:srgbClr val="CC99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 rot="10280298" flipH="1" flipV="1">
            <a:off x="3359149" y="3060700"/>
            <a:ext cx="2986088" cy="908050"/>
          </a:xfrm>
          <a:custGeom>
            <a:avLst/>
            <a:gdLst>
              <a:gd name="T0" fmla="*/ 472 w 473"/>
              <a:gd name="T1" fmla="*/ 484 h 485"/>
              <a:gd name="T2" fmla="*/ 191 w 473"/>
              <a:gd name="T3" fmla="*/ 232 h 485"/>
              <a:gd name="T4" fmla="*/ 256 w 473"/>
              <a:gd name="T5" fmla="*/ 250 h 485"/>
              <a:gd name="T6" fmla="*/ 0 w 473"/>
              <a:gd name="T7" fmla="*/ 0 h 485"/>
              <a:gd name="T8" fmla="*/ 334 w 473"/>
              <a:gd name="T9" fmla="*/ 292 h 485"/>
              <a:gd name="T10" fmla="*/ 269 w 473"/>
              <a:gd name="T11" fmla="*/ 282 h 485"/>
              <a:gd name="T12" fmla="*/ 472 w 473"/>
              <a:gd name="T13" fmla="*/ 484 h 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73" h="485">
                <a:moveTo>
                  <a:pt x="472" y="484"/>
                </a:moveTo>
                <a:lnTo>
                  <a:pt x="191" y="232"/>
                </a:lnTo>
                <a:lnTo>
                  <a:pt x="256" y="250"/>
                </a:lnTo>
                <a:lnTo>
                  <a:pt x="0" y="0"/>
                </a:lnTo>
                <a:lnTo>
                  <a:pt x="334" y="292"/>
                </a:lnTo>
                <a:lnTo>
                  <a:pt x="269" y="282"/>
                </a:lnTo>
                <a:lnTo>
                  <a:pt x="472" y="484"/>
                </a:lnTo>
              </a:path>
            </a:pathLst>
          </a:custGeom>
          <a:solidFill>
            <a:schemeClr val="accent2"/>
          </a:solidFill>
          <a:ln w="12700" cap="rnd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 txBox="1">
            <a:spLocks noChangeArrowheads="1"/>
          </p:cNvSpPr>
          <p:nvPr/>
        </p:nvSpPr>
        <p:spPr bwMode="auto">
          <a:xfrm>
            <a:off x="609599" y="6000750"/>
            <a:ext cx="81661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sz="1600" smtClean="0"/>
              <a:t>Use electrical signal to transmit information from one location to another location.</a:t>
            </a:r>
            <a:endParaRPr lang="en-US" sz="1600"/>
          </a:p>
        </p:txBody>
      </p:sp>
      <p:grpSp>
        <p:nvGrpSpPr>
          <p:cNvPr id="27" name="Group 26"/>
          <p:cNvGrpSpPr/>
          <p:nvPr/>
        </p:nvGrpSpPr>
        <p:grpSpPr>
          <a:xfrm>
            <a:off x="-25690" y="1656010"/>
            <a:ext cx="9191417" cy="899220"/>
            <a:chOff x="92855" y="1643955"/>
            <a:chExt cx="9191417" cy="8992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1168399" y="1704975"/>
              <a:ext cx="1905000" cy="838200"/>
            </a:xfrm>
            <a:prstGeom prst="rect">
              <a:avLst/>
            </a:prstGeom>
            <a:solidFill>
              <a:srgbClr val="99FF99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Transmitter</a:t>
              </a:r>
              <a:endParaRPr lang="en-US" dirty="0"/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3600450" y="1704975"/>
              <a:ext cx="1905000" cy="838200"/>
            </a:xfrm>
            <a:prstGeom prst="rect">
              <a:avLst/>
            </a:prstGeom>
            <a:solidFill>
              <a:srgbClr val="99FF99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Channel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5985942" y="1704975"/>
              <a:ext cx="1905000" cy="838200"/>
            </a:xfrm>
            <a:prstGeom prst="rect">
              <a:avLst/>
            </a:prstGeom>
            <a:solidFill>
              <a:srgbClr val="99FF99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Receiver</a:t>
              </a:r>
              <a:endParaRPr lang="en-US" dirty="0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3106735" y="2085975"/>
              <a:ext cx="4937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5511828" y="2085975"/>
              <a:ext cx="4741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21" name="Straight Arrow Connector 20"/>
            <p:cNvCxnSpPr>
              <a:endCxn id="5" idx="1"/>
            </p:cNvCxnSpPr>
            <p:nvPr/>
          </p:nvCxnSpPr>
          <p:spPr bwMode="auto">
            <a:xfrm>
              <a:off x="425449" y="2124075"/>
              <a:ext cx="7429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2" name="TextBox 21"/>
            <p:cNvSpPr txBox="1"/>
            <p:nvPr/>
          </p:nvSpPr>
          <p:spPr>
            <a:xfrm>
              <a:off x="92855" y="1643955"/>
              <a:ext cx="8917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source</a:t>
              </a:r>
              <a:endParaRPr lang="en-US" sz="20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890942" y="1669702"/>
              <a:ext cx="13933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destination</a:t>
              </a:r>
              <a:endParaRPr lang="en-US" sz="2000" dirty="0"/>
            </a:p>
          </p:txBody>
        </p:sp>
        <p:cxnSp>
          <p:nvCxnSpPr>
            <p:cNvPr id="26" name="Straight Arrow Connector 25"/>
            <p:cNvCxnSpPr/>
            <p:nvPr/>
          </p:nvCxnSpPr>
          <p:spPr bwMode="auto">
            <a:xfrm>
              <a:off x="7890942" y="2112317"/>
              <a:ext cx="7429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866009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Transmitter </a:t>
            </a:r>
            <a:r>
              <a:rPr lang="en-US" dirty="0" smtClean="0"/>
              <a:t>(input transducer)</a:t>
            </a:r>
          </a:p>
          <a:p>
            <a:pPr lvl="1"/>
            <a:r>
              <a:rPr lang="en-US" dirty="0" smtClean="0"/>
              <a:t>Convert the message from the source to an electrical signal suited to the characteristics of the transmission channel. </a:t>
            </a:r>
          </a:p>
          <a:p>
            <a:pPr lvl="1"/>
            <a:r>
              <a:rPr lang="en-US" dirty="0" smtClean="0"/>
              <a:t>It involves operations such as modulation, coding, etc.</a:t>
            </a:r>
          </a:p>
          <a:p>
            <a:r>
              <a:rPr lang="en-US" dirty="0"/>
              <a:t>Channel</a:t>
            </a:r>
          </a:p>
          <a:p>
            <a:pPr lvl="1"/>
            <a:r>
              <a:rPr lang="en-US" dirty="0"/>
              <a:t>The electrical medium that bridges the distance from source to destination.</a:t>
            </a:r>
          </a:p>
          <a:p>
            <a:pPr lvl="1"/>
            <a:r>
              <a:rPr lang="en-US" dirty="0"/>
              <a:t>Wired channel: twisted pair, coaxial cable</a:t>
            </a:r>
          </a:p>
          <a:p>
            <a:pPr lvl="1"/>
            <a:r>
              <a:rPr lang="en-US" dirty="0"/>
              <a:t>Wireless channel: electromagnetic waves, visible light, laser beam.</a:t>
            </a:r>
          </a:p>
          <a:p>
            <a:pPr lvl="1"/>
            <a:r>
              <a:rPr lang="en-US" dirty="0"/>
              <a:t>Channel introduces undesirable effects to the signal</a:t>
            </a:r>
          </a:p>
          <a:p>
            <a:pPr lvl="2"/>
            <a:r>
              <a:rPr lang="en-US" dirty="0"/>
              <a:t>Attenuation: the signal power progressively decreases as the distance increases</a:t>
            </a:r>
          </a:p>
          <a:p>
            <a:pPr lvl="2"/>
            <a:r>
              <a:rPr lang="en-US" dirty="0"/>
              <a:t>Thermal noise: unwanted electrical disturbance due to the random movement of electrons. </a:t>
            </a:r>
          </a:p>
          <a:p>
            <a:pPr lvl="2"/>
            <a:r>
              <a:rPr lang="en-US" dirty="0"/>
              <a:t>Interference: unwanted electrical signals from other electrical/mechanical systems. </a:t>
            </a:r>
          </a:p>
          <a:p>
            <a:pPr lvl="2"/>
            <a:r>
              <a:rPr lang="en-US" dirty="0"/>
              <a:t>distortion: waveform perturbation caused by imperfect response of the system to the input signal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BE08-55F9-4E30-A5DD-C7DBD84A0467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276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8401050" cy="5245100"/>
          </a:xfrm>
        </p:spPr>
        <p:txBody>
          <a:bodyPr/>
          <a:lstStyle/>
          <a:p>
            <a:r>
              <a:rPr lang="en-US" dirty="0" smtClean="0"/>
              <a:t>Receiver </a:t>
            </a:r>
            <a:r>
              <a:rPr lang="en-US" dirty="0" smtClean="0"/>
              <a:t>(output </a:t>
            </a:r>
            <a:r>
              <a:rPr lang="en-US" dirty="0"/>
              <a:t>transducer)</a:t>
            </a:r>
          </a:p>
          <a:p>
            <a:pPr lvl="1"/>
            <a:r>
              <a:rPr lang="en-US" dirty="0"/>
              <a:t>Convert the </a:t>
            </a:r>
            <a:r>
              <a:rPr lang="en-US" dirty="0" smtClean="0"/>
              <a:t>received electrical signal to its original format (e.g. audio, video). </a:t>
            </a:r>
            <a:endParaRPr lang="en-US" dirty="0"/>
          </a:p>
          <a:p>
            <a:pPr lvl="1"/>
            <a:r>
              <a:rPr lang="en-US" dirty="0"/>
              <a:t>It involves operations such as </a:t>
            </a:r>
            <a:r>
              <a:rPr lang="en-US" dirty="0" smtClean="0"/>
              <a:t>demodulation</a:t>
            </a:r>
            <a:r>
              <a:rPr lang="en-US" dirty="0"/>
              <a:t>, </a:t>
            </a:r>
            <a:r>
              <a:rPr lang="en-US" dirty="0" smtClean="0"/>
              <a:t>decoding</a:t>
            </a:r>
            <a:r>
              <a:rPr lang="en-US" dirty="0"/>
              <a:t>, </a:t>
            </a:r>
            <a:r>
              <a:rPr lang="en-US" dirty="0" smtClean="0"/>
              <a:t>filtering, etc</a:t>
            </a:r>
            <a:r>
              <a:rPr lang="en-US" dirty="0"/>
              <a:t>.</a:t>
            </a:r>
          </a:p>
          <a:p>
            <a:pPr lvl="2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BE08-55F9-4E30-A5DD-C7DBD84A0467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991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7FC66-36F6-49B5-A032-0A2A243676F0}" type="slidenum">
              <a:rPr lang="en-US"/>
              <a:pPr/>
              <a:t>9</a:t>
            </a:fld>
            <a:endParaRPr lang="en-US"/>
          </a:p>
        </p:txBody>
      </p:sp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</a:t>
            </a:r>
            <a:endParaRPr lang="en-US" dirty="0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operation of any communication system relies on two resources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Transmitted power</a:t>
            </a:r>
            <a:r>
              <a:rPr lang="en-US" dirty="0"/>
              <a:t>: the average power of the transmitted signal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Channel bandwidth</a:t>
            </a:r>
            <a:r>
              <a:rPr lang="en-US" dirty="0"/>
              <a:t>: the frequency range of the channel that allows the signal to pass through.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Both resources are limited.</a:t>
            </a:r>
          </a:p>
          <a:p>
            <a:pPr lvl="1"/>
            <a:r>
              <a:rPr lang="en-US" dirty="0"/>
              <a:t>The objective of communication system design is to achieve better communication qualities with less resource</a:t>
            </a:r>
          </a:p>
          <a:p>
            <a:pPr lvl="2"/>
            <a:r>
              <a:rPr lang="en-US" dirty="0"/>
              <a:t>E.g. less transmitted power </a:t>
            </a:r>
            <a:r>
              <a:rPr lang="en-US" dirty="0">
                <a:sym typeface="Wingdings" pitchFamily="2" charset="2"/>
              </a:rPr>
              <a:t> longer battery life</a:t>
            </a:r>
          </a:p>
          <a:p>
            <a:pPr lvl="2"/>
            <a:r>
              <a:rPr lang="en-US" dirty="0">
                <a:sym typeface="Wingdings" pitchFamily="2" charset="2"/>
              </a:rPr>
              <a:t>E.g. less bandwidth  more users in a certain frequency range.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22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5A7E-875A-4520-8C20-BA5BAF6C5EF6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Historical Background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Elements of a Communication System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Digital Communication </a:t>
            </a:r>
            <a:r>
              <a:rPr lang="en-US" dirty="0" err="1" smtClean="0"/>
              <a:t>v.s</a:t>
            </a:r>
            <a:r>
              <a:rPr lang="en-US" dirty="0" smtClean="0"/>
              <a:t>. Analog Communication</a:t>
            </a:r>
          </a:p>
          <a:p>
            <a:endParaRPr lang="en-US" dirty="0"/>
          </a:p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Underpinning Theories of Communication Systems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04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FE97-C7C9-4D6D-9E4F-3AC52E6D9912}" type="slidenum">
              <a:rPr lang="en-US"/>
              <a:pPr/>
              <a:t>11</a:t>
            </a:fld>
            <a:endParaRPr lang="en-US"/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ANALOG V.S. DIGITAL</a:t>
            </a:r>
            <a:endParaRPr lang="en-US" dirty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Analog Message</a:t>
            </a:r>
          </a:p>
          <a:p>
            <a:pPr lvl="1"/>
            <a:r>
              <a:rPr lang="en-US"/>
              <a:t>A message that is defined on a </a:t>
            </a:r>
            <a:r>
              <a:rPr lang="en-US">
                <a:solidFill>
                  <a:srgbClr val="FF0000"/>
                </a:solidFill>
              </a:rPr>
              <a:t>continuum</a:t>
            </a:r>
            <a:r>
              <a:rPr lang="en-US"/>
              <a:t>, i.e., the signal can take infinitely many values.</a:t>
            </a:r>
          </a:p>
          <a:p>
            <a:pPr lvl="1"/>
            <a:r>
              <a:rPr lang="en-US"/>
              <a:t>Waveform fidelity is important.</a:t>
            </a:r>
          </a:p>
          <a:p>
            <a:pPr lvl="1"/>
            <a:r>
              <a:rPr lang="en-US"/>
              <a:t>Example: human speech.                      </a:t>
            </a:r>
          </a:p>
          <a:p>
            <a:r>
              <a:rPr lang="en-US"/>
              <a:t>Analog Signal</a:t>
            </a:r>
          </a:p>
          <a:p>
            <a:pPr lvl="1"/>
            <a:r>
              <a:rPr lang="en-US"/>
              <a:t>The electrical signal used to represent analog message</a:t>
            </a:r>
          </a:p>
          <a:p>
            <a:pPr lvl="1">
              <a:buFontTx/>
              <a:buNone/>
            </a:pPr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pic>
        <p:nvPicPr>
          <p:cNvPr id="123908" name="Picture 4" descr="speech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38" y="1778000"/>
            <a:ext cx="744537" cy="10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3909" name="Group 5"/>
          <p:cNvGrpSpPr>
            <a:grpSpLocks/>
          </p:cNvGrpSpPr>
          <p:nvPr/>
        </p:nvGrpSpPr>
        <p:grpSpPr bwMode="auto">
          <a:xfrm>
            <a:off x="6410325" y="1603375"/>
            <a:ext cx="488950" cy="457200"/>
            <a:chOff x="3550" y="1386"/>
            <a:chExt cx="308" cy="288"/>
          </a:xfrm>
        </p:grpSpPr>
        <p:sp>
          <p:nvSpPr>
            <p:cNvPr id="123910" name="AutoShape 6"/>
            <p:cNvSpPr>
              <a:spLocks noChangeArrowheads="1"/>
            </p:cNvSpPr>
            <p:nvPr/>
          </p:nvSpPr>
          <p:spPr bwMode="auto">
            <a:xfrm>
              <a:off x="3584" y="1512"/>
              <a:ext cx="248" cy="128"/>
            </a:xfrm>
            <a:prstGeom prst="wedgeEllipseCallout">
              <a:avLst>
                <a:gd name="adj1" fmla="val -193954"/>
                <a:gd name="adj2" fmla="val 3594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1000"/>
            </a:p>
          </p:txBody>
        </p:sp>
        <p:sp>
          <p:nvSpPr>
            <p:cNvPr id="123911" name="Text Box 7"/>
            <p:cNvSpPr txBox="1">
              <a:spLocks noChangeArrowheads="1"/>
            </p:cNvSpPr>
            <p:nvPr/>
          </p:nvSpPr>
          <p:spPr bwMode="auto">
            <a:xfrm>
              <a:off x="3550" y="138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…</a:t>
              </a:r>
            </a:p>
          </p:txBody>
        </p:sp>
      </p:grpSp>
      <p:pic>
        <p:nvPicPr>
          <p:cNvPr id="123912" name="Picture 8" descr="analo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3536950"/>
            <a:ext cx="6394450" cy="262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641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667BE-D6B9-43C7-8F97-031A14750DCD}" type="slidenum">
              <a:rPr lang="en-US"/>
              <a:pPr/>
              <a:t>12</a:t>
            </a:fld>
            <a:endParaRPr lang="en-US"/>
          </a:p>
        </p:txBody>
      </p:sp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V.S. DIGITAL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Digital Message</a:t>
            </a:r>
          </a:p>
          <a:p>
            <a:pPr lvl="1"/>
            <a:r>
              <a:rPr lang="en-US"/>
              <a:t>A Message that has finitely many possible values.</a:t>
            </a:r>
          </a:p>
          <a:p>
            <a:pPr lvl="1"/>
            <a:r>
              <a:rPr lang="en-US"/>
              <a:t>Example: traffic lights 		Telegraph 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r>
              <a:rPr lang="en-US"/>
              <a:t>Digital Signal</a:t>
            </a:r>
          </a:p>
          <a:p>
            <a:pPr lvl="1"/>
            <a:r>
              <a:rPr lang="en-US"/>
              <a:t>The electrical signal used to represent digital message.</a:t>
            </a:r>
          </a:p>
          <a:p>
            <a:pPr lvl="1">
              <a:buFontTx/>
              <a:buNone/>
            </a:pPr>
            <a:endParaRPr lang="en-US"/>
          </a:p>
        </p:txBody>
      </p:sp>
      <p:pic>
        <p:nvPicPr>
          <p:cNvPr id="132100" name="Picture 4" descr="trafficligh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925" y="1711325"/>
            <a:ext cx="642938" cy="89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101" name="Picture 5" descr="telegraph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413" y="1728788"/>
            <a:ext cx="1357312" cy="74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117" name="Group 21"/>
          <p:cNvGrpSpPr>
            <a:grpSpLocks/>
          </p:cNvGrpSpPr>
          <p:nvPr/>
        </p:nvGrpSpPr>
        <p:grpSpPr bwMode="auto">
          <a:xfrm>
            <a:off x="723900" y="3581400"/>
            <a:ext cx="7745413" cy="2540000"/>
            <a:chOff x="480" y="2440"/>
            <a:chExt cx="4495" cy="1416"/>
          </a:xfrm>
        </p:grpSpPr>
        <p:pic>
          <p:nvPicPr>
            <p:cNvPr id="132110" name="Picture 14" descr="digita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2440"/>
              <a:ext cx="4495" cy="1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2113" name="Line 17"/>
            <p:cNvSpPr>
              <a:spLocks noChangeShapeType="1"/>
            </p:cNvSpPr>
            <p:nvPr/>
          </p:nvSpPr>
          <p:spPr bwMode="auto">
            <a:xfrm>
              <a:off x="899" y="3430"/>
              <a:ext cx="35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14" name="Line 18"/>
            <p:cNvSpPr>
              <a:spLocks noChangeShapeType="1"/>
            </p:cNvSpPr>
            <p:nvPr/>
          </p:nvSpPr>
          <p:spPr bwMode="auto">
            <a:xfrm>
              <a:off x="886" y="3201"/>
              <a:ext cx="35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15" name="Line 19"/>
            <p:cNvSpPr>
              <a:spLocks noChangeShapeType="1"/>
            </p:cNvSpPr>
            <p:nvPr/>
          </p:nvSpPr>
          <p:spPr bwMode="auto">
            <a:xfrm>
              <a:off x="880" y="2994"/>
              <a:ext cx="35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16" name="Line 20"/>
            <p:cNvSpPr>
              <a:spLocks noChangeShapeType="1"/>
            </p:cNvSpPr>
            <p:nvPr/>
          </p:nvSpPr>
          <p:spPr bwMode="auto">
            <a:xfrm>
              <a:off x="880" y="2781"/>
              <a:ext cx="35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732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98D33-777B-47E1-A16D-A779C456E50D}" type="slidenum">
              <a:rPr lang="en-US"/>
              <a:pPr/>
              <a:t>13</a:t>
            </a:fld>
            <a:endParaRPr lang="en-US"/>
          </a:p>
        </p:txBody>
      </p:sp>
      <p:sp>
        <p:nvSpPr>
          <p:cNvPr id="1566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V.S. DIGITAL</a:t>
            </a:r>
          </a:p>
        </p:txBody>
      </p:sp>
      <p:sp>
        <p:nvSpPr>
          <p:cNvPr id="15667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Usually, digital signals are used for digital message</a:t>
            </a:r>
          </a:p>
          <a:p>
            <a:pPr lvl="1"/>
            <a:r>
              <a:rPr lang="en-US" sz="1800" dirty="0"/>
              <a:t>E.g., computer bit on Ethernet wire</a:t>
            </a:r>
          </a:p>
          <a:p>
            <a:r>
              <a:rPr lang="en-US" sz="2000" dirty="0"/>
              <a:t>Also, analog signals are used for analog message</a:t>
            </a:r>
          </a:p>
          <a:p>
            <a:pPr lvl="1"/>
            <a:r>
              <a:rPr lang="en-US" sz="1800" dirty="0"/>
              <a:t>E.g., voice over telephone wire</a:t>
            </a:r>
          </a:p>
          <a:p>
            <a:r>
              <a:rPr lang="en-US" sz="2000" dirty="0"/>
              <a:t>However, one can use analog signal to carry digital message</a:t>
            </a:r>
          </a:p>
          <a:p>
            <a:pPr lvl="1"/>
            <a:r>
              <a:rPr lang="en-US" sz="1800" dirty="0"/>
              <a:t>E.g., computer bits over telephone wire via a Modem</a:t>
            </a:r>
          </a:p>
          <a:p>
            <a:r>
              <a:rPr lang="en-US" sz="2000" dirty="0"/>
              <a:t>Also, </a:t>
            </a:r>
            <a:r>
              <a:rPr lang="en-US" sz="2000" dirty="0">
                <a:solidFill>
                  <a:srgbClr val="FF0000"/>
                </a:solidFill>
              </a:rPr>
              <a:t>analog message can be converted to digital message</a:t>
            </a:r>
            <a:r>
              <a:rPr lang="en-US" sz="2000" dirty="0"/>
              <a:t>, then digitalized message can be carried by digital signal.</a:t>
            </a:r>
          </a:p>
          <a:p>
            <a:pPr lvl="1"/>
            <a:r>
              <a:rPr lang="en-US" sz="1800" dirty="0"/>
              <a:t>Through sampling and quantization</a:t>
            </a:r>
          </a:p>
          <a:p>
            <a:pPr lvl="1"/>
            <a:r>
              <a:rPr lang="en-US" sz="1800" dirty="0"/>
              <a:t>E.g., audio in a MP3 player</a:t>
            </a:r>
          </a:p>
          <a:p>
            <a:r>
              <a:rPr lang="en-US" sz="2000" dirty="0"/>
              <a:t>Also, </a:t>
            </a:r>
            <a:r>
              <a:rPr lang="en-US" sz="2000" dirty="0">
                <a:solidFill>
                  <a:srgbClr val="FF0000"/>
                </a:solidFill>
              </a:rPr>
              <a:t>digital message can be converted to analog message</a:t>
            </a:r>
            <a:r>
              <a:rPr lang="en-US" sz="2000" dirty="0"/>
              <a:t>, then the converted message can be carried by analog signal.</a:t>
            </a:r>
          </a:p>
          <a:p>
            <a:pPr lvl="1"/>
            <a:r>
              <a:rPr lang="en-US" sz="1800" dirty="0"/>
              <a:t>Through interpolation</a:t>
            </a:r>
          </a:p>
          <a:p>
            <a:pPr lvl="1"/>
            <a:r>
              <a:rPr lang="en-US" sz="1800" dirty="0"/>
              <a:t>E.g., photo from digital camera displayed on a regular TV</a:t>
            </a:r>
          </a:p>
        </p:txBody>
      </p:sp>
    </p:spTree>
    <p:extLst>
      <p:ext uri="{BB962C8B-B14F-4D97-AF65-F5344CB8AC3E}">
        <p14:creationId xmlns:p14="http://schemas.microsoft.com/office/powerpoint/2010/main" val="748541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6686-408A-43CD-A324-C8C0991915AD}" type="slidenum">
              <a:rPr lang="en-US"/>
              <a:pPr/>
              <a:t>14</a:t>
            </a:fld>
            <a:endParaRPr lang="en-US"/>
          </a:p>
        </p:txBody>
      </p:sp>
      <p:sp>
        <p:nvSpPr>
          <p:cNvPr id="133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ANALOG </a:t>
            </a:r>
            <a:r>
              <a:rPr lang="en-US" dirty="0"/>
              <a:t>V.S. DIGITAL</a:t>
            </a:r>
          </a:p>
        </p:txBody>
      </p:sp>
      <p:sp>
        <p:nvSpPr>
          <p:cNvPr id="13312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Analog Communication System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Transfers information from an analog message source to a destination (sink) </a:t>
            </a:r>
            <a:endParaRPr lang="en-US" dirty="0">
              <a:sym typeface="Wingdings" pitchFamily="2" charset="2"/>
            </a:endParaRPr>
          </a:p>
          <a:p>
            <a:pPr lvl="2"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Analog message is transmitted in channel</a:t>
            </a:r>
          </a:p>
          <a:p>
            <a:pPr lvl="2"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Recover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analog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message at receiver</a:t>
            </a:r>
            <a:endParaRPr lang="en-US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/>
              <a:t>Objective: keep the fidelity of the analog waveform.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Example: AM/FM radio  </a:t>
            </a:r>
          </a:p>
          <a:p>
            <a:pPr>
              <a:lnSpc>
                <a:spcPct val="90000"/>
              </a:lnSpc>
            </a:pPr>
            <a:r>
              <a:rPr lang="en-US" dirty="0"/>
              <a:t>Digital Communication System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Transfers information from a digital message source to a destination (sink) </a:t>
            </a:r>
            <a:endParaRPr lang="en-US" dirty="0">
              <a:sym typeface="Wingdings" pitchFamily="2" charset="2"/>
            </a:endParaRPr>
          </a:p>
          <a:p>
            <a:pPr lvl="2"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Digital message is transmitted in channel.</a:t>
            </a:r>
          </a:p>
          <a:p>
            <a:pPr lvl="2"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Recover digital message at receiver</a:t>
            </a:r>
            <a:endParaRPr lang="en-US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/>
              <a:t>Objective: Recover the digital message at the receiver.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Waveform fidelity is no longer important.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Example: Computer Network.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184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FFEA-E5D3-44FC-8D6D-D83AE0DE3416}" type="slidenum">
              <a:rPr lang="en-US"/>
              <a:pPr/>
              <a:t>15</a:t>
            </a:fld>
            <a:endParaRPr lang="en-US"/>
          </a:p>
        </p:txBody>
      </p:sp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V.S. DIGITAL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two people are talking with each other face by face, is this an analog communication system or digital communication System? What if they talk over cell phone?</a:t>
            </a:r>
          </a:p>
          <a:p>
            <a:pPr>
              <a:buFontTx/>
              <a:buNone/>
            </a:pPr>
            <a:r>
              <a:rPr lang="en-US" dirty="0"/>
              <a:t>	</a:t>
            </a:r>
          </a:p>
        </p:txBody>
      </p:sp>
      <p:pic>
        <p:nvPicPr>
          <p:cNvPr id="124932" name="Picture 4" descr="convers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713" y="3065463"/>
            <a:ext cx="2352675" cy="236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933" name="AutoShape 5"/>
          <p:cNvSpPr>
            <a:spLocks noChangeArrowheads="1"/>
          </p:cNvSpPr>
          <p:nvPr/>
        </p:nvSpPr>
        <p:spPr bwMode="auto">
          <a:xfrm>
            <a:off x="3352800" y="2095500"/>
            <a:ext cx="2882900" cy="685800"/>
          </a:xfrm>
          <a:prstGeom prst="wedgeEllipseCallout">
            <a:avLst>
              <a:gd name="adj1" fmla="val -15583"/>
              <a:gd name="adj2" fmla="val 120370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>
                <a:latin typeface="Staccato222 BT" pitchFamily="66" charset="0"/>
              </a:rPr>
              <a:t>Blah blah …</a:t>
            </a:r>
          </a:p>
        </p:txBody>
      </p:sp>
      <p:sp>
        <p:nvSpPr>
          <p:cNvPr id="124934" name="AutoShape 6"/>
          <p:cNvSpPr>
            <a:spLocks noChangeArrowheads="1"/>
          </p:cNvSpPr>
          <p:nvPr/>
        </p:nvSpPr>
        <p:spPr bwMode="auto">
          <a:xfrm>
            <a:off x="6045200" y="2590800"/>
            <a:ext cx="1866900" cy="660400"/>
          </a:xfrm>
          <a:prstGeom prst="cloudCallout">
            <a:avLst>
              <a:gd name="adj1" fmla="val -83843"/>
              <a:gd name="adj2" fmla="val 33412"/>
            </a:avLst>
          </a:prstGeom>
          <a:solidFill>
            <a:srgbClr val="D7D7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>
                <a:solidFill>
                  <a:srgbClr val="CC3300"/>
                </a:solidFill>
                <a:latin typeface="Monotype Corsiva" pitchFamily="66" charset="0"/>
              </a:rPr>
              <a:t>?????</a:t>
            </a:r>
          </a:p>
        </p:txBody>
      </p:sp>
      <p:sp>
        <p:nvSpPr>
          <p:cNvPr id="124935" name="Text Box 7"/>
          <p:cNvSpPr txBox="1">
            <a:spLocks noChangeArrowheads="1"/>
          </p:cNvSpPr>
          <p:nvPr/>
        </p:nvSpPr>
        <p:spPr bwMode="auto">
          <a:xfrm>
            <a:off x="352425" y="5375275"/>
            <a:ext cx="850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99"/>
                </a:solidFill>
              </a:rPr>
              <a:t>What matters is </a:t>
            </a:r>
            <a:r>
              <a:rPr lang="en-US">
                <a:solidFill>
                  <a:srgbClr val="FF3300"/>
                </a:solidFill>
              </a:rPr>
              <a:t>what kind of message</a:t>
            </a:r>
            <a:r>
              <a:rPr lang="en-US">
                <a:solidFill>
                  <a:srgbClr val="000099"/>
                </a:solidFill>
              </a:rPr>
              <a:t> is transmitted </a:t>
            </a:r>
            <a:r>
              <a:rPr lang="en-US">
                <a:solidFill>
                  <a:srgbClr val="FF3300"/>
                </a:solidFill>
              </a:rPr>
              <a:t>in</a:t>
            </a:r>
            <a:r>
              <a:rPr lang="en-US">
                <a:solidFill>
                  <a:srgbClr val="000099"/>
                </a:solidFill>
              </a:rPr>
              <a:t> </a:t>
            </a:r>
            <a:r>
              <a:rPr lang="en-US">
                <a:solidFill>
                  <a:srgbClr val="FF3300"/>
                </a:solidFill>
              </a:rPr>
              <a:t>channel</a:t>
            </a:r>
            <a:r>
              <a:rPr lang="en-US">
                <a:solidFill>
                  <a:srgbClr val="00009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3439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40C18-4D42-4204-A42F-DE34431DF7FD}" type="slidenum">
              <a:rPr lang="en-US"/>
              <a:pPr/>
              <a:t>16</a:t>
            </a:fld>
            <a:endParaRPr lang="en-US"/>
          </a:p>
        </p:txBody>
      </p:sp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V.S. DIGITAL</a:t>
            </a:r>
          </a:p>
        </p:txBody>
      </p:sp>
      <p:pic>
        <p:nvPicPr>
          <p:cNvPr id="134149" name="Picture 5" descr="aorigi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117600"/>
            <a:ext cx="3241675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150" name="Picture 6" descr="anoi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38" y="1071563"/>
            <a:ext cx="3302000" cy="17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151" name="Picture 7" descr="nois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75" y="2835275"/>
            <a:ext cx="2292350" cy="121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152" name="Picture 8" descr="dorigin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4148138"/>
            <a:ext cx="3165475" cy="171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153" name="Picture 9" descr="dnois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013" y="4092575"/>
            <a:ext cx="3343275" cy="179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154" name="AutoShape 10"/>
          <p:cNvSpPr>
            <a:spLocks noChangeArrowheads="1"/>
          </p:cNvSpPr>
          <p:nvPr/>
        </p:nvSpPr>
        <p:spPr bwMode="auto">
          <a:xfrm>
            <a:off x="3417888" y="1828800"/>
            <a:ext cx="939800" cy="279400"/>
          </a:xfrm>
          <a:prstGeom prst="rightArrow">
            <a:avLst>
              <a:gd name="adj1" fmla="val 50000"/>
              <a:gd name="adj2" fmla="val 84091"/>
            </a:avLst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4155" name="Group 11"/>
          <p:cNvGrpSpPr>
            <a:grpSpLocks/>
          </p:cNvGrpSpPr>
          <p:nvPr/>
        </p:nvGrpSpPr>
        <p:grpSpPr bwMode="auto">
          <a:xfrm>
            <a:off x="4357688" y="1727200"/>
            <a:ext cx="441325" cy="457200"/>
            <a:chOff x="2112" y="2064"/>
            <a:chExt cx="240" cy="240"/>
          </a:xfrm>
        </p:grpSpPr>
        <p:sp>
          <p:nvSpPr>
            <p:cNvPr id="134156" name="Oval 12"/>
            <p:cNvSpPr>
              <a:spLocks noChangeArrowheads="1"/>
            </p:cNvSpPr>
            <p:nvPr/>
          </p:nvSpPr>
          <p:spPr bwMode="auto">
            <a:xfrm>
              <a:off x="2112" y="2064"/>
              <a:ext cx="240" cy="240"/>
            </a:xfrm>
            <a:prstGeom prst="ellips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57" name="Line 13"/>
            <p:cNvSpPr>
              <a:spLocks noChangeShapeType="1"/>
            </p:cNvSpPr>
            <p:nvPr/>
          </p:nvSpPr>
          <p:spPr bwMode="auto">
            <a:xfrm>
              <a:off x="2112" y="2183"/>
              <a:ext cx="24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58" name="Line 14"/>
            <p:cNvSpPr>
              <a:spLocks noChangeShapeType="1"/>
            </p:cNvSpPr>
            <p:nvPr/>
          </p:nvSpPr>
          <p:spPr bwMode="auto">
            <a:xfrm>
              <a:off x="2231" y="2064"/>
              <a:ext cx="0" cy="24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4159" name="AutoShape 15"/>
          <p:cNvSpPr>
            <a:spLocks noChangeArrowheads="1"/>
          </p:cNvSpPr>
          <p:nvPr/>
        </p:nvSpPr>
        <p:spPr bwMode="auto">
          <a:xfrm>
            <a:off x="4852988" y="1828800"/>
            <a:ext cx="781050" cy="279400"/>
          </a:xfrm>
          <a:prstGeom prst="rightArrow">
            <a:avLst>
              <a:gd name="adj1" fmla="val 50000"/>
              <a:gd name="adj2" fmla="val 69886"/>
            </a:avLst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160" name="AutoShape 16"/>
          <p:cNvSpPr>
            <a:spLocks noChangeArrowheads="1"/>
          </p:cNvSpPr>
          <p:nvPr/>
        </p:nvSpPr>
        <p:spPr bwMode="auto">
          <a:xfrm rot="-5400000">
            <a:off x="4275138" y="2349500"/>
            <a:ext cx="603250" cy="304800"/>
          </a:xfrm>
          <a:prstGeom prst="rightArrow">
            <a:avLst>
              <a:gd name="adj1" fmla="val 50000"/>
              <a:gd name="adj2" fmla="val 49479"/>
            </a:avLst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161" name="AutoShape 17"/>
          <p:cNvSpPr>
            <a:spLocks noChangeArrowheads="1"/>
          </p:cNvSpPr>
          <p:nvPr/>
        </p:nvSpPr>
        <p:spPr bwMode="auto">
          <a:xfrm>
            <a:off x="3417888" y="4699000"/>
            <a:ext cx="939800" cy="279400"/>
          </a:xfrm>
          <a:prstGeom prst="rightArrow">
            <a:avLst>
              <a:gd name="adj1" fmla="val 50000"/>
              <a:gd name="adj2" fmla="val 84091"/>
            </a:avLst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4162" name="Group 18"/>
          <p:cNvGrpSpPr>
            <a:grpSpLocks/>
          </p:cNvGrpSpPr>
          <p:nvPr/>
        </p:nvGrpSpPr>
        <p:grpSpPr bwMode="auto">
          <a:xfrm>
            <a:off x="4383088" y="4610100"/>
            <a:ext cx="441325" cy="457200"/>
            <a:chOff x="2112" y="2064"/>
            <a:chExt cx="240" cy="240"/>
          </a:xfrm>
        </p:grpSpPr>
        <p:sp>
          <p:nvSpPr>
            <p:cNvPr id="134163" name="Oval 19"/>
            <p:cNvSpPr>
              <a:spLocks noChangeArrowheads="1"/>
            </p:cNvSpPr>
            <p:nvPr/>
          </p:nvSpPr>
          <p:spPr bwMode="auto">
            <a:xfrm>
              <a:off x="2112" y="2064"/>
              <a:ext cx="240" cy="240"/>
            </a:xfrm>
            <a:prstGeom prst="ellips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64" name="Line 20"/>
            <p:cNvSpPr>
              <a:spLocks noChangeShapeType="1"/>
            </p:cNvSpPr>
            <p:nvPr/>
          </p:nvSpPr>
          <p:spPr bwMode="auto">
            <a:xfrm>
              <a:off x="2112" y="2183"/>
              <a:ext cx="24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65" name="Line 21"/>
            <p:cNvSpPr>
              <a:spLocks noChangeShapeType="1"/>
            </p:cNvSpPr>
            <p:nvPr/>
          </p:nvSpPr>
          <p:spPr bwMode="auto">
            <a:xfrm>
              <a:off x="2231" y="2064"/>
              <a:ext cx="0" cy="24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4166" name="AutoShape 22"/>
          <p:cNvSpPr>
            <a:spLocks noChangeArrowheads="1"/>
          </p:cNvSpPr>
          <p:nvPr/>
        </p:nvSpPr>
        <p:spPr bwMode="auto">
          <a:xfrm>
            <a:off x="4865688" y="4686300"/>
            <a:ext cx="781050" cy="279400"/>
          </a:xfrm>
          <a:prstGeom prst="rightArrow">
            <a:avLst>
              <a:gd name="adj1" fmla="val 50000"/>
              <a:gd name="adj2" fmla="val 69886"/>
            </a:avLst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167" name="AutoShape 23"/>
          <p:cNvSpPr>
            <a:spLocks noChangeArrowheads="1"/>
          </p:cNvSpPr>
          <p:nvPr/>
        </p:nvSpPr>
        <p:spPr bwMode="auto">
          <a:xfrm rot="5400000" flipV="1">
            <a:off x="4313238" y="4102100"/>
            <a:ext cx="603250" cy="304800"/>
          </a:xfrm>
          <a:prstGeom prst="rightArrow">
            <a:avLst>
              <a:gd name="adj1" fmla="val 50000"/>
              <a:gd name="adj2" fmla="val 49479"/>
            </a:avLst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168" name="Text Box 24"/>
          <p:cNvSpPr txBox="1">
            <a:spLocks noChangeArrowheads="1"/>
          </p:cNvSpPr>
          <p:nvPr/>
        </p:nvSpPr>
        <p:spPr bwMode="auto">
          <a:xfrm>
            <a:off x="758825" y="4105275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99"/>
                </a:solidFill>
              </a:rPr>
              <a:t>‘1’</a:t>
            </a:r>
          </a:p>
        </p:txBody>
      </p:sp>
      <p:sp>
        <p:nvSpPr>
          <p:cNvPr id="134169" name="Text Box 25"/>
          <p:cNvSpPr txBox="1">
            <a:spLocks noChangeArrowheads="1"/>
          </p:cNvSpPr>
          <p:nvPr/>
        </p:nvSpPr>
        <p:spPr bwMode="auto">
          <a:xfrm>
            <a:off x="1622425" y="5197475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99"/>
                </a:solidFill>
              </a:rPr>
              <a:t>‘0’</a:t>
            </a:r>
          </a:p>
        </p:txBody>
      </p:sp>
      <p:sp>
        <p:nvSpPr>
          <p:cNvPr id="134170" name="Text Box 26"/>
          <p:cNvSpPr txBox="1">
            <a:spLocks noChangeArrowheads="1"/>
          </p:cNvSpPr>
          <p:nvPr/>
        </p:nvSpPr>
        <p:spPr bwMode="auto">
          <a:xfrm>
            <a:off x="2562225" y="4092575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99"/>
                </a:solidFill>
              </a:rPr>
              <a:t>‘1’</a:t>
            </a:r>
          </a:p>
        </p:txBody>
      </p:sp>
      <p:sp>
        <p:nvSpPr>
          <p:cNvPr id="134171" name="Text Box 27"/>
          <p:cNvSpPr txBox="1">
            <a:spLocks noChangeArrowheads="1"/>
          </p:cNvSpPr>
          <p:nvPr/>
        </p:nvSpPr>
        <p:spPr bwMode="auto">
          <a:xfrm>
            <a:off x="6283325" y="3838575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99"/>
                </a:solidFill>
              </a:rPr>
              <a:t>‘1’</a:t>
            </a:r>
          </a:p>
        </p:txBody>
      </p:sp>
      <p:sp>
        <p:nvSpPr>
          <p:cNvPr id="134172" name="Text Box 28"/>
          <p:cNvSpPr txBox="1">
            <a:spLocks noChangeArrowheads="1"/>
          </p:cNvSpPr>
          <p:nvPr/>
        </p:nvSpPr>
        <p:spPr bwMode="auto">
          <a:xfrm>
            <a:off x="7223125" y="5591175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99"/>
                </a:solidFill>
              </a:rPr>
              <a:t>‘0’</a:t>
            </a:r>
          </a:p>
        </p:txBody>
      </p:sp>
      <p:sp>
        <p:nvSpPr>
          <p:cNvPr id="134173" name="Text Box 29"/>
          <p:cNvSpPr txBox="1">
            <a:spLocks noChangeArrowheads="1"/>
          </p:cNvSpPr>
          <p:nvPr/>
        </p:nvSpPr>
        <p:spPr bwMode="auto">
          <a:xfrm>
            <a:off x="8239125" y="3851275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99"/>
                </a:solidFill>
              </a:rPr>
              <a:t>‘1’</a:t>
            </a:r>
          </a:p>
        </p:txBody>
      </p:sp>
    </p:spTree>
    <p:extLst>
      <p:ext uri="{BB962C8B-B14F-4D97-AF65-F5344CB8AC3E}">
        <p14:creationId xmlns:p14="http://schemas.microsoft.com/office/powerpoint/2010/main" val="373915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4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4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34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34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4" grpId="0" animBg="1"/>
      <p:bldP spid="134159" grpId="0" animBg="1"/>
      <p:bldP spid="134160" grpId="0" animBg="1"/>
      <p:bldP spid="134161" grpId="0" animBg="1"/>
      <p:bldP spid="134166" grpId="0" animBg="1"/>
      <p:bldP spid="134167" grpId="0" animBg="1"/>
      <p:bldP spid="134168" grpId="0"/>
      <p:bldP spid="134169" grpId="0"/>
      <p:bldP spid="134170" grpId="0"/>
      <p:bldP spid="134171" grpId="0"/>
      <p:bldP spid="134172" grpId="0"/>
      <p:bldP spid="13417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B7-B982-4B40-8B56-8A39C8BE621C}" type="slidenum">
              <a:rPr lang="en-US"/>
              <a:pPr/>
              <a:t>17</a:t>
            </a:fld>
            <a:endParaRPr lang="en-US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V.S. DIGITAL: SNR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Signal to noise ratio (SNR): The ratio of the signal power to the noise power </a:t>
            </a:r>
            <a:r>
              <a:rPr lang="en-US">
                <a:solidFill>
                  <a:srgbClr val="FF0000"/>
                </a:solidFill>
              </a:rPr>
              <a:t>at the receiver</a:t>
            </a:r>
            <a:r>
              <a:rPr lang="en-US"/>
              <a:t>.</a:t>
            </a:r>
          </a:p>
          <a:p>
            <a:pPr lvl="1"/>
            <a:r>
              <a:rPr lang="en-US"/>
              <a:t>SNR = S/N, with S being the signal power, and N being the noise power observed by the receiver.</a:t>
            </a:r>
          </a:p>
          <a:p>
            <a:pPr lvl="1"/>
            <a:r>
              <a:rPr lang="en-US"/>
              <a:t>High SNR </a:t>
            </a:r>
            <a:r>
              <a:rPr lang="en-US">
                <a:sym typeface="Wingdings" pitchFamily="2" charset="2"/>
              </a:rPr>
              <a:t> Signal is strong, and noise is weak  Better communication quality.</a:t>
            </a:r>
          </a:p>
          <a:p>
            <a:pPr lvl="1"/>
            <a:r>
              <a:rPr lang="en-US">
                <a:sym typeface="Wingdings" pitchFamily="2" charset="2"/>
              </a:rPr>
              <a:t>Improve SNR  Improve Tx power  More power consumption</a:t>
            </a:r>
          </a:p>
          <a:p>
            <a:pPr lvl="1">
              <a:buFontTx/>
              <a:buNone/>
            </a:pPr>
            <a:endParaRPr lang="en-US"/>
          </a:p>
        </p:txBody>
      </p:sp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1873250" y="5884863"/>
            <a:ext cx="1181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99"/>
                </a:solidFill>
              </a:rPr>
              <a:t>High SNR</a:t>
            </a:r>
          </a:p>
        </p:txBody>
      </p:sp>
      <p:sp>
        <p:nvSpPr>
          <p:cNvPr id="135173" name="Text Box 5"/>
          <p:cNvSpPr txBox="1">
            <a:spLocks noChangeArrowheads="1"/>
          </p:cNvSpPr>
          <p:nvPr/>
        </p:nvSpPr>
        <p:spPr bwMode="auto">
          <a:xfrm>
            <a:off x="6281738" y="5922963"/>
            <a:ext cx="1130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99"/>
                </a:solidFill>
              </a:rPr>
              <a:t>Low SNR</a:t>
            </a:r>
          </a:p>
        </p:txBody>
      </p:sp>
      <p:pic>
        <p:nvPicPr>
          <p:cNvPr id="135174" name="Picture 6" descr="highsn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3398838"/>
            <a:ext cx="3363912" cy="251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175" name="Picture 7" descr="lowsn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363" y="3451225"/>
            <a:ext cx="3073400" cy="230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75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V.S. </a:t>
            </a:r>
            <a:r>
              <a:rPr lang="en-US" dirty="0" smtClean="0"/>
              <a:t>DIGITAL: SNR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SNR is usually defined in the unit of dB (decibel)</a:t>
            </a:r>
          </a:p>
          <a:p>
            <a:pPr lvl="1"/>
            <a:r>
              <a:rPr lang="en-US" dirty="0"/>
              <a:t>Linear value: SNR = S/N  (no unit)</a:t>
            </a:r>
          </a:p>
          <a:p>
            <a:pPr lvl="1"/>
            <a:r>
              <a:rPr lang="en-US" dirty="0"/>
              <a:t>dB value: SNR(dB) =                              dB   </a:t>
            </a:r>
          </a:p>
          <a:p>
            <a:pPr lvl="1"/>
            <a:r>
              <a:rPr lang="en-US" dirty="0"/>
              <a:t>S/N = 2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dirty="0"/>
              <a:t>SNR (dB) =                     = 3dB</a:t>
            </a:r>
          </a:p>
          <a:p>
            <a:pPr lvl="1"/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The proper operation of the 1</a:t>
            </a:r>
            <a:r>
              <a:rPr lang="en-US" baseline="30000" dirty="0"/>
              <a:t>st</a:t>
            </a:r>
            <a:r>
              <a:rPr lang="en-US" dirty="0"/>
              <a:t> generation cell phone system (Analog) needs to maintain an SNR of approximately 18dB.</a:t>
            </a:r>
          </a:p>
          <a:p>
            <a:pPr lvl="1"/>
            <a:r>
              <a:rPr lang="en-US" dirty="0"/>
              <a:t>The proper operation of the 2</a:t>
            </a:r>
            <a:r>
              <a:rPr lang="en-US" baseline="30000" dirty="0"/>
              <a:t>nd</a:t>
            </a:r>
            <a:r>
              <a:rPr lang="en-US" dirty="0"/>
              <a:t> generation cell phone system (Digital) needs to maintain an SNR of approximately 14dB.</a:t>
            </a:r>
          </a:p>
          <a:p>
            <a:pPr lvl="1"/>
            <a:r>
              <a:rPr lang="en-US" dirty="0"/>
              <a:t>Low SNR requirement </a:t>
            </a:r>
            <a:r>
              <a:rPr lang="en-US" dirty="0">
                <a:sym typeface="Wingdings" pitchFamily="2" charset="2"/>
              </a:rPr>
              <a:t> Low </a:t>
            </a:r>
            <a:r>
              <a:rPr lang="en-US" dirty="0" err="1">
                <a:sym typeface="Wingdings" pitchFamily="2" charset="2"/>
              </a:rPr>
              <a:t>Tx</a:t>
            </a:r>
            <a:r>
              <a:rPr lang="en-US" dirty="0">
                <a:sym typeface="Wingdings" pitchFamily="2" charset="2"/>
              </a:rPr>
              <a:t> power  Long battery life.</a:t>
            </a:r>
          </a:p>
          <a:p>
            <a:pPr lvl="1"/>
            <a:r>
              <a:rPr lang="en-US" dirty="0"/>
              <a:t>Even with less SNR requirement, the communication quality of the 2</a:t>
            </a:r>
            <a:r>
              <a:rPr lang="en-US" baseline="30000" dirty="0"/>
              <a:t>nd</a:t>
            </a:r>
            <a:r>
              <a:rPr lang="en-US" dirty="0"/>
              <a:t> generation system is much better than that of the 1</a:t>
            </a:r>
            <a:r>
              <a:rPr lang="en-US" baseline="30000" dirty="0"/>
              <a:t>st</a:t>
            </a:r>
            <a:r>
              <a:rPr lang="en-US" dirty="0"/>
              <a:t> generation system</a:t>
            </a:r>
          </a:p>
          <a:p>
            <a:pPr lvl="1">
              <a:buFontTx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BE08-55F9-4E30-A5DD-C7DBD84A0467}" type="slidenum">
              <a:rPr lang="zh-CN" altLang="en-US" smtClean="0"/>
              <a:pPr/>
              <a:t>18</a:t>
            </a:fld>
            <a:endParaRPr lang="en-US" altLang="zh-CN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524250" y="1573213"/>
          <a:ext cx="147955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20" name="Equation" r:id="rId3" imgW="914400" imgH="228600" progId="Equation.3">
                  <p:embed/>
                </p:oleObj>
              </mc:Choice>
              <mc:Fallback>
                <p:oleObj name="Equation" r:id="rId3" imgW="9144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1573213"/>
                        <a:ext cx="1479550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771900" y="1917700"/>
          <a:ext cx="9652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21" name="Equation" r:id="rId5" imgW="596900" imgH="228600" progId="Equation.3">
                  <p:embed/>
                </p:oleObj>
              </mc:Choice>
              <mc:Fallback>
                <p:oleObj name="Equation" r:id="rId5" imgW="5969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1917700"/>
                        <a:ext cx="96520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0157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0840-3D6C-4B4F-AB57-728D2134423C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V.S. DIGITAL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9493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/>
              <a:t>Advantages of digital signals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Less susceptible to distortion and interference than analog signals.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600"/>
              <a:t>	</a:t>
            </a:r>
          </a:p>
        </p:txBody>
      </p:sp>
      <p:sp>
        <p:nvSpPr>
          <p:cNvPr id="140295" name="Rectangle 7"/>
          <p:cNvSpPr>
            <a:spLocks noChangeArrowheads="1"/>
          </p:cNvSpPr>
          <p:nvPr/>
        </p:nvSpPr>
        <p:spPr bwMode="auto">
          <a:xfrm>
            <a:off x="666750" y="4937125"/>
            <a:ext cx="7000875" cy="11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1800">
                <a:solidFill>
                  <a:srgbClr val="FF0000"/>
                </a:solidFill>
              </a:rPr>
              <a:t>Digital       Binary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600" b="0"/>
              <a:t>Binary signal is a type of digital signal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600" b="0"/>
              <a:t>digital signal can take more than two discrete values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600" b="0"/>
              <a:t>E.g. traffic lights (red, yellow, green), English alphabet (26 letters)</a:t>
            </a:r>
          </a:p>
        </p:txBody>
      </p:sp>
      <p:graphicFrame>
        <p:nvGraphicFramePr>
          <p:cNvPr id="140293" name="Object 5"/>
          <p:cNvGraphicFramePr>
            <a:graphicFrameLocks noChangeAspect="1"/>
          </p:cNvGraphicFramePr>
          <p:nvPr/>
        </p:nvGraphicFramePr>
        <p:xfrm>
          <a:off x="1860550" y="5027613"/>
          <a:ext cx="358775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33" name="Equation" r:id="rId3" imgW="139680" imgH="139680" progId="Equation.3">
                  <p:embed/>
                </p:oleObj>
              </mc:Choice>
              <mc:Fallback>
                <p:oleObj name="Equation" r:id="rId3" imgW="139680" imgH="1396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5027613"/>
                        <a:ext cx="358775" cy="23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7" name="Rectangle 9"/>
          <p:cNvSpPr>
            <a:spLocks noChangeArrowheads="1"/>
          </p:cNvSpPr>
          <p:nvPr/>
        </p:nvSpPr>
        <p:spPr bwMode="auto">
          <a:xfrm>
            <a:off x="361950" y="2838450"/>
            <a:ext cx="7772400" cy="355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600" b="0"/>
              <a:t>Digital circuits are more reliable and can be produced at a lower cost than analog circuits.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600" b="0"/>
              <a:t>Digital system are more flexible than analog system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1600" b="0"/>
              <a:t>Microprocessor, VLSI (very large scale integrated circuits), DSP (Digital signal processor), TDM (time division multiplexing)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600" b="0"/>
              <a:t>Different types of digital signals can be multiplexed together.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600" b="0"/>
              <a:t>Can be protected via digital signal processing techniques.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600" b="0"/>
              <a:t>Better security (encryption).</a:t>
            </a:r>
          </a:p>
        </p:txBody>
      </p:sp>
      <p:pic>
        <p:nvPicPr>
          <p:cNvPr id="140298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66875" y="1519238"/>
            <a:ext cx="3228975" cy="13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0299" name="Text Box 11"/>
          <p:cNvSpPr txBox="1">
            <a:spLocks noChangeArrowheads="1"/>
          </p:cNvSpPr>
          <p:nvPr/>
        </p:nvSpPr>
        <p:spPr bwMode="auto">
          <a:xfrm>
            <a:off x="5289550" y="2095500"/>
            <a:ext cx="2273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/>
              <a:t>Regenerative repeaters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756400" y="6223000"/>
            <a:ext cx="2197100" cy="457200"/>
          </a:xfrm>
        </p:spPr>
        <p:txBody>
          <a:bodyPr/>
          <a:lstStyle/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93700" y="6159500"/>
            <a:ext cx="4419600" cy="457200"/>
          </a:xfrm>
        </p:spPr>
        <p:txBody>
          <a:bodyPr/>
          <a:lstStyle/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072C4-28C6-423A-A194-1CC4419988BF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COMMUNICATION BLOCK </a:t>
            </a:r>
            <a:r>
              <a:rPr lang="en-US" dirty="0" smtClean="0"/>
              <a:t>DIAGRAM</a:t>
            </a:r>
            <a:endParaRPr lang="en-US" dirty="0"/>
          </a:p>
        </p:txBody>
      </p:sp>
      <p:pic>
        <p:nvPicPr>
          <p:cNvPr id="137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846138"/>
            <a:ext cx="8572500" cy="6011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5A7E-875A-4520-8C20-BA5BAF6C5EF6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Historical Background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Elements of a Communication System</a:t>
            </a:r>
          </a:p>
          <a:p>
            <a:pPr marL="0" indent="0">
              <a:buNone/>
            </a:pPr>
            <a:endParaRPr lang="en-US" dirty="0" smtClean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Digital Communication </a:t>
            </a:r>
            <a:r>
              <a:rPr lang="en-US" dirty="0" err="1" smtClean="0">
                <a:solidFill>
                  <a:schemeClr val="accent3">
                    <a:lumMod val="50000"/>
                  </a:schemeClr>
                </a:solidFill>
              </a:rPr>
              <a:t>v.s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. Analog Communication</a:t>
            </a:r>
          </a:p>
          <a:p>
            <a:endParaRPr lang="en-US" dirty="0"/>
          </a:p>
          <a:p>
            <a:r>
              <a:rPr lang="en-US" dirty="0" smtClean="0"/>
              <a:t>Underpinning Theories of Communication Systems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04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910CC-D1F6-4318-A215-D4A633B1B5A9}" type="slidenum">
              <a:rPr lang="en-US"/>
              <a:pPr/>
              <a:t>22</a:t>
            </a:fld>
            <a:endParaRPr lang="en-US"/>
          </a:p>
        </p:txBody>
      </p:sp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UNDERPINNING THEORIES</a:t>
            </a:r>
            <a:endParaRPr lang="en-US" dirty="0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Essential theories for communication system</a:t>
            </a:r>
          </a:p>
          <a:p>
            <a:pPr lvl="1"/>
            <a:r>
              <a:rPr lang="en-US" dirty="0"/>
              <a:t>Fourier analysis</a:t>
            </a:r>
          </a:p>
          <a:p>
            <a:pPr lvl="2"/>
            <a:r>
              <a:rPr lang="en-US" dirty="0"/>
              <a:t>Analyze the signal in the frequency domain</a:t>
            </a:r>
          </a:p>
          <a:p>
            <a:pPr lvl="1"/>
            <a:r>
              <a:rPr lang="en-US" dirty="0"/>
              <a:t>Modulation </a:t>
            </a:r>
            <a:r>
              <a:rPr lang="en-US" dirty="0" smtClean="0"/>
              <a:t>theory (linear system and signal processing)</a:t>
            </a:r>
            <a:endParaRPr lang="en-US" dirty="0"/>
          </a:p>
          <a:p>
            <a:pPr lvl="2"/>
            <a:r>
              <a:rPr lang="en-US" dirty="0"/>
              <a:t>Fundamental to the transmission of an information-bearing signal over a communication channel.</a:t>
            </a:r>
          </a:p>
          <a:p>
            <a:pPr lvl="1"/>
            <a:r>
              <a:rPr lang="en-US"/>
              <a:t>Detection </a:t>
            </a:r>
            <a:r>
              <a:rPr lang="en-US"/>
              <a:t>theory (linear system and signal processing)</a:t>
            </a:r>
            <a:endParaRPr lang="en-US" dirty="0"/>
          </a:p>
          <a:p>
            <a:pPr lvl="2"/>
            <a:r>
              <a:rPr lang="en-US" dirty="0"/>
              <a:t>Recover the original message by analyzing the noise distorted signal at the receiver</a:t>
            </a:r>
          </a:p>
          <a:p>
            <a:pPr lvl="1"/>
            <a:r>
              <a:rPr lang="en-US" dirty="0"/>
              <a:t>Probability theory and random process</a:t>
            </a:r>
          </a:p>
          <a:p>
            <a:pPr lvl="2"/>
            <a:r>
              <a:rPr lang="en-US" dirty="0"/>
              <a:t>Message is random</a:t>
            </a:r>
          </a:p>
          <a:p>
            <a:pPr lvl="2"/>
            <a:r>
              <a:rPr lang="en-US" dirty="0"/>
              <a:t>Noise is random</a:t>
            </a:r>
          </a:p>
        </p:txBody>
      </p:sp>
    </p:spTree>
    <p:extLst>
      <p:ext uri="{BB962C8B-B14F-4D97-AF65-F5344CB8AC3E}">
        <p14:creationId xmlns:p14="http://schemas.microsoft.com/office/powerpoint/2010/main" val="163136856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 Black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7017</TotalTime>
  <Words>1412</Words>
  <Application>Microsoft Office PowerPoint</Application>
  <PresentationFormat>On-screen Show (4:3)</PresentationFormat>
  <Paragraphs>234</Paragraphs>
  <Slides>22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Default Design</vt:lpstr>
      <vt:lpstr>Equation</vt:lpstr>
      <vt:lpstr>ELEG4623/ELEG5663 Communication Theory Ch. 0 Introduction</vt:lpstr>
      <vt:lpstr>OUTLINE</vt:lpstr>
      <vt:lpstr>HISTORICAL BACKGROUND</vt:lpstr>
      <vt:lpstr>HISTORICAL BACKGROUND</vt:lpstr>
      <vt:lpstr>OUTLINE</vt:lpstr>
      <vt:lpstr>ELEMENTS</vt:lpstr>
      <vt:lpstr>ELEMENTS</vt:lpstr>
      <vt:lpstr>ELEMENTS</vt:lpstr>
      <vt:lpstr>ELEMENTS</vt:lpstr>
      <vt:lpstr>OUTLINE</vt:lpstr>
      <vt:lpstr>ANALOG V.S. DIGITAL</vt:lpstr>
      <vt:lpstr>ANALOG V.S. DIGITAL</vt:lpstr>
      <vt:lpstr>ANALOG V.S. DIGITAL</vt:lpstr>
      <vt:lpstr>ANALOG V.S. DIGITAL</vt:lpstr>
      <vt:lpstr>ANALOG V.S. DIGITAL</vt:lpstr>
      <vt:lpstr>ANALOG V.S. DIGITAL</vt:lpstr>
      <vt:lpstr>ANALOG V.S. DIGITAL: SNR</vt:lpstr>
      <vt:lpstr>ANALOG V.S. DIGITAL: SNR</vt:lpstr>
      <vt:lpstr>ANALOG V.S. DIGITAL</vt:lpstr>
      <vt:lpstr>DIGITAL COMMUNICATION BLOCK DIAGRAM</vt:lpstr>
      <vt:lpstr>OUTLINE</vt:lpstr>
      <vt:lpstr>UNDERPINNING THEORIES</vt:lpstr>
    </vt:vector>
  </TitlesOfParts>
  <Company>Sonoma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 540 Preface</dc:title>
  <dc:creator>Jingxian Wu</dc:creator>
  <cp:lastModifiedBy>Jingxian Wu</cp:lastModifiedBy>
  <cp:revision>749</cp:revision>
  <dcterms:created xsi:type="dcterms:W3CDTF">2005-04-13T03:22:44Z</dcterms:created>
  <dcterms:modified xsi:type="dcterms:W3CDTF">2012-08-22T22:22:37Z</dcterms:modified>
</cp:coreProperties>
</file>