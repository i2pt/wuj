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313" r:id="rId2"/>
    <p:sldId id="369" r:id="rId3"/>
    <p:sldId id="321" r:id="rId4"/>
    <p:sldId id="322" r:id="rId5"/>
    <p:sldId id="326" r:id="rId6"/>
    <p:sldId id="345" r:id="rId7"/>
    <p:sldId id="325" r:id="rId8"/>
    <p:sldId id="327" r:id="rId9"/>
    <p:sldId id="328" r:id="rId10"/>
    <p:sldId id="353" r:id="rId11"/>
    <p:sldId id="323" r:id="rId12"/>
    <p:sldId id="329" r:id="rId13"/>
    <p:sldId id="330" r:id="rId14"/>
    <p:sldId id="368" r:id="rId15"/>
    <p:sldId id="370" r:id="rId16"/>
    <p:sldId id="371" r:id="rId17"/>
    <p:sldId id="335" r:id="rId18"/>
    <p:sldId id="334" r:id="rId19"/>
    <p:sldId id="343" r:id="rId20"/>
    <p:sldId id="336" r:id="rId21"/>
    <p:sldId id="344" r:id="rId22"/>
    <p:sldId id="338" r:id="rId23"/>
    <p:sldId id="340" r:id="rId24"/>
    <p:sldId id="337" r:id="rId25"/>
    <p:sldId id="341" r:id="rId26"/>
    <p:sldId id="342" r:id="rId27"/>
    <p:sldId id="346" r:id="rId28"/>
    <p:sldId id="347" r:id="rId29"/>
    <p:sldId id="348" r:id="rId30"/>
    <p:sldId id="349" r:id="rId31"/>
    <p:sldId id="351" r:id="rId32"/>
    <p:sldId id="350" r:id="rId33"/>
    <p:sldId id="354" r:id="rId34"/>
    <p:sldId id="355" r:id="rId35"/>
    <p:sldId id="356" r:id="rId36"/>
    <p:sldId id="357" r:id="rId37"/>
    <p:sldId id="359" r:id="rId38"/>
    <p:sldId id="360" r:id="rId39"/>
    <p:sldId id="362" r:id="rId40"/>
    <p:sldId id="363" r:id="rId41"/>
    <p:sldId id="364" r:id="rId42"/>
    <p:sldId id="365" r:id="rId43"/>
    <p:sldId id="366" r:id="rId44"/>
    <p:sldId id="367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99FF99"/>
    <a:srgbClr val="CCFFFF"/>
    <a:srgbClr val="99CCFF"/>
    <a:srgbClr val="000099"/>
    <a:srgbClr val="FFFF99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80652" autoAdjust="0"/>
  </p:normalViewPr>
  <p:slideViewPr>
    <p:cSldViewPr snapToGrid="0">
      <p:cViewPr>
        <p:scale>
          <a:sx n="100" d="100"/>
          <a:sy n="100" d="100"/>
        </p:scale>
        <p:origin x="-946" y="374"/>
      </p:cViewPr>
      <p:guideLst>
        <p:guide orient="horz" pos="2096"/>
        <p:guide pos="14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3540" y="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10" Type="http://schemas.openxmlformats.org/officeDocument/2006/relationships/image" Target="../media/image22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45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12" Type="http://schemas.openxmlformats.org/officeDocument/2006/relationships/image" Target="../media/image44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Relationship Id="rId14" Type="http://schemas.openxmlformats.org/officeDocument/2006/relationships/image" Target="../media/image4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10" Type="http://schemas.openxmlformats.org/officeDocument/2006/relationships/image" Target="../media/image56.wmf"/><Relationship Id="rId4" Type="http://schemas.openxmlformats.org/officeDocument/2006/relationships/image" Target="../media/image50.wmf"/><Relationship Id="rId9" Type="http://schemas.openxmlformats.org/officeDocument/2006/relationships/image" Target="../media/image5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3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12" Type="http://schemas.openxmlformats.org/officeDocument/2006/relationships/image" Target="../media/image82.wmf"/><Relationship Id="rId2" Type="http://schemas.openxmlformats.org/officeDocument/2006/relationships/image" Target="../media/image72.wmf"/><Relationship Id="rId16" Type="http://schemas.openxmlformats.org/officeDocument/2006/relationships/image" Target="../media/image86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11" Type="http://schemas.openxmlformats.org/officeDocument/2006/relationships/image" Target="../media/image81.wmf"/><Relationship Id="rId5" Type="http://schemas.openxmlformats.org/officeDocument/2006/relationships/image" Target="../media/image75.wmf"/><Relationship Id="rId15" Type="http://schemas.openxmlformats.org/officeDocument/2006/relationships/image" Target="../media/image85.wmf"/><Relationship Id="rId10" Type="http://schemas.openxmlformats.org/officeDocument/2006/relationships/image" Target="../media/image80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Relationship Id="rId14" Type="http://schemas.openxmlformats.org/officeDocument/2006/relationships/image" Target="../media/image8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9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4" Type="http://schemas.openxmlformats.org/officeDocument/2006/relationships/image" Target="../media/image10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4" Type="http://schemas.openxmlformats.org/officeDocument/2006/relationships/image" Target="../media/image13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8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6" Type="http://schemas.openxmlformats.org/officeDocument/2006/relationships/image" Target="../media/image164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image" Target="../media/image177.wmf"/><Relationship Id="rId7" Type="http://schemas.openxmlformats.org/officeDocument/2006/relationships/image" Target="../media/image181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10" Type="http://schemas.openxmlformats.org/officeDocument/2006/relationships/image" Target="../media/image184.wmf"/><Relationship Id="rId4" Type="http://schemas.openxmlformats.org/officeDocument/2006/relationships/image" Target="../media/image178.wmf"/><Relationship Id="rId9" Type="http://schemas.openxmlformats.org/officeDocument/2006/relationships/image" Target="../media/image18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7" Type="http://schemas.openxmlformats.org/officeDocument/2006/relationships/image" Target="../media/image189.wmf"/><Relationship Id="rId2" Type="http://schemas.openxmlformats.org/officeDocument/2006/relationships/image" Target="../media/image186.wmf"/><Relationship Id="rId1" Type="http://schemas.openxmlformats.org/officeDocument/2006/relationships/image" Target="../media/image185.wmf"/><Relationship Id="rId6" Type="http://schemas.openxmlformats.org/officeDocument/2006/relationships/image" Target="../media/image181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0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wmf"/><Relationship Id="rId1" Type="http://schemas.openxmlformats.org/officeDocument/2006/relationships/image" Target="../media/image191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wmf"/><Relationship Id="rId1" Type="http://schemas.openxmlformats.org/officeDocument/2006/relationships/image" Target="../media/image196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>
            <a:lvl1pPr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>
            <a:lvl1pPr algn="r"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3388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b" anchorCtr="0" compatLnSpc="1">
            <a:prstTxWarp prst="textNoShape">
              <a:avLst/>
            </a:prstTxWarp>
          </a:bodyPr>
          <a:lstStyle>
            <a:lvl1pPr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b" anchorCtr="0" compatLnSpc="1">
            <a:prstTxWarp prst="textNoShape">
              <a:avLst/>
            </a:prstTxWarp>
          </a:bodyPr>
          <a:lstStyle>
            <a:lvl1pPr algn="r" defTabSz="890588">
              <a:defRPr sz="1200"/>
            </a:lvl1pPr>
          </a:lstStyle>
          <a:p>
            <a:fld id="{BFA4785B-FECB-4EE5-840C-E16C67416D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3840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>
            <a:lvl1pPr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>
            <a:lvl1pPr algn="r"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4988"/>
            <a:ext cx="5029200" cy="411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3388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b" anchorCtr="0" compatLnSpc="1">
            <a:prstTxWarp prst="textNoShape">
              <a:avLst/>
            </a:prstTxWarp>
          </a:bodyPr>
          <a:lstStyle>
            <a:lvl1pPr defTabSz="890588"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007" tIns="44504" rIns="89007" bIns="44504" numCol="1" anchor="b" anchorCtr="0" compatLnSpc="1">
            <a:prstTxWarp prst="textNoShape">
              <a:avLst/>
            </a:prstTxWarp>
          </a:bodyPr>
          <a:lstStyle>
            <a:lvl1pPr algn="r" defTabSz="890588">
              <a:defRPr sz="1200"/>
            </a:lvl1pPr>
          </a:lstStyle>
          <a:p>
            <a:fld id="{F1558BFD-52F6-4A7D-8FC9-DC6652961A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25706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58BFD-52F6-4A7D-8FC9-DC6652961A06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84BB38-B6BB-411C-BC0B-055AA121413B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e.g. rectangular signal is continuous-time signal</a:t>
            </a:r>
          </a:p>
          <a:p>
            <a:r>
              <a:rPr lang="en-US"/>
              <a:t>Discrete-time signal doesn’t have value of 0.5 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E7D1C4-BD5B-4AC8-BF5E-E64E6339CB6D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20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1B26E0-6234-4AA9-B4CE-A4B2378447AE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Rect</a:t>
            </a:r>
            <a:r>
              <a:rPr lang="en-US" dirty="0" smtClean="0"/>
              <a:t>(t/tau) </a:t>
            </a:r>
            <a:r>
              <a:rPr lang="en-US" dirty="0" smtClean="0">
                <a:sym typeface="Wingdings" pitchFamily="2" charset="2"/>
              </a:rPr>
              <a:t> tau </a:t>
            </a:r>
            <a:r>
              <a:rPr lang="en-US" dirty="0" err="1" smtClean="0">
                <a:sym typeface="Wingdings" pitchFamily="2" charset="2"/>
              </a:rPr>
              <a:t>sinc</a:t>
            </a:r>
            <a:r>
              <a:rPr lang="en-US" dirty="0" smtClean="0">
                <a:sym typeface="Wingdings" pitchFamily="2" charset="2"/>
              </a:rPr>
              <a:t> (f tau)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58BFD-52F6-4A7D-8FC9-DC6652961A06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86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Delta(t-t0) &lt;-&gt; </a:t>
            </a:r>
            <a:r>
              <a:rPr lang="en-US" dirty="0" err="1" smtClean="0"/>
              <a:t>exp</a:t>
            </a:r>
            <a:r>
              <a:rPr lang="en-US" dirty="0" smtClean="0"/>
              <a:t>(-j 2 pi f t0)</a:t>
            </a:r>
          </a:p>
          <a:p>
            <a:r>
              <a:rPr lang="en-US" dirty="0" err="1" smtClean="0"/>
              <a:t>Exp</a:t>
            </a:r>
            <a:r>
              <a:rPr lang="en-US" dirty="0" smtClean="0"/>
              <a:t>(-j 2</a:t>
            </a:r>
            <a:r>
              <a:rPr lang="en-US" baseline="0" dirty="0" smtClean="0"/>
              <a:t> pi t t0) &lt;-&gt; delta(-f-t0)</a:t>
            </a:r>
          </a:p>
          <a:p>
            <a:r>
              <a:rPr lang="en-US" baseline="0" dirty="0" err="1" smtClean="0"/>
              <a:t>Exp</a:t>
            </a:r>
            <a:r>
              <a:rPr lang="en-US" baseline="0" dirty="0" smtClean="0"/>
              <a:t>(-j 2 pi a t0) &lt;-&gt; delta(f + 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58BFD-52F6-4A7D-8FC9-DC6652961A06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353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166F22-864B-4A4E-B3B4-F868129AA353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1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Px(x) = [Fx(x+dx)-Fx(x)]/dx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34DBCE-1C70-4C5B-874C-9C242CF05D94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582197-06FC-4F26-8280-6DE417B00B69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E8F45C-BA7E-473E-86AF-EE2399AAA9CE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P(X=0|Y=1) = P(X=0, Y=1)/P(Y=1)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95909B-F103-46C9-A7C0-8CDCDBE40372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47D5BE-55F8-44A4-9E78-FBF45CF9F808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392289-5973-482A-A5B4-800AE97EE82D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555755-7F18-4A82-A9BE-F9BB33030194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0401BE-A557-4307-B144-468A20A7B2A5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EC540D-B1E9-4101-AFA2-FBA16D185DAE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P(X(t) = -1) = 0.5 delta(x+1)</a:t>
            </a:r>
          </a:p>
          <a:p>
            <a:r>
              <a:rPr lang="en-US"/>
              <a:t>P(X(t) = 1) = 0.5 delta(x-1)</a:t>
            </a:r>
          </a:p>
          <a:p>
            <a:endParaRPr lang="en-US"/>
          </a:p>
          <a:p>
            <a:r>
              <a:rPr lang="en-US"/>
              <a:t>E[X(t)] = -0.5 + 0.5 = 0.</a:t>
            </a:r>
          </a:p>
          <a:p>
            <a:endParaRPr lang="en-US"/>
          </a:p>
          <a:p>
            <a:r>
              <a:rPr lang="en-US"/>
              <a:t>1. |t2-t1| &gt; T</a:t>
            </a:r>
          </a:p>
          <a:p>
            <a:r>
              <a:rPr lang="en-US"/>
              <a:t>E[X(t1)X(t2)] = 1*1*P(X1=1, X2=1) + 1*(-1)*P(X1=1, X2=-1) + … = 0.</a:t>
            </a:r>
          </a:p>
          <a:p>
            <a:r>
              <a:rPr lang="en-US"/>
              <a:t> </a:t>
            </a:r>
          </a:p>
          <a:p>
            <a:r>
              <a:rPr lang="en-US"/>
              <a:t>2. |t2-t1| &lt; T</a:t>
            </a:r>
          </a:p>
          <a:p>
            <a:r>
              <a:rPr lang="en-US"/>
              <a:t>E[X1 X2] = E[X1 X2| X1 and X2 belongs to the same bit]*P(X1 X2 belong to the same bit] + E[X1 X2| X1 and X2 belong to different bit]*P*(X1 X2 belong to different bit]</a:t>
            </a:r>
          </a:p>
          <a:p>
            <a:r>
              <a:rPr lang="en-US"/>
              <a:t>E[X1 X2| X1 X2 belong to the same bit] = 1</a:t>
            </a:r>
          </a:p>
          <a:p>
            <a:r>
              <a:rPr lang="en-US"/>
              <a:t>P(X1 X2 belong to the same bit] = 1-|tau|/T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F59ADD-BD09-49BE-8E6F-C5FDA85B6770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Rect</a:t>
            </a:r>
            <a:r>
              <a:rPr lang="en-US" dirty="0" smtClean="0"/>
              <a:t>(t/tau) </a:t>
            </a:r>
            <a:r>
              <a:rPr lang="en-US" dirty="0" smtClean="0">
                <a:sym typeface="Wingdings" pitchFamily="2" charset="2"/>
              </a:rPr>
              <a:t> tau </a:t>
            </a:r>
            <a:r>
              <a:rPr lang="en-US" dirty="0" err="1" smtClean="0">
                <a:sym typeface="Wingdings" pitchFamily="2" charset="2"/>
              </a:rPr>
              <a:t>sinc</a:t>
            </a:r>
            <a:r>
              <a:rPr lang="en-US" dirty="0" smtClean="0">
                <a:sym typeface="Wingdings" pitchFamily="2" charset="2"/>
              </a:rPr>
              <a:t> (f tau)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g(f)</a:t>
            </a:r>
            <a:r>
              <a:rPr lang="en-US" baseline="0" dirty="0" smtClean="0"/>
              <a:t> = </a:t>
            </a:r>
            <a:r>
              <a:rPr lang="en-US" dirty="0" smtClean="0"/>
              <a:t>N0/2 </a:t>
            </a:r>
            <a:r>
              <a:rPr lang="en-US" dirty="0" err="1" smtClean="0"/>
              <a:t>rect</a:t>
            </a:r>
            <a:r>
              <a:rPr lang="en-US" dirty="0" smtClean="0"/>
              <a:t>(f/2u)</a:t>
            </a:r>
          </a:p>
          <a:p>
            <a:endParaRPr lang="en-US" dirty="0" smtClean="0"/>
          </a:p>
          <a:p>
            <a:r>
              <a:rPr lang="en-US" dirty="0" smtClean="0"/>
              <a:t>g(t)</a:t>
            </a:r>
            <a:r>
              <a:rPr lang="en-US" baseline="0" dirty="0" smtClean="0"/>
              <a:t> </a:t>
            </a:r>
            <a:r>
              <a:rPr lang="en-US" baseline="0" dirty="0" smtClean="0">
                <a:sym typeface="Wingdings" pitchFamily="2" charset="2"/>
              </a:rPr>
              <a:t> G(f)</a:t>
            </a:r>
          </a:p>
          <a:p>
            <a:r>
              <a:rPr lang="en-US" baseline="0" dirty="0" smtClean="0">
                <a:sym typeface="Wingdings" pitchFamily="2" charset="2"/>
              </a:rPr>
              <a:t>G(t)  g(-f) </a:t>
            </a:r>
          </a:p>
          <a:p>
            <a:endParaRPr lang="en-US" baseline="0" dirty="0" smtClean="0">
              <a:sym typeface="Wingdings" pitchFamily="2" charset="2"/>
            </a:endParaRPr>
          </a:p>
          <a:p>
            <a:r>
              <a:rPr lang="en-US" dirty="0" smtClean="0"/>
              <a:t>U N0 </a:t>
            </a:r>
            <a:r>
              <a:rPr lang="en-US" dirty="0" err="1" smtClean="0"/>
              <a:t>sinc</a:t>
            </a:r>
            <a:r>
              <a:rPr lang="en-US" dirty="0" smtClean="0"/>
              <a:t>(2ut)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558BFD-52F6-4A7D-8FC9-DC6652961A06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6501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r">
              <a:defRPr sz="32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1752600"/>
          </a:xfrm>
        </p:spPr>
        <p:txBody>
          <a:bodyPr/>
          <a:lstStyle>
            <a:lvl1pPr marL="0" indent="0" algn="r">
              <a:buFontTx/>
              <a:buNone/>
              <a:defRPr b="0">
                <a:latin typeface="Arial Black" pitchFamily="34" charset="0"/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609600" y="6172200"/>
            <a:ext cx="5105400" cy="45720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 userDrawn="1"/>
        </p:nvSpPr>
        <p:spPr bwMode="auto">
          <a:xfrm>
            <a:off x="-92075" y="-111125"/>
            <a:ext cx="1387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5129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132" name="Text Box 12"/>
          <p:cNvSpPr txBox="1">
            <a:spLocks noChangeArrowheads="1"/>
          </p:cNvSpPr>
          <p:nvPr userDrawn="1"/>
        </p:nvSpPr>
        <p:spPr bwMode="auto">
          <a:xfrm>
            <a:off x="2913154" y="13081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sz="1800" dirty="0">
                <a:ea typeface="宋体" pitchFamily="2" charset="-122"/>
              </a:rPr>
              <a:t>Department of </a:t>
            </a:r>
            <a:r>
              <a:rPr lang="en-US" altLang="zh-CN" sz="1800" dirty="0" smtClean="0">
                <a:ea typeface="宋体" pitchFamily="2" charset="-122"/>
              </a:rPr>
              <a:t>Electrical Engineering</a:t>
            </a:r>
            <a:endParaRPr lang="en-US" altLang="zh-CN" sz="1800" dirty="0">
              <a:ea typeface="宋体" pitchFamily="2" charset="-122"/>
            </a:endParaRPr>
          </a:p>
          <a:p>
            <a:pPr algn="r"/>
            <a:r>
              <a:rPr lang="en-US" altLang="zh-CN" sz="1600" dirty="0" smtClean="0">
                <a:ea typeface="宋体" pitchFamily="2" charset="-122"/>
              </a:rPr>
              <a:t>University of Arkansas</a:t>
            </a:r>
            <a:endParaRPr lang="en-US" altLang="zh-CN" sz="1600" dirty="0">
              <a:ea typeface="宋体" pitchFamily="2" charset="-122"/>
            </a:endParaRPr>
          </a:p>
        </p:txBody>
      </p:sp>
      <p:pic>
        <p:nvPicPr>
          <p:cNvPr id="5136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8950" y="1400175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F5BE08-55F9-4E30-A5DD-C7DBD84A0467}" type="slidenum">
              <a:rPr lang="zh-CN" altLang="en-US"/>
              <a:pPr/>
              <a:t>‹#›</a:t>
            </a:fld>
            <a:endParaRPr lang="en-US" altLang="zh-CN"/>
          </a:p>
        </p:txBody>
      </p:sp>
      <p:pic>
        <p:nvPicPr>
          <p:cNvPr id="211971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24" y="6200775"/>
            <a:ext cx="1780761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2EE0F0-74F9-4880-AAD0-F95DFA1D91A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876300"/>
            <a:ext cx="3810000" cy="524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876300"/>
            <a:ext cx="3810000" cy="524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DF24B5-7FA1-43E6-B599-09FC0D7D94F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BC741-3781-40D0-9394-0BE4DD827121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CA5DE8-2530-412C-B5A6-820B01D1FB3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58FD31-DFD6-4B7F-A700-30DEED69215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B0B11D-8824-4DD3-A71F-3EF8D1821DB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AE479B-F123-4C69-A903-9EC9AFFB41F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EC236-B9F2-4565-9371-1D6EAB3C1B7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350" y="177800"/>
            <a:ext cx="202565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400" y="177800"/>
            <a:ext cx="592455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C6F663-F921-4539-92E4-D0F1EAEC243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1778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876300"/>
            <a:ext cx="7772400" cy="524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756400" y="6223000"/>
            <a:ext cx="2197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3700" y="61595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r>
              <a:rPr lang="zh-CN" altLang="en-US"/>
              <a:t>	</a:t>
            </a:r>
            <a:r>
              <a:rPr lang="en-US" altLang="zh-CN"/>
              <a:t>Department of Engineering Science</a:t>
            </a:r>
          </a:p>
          <a:p>
            <a:r>
              <a:rPr lang="en-US" altLang="zh-CN"/>
              <a:t>	Sonoma State University</a:t>
            </a: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0" y="0"/>
            <a:ext cx="1387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 b="0">
                <a:latin typeface="+mj-lt"/>
                <a:ea typeface="宋体" pitchFamily="2" charset="-122"/>
              </a:defRPr>
            </a:lvl1pPr>
          </a:lstStyle>
          <a:p>
            <a:fld id="{FEBAFD76-7711-4372-A664-F38C08563AF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4" name="Line 10"/>
          <p:cNvSpPr>
            <a:spLocks noChangeShapeType="1"/>
          </p:cNvSpPr>
          <p:nvPr userDrawn="1"/>
        </p:nvSpPr>
        <p:spPr bwMode="auto">
          <a:xfrm>
            <a:off x="152400" y="812800"/>
            <a:ext cx="883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035" name="Picture 11" descr="ssulogo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9563" y="6215063"/>
            <a:ext cx="1006475" cy="4397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 b="1">
          <a:solidFill>
            <a:srgbClr val="000099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2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17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1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23" Type="http://schemas.openxmlformats.org/officeDocument/2006/relationships/image" Target="../media/image22.w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20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0.wmf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31.wmf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1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image" Target="../media/image32.wmf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9.wmf"/><Relationship Id="rId22" Type="http://schemas.openxmlformats.org/officeDocument/2006/relationships/oleObject" Target="../embeddings/oleObject3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0.wmf"/><Relationship Id="rId26" Type="http://schemas.openxmlformats.org/officeDocument/2006/relationships/image" Target="../media/image44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29" Type="http://schemas.openxmlformats.org/officeDocument/2006/relationships/oleObject" Target="../embeddings/oleObject46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3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45.wmf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45.bin"/><Relationship Id="rId30" Type="http://schemas.openxmlformats.org/officeDocument/2006/relationships/image" Target="../media/image4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4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3.wmf"/><Relationship Id="rId20" Type="http://schemas.openxmlformats.org/officeDocument/2006/relationships/image" Target="../media/image5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2.wmf"/><Relationship Id="rId22" Type="http://schemas.openxmlformats.org/officeDocument/2006/relationships/image" Target="../media/image5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68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70.png"/><Relationship Id="rId5" Type="http://schemas.openxmlformats.org/officeDocument/2006/relationships/image" Target="../media/image65.wmf"/><Relationship Id="rId10" Type="http://schemas.openxmlformats.org/officeDocument/2006/relationships/image" Target="../media/image69.png"/><Relationship Id="rId4" Type="http://schemas.openxmlformats.org/officeDocument/2006/relationships/oleObject" Target="../embeddings/oleObject65.bin"/><Relationship Id="rId9" Type="http://schemas.openxmlformats.org/officeDocument/2006/relationships/image" Target="../media/image6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78.wmf"/><Relationship Id="rId26" Type="http://schemas.openxmlformats.org/officeDocument/2006/relationships/image" Target="../media/image82.w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34" Type="http://schemas.openxmlformats.org/officeDocument/2006/relationships/image" Target="../media/image86.wmf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33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82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81.wmf"/><Relationship Id="rId32" Type="http://schemas.openxmlformats.org/officeDocument/2006/relationships/image" Target="../media/image85.w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28" Type="http://schemas.openxmlformats.org/officeDocument/2006/relationships/image" Target="../media/image83.wmf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77.bin"/><Relationship Id="rId31" Type="http://schemas.openxmlformats.org/officeDocument/2006/relationships/oleObject" Target="../embeddings/oleObject83.bin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6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81.bin"/><Relationship Id="rId30" Type="http://schemas.openxmlformats.org/officeDocument/2006/relationships/image" Target="../media/image8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8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94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0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4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0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113.bin"/><Relationship Id="rId18" Type="http://schemas.openxmlformats.org/officeDocument/2006/relationships/oleObject" Target="../embeddings/oleObject117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14.wmf"/><Relationship Id="rId17" Type="http://schemas.openxmlformats.org/officeDocument/2006/relationships/oleObject" Target="../embeddings/oleObject116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5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13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1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20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0" Type="http://schemas.openxmlformats.org/officeDocument/2006/relationships/oleObject" Target="../embeddings/oleObject121.bin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1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7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24.bin"/><Relationship Id="rId5" Type="http://schemas.openxmlformats.org/officeDocument/2006/relationships/image" Target="../media/image123.png"/><Relationship Id="rId4" Type="http://schemas.openxmlformats.org/officeDocument/2006/relationships/image" Target="../media/image12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2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30.wmf"/><Relationship Id="rId5" Type="http://schemas.openxmlformats.org/officeDocument/2006/relationships/image" Target="../media/image127.wmf"/><Relationship Id="rId10" Type="http://schemas.openxmlformats.org/officeDocument/2006/relationships/oleObject" Target="../embeddings/oleObject131.bin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2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4.png"/><Relationship Id="rId11" Type="http://schemas.openxmlformats.org/officeDocument/2006/relationships/image" Target="../media/image133.wmf"/><Relationship Id="rId5" Type="http://schemas.openxmlformats.org/officeDocument/2006/relationships/image" Target="../media/image131.wmf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40.wmf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9.wmf"/><Relationship Id="rId5" Type="http://schemas.openxmlformats.org/officeDocument/2006/relationships/image" Target="../media/image136.w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45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44.bin"/><Relationship Id="rId17" Type="http://schemas.openxmlformats.org/officeDocument/2006/relationships/image" Target="../media/image14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6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4.wmf"/><Relationship Id="rId5" Type="http://schemas.openxmlformats.org/officeDocument/2006/relationships/image" Target="../media/image141.wmf"/><Relationship Id="rId15" Type="http://schemas.openxmlformats.org/officeDocument/2006/relationships/image" Target="../media/image146.wmf"/><Relationship Id="rId10" Type="http://schemas.openxmlformats.org/officeDocument/2006/relationships/oleObject" Target="../embeddings/oleObject143.bin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4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14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49.bin"/><Relationship Id="rId5" Type="http://schemas.openxmlformats.org/officeDocument/2006/relationships/image" Target="../media/image149.wmf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5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156.w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53.wmf"/><Relationship Id="rId12" Type="http://schemas.openxmlformats.org/officeDocument/2006/relationships/oleObject" Target="../embeddings/oleObject15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8.png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55.wmf"/><Relationship Id="rId5" Type="http://schemas.openxmlformats.org/officeDocument/2006/relationships/image" Target="../media/image152.wmf"/><Relationship Id="rId15" Type="http://schemas.openxmlformats.org/officeDocument/2006/relationships/image" Target="../media/image157.wmf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54.wmf"/><Relationship Id="rId14" Type="http://schemas.openxmlformats.org/officeDocument/2006/relationships/oleObject" Target="../embeddings/oleObject15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63.w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60.wmf"/><Relationship Id="rId12" Type="http://schemas.openxmlformats.org/officeDocument/2006/relationships/oleObject" Target="../embeddings/oleObject1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5" Type="http://schemas.openxmlformats.org/officeDocument/2006/relationships/image" Target="../media/image164.w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61.wmf"/><Relationship Id="rId14" Type="http://schemas.openxmlformats.org/officeDocument/2006/relationships/oleObject" Target="../embeddings/oleObject162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6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64.bin"/><Relationship Id="rId5" Type="http://schemas.openxmlformats.org/officeDocument/2006/relationships/image" Target="../media/image165.wmf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67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image" Target="../media/image173.png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7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7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82.wmf"/><Relationship Id="rId3" Type="http://schemas.openxmlformats.org/officeDocument/2006/relationships/oleObject" Target="../embeddings/oleObject171.bin"/><Relationship Id="rId21" Type="http://schemas.openxmlformats.org/officeDocument/2006/relationships/oleObject" Target="../embeddings/oleObject180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9.wmf"/><Relationship Id="rId17" Type="http://schemas.openxmlformats.org/officeDocument/2006/relationships/oleObject" Target="../embeddings/oleObject17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1.wmf"/><Relationship Id="rId20" Type="http://schemas.openxmlformats.org/officeDocument/2006/relationships/image" Target="../media/image183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76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78.wmf"/><Relationship Id="rId19" Type="http://schemas.openxmlformats.org/officeDocument/2006/relationships/oleObject" Target="../embeddings/oleObject179.bin"/><Relationship Id="rId4" Type="http://schemas.openxmlformats.org/officeDocument/2006/relationships/image" Target="../media/image175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80.wmf"/><Relationship Id="rId22" Type="http://schemas.openxmlformats.org/officeDocument/2006/relationships/image" Target="../media/image184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86.bin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8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9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85.bin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10" Type="http://schemas.openxmlformats.org/officeDocument/2006/relationships/image" Target="../media/image187.wmf"/><Relationship Id="rId4" Type="http://schemas.openxmlformats.org/officeDocument/2006/relationships/image" Target="../media/image185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8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19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90.bin"/><Relationship Id="rId5" Type="http://schemas.openxmlformats.org/officeDocument/2006/relationships/image" Target="../media/image191.wmf"/><Relationship Id="rId10" Type="http://schemas.openxmlformats.org/officeDocument/2006/relationships/image" Target="../media/image195.png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19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oleObject" Target="../embeddings/oleObject191.bin"/><Relationship Id="rId7" Type="http://schemas.openxmlformats.org/officeDocument/2006/relationships/image" Target="../media/image19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192.bin"/><Relationship Id="rId4" Type="http://schemas.openxmlformats.org/officeDocument/2006/relationships/image" Target="../media/image196.wmf"/><Relationship Id="rId9" Type="http://schemas.openxmlformats.org/officeDocument/2006/relationships/image" Target="../media/image20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02.wmf"/><Relationship Id="rId11" Type="http://schemas.openxmlformats.org/officeDocument/2006/relationships/image" Target="../media/image206.png"/><Relationship Id="rId5" Type="http://schemas.openxmlformats.org/officeDocument/2006/relationships/oleObject" Target="../embeddings/oleObject194.bin"/><Relationship Id="rId10" Type="http://schemas.openxmlformats.org/officeDocument/2006/relationships/image" Target="../media/image205.png"/><Relationship Id="rId4" Type="http://schemas.openxmlformats.org/officeDocument/2006/relationships/image" Target="../media/image201.wmf"/><Relationship Id="rId9" Type="http://schemas.openxmlformats.org/officeDocument/2006/relationships/image" Target="../media/image20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10.wmf"/><Relationship Id="rId11" Type="http://schemas.openxmlformats.org/officeDocument/2006/relationships/image" Target="../media/image212.png"/><Relationship Id="rId5" Type="http://schemas.openxmlformats.org/officeDocument/2006/relationships/oleObject" Target="../embeddings/oleObject197.bin"/><Relationship Id="rId10" Type="http://schemas.openxmlformats.org/officeDocument/2006/relationships/image" Target="../media/image211.wmf"/><Relationship Id="rId4" Type="http://schemas.openxmlformats.org/officeDocument/2006/relationships/image" Target="../media/image209.wmf"/><Relationship Id="rId9" Type="http://schemas.openxmlformats.org/officeDocument/2006/relationships/oleObject" Target="../embeddings/oleObject200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2400" dirty="0" smtClean="0">
                <a:ea typeface="宋体" pitchFamily="2" charset="-122"/>
              </a:rPr>
              <a:t>ELEG4623/5663 Communication Theory</a:t>
            </a:r>
            <a:r>
              <a:rPr lang="en-US" altLang="zh-CN" dirty="0" smtClean="0">
                <a:ea typeface="宋体" pitchFamily="2" charset="-122"/>
              </a:rPr>
              <a:t/>
            </a:r>
            <a:br>
              <a:rPr lang="en-US" altLang="zh-CN" dirty="0" smtClean="0">
                <a:ea typeface="宋体" pitchFamily="2" charset="-122"/>
              </a:rPr>
            </a:br>
            <a:r>
              <a:rPr lang="en-US" altLang="zh-CN" dirty="0" smtClean="0">
                <a:ea typeface="宋体" pitchFamily="2" charset="-122"/>
              </a:rPr>
              <a:t>Ch</a:t>
            </a:r>
            <a:r>
              <a:rPr lang="en-US" altLang="zh-CN" dirty="0">
                <a:ea typeface="宋体" pitchFamily="2" charset="-122"/>
              </a:rPr>
              <a:t>. 1 Signals and Spectra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746500"/>
            <a:ext cx="6400800" cy="1752600"/>
          </a:xfrm>
        </p:spPr>
        <p:txBody>
          <a:bodyPr/>
          <a:lstStyle/>
          <a:p>
            <a:r>
              <a:rPr lang="en-US" altLang="zh-CN" sz="1900" b="1" dirty="0">
                <a:ea typeface="宋体" pitchFamily="2" charset="-122"/>
              </a:rPr>
              <a:t>Dr. </a:t>
            </a:r>
            <a:r>
              <a:rPr lang="en-US" altLang="zh-CN" sz="1900" b="1" dirty="0" err="1">
                <a:ea typeface="宋体" pitchFamily="2" charset="-122"/>
              </a:rPr>
              <a:t>Jingxian</a:t>
            </a:r>
            <a:r>
              <a:rPr lang="en-US" altLang="zh-CN" sz="1900" b="1" dirty="0">
                <a:ea typeface="宋体" pitchFamily="2" charset="-122"/>
              </a:rPr>
              <a:t> Wu</a:t>
            </a:r>
          </a:p>
          <a:p>
            <a:r>
              <a:rPr lang="en-US" altLang="zh-CN" sz="1600" dirty="0" smtClean="0">
                <a:ea typeface="宋体" pitchFamily="2" charset="-122"/>
              </a:rPr>
              <a:t>wuj@uark.edu</a:t>
            </a:r>
            <a:endParaRPr lang="en-US" altLang="zh-CN" sz="1600" dirty="0">
              <a:ea typeface="宋体" pitchFamily="2" charset="-122"/>
            </a:endParaRPr>
          </a:p>
          <a:p>
            <a:endParaRPr lang="en-US" altLang="zh-CN" sz="1600" dirty="0">
              <a:ea typeface="宋体" pitchFamily="2" charset="-122"/>
            </a:endParaRPr>
          </a:p>
          <a:p>
            <a:endParaRPr lang="zh-CN" altLang="en-US" sz="1600" dirty="0">
              <a:ea typeface="宋体" pitchFamily="2" charset="-122"/>
            </a:endParaRP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7731125" y="10445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5A7E-875A-4520-8C20-BA5BAF6C5EF6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Deterministic signals (Ch. 1.2, 1.3, 1.6 Appendix A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/>
          </a:p>
          <a:p>
            <a:r>
              <a:rPr lang="en-US" dirty="0"/>
              <a:t>Random Signals</a:t>
            </a:r>
          </a:p>
          <a:p>
            <a:endParaRPr lang="en-US" dirty="0"/>
          </a:p>
          <a:p>
            <a:r>
              <a:rPr lang="en-US" dirty="0"/>
              <a:t>Signal transmission through linear system, bandwidth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1D175-2585-4586-AFBC-90EF82F0DA6F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143366" name="Rectangle 6"/>
          <p:cNvSpPr>
            <a:spLocks noChangeArrowheads="1"/>
          </p:cNvSpPr>
          <p:nvPr/>
        </p:nvSpPr>
        <p:spPr bwMode="auto">
          <a:xfrm>
            <a:off x="609600" y="876300"/>
            <a:ext cx="8096250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Deterministic v.s. Random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Deterministic signal: there is no uncertainty w.r.t. signal value at any time.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E.g. </a:t>
            </a:r>
          </a:p>
        </p:txBody>
      </p:sp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</a:t>
            </a:r>
            <a:r>
              <a:rPr lang="en-US"/>
              <a:t>: </a:t>
            </a:r>
            <a:r>
              <a:rPr lang="en-US" smtClean="0"/>
              <a:t>SIGNAL CLASSIFICATION</a:t>
            </a:r>
            <a:endParaRPr lang="en-US" dirty="0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8096250" cy="1101725"/>
          </a:xfrm>
        </p:spPr>
        <p:txBody>
          <a:bodyPr/>
          <a:lstStyle/>
          <a:p>
            <a:r>
              <a:rPr lang="en-US" dirty="0"/>
              <a:t>Deterministic </a:t>
            </a:r>
            <a:r>
              <a:rPr lang="en-US" dirty="0" err="1"/>
              <a:t>v.s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Deterministic signal: there is no </a:t>
            </a:r>
            <a:r>
              <a:rPr lang="en-US" dirty="0" smtClean="0"/>
              <a:t>uncertainty.</a:t>
            </a:r>
            <a:endParaRPr lang="en-US" dirty="0"/>
          </a:p>
          <a:p>
            <a:pPr lvl="2"/>
            <a:r>
              <a:rPr lang="en-US" dirty="0"/>
              <a:t>E.g. </a:t>
            </a:r>
          </a:p>
        </p:txBody>
      </p:sp>
      <p:graphicFrame>
        <p:nvGraphicFramePr>
          <p:cNvPr id="143364" name="Object 4"/>
          <p:cNvGraphicFramePr>
            <a:graphicFrameLocks noChangeAspect="1"/>
          </p:cNvGraphicFramePr>
          <p:nvPr/>
        </p:nvGraphicFramePr>
        <p:xfrm>
          <a:off x="2422525" y="1631950"/>
          <a:ext cx="192087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2" name="Equation" r:id="rId4" imgW="1498320" imgH="203040" progId="Equation.3">
                  <p:embed/>
                </p:oleObj>
              </mc:Choice>
              <mc:Fallback>
                <p:oleObj name="Equation" r:id="rId4" imgW="149832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1631950"/>
                        <a:ext cx="1920875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5" name="Rectangle 5"/>
          <p:cNvSpPr>
            <a:spLocks noChangeArrowheads="1"/>
          </p:cNvSpPr>
          <p:nvPr/>
        </p:nvSpPr>
        <p:spPr bwMode="auto">
          <a:xfrm>
            <a:off x="552450" y="1952625"/>
            <a:ext cx="8096250" cy="142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/>
              <a:t>Random signal: there is some degree of uncertainty before the signal occurs.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E.g. noise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>
                <a:solidFill>
                  <a:srgbClr val="000099"/>
                </a:solidFill>
              </a:rPr>
              <a:t>Periodic </a:t>
            </a:r>
            <a:r>
              <a:rPr lang="en-US" sz="2000" dirty="0" err="1">
                <a:solidFill>
                  <a:srgbClr val="000099"/>
                </a:solidFill>
              </a:rPr>
              <a:t>v.s</a:t>
            </a:r>
            <a:r>
              <a:rPr lang="en-US" sz="2000" dirty="0">
                <a:solidFill>
                  <a:srgbClr val="000099"/>
                </a:solidFill>
              </a:rPr>
              <a:t>. </a:t>
            </a:r>
            <a:r>
              <a:rPr lang="en-US" sz="2000" dirty="0" err="1" smtClean="0">
                <a:solidFill>
                  <a:srgbClr val="000099"/>
                </a:solidFill>
              </a:rPr>
              <a:t>Nonperiodic</a:t>
            </a:r>
            <a:endParaRPr lang="en-US" sz="2000" dirty="0">
              <a:solidFill>
                <a:srgbClr val="000099"/>
              </a:solidFill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/>
              <a:t>A signal is called periodic in time if there exists a constant               such that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 dirty="0"/>
          </a:p>
          <a:p>
            <a:pPr marL="1143000" lvl="2" indent="-228600">
              <a:spcBef>
                <a:spcPct val="20000"/>
              </a:spcBef>
            </a:pPr>
            <a:endParaRPr lang="en-US" sz="1800" b="0" dirty="0"/>
          </a:p>
        </p:txBody>
      </p:sp>
      <p:graphicFrame>
        <p:nvGraphicFramePr>
          <p:cNvPr id="143368" name="Object 8"/>
          <p:cNvGraphicFramePr>
            <a:graphicFrameLocks noChangeAspect="1"/>
          </p:cNvGraphicFramePr>
          <p:nvPr/>
        </p:nvGraphicFramePr>
        <p:xfrm>
          <a:off x="6856413" y="3016250"/>
          <a:ext cx="51911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3" name="Equation" r:id="rId6" imgW="406080" imgH="228600" progId="Equation.3">
                  <p:embed/>
                </p:oleObj>
              </mc:Choice>
              <mc:Fallback>
                <p:oleObj name="Equation" r:id="rId6" imgW="40608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3" y="3016250"/>
                        <a:ext cx="519112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9" name="Object 9"/>
          <p:cNvGraphicFramePr>
            <a:graphicFrameLocks noChangeAspect="1"/>
          </p:cNvGraphicFramePr>
          <p:nvPr/>
        </p:nvGraphicFramePr>
        <p:xfrm>
          <a:off x="3286125" y="3330575"/>
          <a:ext cx="11842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4" name="Equation" r:id="rId8" imgW="927000" imgH="228600" progId="Equation.3">
                  <p:embed/>
                </p:oleObj>
              </mc:Choice>
              <mc:Fallback>
                <p:oleObj name="Equation" r:id="rId8" imgW="92700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3330575"/>
                        <a:ext cx="1184275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0" name="Rectangle 10"/>
          <p:cNvSpPr>
            <a:spLocks noChangeArrowheads="1"/>
          </p:cNvSpPr>
          <p:nvPr/>
        </p:nvSpPr>
        <p:spPr bwMode="auto">
          <a:xfrm>
            <a:off x="495300" y="3657600"/>
            <a:ext cx="840105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The smallest               satisfying the above equation is called fundamental period.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E.g. find the fundamental period of </a:t>
            </a:r>
          </a:p>
          <a:p>
            <a:pPr marL="1143000" lvl="2" indent="-228600">
              <a:spcBef>
                <a:spcPct val="20000"/>
              </a:spcBef>
            </a:pPr>
            <a:endParaRPr lang="en-US" sz="1800" b="0"/>
          </a:p>
        </p:txBody>
      </p:sp>
      <p:graphicFrame>
        <p:nvGraphicFramePr>
          <p:cNvPr id="143371" name="Object 11"/>
          <p:cNvGraphicFramePr>
            <a:graphicFrameLocks noChangeAspect="1"/>
          </p:cNvGraphicFramePr>
          <p:nvPr/>
        </p:nvGraphicFramePr>
        <p:xfrm>
          <a:off x="2646363" y="3711575"/>
          <a:ext cx="51911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5" name="Equation" r:id="rId10" imgW="406080" imgH="228600" progId="Equation.3">
                  <p:embed/>
                </p:oleObj>
              </mc:Choice>
              <mc:Fallback>
                <p:oleObj name="Equation" r:id="rId10" imgW="406080" imgH="2286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3711575"/>
                        <a:ext cx="519112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2" name="Object 12"/>
          <p:cNvGraphicFramePr>
            <a:graphicFrameLocks noChangeAspect="1"/>
          </p:cNvGraphicFramePr>
          <p:nvPr/>
        </p:nvGraphicFramePr>
        <p:xfrm>
          <a:off x="5138738" y="4051300"/>
          <a:ext cx="138430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6" name="Equation" r:id="rId12" imgW="1079280" imgH="203040" progId="Equation.3">
                  <p:embed/>
                </p:oleObj>
              </mc:Choice>
              <mc:Fallback>
                <p:oleObj name="Equation" r:id="rId12" imgW="1079280" imgH="2030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4051300"/>
                        <a:ext cx="1384300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4" name="Rectangle 14"/>
          <p:cNvSpPr>
            <a:spLocks noChangeArrowheads="1"/>
          </p:cNvSpPr>
          <p:nvPr/>
        </p:nvSpPr>
        <p:spPr bwMode="auto">
          <a:xfrm>
            <a:off x="400050" y="4591050"/>
            <a:ext cx="8096250" cy="142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>
                <a:solidFill>
                  <a:srgbClr val="000099"/>
                </a:solidFill>
              </a:rPr>
              <a:t>Continuous-time </a:t>
            </a:r>
            <a:r>
              <a:rPr lang="en-US" sz="2000" dirty="0" err="1">
                <a:solidFill>
                  <a:srgbClr val="000099"/>
                </a:solidFill>
              </a:rPr>
              <a:t>v.s</a:t>
            </a:r>
            <a:r>
              <a:rPr lang="en-US" sz="2000" dirty="0">
                <a:solidFill>
                  <a:srgbClr val="000099"/>
                </a:solidFill>
              </a:rPr>
              <a:t>. </a:t>
            </a:r>
            <a:r>
              <a:rPr lang="en-US" sz="2000" dirty="0" smtClean="0">
                <a:solidFill>
                  <a:srgbClr val="000099"/>
                </a:solidFill>
              </a:rPr>
              <a:t>Discrete-time signal</a:t>
            </a:r>
            <a:endParaRPr lang="en-US" sz="2000" dirty="0">
              <a:solidFill>
                <a:srgbClr val="000099"/>
              </a:solidFill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/>
              <a:t>Continuous-time signal: the signal is defined over continuous-time.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/>
              <a:t>Discrete-time signal: a signal that exists only at discrete-time values.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/>
              <a:t>Discrete-time signals are </a:t>
            </a:r>
            <a:r>
              <a:rPr lang="en-US" sz="1800" b="0" dirty="0">
                <a:solidFill>
                  <a:srgbClr val="FF0000"/>
                </a:solidFill>
              </a:rPr>
              <a:t>undefined</a:t>
            </a:r>
            <a:r>
              <a:rPr lang="en-US" sz="1800" b="0" dirty="0"/>
              <a:t> at               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 dirty="0"/>
          </a:p>
          <a:p>
            <a:pPr marL="1143000" lvl="2" indent="-228600">
              <a:spcBef>
                <a:spcPct val="20000"/>
              </a:spcBef>
            </a:pPr>
            <a:endParaRPr lang="en-US" sz="1800" b="0" dirty="0"/>
          </a:p>
        </p:txBody>
      </p:sp>
      <p:graphicFrame>
        <p:nvGraphicFramePr>
          <p:cNvPr id="143375" name="Object 15"/>
          <p:cNvGraphicFramePr>
            <a:graphicFrameLocks noChangeAspect="1"/>
          </p:cNvGraphicFramePr>
          <p:nvPr/>
        </p:nvGraphicFramePr>
        <p:xfrm>
          <a:off x="7594600" y="5032375"/>
          <a:ext cx="357188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7" name="Equation" r:id="rId14" imgW="279360" imgH="203040" progId="Equation.3">
                  <p:embed/>
                </p:oleObj>
              </mc:Choice>
              <mc:Fallback>
                <p:oleObj name="Equation" r:id="rId14" imgW="279360" imgH="20304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4600" y="5032375"/>
                        <a:ext cx="357188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6" name="Object 16"/>
          <p:cNvGraphicFramePr>
            <a:graphicFrameLocks noChangeAspect="1"/>
          </p:cNvGraphicFramePr>
          <p:nvPr/>
        </p:nvGraphicFramePr>
        <p:xfrm>
          <a:off x="8351838" y="5365750"/>
          <a:ext cx="40640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8" name="Equation" r:id="rId16" imgW="317160" imgH="203040" progId="Equation.3">
                  <p:embed/>
                </p:oleObj>
              </mc:Choice>
              <mc:Fallback>
                <p:oleObj name="Equation" r:id="rId16" imgW="317160" imgH="20304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38" y="5365750"/>
                        <a:ext cx="406400" cy="26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7" name="Object 17"/>
          <p:cNvGraphicFramePr>
            <a:graphicFrameLocks noChangeAspect="1"/>
          </p:cNvGraphicFramePr>
          <p:nvPr/>
        </p:nvGraphicFramePr>
        <p:xfrm>
          <a:off x="7645400" y="5349875"/>
          <a:ext cx="6016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9" name="Equation" r:id="rId18" imgW="469800" imgH="228600" progId="Equation.3">
                  <p:embed/>
                </p:oleObj>
              </mc:Choice>
              <mc:Fallback>
                <p:oleObj name="Equation" r:id="rId18" imgW="469800" imgH="2286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5400" y="5349875"/>
                        <a:ext cx="601663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8" name="Object 18"/>
          <p:cNvGraphicFramePr>
            <a:graphicFrameLocks noChangeAspect="1"/>
          </p:cNvGraphicFramePr>
          <p:nvPr/>
        </p:nvGraphicFramePr>
        <p:xfrm>
          <a:off x="4984750" y="5608638"/>
          <a:ext cx="73977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0" name="Equation" r:id="rId20" imgW="431640" imgH="228600" progId="Equation.3">
                  <p:embed/>
                </p:oleObj>
              </mc:Choice>
              <mc:Fallback>
                <p:oleObj name="Equation" r:id="rId20" imgW="431640" imgH="2286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5608638"/>
                        <a:ext cx="739775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BA33-C216-4E8F-818C-C023A4A55E1C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SIGNAL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130300"/>
          </a:xfrm>
        </p:spPr>
        <p:txBody>
          <a:bodyPr/>
          <a:lstStyle/>
          <a:p>
            <a:r>
              <a:rPr lang="en-US"/>
              <a:t>Energy signal v.s. Power signal</a:t>
            </a:r>
          </a:p>
          <a:p>
            <a:pPr lvl="1"/>
            <a:r>
              <a:rPr lang="en-US"/>
              <a:t>Instantaneous power of a signal</a:t>
            </a:r>
          </a:p>
          <a:p>
            <a:pPr lvl="1"/>
            <a:r>
              <a:rPr lang="en-US"/>
              <a:t>Energy of a signal dissipated during interval </a:t>
            </a:r>
          </a:p>
        </p:txBody>
      </p:sp>
      <p:graphicFrame>
        <p:nvGraphicFramePr>
          <p:cNvPr id="145412" name="Object 4"/>
          <p:cNvGraphicFramePr>
            <a:graphicFrameLocks noChangeAspect="1"/>
          </p:cNvGraphicFramePr>
          <p:nvPr/>
        </p:nvGraphicFramePr>
        <p:xfrm>
          <a:off x="4683125" y="1263650"/>
          <a:ext cx="960438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7" name="Equation" r:id="rId4" imgW="749160" imgH="228600" progId="Equation.3">
                  <p:embed/>
                </p:oleObj>
              </mc:Choice>
              <mc:Fallback>
                <p:oleObj name="Equation" r:id="rId4" imgW="74916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25" y="1263650"/>
                        <a:ext cx="960438" cy="2936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3" name="Object 5"/>
          <p:cNvGraphicFramePr>
            <a:graphicFrameLocks noChangeAspect="1"/>
          </p:cNvGraphicFramePr>
          <p:nvPr/>
        </p:nvGraphicFramePr>
        <p:xfrm>
          <a:off x="3694113" y="1998663"/>
          <a:ext cx="1398587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8" name="Equation" r:id="rId6" imgW="1091880" imgH="330120" progId="Equation.3">
                  <p:embed/>
                </p:oleObj>
              </mc:Choice>
              <mc:Fallback>
                <p:oleObj name="Equation" r:id="rId6" imgW="1091880" imgH="3301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4113" y="1998663"/>
                        <a:ext cx="1398587" cy="4238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4" name="Object 6"/>
          <p:cNvGraphicFramePr>
            <a:graphicFrameLocks noChangeAspect="1"/>
          </p:cNvGraphicFramePr>
          <p:nvPr/>
        </p:nvGraphicFramePr>
        <p:xfrm>
          <a:off x="5583238" y="1524000"/>
          <a:ext cx="7810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9" name="Equation" r:id="rId8" imgW="609480" imgH="431640" progId="Equation.3">
                  <p:embed/>
                </p:oleObj>
              </mc:Choice>
              <mc:Fallback>
                <p:oleObj name="Equation" r:id="rId8" imgW="60948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8" y="1524000"/>
                        <a:ext cx="78105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5" name="Rectangle 7"/>
          <p:cNvSpPr>
            <a:spLocks noChangeArrowheads="1"/>
          </p:cNvSpPr>
          <p:nvPr/>
        </p:nvSpPr>
        <p:spPr bwMode="auto">
          <a:xfrm>
            <a:off x="590550" y="2419350"/>
            <a:ext cx="7772400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Average power dissipated during interval </a:t>
            </a:r>
          </a:p>
        </p:txBody>
      </p:sp>
      <p:graphicFrame>
        <p:nvGraphicFramePr>
          <p:cNvPr id="145416" name="Object 8"/>
          <p:cNvGraphicFramePr>
            <a:graphicFrameLocks noChangeAspect="1"/>
          </p:cNvGraphicFramePr>
          <p:nvPr/>
        </p:nvGraphicFramePr>
        <p:xfrm>
          <a:off x="5354638" y="2295525"/>
          <a:ext cx="7810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0" name="Equation" r:id="rId10" imgW="609480" imgH="431640" progId="Equation.3">
                  <p:embed/>
                </p:oleObj>
              </mc:Choice>
              <mc:Fallback>
                <p:oleObj name="Equation" r:id="rId10" imgW="60948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4638" y="2295525"/>
                        <a:ext cx="78105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7" name="Object 9"/>
          <p:cNvGraphicFramePr>
            <a:graphicFrameLocks noChangeAspect="1"/>
          </p:cNvGraphicFramePr>
          <p:nvPr/>
        </p:nvGraphicFramePr>
        <p:xfrm>
          <a:off x="3738563" y="2884488"/>
          <a:ext cx="203358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1" name="Equation" r:id="rId12" imgW="1587240" imgH="419040" progId="Equation.3">
                  <p:embed/>
                </p:oleObj>
              </mc:Choice>
              <mc:Fallback>
                <p:oleObj name="Equation" r:id="rId12" imgW="1587240" imgH="419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563" y="2884488"/>
                        <a:ext cx="2033587" cy="5381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2" name="Rectangle 14"/>
          <p:cNvSpPr>
            <a:spLocks noChangeArrowheads="1"/>
          </p:cNvSpPr>
          <p:nvPr/>
        </p:nvSpPr>
        <p:spPr bwMode="auto">
          <a:xfrm>
            <a:off x="523875" y="3429000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Total Energy of signal: </a:t>
            </a:r>
          </a:p>
        </p:txBody>
      </p:sp>
      <p:graphicFrame>
        <p:nvGraphicFramePr>
          <p:cNvPr id="145423" name="Object 15"/>
          <p:cNvGraphicFramePr>
            <a:graphicFrameLocks noChangeAspect="1"/>
          </p:cNvGraphicFramePr>
          <p:nvPr/>
        </p:nvGraphicFramePr>
        <p:xfrm>
          <a:off x="3768725" y="3552825"/>
          <a:ext cx="25844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2" name="Equation" r:id="rId14" imgW="2019240" imgH="342720" progId="Equation.3">
                  <p:embed/>
                </p:oleObj>
              </mc:Choice>
              <mc:Fallback>
                <p:oleObj name="Equation" r:id="rId14" imgW="2019240" imgH="34272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8725" y="3552825"/>
                        <a:ext cx="2584450" cy="4413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4" name="Rectangle 16"/>
          <p:cNvSpPr>
            <a:spLocks noChangeArrowheads="1"/>
          </p:cNvSpPr>
          <p:nvPr/>
        </p:nvSpPr>
        <p:spPr bwMode="auto">
          <a:xfrm>
            <a:off x="495300" y="4648200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Average power of signal: </a:t>
            </a:r>
          </a:p>
        </p:txBody>
      </p:sp>
      <p:sp>
        <p:nvSpPr>
          <p:cNvPr id="145426" name="Rectangle 18"/>
          <p:cNvSpPr>
            <a:spLocks noChangeArrowheads="1"/>
          </p:cNvSpPr>
          <p:nvPr/>
        </p:nvSpPr>
        <p:spPr bwMode="auto">
          <a:xfrm>
            <a:off x="542925" y="4200525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>
                <a:solidFill>
                  <a:srgbClr val="006600"/>
                </a:solidFill>
              </a:rPr>
              <a:t>Energy signal:</a:t>
            </a:r>
            <a:r>
              <a:rPr lang="en-US" sz="1800" b="0"/>
              <a:t> </a:t>
            </a:r>
          </a:p>
        </p:txBody>
      </p:sp>
      <p:graphicFrame>
        <p:nvGraphicFramePr>
          <p:cNvPr id="145427" name="Object 19"/>
          <p:cNvGraphicFramePr>
            <a:graphicFrameLocks noChangeAspect="1"/>
          </p:cNvGraphicFramePr>
          <p:nvPr/>
        </p:nvGraphicFramePr>
        <p:xfrm>
          <a:off x="3778250" y="4276725"/>
          <a:ext cx="812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3" name="Equation" r:id="rId16" imgW="634680" imgH="177480" progId="Equation.3">
                  <p:embed/>
                </p:oleObj>
              </mc:Choice>
              <mc:Fallback>
                <p:oleObj name="Equation" r:id="rId16" imgW="634680" imgH="1774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4276725"/>
                        <a:ext cx="812800" cy="228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8" name="Object 20"/>
          <p:cNvGraphicFramePr>
            <a:graphicFrameLocks noChangeAspect="1"/>
          </p:cNvGraphicFramePr>
          <p:nvPr/>
        </p:nvGraphicFramePr>
        <p:xfrm>
          <a:off x="3784600" y="4759325"/>
          <a:ext cx="17732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4" name="Equation" r:id="rId18" imgW="1384200" imgH="393480" progId="Equation.3">
                  <p:embed/>
                </p:oleObj>
              </mc:Choice>
              <mc:Fallback>
                <p:oleObj name="Equation" r:id="rId18" imgW="1384200" imgH="3934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4759325"/>
                        <a:ext cx="1773238" cy="5048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1" name="Rectangle 23"/>
          <p:cNvSpPr>
            <a:spLocks noChangeArrowheads="1"/>
          </p:cNvSpPr>
          <p:nvPr/>
        </p:nvSpPr>
        <p:spPr bwMode="auto">
          <a:xfrm>
            <a:off x="561975" y="5362575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Average power of periodic signal: </a:t>
            </a:r>
          </a:p>
        </p:txBody>
      </p:sp>
      <p:graphicFrame>
        <p:nvGraphicFramePr>
          <p:cNvPr id="145432" name="Object 24"/>
          <p:cNvGraphicFramePr>
            <a:graphicFrameLocks noChangeAspect="1"/>
          </p:cNvGraphicFramePr>
          <p:nvPr/>
        </p:nvGraphicFramePr>
        <p:xfrm>
          <a:off x="4581525" y="5354638"/>
          <a:ext cx="275113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5" name="Equation" r:id="rId20" imgW="2145960" imgH="431640" progId="Equation.3">
                  <p:embed/>
                </p:oleObj>
              </mc:Choice>
              <mc:Fallback>
                <p:oleObj name="Equation" r:id="rId20" imgW="2145960" imgH="43164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525" y="5354638"/>
                        <a:ext cx="2751138" cy="5540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35" name="Rectangle 27"/>
          <p:cNvSpPr>
            <a:spLocks noChangeArrowheads="1"/>
          </p:cNvSpPr>
          <p:nvPr/>
        </p:nvSpPr>
        <p:spPr bwMode="auto">
          <a:xfrm>
            <a:off x="504825" y="5895975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>
                <a:solidFill>
                  <a:srgbClr val="006600"/>
                </a:solidFill>
              </a:rPr>
              <a:t>Power signal</a:t>
            </a:r>
            <a:r>
              <a:rPr lang="en-US" sz="1800" b="0"/>
              <a:t>: </a:t>
            </a:r>
          </a:p>
        </p:txBody>
      </p:sp>
      <p:graphicFrame>
        <p:nvGraphicFramePr>
          <p:cNvPr id="145436" name="Object 28"/>
          <p:cNvGraphicFramePr>
            <a:graphicFrameLocks noChangeAspect="1"/>
          </p:cNvGraphicFramePr>
          <p:nvPr/>
        </p:nvGraphicFramePr>
        <p:xfrm>
          <a:off x="3787775" y="5981700"/>
          <a:ext cx="812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16" name="Equation" r:id="rId22" imgW="634680" imgH="177480" progId="Equation.3">
                  <p:embed/>
                </p:oleObj>
              </mc:Choice>
              <mc:Fallback>
                <p:oleObj name="Equation" r:id="rId22" imgW="634680" imgH="1774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5981700"/>
                        <a:ext cx="812800" cy="228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5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5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5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5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5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E70E9-4942-41B8-A06F-83AC1A4AD22C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SIGNAL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Example:</a:t>
            </a:r>
          </a:p>
          <a:p>
            <a:pPr lvl="1"/>
            <a:endParaRPr lang="en-US"/>
          </a:p>
          <a:p>
            <a:pPr lvl="1"/>
            <a:r>
              <a:rPr lang="en-US"/>
              <a:t>Find the fundamental period.</a:t>
            </a:r>
          </a:p>
          <a:p>
            <a:pPr lvl="1"/>
            <a:r>
              <a:rPr lang="en-US"/>
              <a:t>Find the average power.</a:t>
            </a:r>
          </a:p>
        </p:txBody>
      </p:sp>
      <p:graphicFrame>
        <p:nvGraphicFramePr>
          <p:cNvPr id="149508" name="Object 4"/>
          <p:cNvGraphicFramePr>
            <a:graphicFrameLocks noChangeAspect="1"/>
          </p:cNvGraphicFramePr>
          <p:nvPr/>
        </p:nvGraphicFramePr>
        <p:xfrm>
          <a:off x="2270125" y="1196975"/>
          <a:ext cx="209708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16" name="Equation" r:id="rId4" imgW="1333440" imgH="228600" progId="Equation.3">
                  <p:embed/>
                </p:oleObj>
              </mc:Choice>
              <mc:Fallback>
                <p:oleObj name="Equation" r:id="rId4" imgW="133344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1196975"/>
                        <a:ext cx="2097088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99F50-6D44-4AD6-9319-AC0397546BC9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SIGNAL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92125"/>
          </a:xfrm>
        </p:spPr>
        <p:txBody>
          <a:bodyPr/>
          <a:lstStyle/>
          <a:p>
            <a:r>
              <a:rPr lang="en-US"/>
              <a:t>Unit step function</a:t>
            </a:r>
          </a:p>
        </p:txBody>
      </p:sp>
      <p:graphicFrame>
        <p:nvGraphicFramePr>
          <p:cNvPr id="171012" name="Object 4"/>
          <p:cNvGraphicFramePr>
            <a:graphicFrameLocks noChangeAspect="1"/>
          </p:cNvGraphicFramePr>
          <p:nvPr/>
        </p:nvGraphicFramePr>
        <p:xfrm>
          <a:off x="2054225" y="1401763"/>
          <a:ext cx="184626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21" name="Equation" r:id="rId3" imgW="990360" imgH="457200" progId="Equation.3">
                  <p:embed/>
                </p:oleObj>
              </mc:Choice>
              <mc:Fallback>
                <p:oleObj name="Equation" r:id="rId3" imgW="99036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1401763"/>
                        <a:ext cx="1846263" cy="8477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1013" name="Group 5"/>
          <p:cNvGrpSpPr>
            <a:grpSpLocks/>
          </p:cNvGrpSpPr>
          <p:nvPr/>
        </p:nvGrpSpPr>
        <p:grpSpPr bwMode="auto">
          <a:xfrm>
            <a:off x="5092700" y="901700"/>
            <a:ext cx="3376613" cy="1674813"/>
            <a:chOff x="3208" y="568"/>
            <a:chExt cx="2127" cy="1055"/>
          </a:xfrm>
        </p:grpSpPr>
        <p:sp>
          <p:nvSpPr>
            <p:cNvPr id="171014" name="Line 6"/>
            <p:cNvSpPr>
              <a:spLocks noChangeShapeType="1"/>
            </p:cNvSpPr>
            <p:nvPr/>
          </p:nvSpPr>
          <p:spPr bwMode="auto">
            <a:xfrm>
              <a:off x="3208" y="1392"/>
              <a:ext cx="20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1015" name="Line 7"/>
            <p:cNvSpPr>
              <a:spLocks noChangeShapeType="1"/>
            </p:cNvSpPr>
            <p:nvPr/>
          </p:nvSpPr>
          <p:spPr bwMode="auto">
            <a:xfrm flipV="1">
              <a:off x="4104" y="760"/>
              <a:ext cx="0" cy="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1016" name="Line 8"/>
            <p:cNvSpPr>
              <a:spLocks noChangeShapeType="1"/>
            </p:cNvSpPr>
            <p:nvPr/>
          </p:nvSpPr>
          <p:spPr bwMode="auto">
            <a:xfrm>
              <a:off x="4112" y="1016"/>
              <a:ext cx="952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1017" name="Line 9"/>
            <p:cNvSpPr>
              <a:spLocks noChangeShapeType="1"/>
            </p:cNvSpPr>
            <p:nvPr/>
          </p:nvSpPr>
          <p:spPr bwMode="auto">
            <a:xfrm>
              <a:off x="3488" y="1392"/>
              <a:ext cx="624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71018" name="Object 10"/>
            <p:cNvGraphicFramePr>
              <a:graphicFrameLocks noChangeAspect="1"/>
            </p:cNvGraphicFramePr>
            <p:nvPr/>
          </p:nvGraphicFramePr>
          <p:xfrm>
            <a:off x="5231" y="1429"/>
            <a:ext cx="10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22" name="Equation" r:id="rId5" imgW="88560" imgH="152280" progId="Equation.3">
                    <p:embed/>
                  </p:oleObj>
                </mc:Choice>
                <mc:Fallback>
                  <p:oleObj name="Equation" r:id="rId5" imgW="88560" imgH="15228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1" y="1429"/>
                          <a:ext cx="104" cy="1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19" name="Object 11"/>
            <p:cNvGraphicFramePr>
              <a:graphicFrameLocks noChangeAspect="1"/>
            </p:cNvGraphicFramePr>
            <p:nvPr/>
          </p:nvGraphicFramePr>
          <p:xfrm>
            <a:off x="3943" y="926"/>
            <a:ext cx="104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23" name="Equation" r:id="rId7" imgW="88560" imgH="164880" progId="Equation.3">
                    <p:embed/>
                  </p:oleObj>
                </mc:Choice>
                <mc:Fallback>
                  <p:oleObj name="Equation" r:id="rId7" imgW="88560" imgH="16488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3" y="926"/>
                          <a:ext cx="104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0" name="Object 12"/>
            <p:cNvGraphicFramePr>
              <a:graphicFrameLocks noChangeAspect="1"/>
            </p:cNvGraphicFramePr>
            <p:nvPr/>
          </p:nvGraphicFramePr>
          <p:xfrm>
            <a:off x="3832" y="568"/>
            <a:ext cx="327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24" name="Equation" r:id="rId9" imgW="279360" imgH="203040" progId="Equation.3">
                    <p:embed/>
                  </p:oleObj>
                </mc:Choice>
                <mc:Fallback>
                  <p:oleObj name="Equation" r:id="rId9" imgW="279360" imgH="2030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2" y="568"/>
                          <a:ext cx="327" cy="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21" name="Object 13"/>
            <p:cNvGraphicFramePr>
              <a:graphicFrameLocks noChangeAspect="1"/>
            </p:cNvGraphicFramePr>
            <p:nvPr/>
          </p:nvGraphicFramePr>
          <p:xfrm>
            <a:off x="4033" y="1415"/>
            <a:ext cx="14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25" name="Equation" r:id="rId11" imgW="126720" imgH="177480" progId="Equation.3">
                    <p:embed/>
                  </p:oleObj>
                </mc:Choice>
                <mc:Fallback>
                  <p:oleObj name="Equation" r:id="rId11" imgW="126720" imgH="17748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1415"/>
                          <a:ext cx="148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1022" name="Rectangle 14"/>
          <p:cNvSpPr>
            <a:spLocks noChangeArrowheads="1"/>
          </p:cNvSpPr>
          <p:nvPr/>
        </p:nvSpPr>
        <p:spPr bwMode="auto">
          <a:xfrm>
            <a:off x="533400" y="2533650"/>
            <a:ext cx="7772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Rectangular function</a:t>
            </a:r>
          </a:p>
        </p:txBody>
      </p:sp>
      <p:graphicFrame>
        <p:nvGraphicFramePr>
          <p:cNvPr id="171023" name="Object 15"/>
          <p:cNvGraphicFramePr>
            <a:graphicFrameLocks noChangeAspect="1"/>
          </p:cNvGraphicFramePr>
          <p:nvPr/>
        </p:nvGraphicFramePr>
        <p:xfrm>
          <a:off x="1514475" y="2998788"/>
          <a:ext cx="2976563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26" name="Equation" r:id="rId13" imgW="1663560" imgH="583920" progId="Equation.3">
                  <p:embed/>
                </p:oleObj>
              </mc:Choice>
              <mc:Fallback>
                <p:oleObj name="Equation" r:id="rId13" imgW="1663560" imgH="58392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2998788"/>
                        <a:ext cx="2976563" cy="10398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1038" name="Group 30"/>
          <p:cNvGrpSpPr>
            <a:grpSpLocks/>
          </p:cNvGrpSpPr>
          <p:nvPr/>
        </p:nvGrpSpPr>
        <p:grpSpPr bwMode="auto">
          <a:xfrm>
            <a:off x="5187950" y="2654300"/>
            <a:ext cx="3376613" cy="1933575"/>
            <a:chOff x="3268" y="1672"/>
            <a:chExt cx="2127" cy="1218"/>
          </a:xfrm>
        </p:grpSpPr>
        <p:sp>
          <p:nvSpPr>
            <p:cNvPr id="171025" name="Line 17"/>
            <p:cNvSpPr>
              <a:spLocks noChangeShapeType="1"/>
            </p:cNvSpPr>
            <p:nvPr/>
          </p:nvSpPr>
          <p:spPr bwMode="auto">
            <a:xfrm>
              <a:off x="3268" y="2532"/>
              <a:ext cx="20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1026" name="Line 18"/>
            <p:cNvSpPr>
              <a:spLocks noChangeShapeType="1"/>
            </p:cNvSpPr>
            <p:nvPr/>
          </p:nvSpPr>
          <p:spPr bwMode="auto">
            <a:xfrm flipV="1">
              <a:off x="4164" y="1900"/>
              <a:ext cx="0" cy="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1027" name="Line 19"/>
            <p:cNvSpPr>
              <a:spLocks noChangeShapeType="1"/>
            </p:cNvSpPr>
            <p:nvPr/>
          </p:nvSpPr>
          <p:spPr bwMode="auto">
            <a:xfrm>
              <a:off x="3680" y="2156"/>
              <a:ext cx="952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71029" name="Object 21"/>
            <p:cNvGraphicFramePr>
              <a:graphicFrameLocks noChangeAspect="1"/>
            </p:cNvGraphicFramePr>
            <p:nvPr/>
          </p:nvGraphicFramePr>
          <p:xfrm>
            <a:off x="5291" y="2569"/>
            <a:ext cx="10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27" name="Equation" r:id="rId15" imgW="88560" imgH="152280" progId="Equation.3">
                    <p:embed/>
                  </p:oleObj>
                </mc:Choice>
                <mc:Fallback>
                  <p:oleObj name="Equation" r:id="rId15" imgW="88560" imgH="152280" progId="Equation.3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1" y="2569"/>
                          <a:ext cx="104" cy="1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0" name="Object 22"/>
            <p:cNvGraphicFramePr>
              <a:graphicFrameLocks noChangeAspect="1"/>
            </p:cNvGraphicFramePr>
            <p:nvPr/>
          </p:nvGraphicFramePr>
          <p:xfrm>
            <a:off x="4003" y="2066"/>
            <a:ext cx="104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28" name="Equation" r:id="rId16" imgW="88560" imgH="164880" progId="Equation.3">
                    <p:embed/>
                  </p:oleObj>
                </mc:Choice>
                <mc:Fallback>
                  <p:oleObj name="Equation" r:id="rId16" imgW="88560" imgH="164880" progId="Equation.3">
                    <p:embed/>
                    <p:pic>
                      <p:nvPicPr>
                        <p:cNvPr id="0" name="Picture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3" y="2066"/>
                          <a:ext cx="104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1" name="Object 23"/>
            <p:cNvGraphicFramePr>
              <a:graphicFrameLocks noChangeAspect="1"/>
            </p:cNvGraphicFramePr>
            <p:nvPr/>
          </p:nvGraphicFramePr>
          <p:xfrm>
            <a:off x="3874" y="1672"/>
            <a:ext cx="520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29" name="Equation" r:id="rId17" imgW="444240" imgH="203040" progId="Equation.3">
                    <p:embed/>
                  </p:oleObj>
                </mc:Choice>
                <mc:Fallback>
                  <p:oleObj name="Equation" r:id="rId17" imgW="444240" imgH="203040" progId="Equation.3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4" y="1672"/>
                          <a:ext cx="520" cy="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2" name="Object 24"/>
            <p:cNvGraphicFramePr>
              <a:graphicFrameLocks noChangeAspect="1"/>
            </p:cNvGraphicFramePr>
            <p:nvPr/>
          </p:nvGraphicFramePr>
          <p:xfrm>
            <a:off x="4093" y="2555"/>
            <a:ext cx="14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30" name="Equation" r:id="rId19" imgW="126720" imgH="177480" progId="Equation.3">
                    <p:embed/>
                  </p:oleObj>
                </mc:Choice>
                <mc:Fallback>
                  <p:oleObj name="Equation" r:id="rId19" imgW="126720" imgH="177480" progId="Equation.3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3" y="2555"/>
                          <a:ext cx="148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1033" name="Line 25"/>
            <p:cNvSpPr>
              <a:spLocks noChangeShapeType="1"/>
            </p:cNvSpPr>
            <p:nvPr/>
          </p:nvSpPr>
          <p:spPr bwMode="auto">
            <a:xfrm>
              <a:off x="3678" y="2148"/>
              <a:ext cx="0" cy="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1034" name="Line 26"/>
            <p:cNvSpPr>
              <a:spLocks noChangeShapeType="1"/>
            </p:cNvSpPr>
            <p:nvPr/>
          </p:nvSpPr>
          <p:spPr bwMode="auto">
            <a:xfrm>
              <a:off x="4626" y="2160"/>
              <a:ext cx="0" cy="3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71035" name="Object 27"/>
            <p:cNvGraphicFramePr>
              <a:graphicFrameLocks noChangeAspect="1"/>
            </p:cNvGraphicFramePr>
            <p:nvPr/>
          </p:nvGraphicFramePr>
          <p:xfrm>
            <a:off x="3504" y="2509"/>
            <a:ext cx="25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31" name="Equation" r:id="rId20" imgW="266400" imgH="393480" progId="Equation.3">
                    <p:embed/>
                  </p:oleObj>
                </mc:Choice>
                <mc:Fallback>
                  <p:oleObj name="Equation" r:id="rId20" imgW="266400" imgH="393480" progId="Equation.3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509"/>
                          <a:ext cx="259" cy="3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036" name="Object 28"/>
            <p:cNvGraphicFramePr>
              <a:graphicFrameLocks noChangeAspect="1"/>
            </p:cNvGraphicFramePr>
            <p:nvPr/>
          </p:nvGraphicFramePr>
          <p:xfrm>
            <a:off x="4549" y="2485"/>
            <a:ext cx="148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32" name="Equation" r:id="rId22" imgW="152280" imgH="393480" progId="Equation.3">
                    <p:embed/>
                  </p:oleObj>
                </mc:Choice>
                <mc:Fallback>
                  <p:oleObj name="Equation" r:id="rId22" imgW="152280" imgH="393480" progId="Equation.3">
                    <p:embed/>
                    <p:pic>
                      <p:nvPicPr>
                        <p:cNvPr id="0" name="Picture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9" y="2485"/>
                          <a:ext cx="148" cy="3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1037" name="Rectangle 29"/>
          <p:cNvSpPr>
            <a:spLocks noChangeArrowheads="1"/>
          </p:cNvSpPr>
          <p:nvPr/>
        </p:nvSpPr>
        <p:spPr bwMode="auto">
          <a:xfrm>
            <a:off x="361950" y="4095750"/>
            <a:ext cx="7772400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i="1"/>
              <a:t>rect</a:t>
            </a:r>
            <a:r>
              <a:rPr lang="en-US" sz="1800" b="0"/>
              <a:t>(t) can be represented by using </a:t>
            </a:r>
            <a:r>
              <a:rPr lang="en-US" sz="1800" b="0" i="1"/>
              <a:t>u</a:t>
            </a:r>
            <a:r>
              <a:rPr lang="en-US" sz="1800" b="0"/>
              <a:t>(t):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FB21B-495A-448B-BED1-9811B6933E1D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SIGNAL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82600"/>
          </a:xfrm>
        </p:spPr>
        <p:txBody>
          <a:bodyPr/>
          <a:lstStyle/>
          <a:p>
            <a:r>
              <a:rPr lang="en-US"/>
              <a:t>Unit impulse function (Dirac delta function)</a:t>
            </a:r>
          </a:p>
        </p:txBody>
      </p:sp>
      <p:graphicFrame>
        <p:nvGraphicFramePr>
          <p:cNvPr id="148484" name="Object 4"/>
          <p:cNvGraphicFramePr>
            <a:graphicFrameLocks noChangeAspect="1"/>
          </p:cNvGraphicFramePr>
          <p:nvPr/>
        </p:nvGraphicFramePr>
        <p:xfrm>
          <a:off x="1244600" y="1387475"/>
          <a:ext cx="1395413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11" name="Equation" r:id="rId3" imgW="850680" imgH="774360" progId="Equation.3">
                  <p:embed/>
                </p:oleObj>
              </mc:Choice>
              <mc:Fallback>
                <p:oleObj name="Equation" r:id="rId3" imgW="850680" imgH="7743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1387475"/>
                        <a:ext cx="1395413" cy="12620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8485" name="Group 5"/>
          <p:cNvGrpSpPr>
            <a:grpSpLocks/>
          </p:cNvGrpSpPr>
          <p:nvPr/>
        </p:nvGrpSpPr>
        <p:grpSpPr bwMode="auto">
          <a:xfrm>
            <a:off x="6350000" y="1308100"/>
            <a:ext cx="1955800" cy="1358900"/>
            <a:chOff x="3536" y="832"/>
            <a:chExt cx="1232" cy="856"/>
          </a:xfrm>
        </p:grpSpPr>
        <p:sp>
          <p:nvSpPr>
            <p:cNvPr id="148486" name="Line 6"/>
            <p:cNvSpPr>
              <a:spLocks noChangeShapeType="1"/>
            </p:cNvSpPr>
            <p:nvPr/>
          </p:nvSpPr>
          <p:spPr bwMode="auto">
            <a:xfrm>
              <a:off x="3536" y="1688"/>
              <a:ext cx="1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8487" name="Line 7"/>
            <p:cNvSpPr>
              <a:spLocks noChangeShapeType="1"/>
            </p:cNvSpPr>
            <p:nvPr/>
          </p:nvSpPr>
          <p:spPr bwMode="auto">
            <a:xfrm flipV="1">
              <a:off x="4144" y="832"/>
              <a:ext cx="0" cy="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8488" name="Line 8"/>
            <p:cNvSpPr>
              <a:spLocks noChangeShapeType="1"/>
            </p:cNvSpPr>
            <p:nvPr/>
          </p:nvSpPr>
          <p:spPr bwMode="auto">
            <a:xfrm flipV="1">
              <a:off x="4144" y="1080"/>
              <a:ext cx="0" cy="60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48489" name="Object 9"/>
          <p:cNvGraphicFramePr>
            <a:graphicFrameLocks noChangeAspect="1"/>
          </p:cNvGraphicFramePr>
          <p:nvPr/>
        </p:nvGraphicFramePr>
        <p:xfrm>
          <a:off x="6777038" y="1084263"/>
          <a:ext cx="396875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12" name="Equation" r:id="rId5" imgW="291960" imgH="203040" progId="Equation.3">
                  <p:embed/>
                </p:oleObj>
              </mc:Choice>
              <mc:Fallback>
                <p:oleObj name="Equation" r:id="rId5" imgW="291960" imgH="203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038" y="1084263"/>
                        <a:ext cx="396875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90" name="Rectangle 10"/>
          <p:cNvSpPr>
            <a:spLocks noChangeArrowheads="1"/>
          </p:cNvSpPr>
          <p:nvPr/>
        </p:nvSpPr>
        <p:spPr bwMode="auto">
          <a:xfrm>
            <a:off x="558800" y="2768600"/>
            <a:ext cx="7772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delta function can be viewed as the limit of the rect function</a:t>
            </a:r>
          </a:p>
        </p:txBody>
      </p:sp>
      <p:grpSp>
        <p:nvGrpSpPr>
          <p:cNvPr id="148491" name="Group 11"/>
          <p:cNvGrpSpPr>
            <a:grpSpLocks/>
          </p:cNvGrpSpPr>
          <p:nvPr/>
        </p:nvGrpSpPr>
        <p:grpSpPr bwMode="auto">
          <a:xfrm>
            <a:off x="6375400" y="2936875"/>
            <a:ext cx="2111375" cy="1854200"/>
            <a:chOff x="4304" y="1976"/>
            <a:chExt cx="1330" cy="1168"/>
          </a:xfrm>
        </p:grpSpPr>
        <p:sp>
          <p:nvSpPr>
            <p:cNvPr id="148492" name="Line 12"/>
            <p:cNvSpPr>
              <a:spLocks noChangeShapeType="1"/>
            </p:cNvSpPr>
            <p:nvPr/>
          </p:nvSpPr>
          <p:spPr bwMode="auto">
            <a:xfrm>
              <a:off x="4304" y="2832"/>
              <a:ext cx="1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8493" name="Line 13"/>
            <p:cNvSpPr>
              <a:spLocks noChangeShapeType="1"/>
            </p:cNvSpPr>
            <p:nvPr/>
          </p:nvSpPr>
          <p:spPr bwMode="auto">
            <a:xfrm flipV="1">
              <a:off x="4912" y="1976"/>
              <a:ext cx="0" cy="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8494" name="Rectangle 14"/>
            <p:cNvSpPr>
              <a:spLocks noChangeArrowheads="1"/>
            </p:cNvSpPr>
            <p:nvPr/>
          </p:nvSpPr>
          <p:spPr bwMode="auto">
            <a:xfrm>
              <a:off x="4752" y="2312"/>
              <a:ext cx="312" cy="5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48495" name="Object 15"/>
            <p:cNvGraphicFramePr>
              <a:graphicFrameLocks noChangeAspect="1"/>
            </p:cNvGraphicFramePr>
            <p:nvPr/>
          </p:nvGraphicFramePr>
          <p:xfrm>
            <a:off x="4594" y="2830"/>
            <a:ext cx="214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13" name="Equation" r:id="rId7" imgW="266400" imgH="393480" progId="Equation.3">
                    <p:embed/>
                  </p:oleObj>
                </mc:Choice>
                <mc:Fallback>
                  <p:oleObj name="Equation" r:id="rId7" imgW="266400" imgH="39348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4" y="2830"/>
                          <a:ext cx="214" cy="3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496" name="Object 16"/>
            <p:cNvGraphicFramePr>
              <a:graphicFrameLocks noChangeAspect="1"/>
            </p:cNvGraphicFramePr>
            <p:nvPr/>
          </p:nvGraphicFramePr>
          <p:xfrm>
            <a:off x="5040" y="2830"/>
            <a:ext cx="12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14" name="Equation" r:id="rId9" imgW="152280" imgH="393480" progId="Equation.3">
                    <p:embed/>
                  </p:oleObj>
                </mc:Choice>
                <mc:Fallback>
                  <p:oleObj name="Equation" r:id="rId9" imgW="152280" imgH="39348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2830"/>
                          <a:ext cx="122" cy="3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497" name="Object 17"/>
            <p:cNvGraphicFramePr>
              <a:graphicFrameLocks noChangeAspect="1"/>
            </p:cNvGraphicFramePr>
            <p:nvPr/>
          </p:nvGraphicFramePr>
          <p:xfrm>
            <a:off x="4699" y="2115"/>
            <a:ext cx="212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15" name="Equation" r:id="rId11" imgW="266400" imgH="177480" progId="Equation.3">
                    <p:embed/>
                  </p:oleObj>
                </mc:Choice>
                <mc:Fallback>
                  <p:oleObj name="Equation" r:id="rId11" imgW="266400" imgH="177480" progId="Equation.3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9" y="2115"/>
                          <a:ext cx="212" cy="1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8498" name="Object 18"/>
            <p:cNvGraphicFramePr>
              <a:graphicFrameLocks noChangeAspect="1"/>
            </p:cNvGraphicFramePr>
            <p:nvPr/>
          </p:nvGraphicFramePr>
          <p:xfrm>
            <a:off x="5558" y="2884"/>
            <a:ext cx="76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616" name="Equation" r:id="rId13" imgW="88560" imgH="152280" progId="Equation.3">
                    <p:embed/>
                  </p:oleObj>
                </mc:Choice>
                <mc:Fallback>
                  <p:oleObj name="Equation" r:id="rId13" imgW="88560" imgH="152280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8" y="2884"/>
                          <a:ext cx="76" cy="1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8499" name="Object 19"/>
          <p:cNvGraphicFramePr>
            <a:graphicFrameLocks noChangeAspect="1"/>
          </p:cNvGraphicFramePr>
          <p:nvPr/>
        </p:nvGraphicFramePr>
        <p:xfrm>
          <a:off x="2560638" y="2984500"/>
          <a:ext cx="210978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17" name="Equation" r:id="rId15" imgW="1295280" imgH="393480" progId="Equation.3">
                  <p:embed/>
                </p:oleObj>
              </mc:Choice>
              <mc:Fallback>
                <p:oleObj name="Equation" r:id="rId15" imgW="1295280" imgH="3934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2984500"/>
                        <a:ext cx="2109787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3" name="Object 23"/>
          <p:cNvGraphicFramePr>
            <a:graphicFrameLocks noChangeAspect="1"/>
          </p:cNvGraphicFramePr>
          <p:nvPr/>
        </p:nvGraphicFramePr>
        <p:xfrm>
          <a:off x="7221538" y="2695575"/>
          <a:ext cx="174625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18" name="Equation" r:id="rId17" imgW="126720" imgH="177480" progId="Equation.3">
                  <p:embed/>
                </p:oleObj>
              </mc:Choice>
              <mc:Fallback>
                <p:oleObj name="Equation" r:id="rId17" imgW="126720" imgH="1774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1538" y="2695575"/>
                        <a:ext cx="174625" cy="239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4" name="Object 24"/>
          <p:cNvGraphicFramePr>
            <a:graphicFrameLocks noChangeAspect="1"/>
          </p:cNvGraphicFramePr>
          <p:nvPr/>
        </p:nvGraphicFramePr>
        <p:xfrm>
          <a:off x="8224838" y="2724150"/>
          <a:ext cx="122237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19" name="Equation" r:id="rId19" imgW="88560" imgH="152280" progId="Equation.3">
                  <p:embed/>
                </p:oleObj>
              </mc:Choice>
              <mc:Fallback>
                <p:oleObj name="Equation" r:id="rId19" imgW="88560" imgH="152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4838" y="2724150"/>
                        <a:ext cx="122237" cy="20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05" name="Rectangle 25"/>
          <p:cNvSpPr>
            <a:spLocks noChangeArrowheads="1"/>
          </p:cNvSpPr>
          <p:nvPr/>
        </p:nvSpPr>
        <p:spPr bwMode="auto">
          <a:xfrm>
            <a:off x="647700" y="3429000"/>
            <a:ext cx="7772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Sampling property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graphicFrame>
        <p:nvGraphicFramePr>
          <p:cNvPr id="148506" name="Object 26"/>
          <p:cNvGraphicFramePr>
            <a:graphicFrameLocks noChangeAspect="1"/>
          </p:cNvGraphicFramePr>
          <p:nvPr/>
        </p:nvGraphicFramePr>
        <p:xfrm>
          <a:off x="2363788" y="4618038"/>
          <a:ext cx="25495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20" name="Equation" r:id="rId21" imgW="1523880" imgH="330120" progId="Equation.3">
                  <p:embed/>
                </p:oleObj>
              </mc:Choice>
              <mc:Fallback>
                <p:oleObj name="Equation" r:id="rId21" imgW="1523880" imgH="33012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4618038"/>
                        <a:ext cx="2549525" cy="5508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7" name="Object 27"/>
          <p:cNvGraphicFramePr>
            <a:graphicFrameLocks noChangeAspect="1"/>
          </p:cNvGraphicFramePr>
          <p:nvPr/>
        </p:nvGraphicFramePr>
        <p:xfrm>
          <a:off x="2339975" y="3856038"/>
          <a:ext cx="28733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21" name="Equation" r:id="rId23" imgW="1688760" imgH="228600" progId="Equation.3">
                  <p:embed/>
                </p:oleObj>
              </mc:Choice>
              <mc:Fallback>
                <p:oleObj name="Equation" r:id="rId23" imgW="1688760" imgH="2286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856038"/>
                        <a:ext cx="2873375" cy="3873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08" name="Rectangle 28"/>
          <p:cNvSpPr>
            <a:spLocks noChangeArrowheads="1"/>
          </p:cNvSpPr>
          <p:nvPr/>
        </p:nvSpPr>
        <p:spPr bwMode="auto">
          <a:xfrm>
            <a:off x="685800" y="4232275"/>
            <a:ext cx="7772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Shifting property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sp>
        <p:nvSpPr>
          <p:cNvPr id="148509" name="Rectangle 29"/>
          <p:cNvSpPr>
            <a:spLocks noChangeArrowheads="1"/>
          </p:cNvSpPr>
          <p:nvPr/>
        </p:nvSpPr>
        <p:spPr bwMode="auto">
          <a:xfrm>
            <a:off x="533400" y="5162550"/>
            <a:ext cx="7772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Integration of </a:t>
            </a:r>
          </a:p>
        </p:txBody>
      </p:sp>
      <p:graphicFrame>
        <p:nvGraphicFramePr>
          <p:cNvPr id="148510" name="Object 30"/>
          <p:cNvGraphicFramePr>
            <a:graphicFrameLocks noChangeAspect="1"/>
          </p:cNvGraphicFramePr>
          <p:nvPr/>
        </p:nvGraphicFramePr>
        <p:xfrm>
          <a:off x="2794000" y="5189538"/>
          <a:ext cx="51911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22" name="Equation" r:id="rId25" imgW="291960" imgH="203040" progId="Equation.3">
                  <p:embed/>
                </p:oleObj>
              </mc:Choice>
              <mc:Fallback>
                <p:oleObj name="Equation" r:id="rId25" imgW="291960" imgH="20304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5189538"/>
                        <a:ext cx="519113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11" name="Object 31"/>
          <p:cNvGraphicFramePr>
            <a:graphicFrameLocks noChangeAspect="1"/>
          </p:cNvGraphicFramePr>
          <p:nvPr/>
        </p:nvGraphicFramePr>
        <p:xfrm>
          <a:off x="1362075" y="5448300"/>
          <a:ext cx="1422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23" name="Equation" r:id="rId27" imgW="799920" imgH="330120" progId="Equation.3">
                  <p:embed/>
                </p:oleObj>
              </mc:Choice>
              <mc:Fallback>
                <p:oleObj name="Equation" r:id="rId27" imgW="799920" imgH="33012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5448300"/>
                        <a:ext cx="1422400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12" name="Object 32"/>
          <p:cNvGraphicFramePr>
            <a:graphicFrameLocks noChangeAspect="1"/>
          </p:cNvGraphicFramePr>
          <p:nvPr/>
        </p:nvGraphicFramePr>
        <p:xfrm>
          <a:off x="6999288" y="1690688"/>
          <a:ext cx="122237" cy="223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24" name="Equation" r:id="rId29" imgW="88560" imgH="164880" progId="Equation.3">
                  <p:embed/>
                </p:oleObj>
              </mc:Choice>
              <mc:Fallback>
                <p:oleObj name="Equation" r:id="rId29" imgW="88560" imgH="1648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288" y="1690688"/>
                        <a:ext cx="122237" cy="223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C630B-2367-4253-932D-CA0FAFFE3464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SYSTEM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815975"/>
          </a:xfrm>
        </p:spPr>
        <p:txBody>
          <a:bodyPr/>
          <a:lstStyle/>
          <a:p>
            <a:r>
              <a:rPr lang="en-US"/>
              <a:t>Linear system</a:t>
            </a:r>
          </a:p>
          <a:p>
            <a:pPr lvl="1"/>
            <a:r>
              <a:rPr lang="en-US"/>
              <a:t>A system is linear if the </a:t>
            </a:r>
            <a:r>
              <a:rPr lang="en-US">
                <a:solidFill>
                  <a:srgbClr val="006600"/>
                </a:solidFill>
              </a:rPr>
              <a:t>superposition principal</a:t>
            </a:r>
            <a:r>
              <a:rPr lang="en-US"/>
              <a:t> is satisfied.</a:t>
            </a:r>
          </a:p>
          <a:p>
            <a:pPr lvl="1"/>
            <a:endParaRPr lang="en-US"/>
          </a:p>
        </p:txBody>
      </p:sp>
      <p:grpSp>
        <p:nvGrpSpPr>
          <p:cNvPr id="150551" name="Group 23"/>
          <p:cNvGrpSpPr>
            <a:grpSpLocks/>
          </p:cNvGrpSpPr>
          <p:nvPr/>
        </p:nvGrpSpPr>
        <p:grpSpPr bwMode="auto">
          <a:xfrm>
            <a:off x="1314450" y="1654175"/>
            <a:ext cx="3143250" cy="482600"/>
            <a:chOff x="828" y="904"/>
            <a:chExt cx="1980" cy="304"/>
          </a:xfrm>
        </p:grpSpPr>
        <p:grpSp>
          <p:nvGrpSpPr>
            <p:cNvPr id="150532" name="Group 4"/>
            <p:cNvGrpSpPr>
              <a:grpSpLocks/>
            </p:cNvGrpSpPr>
            <p:nvPr/>
          </p:nvGrpSpPr>
          <p:grpSpPr bwMode="auto">
            <a:xfrm>
              <a:off x="828" y="998"/>
              <a:ext cx="1980" cy="210"/>
              <a:chOff x="1392" y="2096"/>
              <a:chExt cx="2448" cy="360"/>
            </a:xfrm>
          </p:grpSpPr>
          <p:sp>
            <p:nvSpPr>
              <p:cNvPr id="150533" name="Rectangle 5"/>
              <p:cNvSpPr>
                <a:spLocks noChangeArrowheads="1"/>
              </p:cNvSpPr>
              <p:nvPr/>
            </p:nvSpPr>
            <p:spPr bwMode="auto">
              <a:xfrm>
                <a:off x="2168" y="2096"/>
                <a:ext cx="872" cy="3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800" b="0">
                    <a:ea typeface="宋体" pitchFamily="2" charset="-122"/>
                  </a:rPr>
                  <a:t>System</a:t>
                </a:r>
              </a:p>
            </p:txBody>
          </p:sp>
          <p:sp>
            <p:nvSpPr>
              <p:cNvPr id="150534" name="Line 6"/>
              <p:cNvSpPr>
                <a:spLocks noChangeShapeType="1"/>
              </p:cNvSpPr>
              <p:nvPr/>
            </p:nvSpPr>
            <p:spPr bwMode="auto">
              <a:xfrm>
                <a:off x="1392" y="2296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35" name="Line 7"/>
              <p:cNvSpPr>
                <a:spLocks noChangeShapeType="1"/>
              </p:cNvSpPr>
              <p:nvPr/>
            </p:nvSpPr>
            <p:spPr bwMode="auto">
              <a:xfrm>
                <a:off x="3056" y="2280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150536" name="Object 8"/>
            <p:cNvGraphicFramePr>
              <a:graphicFrameLocks noChangeAspect="1"/>
            </p:cNvGraphicFramePr>
            <p:nvPr/>
          </p:nvGraphicFramePr>
          <p:xfrm>
            <a:off x="1067" y="910"/>
            <a:ext cx="254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41" name="Equation" r:id="rId3" imgW="317160" imgH="215640" progId="Equation.3">
                    <p:embed/>
                  </p:oleObj>
                </mc:Choice>
                <mc:Fallback>
                  <p:oleObj name="Equation" r:id="rId3" imgW="317160" imgH="2156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7" y="910"/>
                          <a:ext cx="254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37" name="Object 9"/>
            <p:cNvGraphicFramePr>
              <a:graphicFrameLocks noChangeAspect="1"/>
            </p:cNvGraphicFramePr>
            <p:nvPr/>
          </p:nvGraphicFramePr>
          <p:xfrm>
            <a:off x="2238" y="904"/>
            <a:ext cx="264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42" name="Equation" r:id="rId5" imgW="330120" imgH="215640" progId="Equation.3">
                    <p:embed/>
                  </p:oleObj>
                </mc:Choice>
                <mc:Fallback>
                  <p:oleObj name="Equation" r:id="rId5" imgW="330120" imgH="2156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8" y="904"/>
                          <a:ext cx="264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0552" name="Group 24"/>
          <p:cNvGrpSpPr>
            <a:grpSpLocks/>
          </p:cNvGrpSpPr>
          <p:nvPr/>
        </p:nvGrpSpPr>
        <p:grpSpPr bwMode="auto">
          <a:xfrm>
            <a:off x="5048250" y="1730375"/>
            <a:ext cx="3143250" cy="492125"/>
            <a:chOff x="3174" y="892"/>
            <a:chExt cx="1980" cy="310"/>
          </a:xfrm>
        </p:grpSpPr>
        <p:grpSp>
          <p:nvGrpSpPr>
            <p:cNvPr id="150538" name="Group 10"/>
            <p:cNvGrpSpPr>
              <a:grpSpLocks/>
            </p:cNvGrpSpPr>
            <p:nvPr/>
          </p:nvGrpSpPr>
          <p:grpSpPr bwMode="auto">
            <a:xfrm>
              <a:off x="3174" y="992"/>
              <a:ext cx="1980" cy="210"/>
              <a:chOff x="1392" y="2096"/>
              <a:chExt cx="2448" cy="360"/>
            </a:xfrm>
          </p:grpSpPr>
          <p:sp>
            <p:nvSpPr>
              <p:cNvPr id="150539" name="Rectangle 11"/>
              <p:cNvSpPr>
                <a:spLocks noChangeArrowheads="1"/>
              </p:cNvSpPr>
              <p:nvPr/>
            </p:nvSpPr>
            <p:spPr bwMode="auto">
              <a:xfrm>
                <a:off x="2168" y="2096"/>
                <a:ext cx="872" cy="3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800" b="0">
                    <a:ea typeface="宋体" pitchFamily="2" charset="-122"/>
                  </a:rPr>
                  <a:t>System</a:t>
                </a:r>
              </a:p>
            </p:txBody>
          </p:sp>
          <p:sp>
            <p:nvSpPr>
              <p:cNvPr id="150540" name="Line 12"/>
              <p:cNvSpPr>
                <a:spLocks noChangeShapeType="1"/>
              </p:cNvSpPr>
              <p:nvPr/>
            </p:nvSpPr>
            <p:spPr bwMode="auto">
              <a:xfrm>
                <a:off x="1392" y="2296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41" name="Line 13"/>
              <p:cNvSpPr>
                <a:spLocks noChangeShapeType="1"/>
              </p:cNvSpPr>
              <p:nvPr/>
            </p:nvSpPr>
            <p:spPr bwMode="auto">
              <a:xfrm>
                <a:off x="3056" y="2280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150542" name="Object 14"/>
            <p:cNvGraphicFramePr>
              <a:graphicFrameLocks noChangeAspect="1"/>
            </p:cNvGraphicFramePr>
            <p:nvPr/>
          </p:nvGraphicFramePr>
          <p:xfrm>
            <a:off x="3355" y="910"/>
            <a:ext cx="275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43" name="Equation" r:id="rId7" imgW="342720" imgH="215640" progId="Equation.3">
                    <p:embed/>
                  </p:oleObj>
                </mc:Choice>
                <mc:Fallback>
                  <p:oleObj name="Equation" r:id="rId7" imgW="342720" imgH="21564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5" y="910"/>
                          <a:ext cx="275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3" name="Object 15"/>
            <p:cNvGraphicFramePr>
              <a:graphicFrameLocks noChangeAspect="1"/>
            </p:cNvGraphicFramePr>
            <p:nvPr/>
          </p:nvGraphicFramePr>
          <p:xfrm>
            <a:off x="4627" y="892"/>
            <a:ext cx="274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44" name="Equation" r:id="rId9" imgW="342720" imgH="215640" progId="Equation.3">
                    <p:embed/>
                  </p:oleObj>
                </mc:Choice>
                <mc:Fallback>
                  <p:oleObj name="Equation" r:id="rId9" imgW="342720" imgH="21564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7" y="892"/>
                          <a:ext cx="274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0553" name="Group 25"/>
          <p:cNvGrpSpPr>
            <a:grpSpLocks/>
          </p:cNvGrpSpPr>
          <p:nvPr/>
        </p:nvGrpSpPr>
        <p:grpSpPr bwMode="auto">
          <a:xfrm>
            <a:off x="2811463" y="2352675"/>
            <a:ext cx="3656012" cy="469900"/>
            <a:chOff x="1771" y="1374"/>
            <a:chExt cx="2303" cy="296"/>
          </a:xfrm>
        </p:grpSpPr>
        <p:grpSp>
          <p:nvGrpSpPr>
            <p:cNvPr id="150544" name="Group 16"/>
            <p:cNvGrpSpPr>
              <a:grpSpLocks/>
            </p:cNvGrpSpPr>
            <p:nvPr/>
          </p:nvGrpSpPr>
          <p:grpSpPr bwMode="auto">
            <a:xfrm>
              <a:off x="1962" y="1460"/>
              <a:ext cx="1980" cy="210"/>
              <a:chOff x="1392" y="2096"/>
              <a:chExt cx="2448" cy="360"/>
            </a:xfrm>
          </p:grpSpPr>
          <p:sp>
            <p:nvSpPr>
              <p:cNvPr id="150545" name="Rectangle 17"/>
              <p:cNvSpPr>
                <a:spLocks noChangeArrowheads="1"/>
              </p:cNvSpPr>
              <p:nvPr/>
            </p:nvSpPr>
            <p:spPr bwMode="auto">
              <a:xfrm>
                <a:off x="2168" y="2096"/>
                <a:ext cx="872" cy="3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800" b="0">
                    <a:ea typeface="宋体" pitchFamily="2" charset="-122"/>
                  </a:rPr>
                  <a:t>System</a:t>
                </a:r>
              </a:p>
            </p:txBody>
          </p:sp>
          <p:sp>
            <p:nvSpPr>
              <p:cNvPr id="150546" name="Line 18"/>
              <p:cNvSpPr>
                <a:spLocks noChangeShapeType="1"/>
              </p:cNvSpPr>
              <p:nvPr/>
            </p:nvSpPr>
            <p:spPr bwMode="auto">
              <a:xfrm>
                <a:off x="1392" y="2296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47" name="Line 19"/>
              <p:cNvSpPr>
                <a:spLocks noChangeShapeType="1"/>
              </p:cNvSpPr>
              <p:nvPr/>
            </p:nvSpPr>
            <p:spPr bwMode="auto">
              <a:xfrm>
                <a:off x="3056" y="2280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150548" name="Object 20"/>
            <p:cNvGraphicFramePr>
              <a:graphicFrameLocks noChangeAspect="1"/>
            </p:cNvGraphicFramePr>
            <p:nvPr/>
          </p:nvGraphicFramePr>
          <p:xfrm>
            <a:off x="1771" y="1396"/>
            <a:ext cx="731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45" name="Equation" r:id="rId11" imgW="914400" imgH="215640" progId="Equation.3">
                    <p:embed/>
                  </p:oleObj>
                </mc:Choice>
                <mc:Fallback>
                  <p:oleObj name="Equation" r:id="rId11" imgW="914400" imgH="215640" progId="Equation.3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1" y="1396"/>
                          <a:ext cx="731" cy="173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9" name="Object 21"/>
            <p:cNvGraphicFramePr>
              <a:graphicFrameLocks noChangeAspect="1"/>
            </p:cNvGraphicFramePr>
            <p:nvPr/>
          </p:nvGraphicFramePr>
          <p:xfrm>
            <a:off x="3343" y="1374"/>
            <a:ext cx="731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46" name="Equation" r:id="rId13" imgW="914400" imgH="215640" progId="Equation.3">
                    <p:embed/>
                  </p:oleObj>
                </mc:Choice>
                <mc:Fallback>
                  <p:oleObj name="Equation" r:id="rId13" imgW="914400" imgH="215640" progId="Equation.3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3" y="1374"/>
                          <a:ext cx="731" cy="173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0555" name="Rectangle 27"/>
          <p:cNvSpPr>
            <a:spLocks noChangeArrowheads="1"/>
          </p:cNvSpPr>
          <p:nvPr/>
        </p:nvSpPr>
        <p:spPr bwMode="auto">
          <a:xfrm>
            <a:off x="485775" y="29718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000">
                <a:solidFill>
                  <a:srgbClr val="000099"/>
                </a:solidFill>
                <a:ea typeface="宋体" pitchFamily="2" charset="-122"/>
              </a:rPr>
              <a:t>Time-invariant system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altLang="zh-CN" sz="1800" b="0">
                <a:ea typeface="宋体" pitchFamily="2" charset="-122"/>
              </a:rPr>
              <a:t>A system is time-invariant if a time shift in the input signal causes </a:t>
            </a:r>
            <a:r>
              <a:rPr lang="en-US" altLang="zh-CN" sz="1800" b="0">
                <a:solidFill>
                  <a:srgbClr val="FF0000"/>
                </a:solidFill>
                <a:ea typeface="宋体" pitchFamily="2" charset="-122"/>
              </a:rPr>
              <a:t>an identical time shift</a:t>
            </a:r>
            <a:r>
              <a:rPr lang="en-US" altLang="zh-CN" sz="1800" b="0">
                <a:ea typeface="宋体" pitchFamily="2" charset="-122"/>
              </a:rPr>
              <a:t> in the output signal</a:t>
            </a:r>
          </a:p>
        </p:txBody>
      </p:sp>
      <p:grpSp>
        <p:nvGrpSpPr>
          <p:cNvPr id="150557" name="Group 29"/>
          <p:cNvGrpSpPr>
            <a:grpSpLocks/>
          </p:cNvGrpSpPr>
          <p:nvPr/>
        </p:nvGrpSpPr>
        <p:grpSpPr bwMode="auto">
          <a:xfrm>
            <a:off x="758825" y="4030663"/>
            <a:ext cx="3886200" cy="658812"/>
            <a:chOff x="568" y="1321"/>
            <a:chExt cx="2448" cy="415"/>
          </a:xfrm>
        </p:grpSpPr>
        <p:grpSp>
          <p:nvGrpSpPr>
            <p:cNvPr id="150558" name="Group 30"/>
            <p:cNvGrpSpPr>
              <a:grpSpLocks/>
            </p:cNvGrpSpPr>
            <p:nvPr/>
          </p:nvGrpSpPr>
          <p:grpSpPr bwMode="auto">
            <a:xfrm>
              <a:off x="568" y="1376"/>
              <a:ext cx="2448" cy="360"/>
              <a:chOff x="1392" y="2096"/>
              <a:chExt cx="2448" cy="360"/>
            </a:xfrm>
          </p:grpSpPr>
          <p:sp>
            <p:nvSpPr>
              <p:cNvPr id="150559" name="Rectangle 31"/>
              <p:cNvSpPr>
                <a:spLocks noChangeArrowheads="1"/>
              </p:cNvSpPr>
              <p:nvPr/>
            </p:nvSpPr>
            <p:spPr bwMode="auto">
              <a:xfrm>
                <a:off x="2168" y="2096"/>
                <a:ext cx="872" cy="3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800" b="0">
                    <a:ea typeface="宋体" pitchFamily="2" charset="-122"/>
                  </a:rPr>
                  <a:t>Time-invariant</a:t>
                </a:r>
              </a:p>
              <a:p>
                <a:pPr algn="ctr"/>
                <a:r>
                  <a:rPr lang="en-US" altLang="zh-CN" sz="1800" b="0">
                    <a:ea typeface="宋体" pitchFamily="2" charset="-122"/>
                  </a:rPr>
                  <a:t>System</a:t>
                </a:r>
              </a:p>
            </p:txBody>
          </p:sp>
          <p:sp>
            <p:nvSpPr>
              <p:cNvPr id="150560" name="Line 32"/>
              <p:cNvSpPr>
                <a:spLocks noChangeShapeType="1"/>
              </p:cNvSpPr>
              <p:nvPr/>
            </p:nvSpPr>
            <p:spPr bwMode="auto">
              <a:xfrm>
                <a:off x="1392" y="2296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61" name="Line 33"/>
              <p:cNvSpPr>
                <a:spLocks noChangeShapeType="1"/>
              </p:cNvSpPr>
              <p:nvPr/>
            </p:nvSpPr>
            <p:spPr bwMode="auto">
              <a:xfrm>
                <a:off x="3056" y="2280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150562" name="Object 34"/>
            <p:cNvGraphicFramePr>
              <a:graphicFrameLocks noChangeAspect="1"/>
            </p:cNvGraphicFramePr>
            <p:nvPr/>
          </p:nvGraphicFramePr>
          <p:xfrm>
            <a:off x="2331" y="1337"/>
            <a:ext cx="302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47" name="Equation" r:id="rId15" imgW="291960" imgH="203040" progId="Equation.3">
                    <p:embed/>
                  </p:oleObj>
                </mc:Choice>
                <mc:Fallback>
                  <p:oleObj name="Equation" r:id="rId15" imgW="291960" imgH="203040" progId="Equation.3">
                    <p:embed/>
                    <p:pic>
                      <p:nvPicPr>
                        <p:cNvPr id="0" name="Picture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1" y="1337"/>
                          <a:ext cx="302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63" name="Object 35"/>
            <p:cNvGraphicFramePr>
              <a:graphicFrameLocks noChangeAspect="1"/>
            </p:cNvGraphicFramePr>
            <p:nvPr/>
          </p:nvGraphicFramePr>
          <p:xfrm>
            <a:off x="801" y="1321"/>
            <a:ext cx="289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48" name="Equation" r:id="rId17" imgW="279360" imgH="203040" progId="Equation.3">
                    <p:embed/>
                  </p:oleObj>
                </mc:Choice>
                <mc:Fallback>
                  <p:oleObj name="Equation" r:id="rId17" imgW="279360" imgH="203040" progId="Equation.3">
                    <p:embed/>
                    <p:pic>
                      <p:nvPicPr>
                        <p:cNvPr id="0" name="Picture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1" y="1321"/>
                          <a:ext cx="289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0564" name="Group 36"/>
          <p:cNvGrpSpPr>
            <a:grpSpLocks/>
          </p:cNvGrpSpPr>
          <p:nvPr/>
        </p:nvGrpSpPr>
        <p:grpSpPr bwMode="auto">
          <a:xfrm>
            <a:off x="4883150" y="3971925"/>
            <a:ext cx="3886200" cy="717550"/>
            <a:chOff x="3136" y="1260"/>
            <a:chExt cx="2448" cy="452"/>
          </a:xfrm>
        </p:grpSpPr>
        <p:graphicFrame>
          <p:nvGraphicFramePr>
            <p:cNvPr id="150565" name="Object 37"/>
            <p:cNvGraphicFramePr>
              <a:graphicFrameLocks noChangeAspect="1"/>
            </p:cNvGraphicFramePr>
            <p:nvPr/>
          </p:nvGraphicFramePr>
          <p:xfrm>
            <a:off x="3180" y="1300"/>
            <a:ext cx="539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49" name="Equation" r:id="rId19" imgW="520560" imgH="228600" progId="Equation.3">
                    <p:embed/>
                  </p:oleObj>
                </mc:Choice>
                <mc:Fallback>
                  <p:oleObj name="Equation" r:id="rId19" imgW="520560" imgH="228600" progId="Equation.3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0" y="1300"/>
                          <a:ext cx="539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0566" name="Group 38"/>
            <p:cNvGrpSpPr>
              <a:grpSpLocks/>
            </p:cNvGrpSpPr>
            <p:nvPr/>
          </p:nvGrpSpPr>
          <p:grpSpPr bwMode="auto">
            <a:xfrm>
              <a:off x="3136" y="1352"/>
              <a:ext cx="2448" cy="360"/>
              <a:chOff x="1392" y="2096"/>
              <a:chExt cx="2448" cy="360"/>
            </a:xfrm>
          </p:grpSpPr>
          <p:sp>
            <p:nvSpPr>
              <p:cNvPr id="150567" name="Rectangle 39"/>
              <p:cNvSpPr>
                <a:spLocks noChangeArrowheads="1"/>
              </p:cNvSpPr>
              <p:nvPr/>
            </p:nvSpPr>
            <p:spPr bwMode="auto">
              <a:xfrm>
                <a:off x="2168" y="2096"/>
                <a:ext cx="872" cy="3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zh-CN" sz="1800" b="0">
                    <a:ea typeface="宋体" pitchFamily="2" charset="-122"/>
                  </a:rPr>
                  <a:t>Time-invariant</a:t>
                </a:r>
              </a:p>
              <a:p>
                <a:pPr algn="ctr"/>
                <a:r>
                  <a:rPr lang="en-US" altLang="zh-CN" sz="1800" b="0">
                    <a:ea typeface="宋体" pitchFamily="2" charset="-122"/>
                  </a:rPr>
                  <a:t>System</a:t>
                </a:r>
              </a:p>
            </p:txBody>
          </p:sp>
          <p:sp>
            <p:nvSpPr>
              <p:cNvPr id="150568" name="Line 40"/>
              <p:cNvSpPr>
                <a:spLocks noChangeShapeType="1"/>
              </p:cNvSpPr>
              <p:nvPr/>
            </p:nvSpPr>
            <p:spPr bwMode="auto">
              <a:xfrm>
                <a:off x="1392" y="2296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69" name="Line 41"/>
              <p:cNvSpPr>
                <a:spLocks noChangeShapeType="1"/>
              </p:cNvSpPr>
              <p:nvPr/>
            </p:nvSpPr>
            <p:spPr bwMode="auto">
              <a:xfrm>
                <a:off x="3056" y="2280"/>
                <a:ext cx="7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150570" name="Object 42"/>
            <p:cNvGraphicFramePr>
              <a:graphicFrameLocks noChangeAspect="1"/>
            </p:cNvGraphicFramePr>
            <p:nvPr/>
          </p:nvGraphicFramePr>
          <p:xfrm>
            <a:off x="4940" y="1260"/>
            <a:ext cx="539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50" name="Equation" r:id="rId21" imgW="520560" imgH="228600" progId="Equation.3">
                    <p:embed/>
                  </p:oleObj>
                </mc:Choice>
                <mc:Fallback>
                  <p:oleObj name="Equation" r:id="rId21" imgW="520560" imgH="228600" progId="Equation.3">
                    <p:embed/>
                    <p:pic>
                      <p:nvPicPr>
                        <p:cNvPr id="0" name="Picture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0" y="1260"/>
                          <a:ext cx="539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0571" name="Rectangle 43"/>
          <p:cNvSpPr>
            <a:spLocks noChangeArrowheads="1"/>
          </p:cNvSpPr>
          <p:nvPr/>
        </p:nvSpPr>
        <p:spPr bwMode="auto">
          <a:xfrm>
            <a:off x="504825" y="4876800"/>
            <a:ext cx="777240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000">
                <a:solidFill>
                  <a:srgbClr val="000099"/>
                </a:solidFill>
                <a:ea typeface="宋体" pitchFamily="2" charset="-122"/>
              </a:rPr>
              <a:t>Linear time-invariant (LTI) system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altLang="zh-CN" sz="1800" b="0">
                <a:ea typeface="宋体" pitchFamily="2" charset="-122"/>
              </a:rPr>
              <a:t>A system is both linear and time-invariant.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4B17-A013-47D1-8ABC-911BECEB6D91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SYSTEM</a:t>
            </a:r>
          </a:p>
        </p:txBody>
      </p:sp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628650" y="847725"/>
            <a:ext cx="77724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000">
                <a:solidFill>
                  <a:srgbClr val="000099"/>
                </a:solidFill>
                <a:ea typeface="宋体" pitchFamily="2" charset="-122"/>
              </a:rPr>
              <a:t>Impulse response of LTI system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altLang="zh-CN" sz="1800" b="0">
                <a:ea typeface="宋体" pitchFamily="2" charset="-122"/>
              </a:rPr>
              <a:t>Def: the output (response) of a system when the input is a unit impulse function (delta function). Usually denoted as </a:t>
            </a:r>
            <a:r>
              <a:rPr lang="en-US" altLang="zh-CN" sz="1800" b="0" i="1">
                <a:ea typeface="宋体" pitchFamily="2" charset="-122"/>
              </a:rPr>
              <a:t>h</a:t>
            </a:r>
            <a:r>
              <a:rPr lang="en-US" altLang="zh-CN" sz="1800" b="0">
                <a:ea typeface="宋体" pitchFamily="2" charset="-122"/>
              </a:rPr>
              <a:t>(</a:t>
            </a:r>
            <a:r>
              <a:rPr lang="en-US" altLang="zh-CN" sz="1800" b="0" i="1">
                <a:ea typeface="宋体" pitchFamily="2" charset="-122"/>
              </a:rPr>
              <a:t>t</a:t>
            </a:r>
            <a:r>
              <a:rPr lang="en-US" altLang="zh-CN" sz="1800" b="0">
                <a:ea typeface="宋体" pitchFamily="2" charset="-122"/>
              </a:rPr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CN" altLang="en-US" sz="2000">
              <a:solidFill>
                <a:srgbClr val="000099"/>
              </a:solidFill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CN" altLang="en-US" sz="2000">
              <a:solidFill>
                <a:srgbClr val="000099"/>
              </a:solidFill>
              <a:ea typeface="宋体" pitchFamily="2" charset="-122"/>
            </a:endParaRPr>
          </a:p>
        </p:txBody>
      </p:sp>
      <p:grpSp>
        <p:nvGrpSpPr>
          <p:cNvPr id="151558" name="Group 6"/>
          <p:cNvGrpSpPr>
            <a:grpSpLocks/>
          </p:cNvGrpSpPr>
          <p:nvPr/>
        </p:nvGrpSpPr>
        <p:grpSpPr bwMode="auto">
          <a:xfrm>
            <a:off x="2203450" y="1985963"/>
            <a:ext cx="3695700" cy="569912"/>
            <a:chOff x="1326" y="777"/>
            <a:chExt cx="2442" cy="431"/>
          </a:xfrm>
        </p:grpSpPr>
        <p:graphicFrame>
          <p:nvGraphicFramePr>
            <p:cNvPr id="151559" name="Object 7"/>
            <p:cNvGraphicFramePr>
              <a:graphicFrameLocks noChangeAspect="1"/>
            </p:cNvGraphicFramePr>
            <p:nvPr/>
          </p:nvGraphicFramePr>
          <p:xfrm>
            <a:off x="1326" y="777"/>
            <a:ext cx="697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7" name="Equation" r:id="rId3" imgW="672840" imgH="203040" progId="Equation.3">
                    <p:embed/>
                  </p:oleObj>
                </mc:Choice>
                <mc:Fallback>
                  <p:oleObj name="Equation" r:id="rId3" imgW="672840" imgH="2030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6" y="777"/>
                          <a:ext cx="697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1560" name="Rectangle 8"/>
            <p:cNvSpPr>
              <a:spLocks noChangeArrowheads="1"/>
            </p:cNvSpPr>
            <p:nvPr/>
          </p:nvSpPr>
          <p:spPr bwMode="auto">
            <a:xfrm>
              <a:off x="2112" y="848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800" b="0">
                  <a:ea typeface="宋体" pitchFamily="2" charset="-122"/>
                </a:rPr>
                <a:t>LTI</a:t>
              </a:r>
            </a:p>
          </p:txBody>
        </p:sp>
        <p:sp>
          <p:nvSpPr>
            <p:cNvPr id="151561" name="Line 9"/>
            <p:cNvSpPr>
              <a:spLocks noChangeShapeType="1"/>
            </p:cNvSpPr>
            <p:nvPr/>
          </p:nvSpPr>
          <p:spPr bwMode="auto">
            <a:xfrm>
              <a:off x="1328" y="1024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1562" name="Line 10"/>
            <p:cNvSpPr>
              <a:spLocks noChangeShapeType="1"/>
            </p:cNvSpPr>
            <p:nvPr/>
          </p:nvSpPr>
          <p:spPr bwMode="auto">
            <a:xfrm>
              <a:off x="2984" y="1032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51563" name="Object 11"/>
            <p:cNvGraphicFramePr>
              <a:graphicFrameLocks noChangeAspect="1"/>
            </p:cNvGraphicFramePr>
            <p:nvPr/>
          </p:nvGraphicFramePr>
          <p:xfrm>
            <a:off x="3039" y="777"/>
            <a:ext cx="695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8" name="Equation" r:id="rId5" imgW="672840" imgH="203040" progId="Equation.3">
                    <p:embed/>
                  </p:oleObj>
                </mc:Choice>
                <mc:Fallback>
                  <p:oleObj name="Equation" r:id="rId5" imgW="672840" imgH="2030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777"/>
                          <a:ext cx="695" cy="2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1564" name="Rectangle 12"/>
          <p:cNvSpPr>
            <a:spLocks noChangeArrowheads="1"/>
          </p:cNvSpPr>
          <p:nvPr/>
        </p:nvSpPr>
        <p:spPr bwMode="auto">
          <a:xfrm>
            <a:off x="590550" y="2676525"/>
            <a:ext cx="77724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000">
                <a:solidFill>
                  <a:srgbClr val="000099"/>
                </a:solidFill>
                <a:ea typeface="宋体" pitchFamily="2" charset="-122"/>
              </a:rPr>
              <a:t>Response of LTI system to arbitrary input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CN" altLang="en-US" sz="2000">
              <a:solidFill>
                <a:srgbClr val="000099"/>
              </a:solidFill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CN" altLang="en-US" sz="2000">
              <a:solidFill>
                <a:srgbClr val="000099"/>
              </a:solidFill>
              <a:ea typeface="宋体" pitchFamily="2" charset="-122"/>
            </a:endParaRPr>
          </a:p>
        </p:txBody>
      </p:sp>
      <p:grpSp>
        <p:nvGrpSpPr>
          <p:cNvPr id="151565" name="Group 13"/>
          <p:cNvGrpSpPr>
            <a:grpSpLocks/>
          </p:cNvGrpSpPr>
          <p:nvPr/>
        </p:nvGrpSpPr>
        <p:grpSpPr bwMode="auto">
          <a:xfrm>
            <a:off x="2038350" y="3094038"/>
            <a:ext cx="5494338" cy="865187"/>
            <a:chOff x="1378" y="3191"/>
            <a:chExt cx="3461" cy="545"/>
          </a:xfrm>
        </p:grpSpPr>
        <p:graphicFrame>
          <p:nvGraphicFramePr>
            <p:cNvPr id="151566" name="Object 14"/>
            <p:cNvGraphicFramePr>
              <a:graphicFrameLocks noChangeAspect="1"/>
            </p:cNvGraphicFramePr>
            <p:nvPr/>
          </p:nvGraphicFramePr>
          <p:xfrm>
            <a:off x="1378" y="3345"/>
            <a:ext cx="289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19" name="Equation" r:id="rId7" imgW="279360" imgH="203040" progId="Equation.3">
                    <p:embed/>
                  </p:oleObj>
                </mc:Choice>
                <mc:Fallback>
                  <p:oleObj name="Equation" r:id="rId7" imgW="279360" imgH="20304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8" y="3345"/>
                          <a:ext cx="289" cy="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1567" name="Rectangle 15"/>
            <p:cNvSpPr>
              <a:spLocks noChangeArrowheads="1"/>
            </p:cNvSpPr>
            <p:nvPr/>
          </p:nvSpPr>
          <p:spPr bwMode="auto">
            <a:xfrm>
              <a:off x="2296" y="3376"/>
              <a:ext cx="872" cy="3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800" b="0">
                  <a:ea typeface="宋体" pitchFamily="2" charset="-122"/>
                </a:rPr>
                <a:t>System</a:t>
              </a:r>
            </a:p>
          </p:txBody>
        </p:sp>
        <p:sp>
          <p:nvSpPr>
            <p:cNvPr id="151568" name="Line 16"/>
            <p:cNvSpPr>
              <a:spLocks noChangeShapeType="1"/>
            </p:cNvSpPr>
            <p:nvPr/>
          </p:nvSpPr>
          <p:spPr bwMode="auto">
            <a:xfrm>
              <a:off x="1512" y="3552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1569" name="Line 17"/>
            <p:cNvSpPr>
              <a:spLocks noChangeShapeType="1"/>
            </p:cNvSpPr>
            <p:nvPr/>
          </p:nvSpPr>
          <p:spPr bwMode="auto">
            <a:xfrm>
              <a:off x="3168" y="3560"/>
              <a:ext cx="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51570" name="Object 18"/>
            <p:cNvGraphicFramePr>
              <a:graphicFrameLocks noChangeAspect="1"/>
            </p:cNvGraphicFramePr>
            <p:nvPr/>
          </p:nvGraphicFramePr>
          <p:xfrm>
            <a:off x="3294" y="3191"/>
            <a:ext cx="1545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620" name="Equation" r:id="rId9" imgW="1498320" imgH="330120" progId="Equation.3">
                    <p:embed/>
                  </p:oleObj>
                </mc:Choice>
                <mc:Fallback>
                  <p:oleObj name="Equation" r:id="rId9" imgW="1498320" imgH="330120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4" y="3191"/>
                          <a:ext cx="1545" cy="3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1571" name="Rectangle 19"/>
          <p:cNvSpPr>
            <a:spLocks noChangeArrowheads="1"/>
          </p:cNvSpPr>
          <p:nvPr/>
        </p:nvSpPr>
        <p:spPr bwMode="auto">
          <a:xfrm>
            <a:off x="619125" y="3990975"/>
            <a:ext cx="77724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000">
                <a:solidFill>
                  <a:srgbClr val="000099"/>
                </a:solidFill>
                <a:ea typeface="宋体" pitchFamily="2" charset="-122"/>
              </a:rPr>
              <a:t>Convolution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CN" altLang="en-US" sz="2000">
              <a:solidFill>
                <a:srgbClr val="000099"/>
              </a:solidFill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CN" altLang="en-US" sz="2000">
              <a:solidFill>
                <a:srgbClr val="000099"/>
              </a:solidFill>
              <a:ea typeface="宋体" pitchFamily="2" charset="-122"/>
            </a:endParaRPr>
          </a:p>
        </p:txBody>
      </p:sp>
      <p:graphicFrame>
        <p:nvGraphicFramePr>
          <p:cNvPr id="151572" name="Object 20"/>
          <p:cNvGraphicFramePr>
            <a:graphicFrameLocks noChangeAspect="1"/>
          </p:cNvGraphicFramePr>
          <p:nvPr/>
        </p:nvGraphicFramePr>
        <p:xfrm>
          <a:off x="2505075" y="4470400"/>
          <a:ext cx="37607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21" name="Equation" r:id="rId11" imgW="2286000" imgH="330120" progId="Equation.3">
                  <p:embed/>
                </p:oleObj>
              </mc:Choice>
              <mc:Fallback>
                <p:oleObj name="Equation" r:id="rId11" imgW="2286000" imgH="33012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75" y="4470400"/>
                        <a:ext cx="3760788" cy="5429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73" name="Rectangle 21"/>
          <p:cNvSpPr>
            <a:spLocks noChangeArrowheads="1"/>
          </p:cNvSpPr>
          <p:nvPr/>
        </p:nvSpPr>
        <p:spPr bwMode="auto">
          <a:xfrm>
            <a:off x="581025" y="5000625"/>
            <a:ext cx="77724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altLang="zh-CN" sz="1800" b="0">
                <a:ea typeface="宋体" pitchFamily="2" charset="-122"/>
              </a:rPr>
              <a:t>Example: evaluate the convolution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CN" altLang="en-US" sz="2000">
              <a:solidFill>
                <a:srgbClr val="000099"/>
              </a:solidFill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CN" altLang="en-US" sz="2000">
              <a:solidFill>
                <a:srgbClr val="000099"/>
              </a:solidFill>
              <a:ea typeface="宋体" pitchFamily="2" charset="-122"/>
            </a:endParaRPr>
          </a:p>
        </p:txBody>
      </p:sp>
      <p:graphicFrame>
        <p:nvGraphicFramePr>
          <p:cNvPr id="151574" name="Object 22"/>
          <p:cNvGraphicFramePr>
            <a:graphicFrameLocks noChangeAspect="1"/>
          </p:cNvGraphicFramePr>
          <p:nvPr/>
        </p:nvGraphicFramePr>
        <p:xfrm>
          <a:off x="4765675" y="5049838"/>
          <a:ext cx="152558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22" name="Equation" r:id="rId13" imgW="927000" imgH="228600" progId="Equation.3">
                  <p:embed/>
                </p:oleObj>
              </mc:Choice>
              <mc:Fallback>
                <p:oleObj name="Equation" r:id="rId13" imgW="927000" imgH="22860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75" y="5049838"/>
                        <a:ext cx="1525588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D9FF-C531-4F06-8D71-1B4340A3B824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SYSTEM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A system has impulse response                             </a:t>
            </a:r>
            <a:r>
              <a:rPr lang="en-US" dirty="0" smtClean="0"/>
              <a:t>    . </a:t>
            </a:r>
            <a:r>
              <a:rPr lang="en-US" dirty="0"/>
              <a:t>If the input is</a:t>
            </a:r>
          </a:p>
          <a:p>
            <a:pPr lvl="1">
              <a:buFontTx/>
              <a:buNone/>
            </a:pPr>
            <a:r>
              <a:rPr lang="en-US" dirty="0"/>
              <a:t>                             </a:t>
            </a:r>
            <a:r>
              <a:rPr lang="en-US" dirty="0" smtClean="0"/>
              <a:t> , </a:t>
            </a:r>
            <a:r>
              <a:rPr lang="en-US" dirty="0"/>
              <a:t>find the output.</a:t>
            </a:r>
          </a:p>
          <a:p>
            <a:pPr lvl="1">
              <a:buFontTx/>
              <a:buNone/>
            </a:pPr>
            <a:r>
              <a:rPr lang="en-US" dirty="0"/>
              <a:t>	  </a:t>
            </a:r>
          </a:p>
        </p:txBody>
      </p:sp>
      <p:graphicFrame>
        <p:nvGraphicFramePr>
          <p:cNvPr id="189444" name="Object 4"/>
          <p:cNvGraphicFramePr>
            <a:graphicFrameLocks noChangeAspect="1"/>
          </p:cNvGraphicFramePr>
          <p:nvPr/>
        </p:nvGraphicFramePr>
        <p:xfrm>
          <a:off x="4340225" y="1266825"/>
          <a:ext cx="1836738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60" name="Equation" r:id="rId3" imgW="1206360" imgH="203040" progId="Equation.3">
                  <p:embed/>
                </p:oleObj>
              </mc:Choice>
              <mc:Fallback>
                <p:oleObj name="Equation" r:id="rId3" imgW="12063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225" y="1266825"/>
                        <a:ext cx="1836738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5" name="Object 5"/>
          <p:cNvGraphicFramePr>
            <a:graphicFrameLocks noChangeAspect="1"/>
          </p:cNvGraphicFramePr>
          <p:nvPr/>
        </p:nvGraphicFramePr>
        <p:xfrm>
          <a:off x="1258888" y="1617663"/>
          <a:ext cx="162718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61" name="Equation" r:id="rId5" imgW="1206360" imgH="203040" progId="Equation.3">
                  <p:embed/>
                </p:oleObj>
              </mc:Choice>
              <mc:Fallback>
                <p:oleObj name="Equation" r:id="rId5" imgW="12063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617663"/>
                        <a:ext cx="1627187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756400" y="6223000"/>
            <a:ext cx="2197100" cy="457200"/>
          </a:xfrm>
        </p:spPr>
        <p:txBody>
          <a:bodyPr/>
          <a:lstStyle/>
          <a:p>
            <a:endParaRPr lang="en-US" altLang="zh-CN"/>
          </a:p>
          <a:p>
            <a:r>
              <a:rPr lang="en-US" altLang="zh-CN"/>
              <a:t>Jingxian Wu, 8/15/2007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4195-D159-4052-95A2-403ECCF98A24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FOURIER ANALYSIS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73075"/>
          </a:xfrm>
        </p:spPr>
        <p:txBody>
          <a:bodyPr/>
          <a:lstStyle/>
          <a:p>
            <a:r>
              <a:rPr lang="en-US"/>
              <a:t>Fourier transform</a:t>
            </a:r>
          </a:p>
        </p:txBody>
      </p:sp>
      <p:graphicFrame>
        <p:nvGraphicFramePr>
          <p:cNvPr id="146440" name="Object 8"/>
          <p:cNvGraphicFramePr>
            <a:graphicFrameLocks noChangeAspect="1"/>
          </p:cNvGraphicFramePr>
          <p:nvPr/>
        </p:nvGraphicFramePr>
        <p:xfrm>
          <a:off x="2784475" y="1293813"/>
          <a:ext cx="24415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6" name="Equation" r:id="rId4" imgW="1434960" imgH="330120" progId="Equation.3">
                  <p:embed/>
                </p:oleObj>
              </mc:Choice>
              <mc:Fallback>
                <p:oleObj name="Equation" r:id="rId4" imgW="1434960" imgH="3301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1293813"/>
                        <a:ext cx="2441575" cy="5588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714375" y="1800225"/>
            <a:ext cx="77724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Frequency domain representation of signal.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Inverse Fourier transform</a:t>
            </a:r>
          </a:p>
        </p:txBody>
      </p:sp>
      <p:graphicFrame>
        <p:nvGraphicFramePr>
          <p:cNvPr id="146442" name="Object 10"/>
          <p:cNvGraphicFramePr>
            <a:graphicFrameLocks noChangeAspect="1"/>
          </p:cNvGraphicFramePr>
          <p:nvPr/>
        </p:nvGraphicFramePr>
        <p:xfrm>
          <a:off x="2862263" y="2522538"/>
          <a:ext cx="23987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7" name="Equation" r:id="rId6" imgW="1409400" imgH="330120" progId="Equation.3">
                  <p:embed/>
                </p:oleObj>
              </mc:Choice>
              <mc:Fallback>
                <p:oleObj name="Equation" r:id="rId6" imgW="1409400" imgH="3301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263" y="2522538"/>
                        <a:ext cx="2398712" cy="5588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3" name="Rectangle 11"/>
          <p:cNvSpPr>
            <a:spLocks noChangeArrowheads="1"/>
          </p:cNvSpPr>
          <p:nvPr/>
        </p:nvSpPr>
        <p:spPr bwMode="auto">
          <a:xfrm>
            <a:off x="723900" y="3095625"/>
            <a:ext cx="77724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Example: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Find the Fourier transform of </a:t>
            </a:r>
          </a:p>
        </p:txBody>
      </p:sp>
      <p:graphicFrame>
        <p:nvGraphicFramePr>
          <p:cNvPr id="146444" name="Object 12"/>
          <p:cNvGraphicFramePr>
            <a:graphicFrameLocks noChangeAspect="1"/>
          </p:cNvGraphicFramePr>
          <p:nvPr/>
        </p:nvGraphicFramePr>
        <p:xfrm>
          <a:off x="4394200" y="3468688"/>
          <a:ext cx="16129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8" name="Equation" r:id="rId8" imgW="1002960" imgH="203040" progId="Equation.3">
                  <p:embed/>
                </p:oleObj>
              </mc:Choice>
              <mc:Fallback>
                <p:oleObj name="Equation" r:id="rId8" imgW="1002960" imgH="2030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3468688"/>
                        <a:ext cx="161290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6445" name="Picture 1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518275" y="2825750"/>
            <a:ext cx="165100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6446" name="Picture 1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997450" y="4724400"/>
            <a:ext cx="3968750" cy="196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46447" name="Object 15"/>
          <p:cNvGraphicFramePr>
            <a:graphicFrameLocks noChangeAspect="1"/>
          </p:cNvGraphicFramePr>
          <p:nvPr/>
        </p:nvGraphicFramePr>
        <p:xfrm>
          <a:off x="1608138" y="5522913"/>
          <a:ext cx="1593850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9" name="Equation" r:id="rId12" imgW="1180800" imgH="203040" progId="Equation.3">
                  <p:embed/>
                </p:oleObj>
              </mc:Choice>
              <mc:Fallback>
                <p:oleObj name="Equation" r:id="rId12" imgW="1180800" imgH="20304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138" y="5522913"/>
                        <a:ext cx="1593850" cy="2714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BB4A9-3FA2-439F-939A-4CABE6793CBD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FOURIER ANALYSIS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435100"/>
          </a:xfrm>
        </p:spPr>
        <p:txBody>
          <a:bodyPr/>
          <a:lstStyle/>
          <a:p>
            <a:r>
              <a:rPr lang="en-US"/>
              <a:t>Selected properties</a:t>
            </a:r>
          </a:p>
          <a:p>
            <a:pPr lvl="1"/>
            <a:r>
              <a:rPr lang="en-US"/>
              <a:t>Linearity</a:t>
            </a:r>
          </a:p>
          <a:p>
            <a:pPr lvl="2"/>
            <a:r>
              <a:rPr lang="en-US"/>
              <a:t>If </a:t>
            </a:r>
          </a:p>
          <a:p>
            <a:pPr lvl="2"/>
            <a:r>
              <a:rPr lang="en-US"/>
              <a:t>Then</a:t>
            </a:r>
          </a:p>
          <a:p>
            <a:pPr lvl="1"/>
            <a:endParaRPr lang="en-US"/>
          </a:p>
        </p:txBody>
      </p:sp>
      <p:graphicFrame>
        <p:nvGraphicFramePr>
          <p:cNvPr id="152580" name="Object 4"/>
          <p:cNvGraphicFramePr>
            <a:graphicFrameLocks noChangeAspect="1"/>
          </p:cNvGraphicFramePr>
          <p:nvPr/>
        </p:nvGraphicFramePr>
        <p:xfrm>
          <a:off x="2578100" y="1536700"/>
          <a:ext cx="14224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19" name="Equation" r:id="rId3" imgW="939600" imgH="215640" progId="Equation.3">
                  <p:embed/>
                </p:oleObj>
              </mc:Choice>
              <mc:Fallback>
                <p:oleObj name="Equation" r:id="rId3" imgW="93960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1536700"/>
                        <a:ext cx="1422400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1" name="Object 5"/>
          <p:cNvGraphicFramePr>
            <a:graphicFrameLocks noChangeAspect="1"/>
          </p:cNvGraphicFramePr>
          <p:nvPr/>
        </p:nvGraphicFramePr>
        <p:xfrm>
          <a:off x="4678363" y="1549400"/>
          <a:ext cx="14747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20" name="Equation" r:id="rId5" imgW="965160" imgH="215640" progId="Equation.3">
                  <p:embed/>
                </p:oleObj>
              </mc:Choice>
              <mc:Fallback>
                <p:oleObj name="Equation" r:id="rId5" imgW="96516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8363" y="1549400"/>
                        <a:ext cx="1474787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2" name="Object 6"/>
          <p:cNvGraphicFramePr>
            <a:graphicFrameLocks noChangeAspect="1"/>
          </p:cNvGraphicFramePr>
          <p:nvPr/>
        </p:nvGraphicFramePr>
        <p:xfrm>
          <a:off x="2565400" y="1920875"/>
          <a:ext cx="37258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21" name="Equation" r:id="rId7" imgW="2158920" imgH="215640" progId="Equation.3">
                  <p:embed/>
                </p:oleObj>
              </mc:Choice>
              <mc:Fallback>
                <p:oleObj name="Equation" r:id="rId7" imgW="215892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920875"/>
                        <a:ext cx="3725863" cy="3714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3" name="Rectangle 7"/>
          <p:cNvSpPr>
            <a:spLocks noChangeArrowheads="1"/>
          </p:cNvSpPr>
          <p:nvPr/>
        </p:nvSpPr>
        <p:spPr bwMode="auto">
          <a:xfrm>
            <a:off x="609600" y="2286000"/>
            <a:ext cx="7772400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Time shift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If 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Then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graphicFrame>
        <p:nvGraphicFramePr>
          <p:cNvPr id="152584" name="Object 8"/>
          <p:cNvGraphicFramePr>
            <a:graphicFrameLocks noChangeAspect="1"/>
          </p:cNvGraphicFramePr>
          <p:nvPr/>
        </p:nvGraphicFramePr>
        <p:xfrm>
          <a:off x="2647950" y="2576513"/>
          <a:ext cx="1412875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22" name="Equation" r:id="rId9" imgW="850680" imgH="203040" progId="Equation.3">
                  <p:embed/>
                </p:oleObj>
              </mc:Choice>
              <mc:Fallback>
                <p:oleObj name="Equation" r:id="rId9" imgW="85068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2576513"/>
                        <a:ext cx="1412875" cy="334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5" name="Object 9"/>
          <p:cNvGraphicFramePr>
            <a:graphicFrameLocks noChangeAspect="1"/>
          </p:cNvGraphicFramePr>
          <p:nvPr/>
        </p:nvGraphicFramePr>
        <p:xfrm>
          <a:off x="2654300" y="2903538"/>
          <a:ext cx="32210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23" name="Equation" r:id="rId11" imgW="1892160" imgH="228600" progId="Equation.3">
                  <p:embed/>
                </p:oleObj>
              </mc:Choice>
              <mc:Fallback>
                <p:oleObj name="Equation" r:id="rId11" imgW="189216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2903538"/>
                        <a:ext cx="3221038" cy="3873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6" name="Rectangle 10"/>
          <p:cNvSpPr>
            <a:spLocks noChangeArrowheads="1"/>
          </p:cNvSpPr>
          <p:nvPr/>
        </p:nvSpPr>
        <p:spPr bwMode="auto">
          <a:xfrm>
            <a:off x="552450" y="4276725"/>
            <a:ext cx="7772400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Convolution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If 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Then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graphicFrame>
        <p:nvGraphicFramePr>
          <p:cNvPr id="152587" name="Object 11"/>
          <p:cNvGraphicFramePr>
            <a:graphicFrameLocks noChangeAspect="1"/>
          </p:cNvGraphicFramePr>
          <p:nvPr/>
        </p:nvGraphicFramePr>
        <p:xfrm>
          <a:off x="2720975" y="4548188"/>
          <a:ext cx="139382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24" name="Equation" r:id="rId13" imgW="850680" imgH="203040" progId="Equation.3">
                  <p:embed/>
                </p:oleObj>
              </mc:Choice>
              <mc:Fallback>
                <p:oleObj name="Equation" r:id="rId13" imgW="850680" imgH="203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4548188"/>
                        <a:ext cx="1393825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8" name="Object 12"/>
          <p:cNvGraphicFramePr>
            <a:graphicFrameLocks noChangeAspect="1"/>
          </p:cNvGraphicFramePr>
          <p:nvPr/>
        </p:nvGraphicFramePr>
        <p:xfrm>
          <a:off x="4562475" y="4532313"/>
          <a:ext cx="1347788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25" name="Equation" r:id="rId15" imgW="863280" imgH="203040" progId="Equation.3">
                  <p:embed/>
                </p:oleObj>
              </mc:Choice>
              <mc:Fallback>
                <p:oleObj name="Equation" r:id="rId15" imgW="863280" imgH="2030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5" y="4532313"/>
                        <a:ext cx="1347788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9" name="Object 13"/>
          <p:cNvGraphicFramePr>
            <a:graphicFrameLocks noChangeAspect="1"/>
          </p:cNvGraphicFramePr>
          <p:nvPr/>
        </p:nvGraphicFramePr>
        <p:xfrm>
          <a:off x="2682875" y="5046663"/>
          <a:ext cx="27654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26" name="Equation" r:id="rId17" imgW="1600200" imgH="203040" progId="Equation.3">
                  <p:embed/>
                </p:oleObj>
              </mc:Choice>
              <mc:Fallback>
                <p:oleObj name="Equation" r:id="rId17" imgW="1600200" imgH="2030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5046663"/>
                        <a:ext cx="2765425" cy="349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2590" name="Group 14"/>
          <p:cNvGrpSpPr>
            <a:grpSpLocks/>
          </p:cNvGrpSpPr>
          <p:nvPr/>
        </p:nvGrpSpPr>
        <p:grpSpPr bwMode="auto">
          <a:xfrm>
            <a:off x="863600" y="5465763"/>
            <a:ext cx="3189288" cy="557212"/>
            <a:chOff x="568" y="3257"/>
            <a:chExt cx="2117" cy="447"/>
          </a:xfrm>
        </p:grpSpPr>
        <p:sp>
          <p:nvSpPr>
            <p:cNvPr id="152591" name="Rectangle 15"/>
            <p:cNvSpPr>
              <a:spLocks noChangeArrowheads="1"/>
            </p:cNvSpPr>
            <p:nvPr/>
          </p:nvSpPr>
          <p:spPr bwMode="auto">
            <a:xfrm>
              <a:off x="1144" y="3376"/>
              <a:ext cx="728" cy="3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592" name="Line 16"/>
            <p:cNvSpPr>
              <a:spLocks noChangeShapeType="1"/>
            </p:cNvSpPr>
            <p:nvPr/>
          </p:nvSpPr>
          <p:spPr bwMode="auto">
            <a:xfrm>
              <a:off x="568" y="355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2593" name="Line 17"/>
            <p:cNvSpPr>
              <a:spLocks noChangeShapeType="1"/>
            </p:cNvSpPr>
            <p:nvPr/>
          </p:nvSpPr>
          <p:spPr bwMode="auto">
            <a:xfrm>
              <a:off x="1864" y="355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52594" name="Object 18"/>
            <p:cNvGraphicFramePr>
              <a:graphicFrameLocks noChangeAspect="1"/>
            </p:cNvGraphicFramePr>
            <p:nvPr/>
          </p:nvGraphicFramePr>
          <p:xfrm>
            <a:off x="655" y="3257"/>
            <a:ext cx="30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27" name="Equation" r:id="rId19" imgW="279360" imgH="203040" progId="Equation.3">
                    <p:embed/>
                  </p:oleObj>
                </mc:Choice>
                <mc:Fallback>
                  <p:oleObj name="Equation" r:id="rId19" imgW="279360" imgH="203040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" y="3257"/>
                          <a:ext cx="304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2595" name="Object 19"/>
            <p:cNvGraphicFramePr>
              <a:graphicFrameLocks noChangeAspect="1"/>
            </p:cNvGraphicFramePr>
            <p:nvPr/>
          </p:nvGraphicFramePr>
          <p:xfrm>
            <a:off x="1367" y="3449"/>
            <a:ext cx="30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28" name="Equation" r:id="rId21" imgW="279360" imgH="203040" progId="Equation.3">
                    <p:embed/>
                  </p:oleObj>
                </mc:Choice>
                <mc:Fallback>
                  <p:oleObj name="Equation" r:id="rId21" imgW="279360" imgH="203040" progId="Equation.3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7" y="3449"/>
                          <a:ext cx="304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2596" name="Object 20"/>
            <p:cNvGraphicFramePr>
              <a:graphicFrameLocks noChangeAspect="1"/>
            </p:cNvGraphicFramePr>
            <p:nvPr/>
          </p:nvGraphicFramePr>
          <p:xfrm>
            <a:off x="1953" y="3273"/>
            <a:ext cx="732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29" name="Equation" r:id="rId23" imgW="672840" imgH="203040" progId="Equation.3">
                    <p:embed/>
                  </p:oleObj>
                </mc:Choice>
                <mc:Fallback>
                  <p:oleObj name="Equation" r:id="rId23" imgW="672840" imgH="203040" progId="Equation.3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3273"/>
                          <a:ext cx="732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2598" name="Rectangle 22"/>
          <p:cNvSpPr>
            <a:spLocks noChangeArrowheads="1"/>
          </p:cNvSpPr>
          <p:nvPr/>
        </p:nvSpPr>
        <p:spPr bwMode="auto">
          <a:xfrm>
            <a:off x="6016625" y="5629275"/>
            <a:ext cx="1055688" cy="33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2599" name="Line 23"/>
          <p:cNvSpPr>
            <a:spLocks noChangeShapeType="1"/>
          </p:cNvSpPr>
          <p:nvPr/>
        </p:nvSpPr>
        <p:spPr bwMode="auto">
          <a:xfrm>
            <a:off x="5181600" y="5811838"/>
            <a:ext cx="835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2600" name="Line 24"/>
          <p:cNvSpPr>
            <a:spLocks noChangeShapeType="1"/>
          </p:cNvSpPr>
          <p:nvPr/>
        </p:nvSpPr>
        <p:spPr bwMode="auto">
          <a:xfrm>
            <a:off x="7061200" y="5811838"/>
            <a:ext cx="835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52601" name="Object 25"/>
          <p:cNvGraphicFramePr>
            <a:graphicFrameLocks noChangeAspect="1"/>
          </p:cNvGraphicFramePr>
          <p:nvPr/>
        </p:nvGraphicFramePr>
        <p:xfrm>
          <a:off x="5218113" y="5507038"/>
          <a:ext cx="620712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30" name="Equation" r:id="rId25" imgW="393480" imgH="203040" progId="Equation.3">
                  <p:embed/>
                </p:oleObj>
              </mc:Choice>
              <mc:Fallback>
                <p:oleObj name="Equation" r:id="rId25" imgW="393480" imgH="20304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8113" y="5507038"/>
                        <a:ext cx="620712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602" name="Object 26"/>
          <p:cNvGraphicFramePr>
            <a:graphicFrameLocks noChangeAspect="1"/>
          </p:cNvGraphicFramePr>
          <p:nvPr/>
        </p:nvGraphicFramePr>
        <p:xfrm>
          <a:off x="6249988" y="5705475"/>
          <a:ext cx="620712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31" name="Equation" r:id="rId27" imgW="393480" imgH="203040" progId="Equation.3">
                  <p:embed/>
                </p:oleObj>
              </mc:Choice>
              <mc:Fallback>
                <p:oleObj name="Equation" r:id="rId27" imgW="393480" imgH="20304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9988" y="5705475"/>
                        <a:ext cx="620712" cy="227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603" name="Object 27"/>
          <p:cNvGraphicFramePr>
            <a:graphicFrameLocks noChangeAspect="1"/>
          </p:cNvGraphicFramePr>
          <p:nvPr/>
        </p:nvGraphicFramePr>
        <p:xfrm>
          <a:off x="7131050" y="5522913"/>
          <a:ext cx="1181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32" name="Equation" r:id="rId29" imgW="749160" imgH="203040" progId="Equation.3">
                  <p:embed/>
                </p:oleObj>
              </mc:Choice>
              <mc:Fallback>
                <p:oleObj name="Equation" r:id="rId29" imgW="749160" imgH="20304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1050" y="5522913"/>
                        <a:ext cx="11811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604" name="Rectangle 28"/>
          <p:cNvSpPr>
            <a:spLocks noChangeArrowheads="1"/>
          </p:cNvSpPr>
          <p:nvPr/>
        </p:nvSpPr>
        <p:spPr bwMode="auto">
          <a:xfrm>
            <a:off x="619125" y="3305175"/>
            <a:ext cx="7772400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Duality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If 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Then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graphicFrame>
        <p:nvGraphicFramePr>
          <p:cNvPr id="152605" name="Object 29"/>
          <p:cNvGraphicFramePr>
            <a:graphicFrameLocks noChangeAspect="1"/>
          </p:cNvGraphicFramePr>
          <p:nvPr/>
        </p:nvGraphicFramePr>
        <p:xfrm>
          <a:off x="2790825" y="3538538"/>
          <a:ext cx="13366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33" name="Equation" r:id="rId31" imgW="850680" imgH="203040" progId="Equation.3">
                  <p:embed/>
                </p:oleObj>
              </mc:Choice>
              <mc:Fallback>
                <p:oleObj name="Equation" r:id="rId31" imgW="850680" imgH="20304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3538538"/>
                        <a:ext cx="1336675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606" name="Object 30"/>
          <p:cNvGraphicFramePr>
            <a:graphicFrameLocks noChangeAspect="1"/>
          </p:cNvGraphicFramePr>
          <p:nvPr/>
        </p:nvGraphicFramePr>
        <p:xfrm>
          <a:off x="2774950" y="3919538"/>
          <a:ext cx="16224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34" name="Equation" r:id="rId33" imgW="939600" imgH="203040" progId="Equation.3">
                  <p:embed/>
                </p:oleObj>
              </mc:Choice>
              <mc:Fallback>
                <p:oleObj name="Equation" r:id="rId33" imgW="939600" imgH="20304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3919538"/>
                        <a:ext cx="1622425" cy="349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2F73C-3DAA-4BEA-85BC-24DAB911BA31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FOURIER ANALYSIS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758825"/>
          </a:xfrm>
        </p:spPr>
        <p:txBody>
          <a:bodyPr/>
          <a:lstStyle/>
          <a:p>
            <a:r>
              <a:rPr lang="en-US"/>
              <a:t>Examples</a:t>
            </a:r>
          </a:p>
          <a:p>
            <a:pPr lvl="1"/>
            <a:r>
              <a:rPr lang="en-US"/>
              <a:t>Find the Fourier transform of </a:t>
            </a:r>
          </a:p>
        </p:txBody>
      </p:sp>
      <p:graphicFrame>
        <p:nvGraphicFramePr>
          <p:cNvPr id="153604" name="Object 4"/>
          <p:cNvGraphicFramePr>
            <a:graphicFrameLocks noChangeAspect="1"/>
          </p:cNvGraphicFramePr>
          <p:nvPr/>
        </p:nvGraphicFramePr>
        <p:xfrm>
          <a:off x="4597400" y="1260475"/>
          <a:ext cx="1020763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8" name="Equation" r:id="rId4" imgW="672840" imgH="203040" progId="Equation.3">
                  <p:embed/>
                </p:oleObj>
              </mc:Choice>
              <mc:Fallback>
                <p:oleObj name="Equation" r:id="rId4" imgW="67284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0" y="1260475"/>
                        <a:ext cx="1020763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5" name="Rectangle 5"/>
          <p:cNvSpPr>
            <a:spLocks noChangeArrowheads="1"/>
          </p:cNvSpPr>
          <p:nvPr/>
        </p:nvSpPr>
        <p:spPr bwMode="auto">
          <a:xfrm>
            <a:off x="571500" y="2476500"/>
            <a:ext cx="7772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Find the Fourier transform of  </a:t>
            </a:r>
          </a:p>
        </p:txBody>
      </p:sp>
      <p:graphicFrame>
        <p:nvGraphicFramePr>
          <p:cNvPr id="153606" name="Object 6"/>
          <p:cNvGraphicFramePr>
            <a:graphicFrameLocks noChangeAspect="1"/>
          </p:cNvGraphicFramePr>
          <p:nvPr/>
        </p:nvGraphicFramePr>
        <p:xfrm>
          <a:off x="4529138" y="2508250"/>
          <a:ext cx="13858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9" name="Equation" r:id="rId6" imgW="914400" imgH="228600" progId="Equation.3">
                  <p:embed/>
                </p:oleObj>
              </mc:Choice>
              <mc:Fallback>
                <p:oleObj name="Equation" r:id="rId6" imgW="91440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2508250"/>
                        <a:ext cx="1385887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8" name="Object 8"/>
          <p:cNvGraphicFramePr>
            <a:graphicFrameLocks noChangeAspect="1"/>
          </p:cNvGraphicFramePr>
          <p:nvPr/>
        </p:nvGraphicFramePr>
        <p:xfrm>
          <a:off x="4575175" y="4746625"/>
          <a:ext cx="17335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0" name="Equation" r:id="rId8" imgW="1143000" imgH="228600" progId="Equation.3">
                  <p:embed/>
                </p:oleObj>
              </mc:Choice>
              <mc:Fallback>
                <p:oleObj name="Equation" r:id="rId8" imgW="114300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175" y="4746625"/>
                        <a:ext cx="173355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619125" y="3552825"/>
            <a:ext cx="7772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/>
              <a:t>Find the Fourier transform of  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638175" y="4705350"/>
            <a:ext cx="7772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/>
              <a:t>Find the Fourier transform of  </a:t>
            </a:r>
          </a:p>
        </p:txBody>
      </p:sp>
      <p:graphicFrame>
        <p:nvGraphicFramePr>
          <p:cNvPr id="14" name="Object 8"/>
          <p:cNvGraphicFramePr>
            <a:graphicFrameLocks noChangeAspect="1"/>
          </p:cNvGraphicFramePr>
          <p:nvPr/>
        </p:nvGraphicFramePr>
        <p:xfrm>
          <a:off x="4806950" y="3594100"/>
          <a:ext cx="11938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1" name="Equation" r:id="rId10" imgW="787320" imgH="228600" progId="Equation.3">
                  <p:embed/>
                </p:oleObj>
              </mc:Choice>
              <mc:Fallback>
                <p:oleObj name="Equation" r:id="rId10" imgW="78732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950" y="3594100"/>
                        <a:ext cx="119380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E4ED-068C-4693-8956-91ED186EBA7C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DETERMINISTIC: FOURIER ANALYSIS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987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Fourier series</a:t>
            </a:r>
          </a:p>
          <a:p>
            <a:pPr lvl="1">
              <a:lnSpc>
                <a:spcPct val="90000"/>
              </a:lnSpc>
            </a:pPr>
            <a:r>
              <a:rPr lang="en-US" altLang="zh-CN">
                <a:ea typeface="宋体" pitchFamily="2" charset="-122"/>
              </a:rPr>
              <a:t>For any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periodic signal</a:t>
            </a:r>
            <a:r>
              <a:rPr lang="en-US" altLang="zh-CN">
                <a:ea typeface="宋体" pitchFamily="2" charset="-122"/>
              </a:rPr>
              <a:t> with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fundamental period </a:t>
            </a:r>
            <a:r>
              <a:rPr lang="en-US" altLang="zh-CN" i="1">
                <a:solidFill>
                  <a:srgbClr val="FF0000"/>
                </a:solidFill>
                <a:ea typeface="宋体" pitchFamily="2" charset="-122"/>
              </a:rPr>
              <a:t>T</a:t>
            </a:r>
            <a:r>
              <a:rPr lang="en-US" altLang="zh-CN">
                <a:ea typeface="宋体" pitchFamily="2" charset="-122"/>
              </a:rPr>
              <a:t>, it can be decomposed as the sum of a set of complex exponential signals as</a:t>
            </a:r>
          </a:p>
          <a:p>
            <a:pPr lvl="1">
              <a:lnSpc>
                <a:spcPct val="90000"/>
              </a:lnSpc>
            </a:pPr>
            <a:endParaRPr lang="en-US"/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2960688" y="1760538"/>
          <a:ext cx="2484437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7" name="Equation" r:id="rId3" imgW="1612800" imgH="431640" progId="Equation.3">
                  <p:embed/>
                </p:oleObj>
              </mc:Choice>
              <mc:Fallback>
                <p:oleObj name="Equation" r:id="rId3" imgW="161280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1760538"/>
                        <a:ext cx="2484437" cy="6619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638175" y="2524125"/>
            <a:ext cx="77724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1800" b="0"/>
              <a:t>Fourier series coefficients: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altLang="zh-CN" sz="1800" b="0">
              <a:ea typeface="宋体" pitchFamily="2" charset="-122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graphicFrame>
        <p:nvGraphicFramePr>
          <p:cNvPr id="204806" name="Object 6"/>
          <p:cNvGraphicFramePr>
            <a:graphicFrameLocks noChangeAspect="1"/>
          </p:cNvGraphicFramePr>
          <p:nvPr/>
        </p:nvGraphicFramePr>
        <p:xfrm>
          <a:off x="4470400" y="2525713"/>
          <a:ext cx="19097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8" name="Equation" r:id="rId5" imgW="1104840" imgH="228600" progId="Equation.3">
                  <p:embed/>
                </p:oleObj>
              </mc:Choice>
              <mc:Fallback>
                <p:oleObj name="Equation" r:id="rId5" imgW="110484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2525713"/>
                        <a:ext cx="190976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7" name="Object 7"/>
          <p:cNvGraphicFramePr>
            <a:graphicFrameLocks noChangeAspect="1"/>
          </p:cNvGraphicFramePr>
          <p:nvPr/>
        </p:nvGraphicFramePr>
        <p:xfrm>
          <a:off x="2886075" y="2868613"/>
          <a:ext cx="27860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9" name="Equation" r:id="rId7" imgW="2006280" imgH="431640" progId="Equation.3">
                  <p:embed/>
                </p:oleObj>
              </mc:Choice>
              <mc:Fallback>
                <p:oleObj name="Equation" r:id="rId7" imgW="200628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075" y="2868613"/>
                        <a:ext cx="2786063" cy="5969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0" name="Rectangle 10"/>
          <p:cNvSpPr>
            <a:spLocks noChangeArrowheads="1"/>
          </p:cNvSpPr>
          <p:nvPr/>
        </p:nvSpPr>
        <p:spPr bwMode="auto">
          <a:xfrm>
            <a:off x="762000" y="4343400"/>
            <a:ext cx="7772400" cy="127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Parsaval’s theorem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Energy signal: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Power signal: </a:t>
            </a:r>
          </a:p>
        </p:txBody>
      </p:sp>
      <p:graphicFrame>
        <p:nvGraphicFramePr>
          <p:cNvPr id="204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1454483"/>
              </p:ext>
            </p:extLst>
          </p:nvPr>
        </p:nvGraphicFramePr>
        <p:xfrm>
          <a:off x="3686175" y="5108575"/>
          <a:ext cx="30035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0" name="Equation" r:id="rId9" imgW="1993680" imgH="431640" progId="Equation.3">
                  <p:embed/>
                </p:oleObj>
              </mc:Choice>
              <mc:Fallback>
                <p:oleObj name="Equation" r:id="rId9" imgW="1993680" imgH="4316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175" y="5108575"/>
                        <a:ext cx="3003550" cy="5984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347169"/>
              </p:ext>
            </p:extLst>
          </p:nvPr>
        </p:nvGraphicFramePr>
        <p:xfrm>
          <a:off x="3724275" y="4587875"/>
          <a:ext cx="28876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1" name="Equation" r:id="rId11" imgW="1917360" imgH="330120" progId="Equation.3">
                  <p:embed/>
                </p:oleObj>
              </mc:Choice>
              <mc:Fallback>
                <p:oleObj name="Equation" r:id="rId11" imgW="1917360" imgH="33012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275" y="4587875"/>
                        <a:ext cx="2887663" cy="457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3" name="Rectangle 13"/>
          <p:cNvSpPr>
            <a:spLocks noChangeArrowheads="1"/>
          </p:cNvSpPr>
          <p:nvPr/>
        </p:nvSpPr>
        <p:spPr bwMode="auto">
          <a:xfrm>
            <a:off x="514350" y="3390900"/>
            <a:ext cx="7772400" cy="98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Fourier transform of periodic signal (perform Fourier transform on both sides of Fourier series)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graphicFrame>
        <p:nvGraphicFramePr>
          <p:cNvPr id="204814" name="Object 14"/>
          <p:cNvGraphicFramePr>
            <a:graphicFrameLocks noChangeAspect="1"/>
          </p:cNvGraphicFramePr>
          <p:nvPr/>
        </p:nvGraphicFramePr>
        <p:xfrm>
          <a:off x="4421188" y="3741738"/>
          <a:ext cx="22098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2" name="Equation" r:id="rId13" imgW="1434960" imgH="431640" progId="Equation.3">
                  <p:embed/>
                </p:oleObj>
              </mc:Choice>
              <mc:Fallback>
                <p:oleObj name="Equation" r:id="rId13" imgW="1434960" imgH="4316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3741738"/>
                        <a:ext cx="2209800" cy="6619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3104-9232-4D34-9DDC-CD67625E8280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DETERMINISTIC: ENERGY SPECTRAL DENSITY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8096250" cy="2016125"/>
          </a:xfrm>
        </p:spPr>
        <p:txBody>
          <a:bodyPr/>
          <a:lstStyle/>
          <a:p>
            <a:r>
              <a:rPr lang="en-US"/>
              <a:t>Energy spectral density (ESD)</a:t>
            </a:r>
          </a:p>
          <a:p>
            <a:pPr lvl="1"/>
            <a:r>
              <a:rPr lang="en-US"/>
              <a:t>The distribution of the signal’s energy in frequency domain.</a:t>
            </a:r>
          </a:p>
          <a:p>
            <a:pPr lvl="2"/>
            <a:r>
              <a:rPr lang="en-US"/>
              <a:t>The “density” of energy. Unit: Joul/Hz</a:t>
            </a:r>
          </a:p>
          <a:p>
            <a:pPr lvl="1"/>
            <a:r>
              <a:rPr lang="en-US"/>
              <a:t>E.g. 1: If the ESD of signal           is              ,  then the energy in frequency range                       is:</a:t>
            </a:r>
          </a:p>
          <a:p>
            <a:pPr lvl="1"/>
            <a:r>
              <a:rPr lang="en-US"/>
              <a:t>E.g. 2: the energy in frequency range                  is:</a:t>
            </a:r>
          </a:p>
          <a:p>
            <a:pPr lvl="1">
              <a:buFontTx/>
              <a:buNone/>
            </a:pPr>
            <a:endParaRPr lang="en-US"/>
          </a:p>
        </p:txBody>
      </p:sp>
      <p:graphicFrame>
        <p:nvGraphicFramePr>
          <p:cNvPr id="209924" name="Object 4"/>
          <p:cNvGraphicFramePr>
            <a:graphicFrameLocks noChangeAspect="1"/>
          </p:cNvGraphicFramePr>
          <p:nvPr/>
        </p:nvGraphicFramePr>
        <p:xfrm>
          <a:off x="4048125" y="1955800"/>
          <a:ext cx="423863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3" name="Equation" r:id="rId3" imgW="279360" imgH="203040" progId="Equation.3">
                  <p:embed/>
                </p:oleObj>
              </mc:Choice>
              <mc:Fallback>
                <p:oleObj name="Equation" r:id="rId3" imgW="2793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25" y="1955800"/>
                        <a:ext cx="423863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5" name="Object 5"/>
          <p:cNvGraphicFramePr>
            <a:graphicFrameLocks noChangeAspect="1"/>
          </p:cNvGraphicFramePr>
          <p:nvPr/>
        </p:nvGraphicFramePr>
        <p:xfrm>
          <a:off x="4760913" y="1908175"/>
          <a:ext cx="67468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4" name="Equation" r:id="rId5" imgW="444240" imgH="228600" progId="Equation.3">
                  <p:embed/>
                </p:oleObj>
              </mc:Choice>
              <mc:Fallback>
                <p:oleObj name="Equation" r:id="rId5" imgW="44424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13" y="1908175"/>
                        <a:ext cx="674687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6" name="Object 6"/>
          <p:cNvGraphicFramePr>
            <a:graphicFrameLocks noChangeAspect="1"/>
          </p:cNvGraphicFramePr>
          <p:nvPr/>
        </p:nvGraphicFramePr>
        <p:xfrm>
          <a:off x="2063750" y="2222500"/>
          <a:ext cx="1098550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5" name="Equation" r:id="rId7" imgW="723600" imgH="203040" progId="Equation.3">
                  <p:embed/>
                </p:oleObj>
              </mc:Choice>
              <mc:Fallback>
                <p:oleObj name="Equation" r:id="rId7" imgW="72360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222500"/>
                        <a:ext cx="1098550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7" name="Object 7"/>
          <p:cNvGraphicFramePr>
            <a:graphicFrameLocks noChangeAspect="1"/>
          </p:cNvGraphicFramePr>
          <p:nvPr/>
        </p:nvGraphicFramePr>
        <p:xfrm>
          <a:off x="5056188" y="2527300"/>
          <a:ext cx="712787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6" name="Equation" r:id="rId9" imgW="469800" imgH="215640" progId="Equation.3">
                  <p:embed/>
                </p:oleObj>
              </mc:Choice>
              <mc:Fallback>
                <p:oleObj name="Equation" r:id="rId9" imgW="46980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8" y="2527300"/>
                        <a:ext cx="712787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28" name="Rectangle 8"/>
          <p:cNvSpPr>
            <a:spLocks noChangeArrowheads="1"/>
          </p:cNvSpPr>
          <p:nvPr/>
        </p:nvSpPr>
        <p:spPr bwMode="auto">
          <a:xfrm>
            <a:off x="581025" y="2876550"/>
            <a:ext cx="7772400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Def: If                         , then the ESD of energy signal is </a:t>
            </a:r>
          </a:p>
          <a:p>
            <a:pPr marL="742950" lvl="1" indent="-285750">
              <a:spcBef>
                <a:spcPct val="20000"/>
              </a:spcBef>
            </a:pPr>
            <a:endParaRPr lang="en-US" sz="1800" b="0"/>
          </a:p>
        </p:txBody>
      </p:sp>
      <p:graphicFrame>
        <p:nvGraphicFramePr>
          <p:cNvPr id="209929" name="Object 9"/>
          <p:cNvGraphicFramePr>
            <a:graphicFrameLocks noChangeAspect="1"/>
          </p:cNvGraphicFramePr>
          <p:nvPr/>
        </p:nvGraphicFramePr>
        <p:xfrm>
          <a:off x="2130425" y="2927350"/>
          <a:ext cx="128746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7" name="Equation" r:id="rId11" imgW="850680" imgH="203040" progId="Equation.3">
                  <p:embed/>
                </p:oleObj>
              </mc:Choice>
              <mc:Fallback>
                <p:oleObj name="Equation" r:id="rId11" imgW="850680" imgH="203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2927350"/>
                        <a:ext cx="1287463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0" name="Object 10"/>
          <p:cNvGraphicFramePr>
            <a:graphicFrameLocks noChangeAspect="1"/>
          </p:cNvGraphicFramePr>
          <p:nvPr/>
        </p:nvGraphicFramePr>
        <p:xfrm>
          <a:off x="3155950" y="3279775"/>
          <a:ext cx="16002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78" name="Equation" r:id="rId13" imgW="1054080" imgH="241200" progId="Equation.3">
                  <p:embed/>
                </p:oleObj>
              </mc:Choice>
              <mc:Fallback>
                <p:oleObj name="Equation" r:id="rId13" imgW="1054080" imgH="241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950" y="3279775"/>
                        <a:ext cx="1600200" cy="3667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31" name="Rectangle 11"/>
          <p:cNvSpPr>
            <a:spLocks noChangeArrowheads="1"/>
          </p:cNvSpPr>
          <p:nvPr/>
        </p:nvSpPr>
        <p:spPr bwMode="auto">
          <a:xfrm>
            <a:off x="571500" y="3467100"/>
            <a:ext cx="7772400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Why?</a:t>
            </a:r>
          </a:p>
          <a:p>
            <a:pPr marL="742950" lvl="1" indent="-285750">
              <a:spcBef>
                <a:spcPct val="20000"/>
              </a:spcBef>
            </a:pPr>
            <a:endParaRPr 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7B2D6-3C5B-446E-B931-29FB00E0FEC3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DETERMINISTIC: POWER SPECTRAL DENSITY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406525"/>
          </a:xfrm>
        </p:spPr>
        <p:txBody>
          <a:bodyPr/>
          <a:lstStyle/>
          <a:p>
            <a:r>
              <a:rPr lang="en-US"/>
              <a:t>Power spectral density (PSD)</a:t>
            </a:r>
          </a:p>
          <a:p>
            <a:pPr lvl="1"/>
            <a:r>
              <a:rPr lang="en-US"/>
              <a:t>The distribution of signals power in frequency domain</a:t>
            </a:r>
          </a:p>
          <a:p>
            <a:pPr lvl="2"/>
            <a:r>
              <a:rPr lang="en-US"/>
              <a:t>The density of power (unit: watt/Hz)</a:t>
            </a:r>
          </a:p>
          <a:p>
            <a:pPr lvl="1"/>
            <a:r>
              <a:rPr lang="en-US"/>
              <a:t>PSD of power signal is the </a:t>
            </a:r>
          </a:p>
          <a:p>
            <a:pPr lvl="2"/>
            <a:endParaRPr lang="en-US"/>
          </a:p>
        </p:txBody>
      </p:sp>
      <p:graphicFrame>
        <p:nvGraphicFramePr>
          <p:cNvPr id="210948" name="Object 4"/>
          <p:cNvGraphicFramePr>
            <a:graphicFrameLocks noChangeAspect="1"/>
          </p:cNvGraphicFramePr>
          <p:nvPr/>
        </p:nvGraphicFramePr>
        <p:xfrm>
          <a:off x="2578100" y="2259013"/>
          <a:ext cx="2489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81" name="Equation" r:id="rId3" imgW="1765080" imgH="431640" progId="Equation.3">
                  <p:embed/>
                </p:oleObj>
              </mc:Choice>
              <mc:Fallback>
                <p:oleObj name="Equation" r:id="rId3" imgW="176508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2259013"/>
                        <a:ext cx="2489200" cy="609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9" name="Rectangle 5"/>
          <p:cNvSpPr>
            <a:spLocks noChangeArrowheads="1"/>
          </p:cNvSpPr>
          <p:nvPr/>
        </p:nvSpPr>
        <p:spPr bwMode="auto">
          <a:xfrm>
            <a:off x="581025" y="2781300"/>
            <a:ext cx="7772400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   : Fourier coefficient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    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E.g. Find the PSD and power of 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endParaRPr lang="en-US" sz="1800" b="0"/>
          </a:p>
        </p:txBody>
      </p:sp>
      <p:graphicFrame>
        <p:nvGraphicFramePr>
          <p:cNvPr id="210950" name="Object 6"/>
          <p:cNvGraphicFramePr>
            <a:graphicFrameLocks noChangeAspect="1"/>
          </p:cNvGraphicFramePr>
          <p:nvPr/>
        </p:nvGraphicFramePr>
        <p:xfrm>
          <a:off x="1754188" y="2794000"/>
          <a:ext cx="24923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82" name="Equation" r:id="rId5" imgW="164880" imgH="228600" progId="Equation.3">
                  <p:embed/>
                </p:oleObj>
              </mc:Choice>
              <mc:Fallback>
                <p:oleObj name="Equation" r:id="rId5" imgW="16488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88" y="2794000"/>
                        <a:ext cx="249237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1" name="Object 7"/>
          <p:cNvGraphicFramePr>
            <a:graphicFrameLocks noChangeAspect="1"/>
          </p:cNvGraphicFramePr>
          <p:nvPr/>
        </p:nvGraphicFramePr>
        <p:xfrm>
          <a:off x="1770063" y="3117850"/>
          <a:ext cx="9064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83" name="Equation" r:id="rId7" imgW="596880" imgH="228600" progId="Equation.3">
                  <p:embed/>
                </p:oleObj>
              </mc:Choice>
              <mc:Fallback>
                <p:oleObj name="Equation" r:id="rId7" imgW="59688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3117850"/>
                        <a:ext cx="906462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2" name="Object 8"/>
          <p:cNvGraphicFramePr>
            <a:graphicFrameLocks noChangeAspect="1"/>
          </p:cNvGraphicFramePr>
          <p:nvPr/>
        </p:nvGraphicFramePr>
        <p:xfrm>
          <a:off x="4470400" y="3470275"/>
          <a:ext cx="1754188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84" name="Equation" r:id="rId9" imgW="1155600" imgH="228600" progId="Equation.3">
                  <p:embed/>
                </p:oleObj>
              </mc:Choice>
              <mc:Fallback>
                <p:oleObj name="Equation" r:id="rId9" imgW="115560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3470275"/>
                        <a:ext cx="1754188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13B-A90E-41A6-A6BF-8D396C7BB213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folHlink"/>
              </a:solidFill>
            </a:endParaRPr>
          </a:p>
          <a:p>
            <a:r>
              <a:rPr lang="en-US" dirty="0">
                <a:solidFill>
                  <a:schemeClr val="folHlink"/>
                </a:solidFill>
              </a:rPr>
              <a:t>Deterministic signals </a:t>
            </a:r>
          </a:p>
          <a:p>
            <a:pPr lvl="1"/>
            <a:endParaRPr lang="en-US" dirty="0">
              <a:solidFill>
                <a:schemeClr val="folHlink"/>
              </a:solidFill>
            </a:endParaRPr>
          </a:p>
          <a:p>
            <a:pPr lvl="1"/>
            <a:endParaRPr lang="en-US" dirty="0">
              <a:solidFill>
                <a:schemeClr val="folHlink"/>
              </a:solidFill>
            </a:endParaRPr>
          </a:p>
          <a:p>
            <a:r>
              <a:rPr lang="en-US" dirty="0"/>
              <a:t>Random Signals (Ch. 1.5)</a:t>
            </a:r>
          </a:p>
          <a:p>
            <a:endParaRPr lang="en-US" dirty="0"/>
          </a:p>
          <a:p>
            <a:r>
              <a:rPr lang="en-US" dirty="0">
                <a:solidFill>
                  <a:schemeClr val="folHlink"/>
                </a:solidFill>
              </a:rPr>
              <a:t>Signal transmission through linear system, bandwidth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CDA4-B5F5-421B-A34C-89170AEC0CC7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2168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Random variable (RV):</a:t>
            </a:r>
          </a:p>
          <a:p>
            <a:pPr lvl="1">
              <a:lnSpc>
                <a:spcPct val="90000"/>
              </a:lnSpc>
            </a:pPr>
            <a:r>
              <a:rPr lang="en-US"/>
              <a:t>Random variable: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/>
              <a:t>A</a:t>
            </a:r>
            <a:r>
              <a:rPr lang="en-US"/>
              <a:t>) represents the functional relationship between a random event </a:t>
            </a:r>
            <a:r>
              <a:rPr lang="en-US" i="1"/>
              <a:t>A</a:t>
            </a:r>
            <a:r>
              <a:rPr lang="en-US"/>
              <a:t> and a number </a:t>
            </a:r>
            <a:r>
              <a:rPr lang="en-US" i="1"/>
              <a:t>X</a:t>
            </a:r>
            <a:r>
              <a:rPr lang="en-US"/>
              <a:t>. </a:t>
            </a:r>
          </a:p>
          <a:p>
            <a:pPr lvl="1">
              <a:lnSpc>
                <a:spcPct val="90000"/>
              </a:lnSpc>
            </a:pPr>
            <a:r>
              <a:rPr lang="en-US"/>
              <a:t>Example: </a:t>
            </a:r>
          </a:p>
          <a:p>
            <a:pPr lvl="2">
              <a:lnSpc>
                <a:spcPct val="90000"/>
              </a:lnSpc>
            </a:pPr>
            <a:r>
              <a:rPr lang="en-US"/>
              <a:t>Random event A: toss coin; </a:t>
            </a:r>
          </a:p>
          <a:p>
            <a:pPr lvl="2">
              <a:lnSpc>
                <a:spcPct val="90000"/>
              </a:lnSpc>
            </a:pPr>
            <a:r>
              <a:rPr lang="en-US"/>
              <a:t>Mapping between coin toss and number:</a:t>
            </a:r>
          </a:p>
          <a:p>
            <a:pPr lvl="3">
              <a:lnSpc>
                <a:spcPct val="90000"/>
              </a:lnSpc>
            </a:pPr>
            <a:r>
              <a:rPr lang="en-US"/>
              <a:t>coin head </a:t>
            </a:r>
            <a:r>
              <a:rPr lang="en-US">
                <a:sym typeface="Wingdings" pitchFamily="2" charset="2"/>
              </a:rPr>
              <a:t> X = 0; coin tail </a:t>
            </a:r>
            <a:r>
              <a:rPr lang="en-US"/>
              <a:t> X = 1.</a:t>
            </a:r>
          </a:p>
          <a:p>
            <a:pPr lvl="3">
              <a:lnSpc>
                <a:spcPct val="90000"/>
              </a:lnSpc>
            </a:pPr>
            <a:endParaRPr lang="en-US"/>
          </a:p>
        </p:txBody>
      </p:sp>
      <p:sp>
        <p:nvSpPr>
          <p:cNvPr id="157714" name="Rectangle 18"/>
          <p:cNvSpPr>
            <a:spLocks noChangeArrowheads="1"/>
          </p:cNvSpPr>
          <p:nvPr/>
        </p:nvSpPr>
        <p:spPr bwMode="auto">
          <a:xfrm>
            <a:off x="581025" y="3114675"/>
            <a:ext cx="7772400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Discrete RV, probability mass function (PMF)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Example: 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1800" b="0"/>
              <a:t>An urn has 2 black balls, 5 white balls, and 3 red balls, pick one ball out of urn</a:t>
            </a:r>
          </a:p>
          <a:p>
            <a:pPr marL="1600200" lvl="3" indent="-2286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Random event </a:t>
            </a:r>
            <a:r>
              <a:rPr lang="en-US" sz="1800" b="0" i="1"/>
              <a:t>A</a:t>
            </a:r>
            <a:r>
              <a:rPr lang="en-US" sz="1800" b="0"/>
              <a:t>: black ball, white ball, red ball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1800" b="0"/>
              <a:t>RV: </a:t>
            </a:r>
            <a:r>
              <a:rPr lang="en-US" sz="1800" b="0" i="1"/>
              <a:t>X</a:t>
            </a:r>
            <a:r>
              <a:rPr lang="en-US" sz="1800" b="0"/>
              <a:t>: black ball </a:t>
            </a:r>
            <a:r>
              <a:rPr lang="en-US" sz="1800" b="0">
                <a:sym typeface="Wingdings" pitchFamily="2" charset="2"/>
              </a:rPr>
              <a:t> X = 0; white ball  X = 1; red ball  X = 2.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1800" b="0">
                <a:sym typeface="Wingdings" pitchFamily="2" charset="2"/>
              </a:rPr>
              <a:t>PMF:</a:t>
            </a:r>
            <a:endParaRPr lang="en-US" sz="1800" b="0"/>
          </a:p>
          <a:p>
            <a:pPr marL="1600200" lvl="3" indent="-2286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graphicFrame>
        <p:nvGraphicFramePr>
          <p:cNvPr id="157715" name="Object 19"/>
          <p:cNvGraphicFramePr>
            <a:graphicFrameLocks noChangeAspect="1"/>
          </p:cNvGraphicFramePr>
          <p:nvPr/>
        </p:nvGraphicFramePr>
        <p:xfrm>
          <a:off x="2568575" y="5060950"/>
          <a:ext cx="111918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39" name="Equation" r:id="rId3" imgW="736560" imgH="203040" progId="Equation.3">
                  <p:embed/>
                </p:oleObj>
              </mc:Choice>
              <mc:Fallback>
                <p:oleObj name="Equation" r:id="rId3" imgW="736560" imgH="20304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5060950"/>
                        <a:ext cx="1119188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6" name="Object 20"/>
          <p:cNvGraphicFramePr>
            <a:graphicFrameLocks noChangeAspect="1"/>
          </p:cNvGraphicFramePr>
          <p:nvPr/>
        </p:nvGraphicFramePr>
        <p:xfrm>
          <a:off x="2578100" y="5375275"/>
          <a:ext cx="108108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40" name="Equation" r:id="rId5" imgW="711000" imgH="203040" progId="Equation.3">
                  <p:embed/>
                </p:oleObj>
              </mc:Choice>
              <mc:Fallback>
                <p:oleObj name="Equation" r:id="rId5" imgW="711000" imgH="20304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5375275"/>
                        <a:ext cx="1081088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7" name="Object 21"/>
          <p:cNvGraphicFramePr>
            <a:graphicFrameLocks noChangeAspect="1"/>
          </p:cNvGraphicFramePr>
          <p:nvPr/>
        </p:nvGraphicFramePr>
        <p:xfrm>
          <a:off x="2597150" y="5756275"/>
          <a:ext cx="111918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41" name="Equation" r:id="rId7" imgW="736560" imgH="203040" progId="Equation.3">
                  <p:embed/>
                </p:oleObj>
              </mc:Choice>
              <mc:Fallback>
                <p:oleObj name="Equation" r:id="rId7" imgW="736560" imgH="20304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5756275"/>
                        <a:ext cx="1119188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0B7D0-2A29-4722-A4CC-458A3D9C9BD3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</a:t>
            </a:r>
          </a:p>
        </p:txBody>
      </p:sp>
      <p:graphicFrame>
        <p:nvGraphicFramePr>
          <p:cNvPr id="168965" name="Object 5"/>
          <p:cNvGraphicFramePr>
            <a:graphicFrameLocks noChangeAspect="1"/>
          </p:cNvGraphicFramePr>
          <p:nvPr/>
        </p:nvGraphicFramePr>
        <p:xfrm>
          <a:off x="5448300" y="3451225"/>
          <a:ext cx="25019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60" name="Equation" r:id="rId3" imgW="1650960" imgH="215640" progId="Equation.3">
                  <p:embed/>
                </p:oleObj>
              </mc:Choice>
              <mc:Fallback>
                <p:oleObj name="Equation" r:id="rId3" imgW="165096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451225"/>
                        <a:ext cx="2501900" cy="3286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8966" name="Group 6"/>
          <p:cNvGrpSpPr>
            <a:grpSpLocks/>
          </p:cNvGrpSpPr>
          <p:nvPr/>
        </p:nvGrpSpPr>
        <p:grpSpPr bwMode="auto">
          <a:xfrm>
            <a:off x="476250" y="847725"/>
            <a:ext cx="7877175" cy="2408238"/>
            <a:chOff x="324" y="1920"/>
            <a:chExt cx="4962" cy="1517"/>
          </a:xfrm>
        </p:grpSpPr>
        <p:sp>
          <p:nvSpPr>
            <p:cNvPr id="168967" name="Rectangle 7"/>
            <p:cNvSpPr>
              <a:spLocks noChangeArrowheads="1"/>
            </p:cNvSpPr>
            <p:nvPr/>
          </p:nvSpPr>
          <p:spPr bwMode="auto">
            <a:xfrm>
              <a:off x="390" y="1920"/>
              <a:ext cx="4896" cy="4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000">
                  <a:solidFill>
                    <a:srgbClr val="000099"/>
                  </a:solidFill>
                </a:rPr>
                <a:t>Cumulative Distribution Function (CDF)</a:t>
              </a:r>
            </a:p>
            <a:p>
              <a:pPr marL="742950" lvl="1" indent="-285750"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sz="1800" b="0"/>
                <a:t>The CDF of a random variable </a:t>
              </a:r>
              <a:r>
                <a:rPr lang="en-US" sz="1800" b="0" i="1"/>
                <a:t>X</a:t>
              </a:r>
              <a:r>
                <a:rPr lang="en-US" sz="1800" b="0"/>
                <a:t> is given by</a:t>
              </a:r>
            </a:p>
          </p:txBody>
        </p:sp>
        <p:graphicFrame>
          <p:nvGraphicFramePr>
            <p:cNvPr id="168968" name="Object 8"/>
            <p:cNvGraphicFramePr>
              <a:graphicFrameLocks noChangeAspect="1"/>
            </p:cNvGraphicFramePr>
            <p:nvPr/>
          </p:nvGraphicFramePr>
          <p:xfrm>
            <a:off x="1892" y="2372"/>
            <a:ext cx="108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61" name="Equation" r:id="rId5" imgW="1130040" imgH="215640" progId="Equation.3">
                    <p:embed/>
                  </p:oleObj>
                </mc:Choice>
                <mc:Fallback>
                  <p:oleObj name="Equation" r:id="rId5" imgW="1130040" imgH="2156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2" y="2372"/>
                          <a:ext cx="1080" cy="207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69" name="Text Box 9"/>
            <p:cNvSpPr txBox="1">
              <a:spLocks noChangeArrowheads="1"/>
            </p:cNvSpPr>
            <p:nvPr/>
          </p:nvSpPr>
          <p:spPr bwMode="auto">
            <a:xfrm>
              <a:off x="1976" y="2646"/>
              <a:ext cx="39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0"/>
                <a:t>RV</a:t>
              </a:r>
            </a:p>
          </p:txBody>
        </p:sp>
        <p:sp>
          <p:nvSpPr>
            <p:cNvPr id="168970" name="Line 10"/>
            <p:cNvSpPr>
              <a:spLocks noChangeShapeType="1"/>
            </p:cNvSpPr>
            <p:nvPr/>
          </p:nvSpPr>
          <p:spPr bwMode="auto">
            <a:xfrm flipV="1">
              <a:off x="2214" y="2532"/>
              <a:ext cx="372" cy="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8971" name="Text Box 11"/>
            <p:cNvSpPr txBox="1">
              <a:spLocks noChangeArrowheads="1"/>
            </p:cNvSpPr>
            <p:nvPr/>
          </p:nvSpPr>
          <p:spPr bwMode="auto">
            <a:xfrm>
              <a:off x="2864" y="2640"/>
              <a:ext cx="184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0"/>
                <a:t>The variable of the function</a:t>
              </a:r>
            </a:p>
          </p:txBody>
        </p:sp>
        <p:sp>
          <p:nvSpPr>
            <p:cNvPr id="168972" name="Line 12"/>
            <p:cNvSpPr>
              <a:spLocks noChangeShapeType="1"/>
            </p:cNvSpPr>
            <p:nvPr/>
          </p:nvSpPr>
          <p:spPr bwMode="auto">
            <a:xfrm flipH="1" flipV="1">
              <a:off x="2868" y="2520"/>
              <a:ext cx="378" cy="1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8973" name="Rectangle 13"/>
            <p:cNvSpPr>
              <a:spLocks noChangeArrowheads="1"/>
            </p:cNvSpPr>
            <p:nvPr/>
          </p:nvSpPr>
          <p:spPr bwMode="auto">
            <a:xfrm>
              <a:off x="324" y="2820"/>
              <a:ext cx="4896" cy="4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1143000" lvl="2" indent="-2286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1800" b="0"/>
                <a:t>The probability that the RV </a:t>
              </a:r>
              <a:r>
                <a:rPr lang="en-US" sz="1800" b="0" i="1"/>
                <a:t>X</a:t>
              </a:r>
              <a:r>
                <a:rPr lang="en-US" sz="1800" b="0"/>
                <a:t> is less than or equal to a real number </a:t>
              </a:r>
              <a:r>
                <a:rPr lang="en-US" sz="1800" b="0" i="1"/>
                <a:t>x</a:t>
              </a:r>
              <a:r>
                <a:rPr lang="en-US" sz="1800" b="0"/>
                <a:t>.</a:t>
              </a:r>
            </a:p>
            <a:p>
              <a:pPr marL="742950" lvl="1" indent="-285750"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sz="1800" b="0"/>
                <a:t>Some properties: </a:t>
              </a:r>
            </a:p>
          </p:txBody>
        </p:sp>
        <p:graphicFrame>
          <p:nvGraphicFramePr>
            <p:cNvPr id="168974" name="Object 14"/>
            <p:cNvGraphicFramePr>
              <a:graphicFrameLocks noChangeAspect="1"/>
            </p:cNvGraphicFramePr>
            <p:nvPr/>
          </p:nvGraphicFramePr>
          <p:xfrm>
            <a:off x="1030" y="3230"/>
            <a:ext cx="728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62" name="Equation" r:id="rId7" imgW="761760" imgH="215640" progId="Equation.3">
                    <p:embed/>
                  </p:oleObj>
                </mc:Choice>
                <mc:Fallback>
                  <p:oleObj name="Equation" r:id="rId7" imgW="761760" imgH="21564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3230"/>
                          <a:ext cx="728" cy="207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5" name="Object 15"/>
            <p:cNvGraphicFramePr>
              <a:graphicFrameLocks noChangeAspect="1"/>
            </p:cNvGraphicFramePr>
            <p:nvPr/>
          </p:nvGraphicFramePr>
          <p:xfrm>
            <a:off x="2410" y="3212"/>
            <a:ext cx="70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63" name="Equation" r:id="rId9" imgW="736560" imgH="215640" progId="Equation.3">
                    <p:embed/>
                  </p:oleObj>
                </mc:Choice>
                <mc:Fallback>
                  <p:oleObj name="Equation" r:id="rId9" imgW="736560" imgH="21564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0" y="3212"/>
                          <a:ext cx="703" cy="207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76" name="Object 16"/>
            <p:cNvGraphicFramePr>
              <a:graphicFrameLocks noChangeAspect="1"/>
            </p:cNvGraphicFramePr>
            <p:nvPr/>
          </p:nvGraphicFramePr>
          <p:xfrm>
            <a:off x="3796" y="3206"/>
            <a:ext cx="80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64" name="Equation" r:id="rId11" imgW="838080" imgH="215640" progId="Equation.3">
                    <p:embed/>
                  </p:oleObj>
                </mc:Choice>
                <mc:Fallback>
                  <p:oleObj name="Equation" r:id="rId11" imgW="838080" imgH="21564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6" y="3206"/>
                          <a:ext cx="800" cy="207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8978" name="Object 18"/>
          <p:cNvGraphicFramePr>
            <a:graphicFrameLocks noChangeAspect="1"/>
          </p:cNvGraphicFramePr>
          <p:nvPr/>
        </p:nvGraphicFramePr>
        <p:xfrm>
          <a:off x="1016000" y="3432175"/>
          <a:ext cx="31369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65" name="Equation" r:id="rId13" imgW="2070000" imgH="215640" progId="Equation.3">
                  <p:embed/>
                </p:oleObj>
              </mc:Choice>
              <mc:Fallback>
                <p:oleObj name="Equation" r:id="rId13" imgW="2070000" imgH="21564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3432175"/>
                        <a:ext cx="3136900" cy="3286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8979" name="Group 19"/>
          <p:cNvGrpSpPr>
            <a:grpSpLocks/>
          </p:cNvGrpSpPr>
          <p:nvPr/>
        </p:nvGrpSpPr>
        <p:grpSpPr bwMode="auto">
          <a:xfrm>
            <a:off x="476250" y="847725"/>
            <a:ext cx="7877175" cy="2408238"/>
            <a:chOff x="324" y="1920"/>
            <a:chExt cx="4962" cy="1517"/>
          </a:xfrm>
        </p:grpSpPr>
        <p:sp>
          <p:nvSpPr>
            <p:cNvPr id="168980" name="Rectangle 20"/>
            <p:cNvSpPr>
              <a:spLocks noChangeArrowheads="1"/>
            </p:cNvSpPr>
            <p:nvPr/>
          </p:nvSpPr>
          <p:spPr bwMode="auto">
            <a:xfrm>
              <a:off x="390" y="1920"/>
              <a:ext cx="4896" cy="4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000">
                  <a:solidFill>
                    <a:srgbClr val="000099"/>
                  </a:solidFill>
                </a:rPr>
                <a:t>Cumulative Distribution Function (CDF)</a:t>
              </a:r>
            </a:p>
            <a:p>
              <a:pPr marL="742950" lvl="1" indent="-285750"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sz="1800" b="0"/>
                <a:t>The CDF of a random variable </a:t>
              </a:r>
              <a:r>
                <a:rPr lang="en-US" sz="1800" b="0" i="1"/>
                <a:t>X</a:t>
              </a:r>
              <a:r>
                <a:rPr lang="en-US" sz="1800" b="0"/>
                <a:t> is given by</a:t>
              </a:r>
            </a:p>
          </p:txBody>
        </p:sp>
        <p:graphicFrame>
          <p:nvGraphicFramePr>
            <p:cNvPr id="168981" name="Object 21"/>
            <p:cNvGraphicFramePr>
              <a:graphicFrameLocks noChangeAspect="1"/>
            </p:cNvGraphicFramePr>
            <p:nvPr/>
          </p:nvGraphicFramePr>
          <p:xfrm>
            <a:off x="1892" y="2372"/>
            <a:ext cx="108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66" name="Equation" r:id="rId15" imgW="1130040" imgH="215640" progId="Equation.3">
                    <p:embed/>
                  </p:oleObj>
                </mc:Choice>
                <mc:Fallback>
                  <p:oleObj name="Equation" r:id="rId15" imgW="1130040" imgH="215640" progId="Equation.3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2" y="2372"/>
                          <a:ext cx="1080" cy="207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8982" name="Text Box 22"/>
            <p:cNvSpPr txBox="1">
              <a:spLocks noChangeArrowheads="1"/>
            </p:cNvSpPr>
            <p:nvPr/>
          </p:nvSpPr>
          <p:spPr bwMode="auto">
            <a:xfrm>
              <a:off x="1976" y="2646"/>
              <a:ext cx="39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0"/>
                <a:t>RV</a:t>
              </a:r>
            </a:p>
          </p:txBody>
        </p:sp>
        <p:sp>
          <p:nvSpPr>
            <p:cNvPr id="168983" name="Line 23"/>
            <p:cNvSpPr>
              <a:spLocks noChangeShapeType="1"/>
            </p:cNvSpPr>
            <p:nvPr/>
          </p:nvSpPr>
          <p:spPr bwMode="auto">
            <a:xfrm flipV="1">
              <a:off x="2214" y="2532"/>
              <a:ext cx="372" cy="1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8984" name="Text Box 24"/>
            <p:cNvSpPr txBox="1">
              <a:spLocks noChangeArrowheads="1"/>
            </p:cNvSpPr>
            <p:nvPr/>
          </p:nvSpPr>
          <p:spPr bwMode="auto">
            <a:xfrm>
              <a:off x="2864" y="2640"/>
              <a:ext cx="184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0"/>
                <a:t>The variable of the function</a:t>
              </a:r>
            </a:p>
          </p:txBody>
        </p:sp>
        <p:sp>
          <p:nvSpPr>
            <p:cNvPr id="168985" name="Line 25"/>
            <p:cNvSpPr>
              <a:spLocks noChangeShapeType="1"/>
            </p:cNvSpPr>
            <p:nvPr/>
          </p:nvSpPr>
          <p:spPr bwMode="auto">
            <a:xfrm flipH="1" flipV="1">
              <a:off x="2868" y="2520"/>
              <a:ext cx="378" cy="1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8986" name="Rectangle 26"/>
            <p:cNvSpPr>
              <a:spLocks noChangeArrowheads="1"/>
            </p:cNvSpPr>
            <p:nvPr/>
          </p:nvSpPr>
          <p:spPr bwMode="auto">
            <a:xfrm>
              <a:off x="324" y="2820"/>
              <a:ext cx="4896" cy="4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1143000" lvl="2" indent="-22860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1800" b="0"/>
                <a:t>The probability that the RV </a:t>
              </a:r>
              <a:r>
                <a:rPr lang="en-US" sz="1800" b="0" i="1"/>
                <a:t>X</a:t>
              </a:r>
              <a:r>
                <a:rPr lang="en-US" sz="1800" b="0"/>
                <a:t> is less than or equal to a real number </a:t>
              </a:r>
              <a:r>
                <a:rPr lang="en-US" sz="1800" b="0" i="1"/>
                <a:t>x</a:t>
              </a:r>
              <a:r>
                <a:rPr lang="en-US" sz="1800" b="0"/>
                <a:t>.</a:t>
              </a:r>
            </a:p>
            <a:p>
              <a:pPr marL="742950" lvl="1" indent="-285750">
                <a:lnSpc>
                  <a:spcPct val="90000"/>
                </a:lnSpc>
                <a:spcBef>
                  <a:spcPct val="20000"/>
                </a:spcBef>
                <a:buFontTx/>
                <a:buChar char="–"/>
              </a:pPr>
              <a:r>
                <a:rPr lang="en-US" sz="1800" b="0"/>
                <a:t>Some properties: </a:t>
              </a:r>
            </a:p>
          </p:txBody>
        </p:sp>
        <p:graphicFrame>
          <p:nvGraphicFramePr>
            <p:cNvPr id="168987" name="Object 27"/>
            <p:cNvGraphicFramePr>
              <a:graphicFrameLocks noChangeAspect="1"/>
            </p:cNvGraphicFramePr>
            <p:nvPr/>
          </p:nvGraphicFramePr>
          <p:xfrm>
            <a:off x="1030" y="3230"/>
            <a:ext cx="728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67" name="Equation" r:id="rId16" imgW="761760" imgH="215640" progId="Equation.3">
                    <p:embed/>
                  </p:oleObj>
                </mc:Choice>
                <mc:Fallback>
                  <p:oleObj name="Equation" r:id="rId16" imgW="761760" imgH="215640" progId="Equation.3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0" y="3230"/>
                          <a:ext cx="728" cy="207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88" name="Object 28"/>
            <p:cNvGraphicFramePr>
              <a:graphicFrameLocks noChangeAspect="1"/>
            </p:cNvGraphicFramePr>
            <p:nvPr/>
          </p:nvGraphicFramePr>
          <p:xfrm>
            <a:off x="2410" y="3212"/>
            <a:ext cx="70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68" name="Equation" r:id="rId17" imgW="736560" imgH="215640" progId="Equation.3">
                    <p:embed/>
                  </p:oleObj>
                </mc:Choice>
                <mc:Fallback>
                  <p:oleObj name="Equation" r:id="rId17" imgW="736560" imgH="215640" progId="Equation.3">
                    <p:embed/>
                    <p:pic>
                      <p:nvPicPr>
                        <p:cNvPr id="0" name="Picture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0" y="3212"/>
                          <a:ext cx="703" cy="207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8989" name="Object 29"/>
            <p:cNvGraphicFramePr>
              <a:graphicFrameLocks noChangeAspect="1"/>
            </p:cNvGraphicFramePr>
            <p:nvPr/>
          </p:nvGraphicFramePr>
          <p:xfrm>
            <a:off x="3796" y="3206"/>
            <a:ext cx="80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069" name="Equation" r:id="rId18" imgW="838080" imgH="215640" progId="Equation.3">
                    <p:embed/>
                  </p:oleObj>
                </mc:Choice>
                <mc:Fallback>
                  <p:oleObj name="Equation" r:id="rId18" imgW="838080" imgH="215640" progId="Equation.3">
                    <p:embed/>
                    <p:pic>
                      <p:nvPicPr>
                        <p:cNvPr id="0" name="Picture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6" y="3206"/>
                          <a:ext cx="800" cy="207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8990" name="Rectangle 30"/>
          <p:cNvSpPr>
            <a:spLocks noChangeArrowheads="1"/>
          </p:cNvSpPr>
          <p:nvPr/>
        </p:nvSpPr>
        <p:spPr bwMode="auto">
          <a:xfrm>
            <a:off x="485775" y="3905250"/>
            <a:ext cx="7772400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 dirty="0"/>
              <a:t>Example: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1800" b="0" dirty="0"/>
              <a:t>The </a:t>
            </a:r>
            <a:r>
              <a:rPr lang="en-US" sz="1800" b="0" dirty="0" smtClean="0"/>
              <a:t>CDF </a:t>
            </a:r>
            <a:r>
              <a:rPr lang="en-US" sz="1800" b="0" dirty="0"/>
              <a:t>of the RV in the previous example</a:t>
            </a:r>
          </a:p>
          <a:p>
            <a:pPr marL="1600200" lvl="3" indent="-2286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800" b="0" dirty="0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670050" y="5848350"/>
            <a:ext cx="4613275" cy="376238"/>
          </a:xfrm>
          <a:prstGeom prst="rect">
            <a:avLst/>
          </a:prstGeom>
          <a:solidFill>
            <a:srgbClr val="99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Discrete RV can be characterized by PMF, CDF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0BB5B-E30F-420B-B3F8-88F1666FF653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15925"/>
          </a:xfrm>
        </p:spPr>
        <p:txBody>
          <a:bodyPr/>
          <a:lstStyle/>
          <a:p>
            <a:r>
              <a:rPr lang="en-US"/>
              <a:t>Probability Density Function (pdf)</a:t>
            </a:r>
          </a:p>
        </p:txBody>
      </p:sp>
      <p:graphicFrame>
        <p:nvGraphicFramePr>
          <p:cNvPr id="159748" name="Object 4"/>
          <p:cNvGraphicFramePr>
            <a:graphicFrameLocks noChangeAspect="1"/>
          </p:cNvGraphicFramePr>
          <p:nvPr/>
        </p:nvGraphicFramePr>
        <p:xfrm>
          <a:off x="3222625" y="1239838"/>
          <a:ext cx="15795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1" name="Equation" r:id="rId4" imgW="1041120" imgH="393480" progId="Equation.3">
                  <p:embed/>
                </p:oleObj>
              </mc:Choice>
              <mc:Fallback>
                <p:oleObj name="Equation" r:id="rId4" imgW="104112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25" y="1239838"/>
                        <a:ext cx="1579563" cy="6000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49" name="Rectangle 5"/>
          <p:cNvSpPr>
            <a:spLocks noChangeArrowheads="1"/>
          </p:cNvSpPr>
          <p:nvPr/>
        </p:nvSpPr>
        <p:spPr bwMode="auto">
          <a:xfrm>
            <a:off x="581025" y="1876425"/>
            <a:ext cx="77724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The “density” of probability.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E.g. the probability that the RV                            :  </a:t>
            </a:r>
          </a:p>
        </p:txBody>
      </p:sp>
      <p:graphicFrame>
        <p:nvGraphicFramePr>
          <p:cNvPr id="159750" name="Object 6"/>
          <p:cNvGraphicFramePr>
            <a:graphicFrameLocks noChangeAspect="1"/>
          </p:cNvGraphicFramePr>
          <p:nvPr/>
        </p:nvGraphicFramePr>
        <p:xfrm>
          <a:off x="4786313" y="2241550"/>
          <a:ext cx="140493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2" name="Equation" r:id="rId6" imgW="927000" imgH="203040" progId="Equation.3">
                  <p:embed/>
                </p:oleObj>
              </mc:Choice>
              <mc:Fallback>
                <p:oleObj name="Equation" r:id="rId6" imgW="92700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2241550"/>
                        <a:ext cx="140493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1" name="Rectangle 7"/>
          <p:cNvSpPr>
            <a:spLocks noChangeArrowheads="1"/>
          </p:cNvSpPr>
          <p:nvPr/>
        </p:nvSpPr>
        <p:spPr bwMode="auto">
          <a:xfrm>
            <a:off x="561975" y="2638425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The probability that the RV                       :  </a:t>
            </a:r>
          </a:p>
        </p:txBody>
      </p:sp>
      <p:graphicFrame>
        <p:nvGraphicFramePr>
          <p:cNvPr id="159752" name="Object 8"/>
          <p:cNvGraphicFramePr>
            <a:graphicFrameLocks noChangeAspect="1"/>
          </p:cNvGraphicFramePr>
          <p:nvPr/>
        </p:nvGraphicFramePr>
        <p:xfrm>
          <a:off x="4559300" y="2641600"/>
          <a:ext cx="10969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3" name="Equation" r:id="rId8" imgW="723600" imgH="215640" progId="Equation.3">
                  <p:embed/>
                </p:oleObj>
              </mc:Choice>
              <mc:Fallback>
                <p:oleObj name="Equation" r:id="rId8" imgW="72360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300" y="2641600"/>
                        <a:ext cx="1096963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3" name="Rectangle 9"/>
          <p:cNvSpPr>
            <a:spLocks noChangeArrowheads="1"/>
          </p:cNvSpPr>
          <p:nvPr/>
        </p:nvSpPr>
        <p:spPr bwMode="auto">
          <a:xfrm>
            <a:off x="542925" y="3067050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Properties of pdf  </a:t>
            </a:r>
          </a:p>
        </p:txBody>
      </p:sp>
      <p:graphicFrame>
        <p:nvGraphicFramePr>
          <p:cNvPr id="159754" name="Object 10"/>
          <p:cNvGraphicFramePr>
            <a:graphicFrameLocks noChangeAspect="1"/>
          </p:cNvGraphicFramePr>
          <p:nvPr/>
        </p:nvGraphicFramePr>
        <p:xfrm>
          <a:off x="1797050" y="3432175"/>
          <a:ext cx="9826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4" name="Equation" r:id="rId10" imgW="647640" imgH="215640" progId="Equation.3">
                  <p:embed/>
                </p:oleObj>
              </mc:Choice>
              <mc:Fallback>
                <p:oleObj name="Equation" r:id="rId10" imgW="647640" imgH="215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0" y="3432175"/>
                        <a:ext cx="982663" cy="330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5" name="Object 11"/>
          <p:cNvGraphicFramePr>
            <a:graphicFrameLocks noChangeAspect="1"/>
          </p:cNvGraphicFramePr>
          <p:nvPr/>
        </p:nvGraphicFramePr>
        <p:xfrm>
          <a:off x="4184650" y="3382963"/>
          <a:ext cx="14652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95" name="Equation" r:id="rId12" imgW="965160" imgH="330120" progId="Equation.3">
                  <p:embed/>
                </p:oleObj>
              </mc:Choice>
              <mc:Fallback>
                <p:oleObj name="Equation" r:id="rId12" imgW="965160" imgH="33012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3382963"/>
                        <a:ext cx="1465263" cy="5048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63" name="Rectangle 19"/>
          <p:cNvSpPr>
            <a:spLocks noChangeArrowheads="1"/>
          </p:cNvSpPr>
          <p:nvPr/>
        </p:nvSpPr>
        <p:spPr bwMode="auto">
          <a:xfrm>
            <a:off x="361950" y="5956300"/>
            <a:ext cx="7772400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729E8-852E-4F5A-8F0D-6899B591B455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</a:t>
            </a:r>
          </a:p>
        </p:txBody>
      </p:sp>
      <p:sp>
        <p:nvSpPr>
          <p:cNvPr id="1699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663700"/>
          </a:xfrm>
          <a:noFill/>
          <a:ln/>
        </p:spPr>
        <p:txBody>
          <a:bodyPr/>
          <a:lstStyle/>
          <a:p>
            <a:r>
              <a:rPr lang="en-US"/>
              <a:t>Continuous RV</a:t>
            </a:r>
          </a:p>
          <a:p>
            <a:pPr lvl="1">
              <a:lnSpc>
                <a:spcPct val="90000"/>
              </a:lnSpc>
            </a:pPr>
            <a:r>
              <a:rPr lang="en-US"/>
              <a:t>The RV can take continuous values.</a:t>
            </a:r>
          </a:p>
          <a:p>
            <a:pPr lvl="1">
              <a:lnSpc>
                <a:spcPct val="90000"/>
              </a:lnSpc>
            </a:pPr>
            <a:r>
              <a:rPr lang="en-US"/>
              <a:t>Continuous RV can be characterized by its pdf or CDF.</a:t>
            </a:r>
          </a:p>
          <a:p>
            <a:pPr>
              <a:lnSpc>
                <a:spcPct val="90000"/>
              </a:lnSpc>
            </a:pPr>
            <a:r>
              <a:rPr lang="en-US"/>
              <a:t>Uniform distribution</a:t>
            </a:r>
          </a:p>
          <a:p>
            <a:pPr lvl="1">
              <a:lnSpc>
                <a:spcPct val="90000"/>
              </a:lnSpc>
            </a:pPr>
            <a:r>
              <a:rPr lang="en-US"/>
              <a:t>pdf</a:t>
            </a:r>
          </a:p>
        </p:txBody>
      </p:sp>
      <p:graphicFrame>
        <p:nvGraphicFramePr>
          <p:cNvPr id="169989" name="Object 5"/>
          <p:cNvGraphicFramePr>
            <a:graphicFrameLocks noChangeAspect="1"/>
          </p:cNvGraphicFramePr>
          <p:nvPr/>
        </p:nvGraphicFramePr>
        <p:xfrm>
          <a:off x="1971675" y="2506663"/>
          <a:ext cx="227171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7" name="Equation" r:id="rId3" imgW="1498320" imgH="393480" progId="Equation.3">
                  <p:embed/>
                </p:oleObj>
              </mc:Choice>
              <mc:Fallback>
                <p:oleObj name="Equation" r:id="rId3" imgW="149832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2506663"/>
                        <a:ext cx="2271713" cy="6016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9990" name="Picture 6" descr="uniformpd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24450" y="1924050"/>
            <a:ext cx="2892425" cy="2170113"/>
          </a:xfrm>
          <a:prstGeom prst="rect">
            <a:avLst/>
          </a:prstGeom>
          <a:noFill/>
        </p:spPr>
      </p:pic>
      <p:sp>
        <p:nvSpPr>
          <p:cNvPr id="169991" name="Rectangle 7"/>
          <p:cNvSpPr>
            <a:spLocks noChangeArrowheads="1"/>
          </p:cNvSpPr>
          <p:nvPr/>
        </p:nvSpPr>
        <p:spPr bwMode="auto">
          <a:xfrm>
            <a:off x="466725" y="3105150"/>
            <a:ext cx="77724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The RV X has equal probability to be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1800" b="0"/>
              <a:t>	any value in the range of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graphicFrame>
        <p:nvGraphicFramePr>
          <p:cNvPr id="169992" name="Object 8"/>
          <p:cNvGraphicFramePr>
            <a:graphicFrameLocks noChangeAspect="1"/>
          </p:cNvGraphicFramePr>
          <p:nvPr/>
        </p:nvGraphicFramePr>
        <p:xfrm>
          <a:off x="3694113" y="3489325"/>
          <a:ext cx="5207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8" name="Equation" r:id="rId6" imgW="342720" imgH="203040" progId="Equation.3">
                  <p:embed/>
                </p:oleObj>
              </mc:Choice>
              <mc:Fallback>
                <p:oleObj name="Equation" r:id="rId6" imgW="342720" imgH="2030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4113" y="3489325"/>
                        <a:ext cx="5207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D6690-8E98-4762-9D93-D87019D5CE06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6921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Mean (Ensemble Average, 1</a:t>
            </a:r>
            <a:r>
              <a:rPr lang="en-US" baseline="30000"/>
              <a:t>st</a:t>
            </a:r>
            <a:r>
              <a:rPr lang="en-US"/>
              <a:t> moment, expected value)</a:t>
            </a:r>
          </a:p>
          <a:p>
            <a:pPr lvl="1">
              <a:lnSpc>
                <a:spcPct val="90000"/>
              </a:lnSpc>
            </a:pPr>
            <a:r>
              <a:rPr lang="en-US"/>
              <a:t>The mean value of a random variable is defined by</a:t>
            </a:r>
          </a:p>
        </p:txBody>
      </p:sp>
      <p:graphicFrame>
        <p:nvGraphicFramePr>
          <p:cNvPr id="163844" name="Object 4"/>
          <p:cNvGraphicFramePr>
            <a:graphicFrameLocks noChangeAspect="1"/>
          </p:cNvGraphicFramePr>
          <p:nvPr/>
        </p:nvGraphicFramePr>
        <p:xfrm>
          <a:off x="2046288" y="1611313"/>
          <a:ext cx="25257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9" name="Equation" r:id="rId3" imgW="1663560" imgH="330120" progId="Equation.3">
                  <p:embed/>
                </p:oleObj>
              </mc:Choice>
              <mc:Fallback>
                <p:oleObj name="Equation" r:id="rId3" imgW="166356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288" y="1611313"/>
                        <a:ext cx="2525712" cy="5048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638175" y="2114550"/>
            <a:ext cx="777240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Example: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1800" b="0"/>
              <a:t>The exponential distribution has pdf </a:t>
            </a:r>
          </a:p>
          <a:p>
            <a:pPr marL="1600200" lvl="3" indent="-2286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800" b="0"/>
          </a:p>
          <a:p>
            <a:pPr marL="1600200" lvl="3" indent="-2286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800" b="0"/>
          </a:p>
          <a:p>
            <a:pPr marL="1600200" lvl="3" indent="-2286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lang="en-US" sz="1800" b="0"/>
          </a:p>
          <a:p>
            <a:pPr marL="1600200" lvl="3" indent="-22860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Find its mean value.</a:t>
            </a:r>
          </a:p>
        </p:txBody>
      </p:sp>
      <p:graphicFrame>
        <p:nvGraphicFramePr>
          <p:cNvPr id="163846" name="Object 6"/>
          <p:cNvGraphicFramePr>
            <a:graphicFrameLocks noChangeAspect="1"/>
          </p:cNvGraphicFramePr>
          <p:nvPr/>
        </p:nvGraphicFramePr>
        <p:xfrm>
          <a:off x="3013075" y="3003550"/>
          <a:ext cx="303212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0" name="Equation" r:id="rId5" imgW="1993680" imgH="215640" progId="Equation.3">
                  <p:embed/>
                </p:oleObj>
              </mc:Choice>
              <mc:Fallback>
                <p:oleObj name="Equation" r:id="rId5" imgW="199368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3003550"/>
                        <a:ext cx="3032125" cy="3286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7" name="Object 7"/>
          <p:cNvGraphicFramePr>
            <a:graphicFrameLocks noChangeAspect="1"/>
          </p:cNvGraphicFramePr>
          <p:nvPr/>
        </p:nvGraphicFramePr>
        <p:xfrm>
          <a:off x="5245100" y="1639888"/>
          <a:ext cx="27940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1" name="Equation" r:id="rId7" imgW="1841400" imgH="253800" progId="Equation.3">
                  <p:embed/>
                </p:oleObj>
              </mc:Choice>
              <mc:Fallback>
                <p:oleObj name="Equation" r:id="rId7" imgW="1841400" imgH="2538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100" y="1639888"/>
                        <a:ext cx="2794000" cy="3889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B9B81-83DA-4FAE-94B9-70E1E7EC741E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396875"/>
          </a:xfrm>
        </p:spPr>
        <p:txBody>
          <a:bodyPr/>
          <a:lstStyle/>
          <a:p>
            <a:r>
              <a:rPr lang="en-US"/>
              <a:t>The n-th moment of a RV is defined as</a:t>
            </a:r>
          </a:p>
        </p:txBody>
      </p:sp>
      <p:graphicFrame>
        <p:nvGraphicFramePr>
          <p:cNvPr id="165892" name="Object 4"/>
          <p:cNvGraphicFramePr>
            <a:graphicFrameLocks noChangeAspect="1"/>
          </p:cNvGraphicFramePr>
          <p:nvPr/>
        </p:nvGraphicFramePr>
        <p:xfrm>
          <a:off x="2657475" y="1296988"/>
          <a:ext cx="22367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27" name="Equation" r:id="rId4" imgW="1473120" imgH="330120" progId="Equation.3">
                  <p:embed/>
                </p:oleObj>
              </mc:Choice>
              <mc:Fallback>
                <p:oleObj name="Equation" r:id="rId4" imgW="147312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1296988"/>
                        <a:ext cx="2236788" cy="5048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638175" y="1838325"/>
            <a:ext cx="7772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The n-th central moment of a RV is defined as</a:t>
            </a:r>
          </a:p>
        </p:txBody>
      </p:sp>
      <p:graphicFrame>
        <p:nvGraphicFramePr>
          <p:cNvPr id="165894" name="Object 6"/>
          <p:cNvGraphicFramePr>
            <a:graphicFrameLocks noChangeAspect="1"/>
          </p:cNvGraphicFramePr>
          <p:nvPr/>
        </p:nvGraphicFramePr>
        <p:xfrm>
          <a:off x="2487613" y="2220913"/>
          <a:ext cx="35290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28" name="Equation" r:id="rId6" imgW="2323800" imgH="330120" progId="Equation.3">
                  <p:embed/>
                </p:oleObj>
              </mc:Choice>
              <mc:Fallback>
                <p:oleObj name="Equation" r:id="rId6" imgW="2323800" imgH="3301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2220913"/>
                        <a:ext cx="3529012" cy="5048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5" name="Rectangle 7"/>
          <p:cNvSpPr>
            <a:spLocks noChangeArrowheads="1"/>
          </p:cNvSpPr>
          <p:nvPr/>
        </p:nvSpPr>
        <p:spPr bwMode="auto">
          <a:xfrm>
            <a:off x="638175" y="2752725"/>
            <a:ext cx="777240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Variance (</a:t>
            </a:r>
            <a:r>
              <a:rPr lang="en-US" sz="2000">
                <a:solidFill>
                  <a:srgbClr val="FF3300"/>
                </a:solidFill>
              </a:rPr>
              <a:t>average power of a zero-mean random signal</a:t>
            </a:r>
            <a:r>
              <a:rPr lang="en-US" sz="2000">
                <a:solidFill>
                  <a:srgbClr val="000099"/>
                </a:solidFill>
              </a:rPr>
              <a:t>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Second central moment.</a:t>
            </a:r>
          </a:p>
        </p:txBody>
      </p:sp>
      <p:graphicFrame>
        <p:nvGraphicFramePr>
          <p:cNvPr id="165896" name="Object 8"/>
          <p:cNvGraphicFramePr>
            <a:graphicFrameLocks noChangeAspect="1"/>
          </p:cNvGraphicFramePr>
          <p:nvPr/>
        </p:nvGraphicFramePr>
        <p:xfrm>
          <a:off x="4003675" y="3089275"/>
          <a:ext cx="344328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29" name="Equation" r:id="rId8" imgW="2044440" imgH="228600" progId="Equation.3">
                  <p:embed/>
                </p:oleObj>
              </mc:Choice>
              <mc:Fallback>
                <p:oleObj name="Equation" r:id="rId8" imgW="204444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3675" y="3089275"/>
                        <a:ext cx="3443288" cy="3873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7" name="Rectangle 9"/>
          <p:cNvSpPr>
            <a:spLocks noChangeArrowheads="1"/>
          </p:cNvSpPr>
          <p:nvPr/>
        </p:nvSpPr>
        <p:spPr bwMode="auto">
          <a:xfrm>
            <a:off x="647700" y="3448050"/>
            <a:ext cx="777240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Standard deviation (root mean square value, rms): </a:t>
            </a:r>
          </a:p>
          <a:p>
            <a:pPr marL="742950" lvl="1" indent="-285750">
              <a:spcBef>
                <a:spcPct val="20000"/>
              </a:spcBef>
            </a:pPr>
            <a:endParaRPr lang="en-US" sz="1800" b="0"/>
          </a:p>
        </p:txBody>
      </p:sp>
      <p:graphicFrame>
        <p:nvGraphicFramePr>
          <p:cNvPr id="165898" name="Object 10"/>
          <p:cNvGraphicFramePr>
            <a:graphicFrameLocks noChangeAspect="1"/>
          </p:cNvGraphicFramePr>
          <p:nvPr/>
        </p:nvGraphicFramePr>
        <p:xfrm>
          <a:off x="6296025" y="3517900"/>
          <a:ext cx="3476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30" name="Equation" r:id="rId10" imgW="228600" imgH="215640" progId="Equation.3">
                  <p:embed/>
                </p:oleObj>
              </mc:Choice>
              <mc:Fallback>
                <p:oleObj name="Equation" r:id="rId10" imgW="228600" imgH="215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6025" y="3517900"/>
                        <a:ext cx="347663" cy="330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4EAEF-9164-4FDA-B0AD-A8A29ADA3DE5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749300"/>
          </a:xfrm>
        </p:spPr>
        <p:txBody>
          <a:bodyPr/>
          <a:lstStyle/>
          <a:p>
            <a:r>
              <a:rPr lang="en-US"/>
              <a:t>Gaussian distribution (Normal distribution)</a:t>
            </a:r>
          </a:p>
          <a:p>
            <a:pPr lvl="1"/>
            <a:r>
              <a:rPr lang="en-US"/>
              <a:t>A random variable is Gaussian distributed if the pdf is</a:t>
            </a:r>
          </a:p>
        </p:txBody>
      </p:sp>
      <p:graphicFrame>
        <p:nvGraphicFramePr>
          <p:cNvPr id="160772" name="Object 4"/>
          <p:cNvGraphicFramePr>
            <a:graphicFrameLocks noChangeAspect="1"/>
          </p:cNvGraphicFramePr>
          <p:nvPr/>
        </p:nvGraphicFramePr>
        <p:xfrm>
          <a:off x="1947863" y="1676400"/>
          <a:ext cx="304641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2" name="Equation" r:id="rId4" imgW="2006280" imgH="482400" progId="Equation.3">
                  <p:embed/>
                </p:oleObj>
              </mc:Choice>
              <mc:Fallback>
                <p:oleObj name="Equation" r:id="rId4" imgW="2006280" imgH="482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3" y="1676400"/>
                        <a:ext cx="3046412" cy="7381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6381750" y="1047750"/>
            <a:ext cx="2762250" cy="2752725"/>
            <a:chOff x="6115050" y="1047750"/>
            <a:chExt cx="2762250" cy="2752725"/>
          </a:xfrm>
        </p:grpSpPr>
        <p:pic>
          <p:nvPicPr>
            <p:cNvPr id="160773" name="Picture 5" descr="gaussian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115050" y="1047750"/>
              <a:ext cx="2762250" cy="2071688"/>
            </a:xfrm>
            <a:prstGeom prst="rect">
              <a:avLst/>
            </a:prstGeom>
            <a:noFill/>
          </p:spPr>
        </p:pic>
        <p:sp>
          <p:nvSpPr>
            <p:cNvPr id="160774" name="Text Box 6"/>
            <p:cNvSpPr txBox="1">
              <a:spLocks noChangeArrowheads="1"/>
            </p:cNvSpPr>
            <p:nvPr/>
          </p:nvSpPr>
          <p:spPr bwMode="auto">
            <a:xfrm>
              <a:off x="6765925" y="3409950"/>
              <a:ext cx="7175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mean</a:t>
              </a:r>
            </a:p>
          </p:txBody>
        </p:sp>
        <p:sp>
          <p:nvSpPr>
            <p:cNvPr id="160775" name="Line 7"/>
            <p:cNvSpPr>
              <a:spLocks noChangeShapeType="1"/>
            </p:cNvSpPr>
            <p:nvPr/>
          </p:nvSpPr>
          <p:spPr bwMode="auto">
            <a:xfrm flipV="1">
              <a:off x="7124700" y="3257550"/>
              <a:ext cx="381000" cy="1905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0776" name="Line 8"/>
            <p:cNvSpPr>
              <a:spLocks noChangeShapeType="1"/>
            </p:cNvSpPr>
            <p:nvPr/>
          </p:nvSpPr>
          <p:spPr bwMode="auto">
            <a:xfrm>
              <a:off x="7543800" y="1047750"/>
              <a:ext cx="0" cy="24669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6077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8200060"/>
                </p:ext>
              </p:extLst>
            </p:nvPr>
          </p:nvGraphicFramePr>
          <p:xfrm>
            <a:off x="7500938" y="3451225"/>
            <a:ext cx="1368425" cy="349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803" name="Equation" r:id="rId7" imgW="901440" imgH="228600" progId="Equation.3">
                    <p:embed/>
                  </p:oleObj>
                </mc:Choice>
                <mc:Fallback>
                  <p:oleObj name="Equation" r:id="rId7" imgW="901440" imgH="2286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0938" y="3451225"/>
                          <a:ext cx="1368425" cy="349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60778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229225" y="4735512"/>
            <a:ext cx="3914775" cy="199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0779" name="Rectangle 11"/>
          <p:cNvSpPr>
            <a:spLocks noChangeArrowheads="1"/>
          </p:cNvSpPr>
          <p:nvPr/>
        </p:nvSpPr>
        <p:spPr bwMode="auto">
          <a:xfrm>
            <a:off x="523875" y="2466975"/>
            <a:ext cx="7772400" cy="116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Gaussian pdf is fully characterized by its mean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1800" b="0"/>
              <a:t>	</a:t>
            </a:r>
            <a:r>
              <a:rPr lang="en-US" sz="1800" b="0" i="1"/>
              <a:t>m</a:t>
            </a:r>
            <a:r>
              <a:rPr lang="en-US" sz="1800" b="0"/>
              <a:t> and variance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Y = aX+b is still Gaussian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Example: prove the mean of Gaussian RV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1800" b="0"/>
              <a:t>	is </a:t>
            </a:r>
            <a:r>
              <a:rPr lang="en-US" sz="1800" b="0" i="1"/>
              <a:t>m</a:t>
            </a:r>
          </a:p>
        </p:txBody>
      </p:sp>
      <p:graphicFrame>
        <p:nvGraphicFramePr>
          <p:cNvPr id="160780" name="Object 12"/>
          <p:cNvGraphicFramePr>
            <a:graphicFrameLocks noChangeAspect="1"/>
          </p:cNvGraphicFramePr>
          <p:nvPr/>
        </p:nvGraphicFramePr>
        <p:xfrm>
          <a:off x="2838450" y="2832100"/>
          <a:ext cx="2889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4" name="Equation" r:id="rId10" imgW="203040" imgH="203040" progId="Equation.3">
                  <p:embed/>
                </p:oleObj>
              </mc:Choice>
              <mc:Fallback>
                <p:oleObj name="Equation" r:id="rId10" imgW="203040" imgH="2030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0" y="2832100"/>
                        <a:ext cx="288925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40EF5-6DAF-4EA1-A763-D0F12BE3EF63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SIGNAL: JOINT DISTRIBUTION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701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Joint distribution</a:t>
            </a:r>
          </a:p>
          <a:p>
            <a:pPr lvl="1">
              <a:lnSpc>
                <a:spcPct val="90000"/>
              </a:lnSpc>
            </a:pPr>
            <a:r>
              <a:rPr lang="en-US"/>
              <a:t>Two RVs X, Y, the joint CDF is defined as</a:t>
            </a:r>
          </a:p>
        </p:txBody>
      </p:sp>
      <p:graphicFrame>
        <p:nvGraphicFramePr>
          <p:cNvPr id="166916" name="Object 4"/>
          <p:cNvGraphicFramePr>
            <a:graphicFrameLocks noChangeAspect="1"/>
          </p:cNvGraphicFramePr>
          <p:nvPr/>
        </p:nvGraphicFramePr>
        <p:xfrm>
          <a:off x="2393950" y="1571625"/>
          <a:ext cx="31654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16" name="Equation" r:id="rId4" imgW="1752480" imgH="241200" progId="Equation.3">
                  <p:embed/>
                </p:oleObj>
              </mc:Choice>
              <mc:Fallback>
                <p:oleObj name="Equation" r:id="rId4" imgW="175248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1571625"/>
                        <a:ext cx="3165475" cy="4349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552450" y="2009775"/>
            <a:ext cx="777240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Example</a:t>
            </a:r>
          </a:p>
        </p:txBody>
      </p:sp>
      <p:graphicFrame>
        <p:nvGraphicFramePr>
          <p:cNvPr id="166972" name="Group 60"/>
          <p:cNvGraphicFramePr>
            <a:graphicFrameLocks noGrp="1"/>
          </p:cNvGraphicFramePr>
          <p:nvPr/>
        </p:nvGraphicFramePr>
        <p:xfrm>
          <a:off x="2628900" y="2301875"/>
          <a:ext cx="2609850" cy="1828800"/>
        </p:xfrm>
        <a:graphic>
          <a:graphicData uri="http://schemas.openxmlformats.org/drawingml/2006/table">
            <a:tbl>
              <a:tblPr/>
              <a:tblGrid>
                <a:gridCol w="869950"/>
                <a:gridCol w="869950"/>
                <a:gridCol w="869950"/>
              </a:tblGrid>
              <a:tr h="2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Prob.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6973" name="Object 61"/>
          <p:cNvGraphicFramePr>
            <a:graphicFrameLocks noChangeAspect="1"/>
          </p:cNvGraphicFramePr>
          <p:nvPr/>
        </p:nvGraphicFramePr>
        <p:xfrm>
          <a:off x="1739900" y="4692650"/>
          <a:ext cx="11207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17" name="Equation" r:id="rId6" imgW="736560" imgH="203040" progId="Equation.3">
                  <p:embed/>
                </p:oleObj>
              </mc:Choice>
              <mc:Fallback>
                <p:oleObj name="Equation" r:id="rId6" imgW="736560" imgH="20304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4692650"/>
                        <a:ext cx="1120775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74" name="Object 62"/>
          <p:cNvGraphicFramePr>
            <a:graphicFrameLocks noChangeAspect="1"/>
          </p:cNvGraphicFramePr>
          <p:nvPr/>
        </p:nvGraphicFramePr>
        <p:xfrm>
          <a:off x="1747838" y="5035550"/>
          <a:ext cx="1065212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18" name="Equation" r:id="rId8" imgW="672840" imgH="203040" progId="Equation.3">
                  <p:embed/>
                </p:oleObj>
              </mc:Choice>
              <mc:Fallback>
                <p:oleObj name="Equation" r:id="rId8" imgW="672840" imgH="20304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5035550"/>
                        <a:ext cx="1065212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75" name="Object 63"/>
          <p:cNvGraphicFramePr>
            <a:graphicFrameLocks noChangeAspect="1"/>
          </p:cNvGraphicFramePr>
          <p:nvPr/>
        </p:nvGraphicFramePr>
        <p:xfrm>
          <a:off x="1706563" y="4359275"/>
          <a:ext cx="1855787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19" name="Equation" r:id="rId10" imgW="1218960" imgH="203040" progId="Equation.3">
                  <p:embed/>
                </p:oleObj>
              </mc:Choice>
              <mc:Fallback>
                <p:oleObj name="Equation" r:id="rId10" imgW="1218960" imgH="20304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4359275"/>
                        <a:ext cx="1855787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76" name="Text Box 64"/>
          <p:cNvSpPr txBox="1">
            <a:spLocks noChangeArrowheads="1"/>
          </p:cNvSpPr>
          <p:nvPr/>
        </p:nvSpPr>
        <p:spPr bwMode="auto">
          <a:xfrm>
            <a:off x="0" y="4267200"/>
            <a:ext cx="1181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joint PMF:</a:t>
            </a:r>
          </a:p>
        </p:txBody>
      </p:sp>
      <p:sp>
        <p:nvSpPr>
          <p:cNvPr id="166977" name="Text Box 65"/>
          <p:cNvSpPr txBox="1">
            <a:spLocks noChangeArrowheads="1"/>
          </p:cNvSpPr>
          <p:nvPr/>
        </p:nvSpPr>
        <p:spPr bwMode="auto">
          <a:xfrm>
            <a:off x="0" y="4638675"/>
            <a:ext cx="157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marginal PMF:</a:t>
            </a:r>
          </a:p>
        </p:txBody>
      </p:sp>
      <p:sp>
        <p:nvSpPr>
          <p:cNvPr id="166978" name="Text Box 66"/>
          <p:cNvSpPr txBox="1">
            <a:spLocks noChangeArrowheads="1"/>
          </p:cNvSpPr>
          <p:nvPr/>
        </p:nvSpPr>
        <p:spPr bwMode="auto">
          <a:xfrm>
            <a:off x="0" y="4972050"/>
            <a:ext cx="157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marginal PMF:</a:t>
            </a:r>
          </a:p>
        </p:txBody>
      </p:sp>
      <p:sp>
        <p:nvSpPr>
          <p:cNvPr id="166979" name="Text Box 67"/>
          <p:cNvSpPr txBox="1">
            <a:spLocks noChangeArrowheads="1"/>
          </p:cNvSpPr>
          <p:nvPr/>
        </p:nvSpPr>
        <p:spPr bwMode="auto">
          <a:xfrm>
            <a:off x="0" y="5381625"/>
            <a:ext cx="1790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conditional PMF:</a:t>
            </a:r>
          </a:p>
        </p:txBody>
      </p:sp>
      <p:graphicFrame>
        <p:nvGraphicFramePr>
          <p:cNvPr id="166980" name="Object 68"/>
          <p:cNvGraphicFramePr>
            <a:graphicFrameLocks noChangeAspect="1"/>
          </p:cNvGraphicFramePr>
          <p:nvPr/>
        </p:nvGraphicFramePr>
        <p:xfrm>
          <a:off x="1844675" y="5407025"/>
          <a:ext cx="17684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20" name="Equation" r:id="rId12" imgW="1117440" imgH="203040" progId="Equation.3">
                  <p:embed/>
                </p:oleObj>
              </mc:Choice>
              <mc:Fallback>
                <p:oleObj name="Equation" r:id="rId12" imgW="1117440" imgH="203040" progId="Equation.3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5407025"/>
                        <a:ext cx="1768475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81" name="Text Box 69"/>
          <p:cNvSpPr txBox="1">
            <a:spLocks noChangeArrowheads="1"/>
          </p:cNvSpPr>
          <p:nvPr/>
        </p:nvSpPr>
        <p:spPr bwMode="auto">
          <a:xfrm>
            <a:off x="0" y="5762625"/>
            <a:ext cx="63214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(if we already know that Y = 1, what is the probability that X = 0?)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3BCA1-4D1D-4EBF-BED5-5146F625CE6C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SIGNAL: JOINT DISTRIBUTION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444625"/>
          </a:xfrm>
        </p:spPr>
        <p:txBody>
          <a:bodyPr/>
          <a:lstStyle/>
          <a:p>
            <a:r>
              <a:rPr lang="en-US"/>
              <a:t>Independent RVs</a:t>
            </a:r>
          </a:p>
          <a:p>
            <a:pPr lvl="1"/>
            <a:r>
              <a:rPr lang="en-US"/>
              <a:t>                                                   </a:t>
            </a:r>
            <a:r>
              <a:rPr lang="en-US">
                <a:sym typeface="Wingdings" pitchFamily="2" charset="2"/>
              </a:rPr>
              <a:t></a:t>
            </a:r>
            <a:r>
              <a:rPr lang="en-US"/>
              <a:t> X and Y are independent.</a:t>
            </a:r>
          </a:p>
          <a:p>
            <a:pPr lvl="1"/>
            <a:r>
              <a:rPr lang="en-US"/>
              <a:t>Independence: there is no relationship between the two RVs. </a:t>
            </a:r>
          </a:p>
          <a:p>
            <a:r>
              <a:rPr lang="en-US"/>
              <a:t>Joint pdf</a:t>
            </a:r>
          </a:p>
        </p:txBody>
      </p:sp>
      <p:graphicFrame>
        <p:nvGraphicFramePr>
          <p:cNvPr id="167940" name="Object 4"/>
          <p:cNvGraphicFramePr>
            <a:graphicFrameLocks noChangeAspect="1"/>
          </p:cNvGraphicFramePr>
          <p:nvPr/>
        </p:nvGraphicFramePr>
        <p:xfrm>
          <a:off x="1689100" y="1238250"/>
          <a:ext cx="242093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99" name="Equation" r:id="rId4" imgW="1498320" imgH="241200" progId="Equation.3">
                  <p:embed/>
                </p:oleObj>
              </mc:Choice>
              <mc:Fallback>
                <p:oleObj name="Equation" r:id="rId4" imgW="149832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1238250"/>
                        <a:ext cx="2420938" cy="3889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2439988" y="2200275"/>
          <a:ext cx="24606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0" name="Equation" r:id="rId6" imgW="1523880" imgH="444240" progId="Equation.3">
                  <p:embed/>
                </p:oleObj>
              </mc:Choice>
              <mc:Fallback>
                <p:oleObj name="Equation" r:id="rId6" imgW="1523880" imgH="4442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2200275"/>
                        <a:ext cx="2460625" cy="7143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657225" y="2914650"/>
            <a:ext cx="777240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Marginal pdf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1800" b="0"/>
              <a:t>                                                   </a:t>
            </a:r>
          </a:p>
        </p:txBody>
      </p:sp>
      <p:graphicFrame>
        <p:nvGraphicFramePr>
          <p:cNvPr id="167943" name="Object 7"/>
          <p:cNvGraphicFramePr>
            <a:graphicFrameLocks noChangeAspect="1"/>
          </p:cNvGraphicFramePr>
          <p:nvPr/>
        </p:nvGraphicFramePr>
        <p:xfrm>
          <a:off x="1546225" y="3405188"/>
          <a:ext cx="24003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1" name="Equation" r:id="rId8" imgW="1485720" imgH="330120" progId="Equation.3">
                  <p:embed/>
                </p:oleObj>
              </mc:Choice>
              <mc:Fallback>
                <p:oleObj name="Equation" r:id="rId8" imgW="1485720" imgH="330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3405188"/>
                        <a:ext cx="2400300" cy="5302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4" name="Object 8"/>
          <p:cNvGraphicFramePr>
            <a:graphicFrameLocks noChangeAspect="1"/>
          </p:cNvGraphicFramePr>
          <p:nvPr/>
        </p:nvGraphicFramePr>
        <p:xfrm>
          <a:off x="5461000" y="3433763"/>
          <a:ext cx="237966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2" name="Equation" r:id="rId10" imgW="1473120" imgH="330120" progId="Equation.3">
                  <p:embed/>
                </p:oleObj>
              </mc:Choice>
              <mc:Fallback>
                <p:oleObj name="Equation" r:id="rId10" imgW="1473120" imgH="33012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3433763"/>
                        <a:ext cx="2379663" cy="5302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5" name="Rectangle 9"/>
          <p:cNvSpPr>
            <a:spLocks noChangeArrowheads="1"/>
          </p:cNvSpPr>
          <p:nvPr/>
        </p:nvSpPr>
        <p:spPr bwMode="auto">
          <a:xfrm>
            <a:off x="685800" y="3952875"/>
            <a:ext cx="777240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                                                   </a:t>
            </a:r>
            <a:r>
              <a:rPr lang="en-US" sz="1800" b="0">
                <a:sym typeface="Wingdings" pitchFamily="2" charset="2"/>
              </a:rPr>
              <a:t> X and Y are independent</a:t>
            </a:r>
            <a:r>
              <a:rPr lang="en-US" sz="1800" b="0"/>
              <a:t>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1800" b="0"/>
              <a:t>                                                   </a:t>
            </a:r>
          </a:p>
        </p:txBody>
      </p:sp>
      <p:graphicFrame>
        <p:nvGraphicFramePr>
          <p:cNvPr id="167946" name="Object 10"/>
          <p:cNvGraphicFramePr>
            <a:graphicFrameLocks noChangeAspect="1"/>
          </p:cNvGraphicFramePr>
          <p:nvPr/>
        </p:nvGraphicFramePr>
        <p:xfrm>
          <a:off x="1562100" y="4219575"/>
          <a:ext cx="250348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3" name="Equation" r:id="rId12" imgW="1549080" imgH="241200" progId="Equation.3">
                  <p:embed/>
                </p:oleObj>
              </mc:Choice>
              <mc:Fallback>
                <p:oleObj name="Equation" r:id="rId12" imgW="1549080" imgH="241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4219575"/>
                        <a:ext cx="2503488" cy="3889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7" name="Rectangle 11"/>
          <p:cNvSpPr>
            <a:spLocks noChangeArrowheads="1"/>
          </p:cNvSpPr>
          <p:nvPr/>
        </p:nvSpPr>
        <p:spPr bwMode="auto">
          <a:xfrm>
            <a:off x="609600" y="4591050"/>
            <a:ext cx="77724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Conditional pdf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1800" b="0"/>
              <a:t>                                                   </a:t>
            </a:r>
          </a:p>
        </p:txBody>
      </p:sp>
      <p:graphicFrame>
        <p:nvGraphicFramePr>
          <p:cNvPr id="167948" name="Object 12"/>
          <p:cNvGraphicFramePr>
            <a:graphicFrameLocks noChangeAspect="1"/>
          </p:cNvGraphicFramePr>
          <p:nvPr/>
        </p:nvGraphicFramePr>
        <p:xfrm>
          <a:off x="1606550" y="5057775"/>
          <a:ext cx="227806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4" name="Equation" r:id="rId14" imgW="1409400" imgH="431640" progId="Equation.3">
                  <p:embed/>
                </p:oleObj>
              </mc:Choice>
              <mc:Fallback>
                <p:oleObj name="Equation" r:id="rId14" imgW="1409400" imgH="4316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5057775"/>
                        <a:ext cx="2278063" cy="6937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9" name="Object 13"/>
          <p:cNvGraphicFramePr>
            <a:graphicFrameLocks noChangeAspect="1"/>
          </p:cNvGraphicFramePr>
          <p:nvPr/>
        </p:nvGraphicFramePr>
        <p:xfrm>
          <a:off x="5340350" y="4972050"/>
          <a:ext cx="227806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5" name="Equation" r:id="rId16" imgW="1409400" imgH="431640" progId="Equation.3">
                  <p:embed/>
                </p:oleObj>
              </mc:Choice>
              <mc:Fallback>
                <p:oleObj name="Equation" r:id="rId16" imgW="1409400" imgH="4316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0350" y="4972050"/>
                        <a:ext cx="2278063" cy="6937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85A0D-6593-479A-9382-9F31CA8339D8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SIGNAL: JOINT DISTRIBUTION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806450"/>
          </a:xfrm>
        </p:spPr>
        <p:txBody>
          <a:bodyPr/>
          <a:lstStyle/>
          <a:p>
            <a:r>
              <a:rPr lang="en-US"/>
              <a:t>Example</a:t>
            </a:r>
          </a:p>
          <a:p>
            <a:pPr lvl="1"/>
            <a:r>
              <a:rPr lang="en-US"/>
              <a:t>Find the marginal pdf and conditional pdf of </a:t>
            </a:r>
          </a:p>
        </p:txBody>
      </p:sp>
      <p:graphicFrame>
        <p:nvGraphicFramePr>
          <p:cNvPr id="172036" name="Object 4"/>
          <p:cNvGraphicFramePr>
            <a:graphicFrameLocks noChangeAspect="1"/>
          </p:cNvGraphicFramePr>
          <p:nvPr/>
        </p:nvGraphicFramePr>
        <p:xfrm>
          <a:off x="2300288" y="1674813"/>
          <a:ext cx="29527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44" name="Equation" r:id="rId4" imgW="1828800" imgH="253800" progId="Equation.3">
                  <p:embed/>
                </p:oleObj>
              </mc:Choice>
              <mc:Fallback>
                <p:oleObj name="Equation" r:id="rId4" imgW="1828800" imgH="253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1674813"/>
                        <a:ext cx="2952750" cy="4095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7" name="Rectangle 5"/>
          <p:cNvSpPr>
            <a:spLocks noChangeArrowheads="1"/>
          </p:cNvSpPr>
          <p:nvPr/>
        </p:nvSpPr>
        <p:spPr bwMode="auto">
          <a:xfrm>
            <a:off x="762000" y="2162175"/>
            <a:ext cx="77724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Are they independent?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D95B0-862F-4A4A-BBD4-E0A0134E0E30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SIGNAL: JOINT DISTRIBUTION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739775"/>
          </a:xfrm>
        </p:spPr>
        <p:txBody>
          <a:bodyPr/>
          <a:lstStyle/>
          <a:p>
            <a:r>
              <a:rPr lang="en-US"/>
              <a:t>Correlation and covariance</a:t>
            </a:r>
          </a:p>
          <a:p>
            <a:pPr lvl="1"/>
            <a:r>
              <a:rPr lang="en-US"/>
              <a:t>The correlation between two RVs </a:t>
            </a:r>
            <a:r>
              <a:rPr lang="en-US" i="1"/>
              <a:t>X</a:t>
            </a:r>
            <a:r>
              <a:rPr lang="en-US"/>
              <a:t> and </a:t>
            </a:r>
            <a:r>
              <a:rPr lang="en-US" i="1"/>
              <a:t>Y</a:t>
            </a:r>
            <a:r>
              <a:rPr lang="en-US"/>
              <a:t>:</a:t>
            </a:r>
          </a:p>
        </p:txBody>
      </p:sp>
      <p:graphicFrame>
        <p:nvGraphicFramePr>
          <p:cNvPr id="173060" name="Object 4"/>
          <p:cNvGraphicFramePr>
            <a:graphicFrameLocks noChangeAspect="1"/>
          </p:cNvGraphicFramePr>
          <p:nvPr/>
        </p:nvGraphicFramePr>
        <p:xfrm>
          <a:off x="1846263" y="1565275"/>
          <a:ext cx="45100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86" name="Equation" r:id="rId4" imgW="2793960" imgH="330120" progId="Equation.3">
                  <p:embed/>
                </p:oleObj>
              </mc:Choice>
              <mc:Fallback>
                <p:oleObj name="Equation" r:id="rId4" imgW="279396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263" y="1565275"/>
                        <a:ext cx="4510087" cy="5334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1" name="Rectangle 5"/>
          <p:cNvSpPr>
            <a:spLocks noChangeArrowheads="1"/>
          </p:cNvSpPr>
          <p:nvPr/>
        </p:nvSpPr>
        <p:spPr bwMode="auto">
          <a:xfrm>
            <a:off x="628650" y="2095500"/>
            <a:ext cx="7772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The covariance between two RVs </a:t>
            </a:r>
            <a:r>
              <a:rPr lang="en-US" sz="1800" b="0" i="1"/>
              <a:t>X</a:t>
            </a:r>
            <a:r>
              <a:rPr lang="en-US" sz="1800" b="0"/>
              <a:t> and </a:t>
            </a:r>
            <a:r>
              <a:rPr lang="en-US" sz="1800" b="0" i="1"/>
              <a:t>Y</a:t>
            </a:r>
            <a:r>
              <a:rPr lang="en-US" sz="1800" b="0"/>
              <a:t>:</a:t>
            </a:r>
          </a:p>
        </p:txBody>
      </p:sp>
      <p:graphicFrame>
        <p:nvGraphicFramePr>
          <p:cNvPr id="173062" name="Object 6"/>
          <p:cNvGraphicFramePr>
            <a:graphicFrameLocks noChangeAspect="1"/>
          </p:cNvGraphicFramePr>
          <p:nvPr/>
        </p:nvGraphicFramePr>
        <p:xfrm>
          <a:off x="1906588" y="2522538"/>
          <a:ext cx="49403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87" name="Equation" r:id="rId6" imgW="3060360" imgH="228600" progId="Equation.3">
                  <p:embed/>
                </p:oleObj>
              </mc:Choice>
              <mc:Fallback>
                <p:oleObj name="Equation" r:id="rId6" imgW="306036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2522538"/>
                        <a:ext cx="4940300" cy="3698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590550" y="2914650"/>
            <a:ext cx="77724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Uncorrelated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Two RVs X, Y are uncorrelated if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If two RVs are uncorrelated, what is their covariance?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If two RVs are independent, then they are uncorrelated. (Why?)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>
                <a:solidFill>
                  <a:srgbClr val="FF3300"/>
                </a:solidFill>
              </a:rPr>
              <a:t>But not the other way around!!!</a:t>
            </a:r>
          </a:p>
        </p:txBody>
      </p:sp>
      <p:graphicFrame>
        <p:nvGraphicFramePr>
          <p:cNvPr id="173064" name="Object 8"/>
          <p:cNvGraphicFramePr>
            <a:graphicFrameLocks noChangeAspect="1"/>
          </p:cNvGraphicFramePr>
          <p:nvPr/>
        </p:nvGraphicFramePr>
        <p:xfrm>
          <a:off x="4821238" y="3295650"/>
          <a:ext cx="196691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88" name="Equation" r:id="rId8" imgW="1218960" imgH="215640" progId="Equation.3">
                  <p:embed/>
                </p:oleObj>
              </mc:Choice>
              <mc:Fallback>
                <p:oleObj name="Equation" r:id="rId8" imgW="121896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3295650"/>
                        <a:ext cx="1966912" cy="349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C475F-F77D-40B3-8FB2-92585ECD0C93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SIGNAL: RANDOM PROCESS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8229600" cy="5245100"/>
          </a:xfrm>
        </p:spPr>
        <p:txBody>
          <a:bodyPr/>
          <a:lstStyle/>
          <a:p>
            <a:r>
              <a:rPr lang="en-US"/>
              <a:t>Random process</a:t>
            </a:r>
          </a:p>
          <a:p>
            <a:pPr lvl="1"/>
            <a:r>
              <a:rPr lang="en-US"/>
              <a:t>A random process can be viewed as a RV changes w.r.t. time:</a:t>
            </a:r>
          </a:p>
          <a:p>
            <a:pPr lvl="2"/>
            <a:r>
              <a:rPr lang="en-US"/>
              <a:t>A function of two variables: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/>
              <a:t>A, t</a:t>
            </a:r>
            <a:r>
              <a:rPr lang="en-US"/>
              <a:t>) </a:t>
            </a:r>
          </a:p>
          <a:p>
            <a:pPr lvl="1"/>
            <a:r>
              <a:rPr lang="en-US"/>
              <a:t>Sample function:</a:t>
            </a:r>
          </a:p>
          <a:p>
            <a:pPr lvl="2"/>
            <a:r>
              <a:rPr lang="en-US"/>
              <a:t>Each sample function corresponds to one of the random events.</a:t>
            </a:r>
          </a:p>
          <a:p>
            <a:pPr lvl="2"/>
            <a:r>
              <a:rPr lang="en-US"/>
              <a:t>For a specific event      , we have a single sample function             . </a:t>
            </a:r>
          </a:p>
          <a:p>
            <a:pPr lvl="2"/>
            <a:r>
              <a:rPr lang="en-US"/>
              <a:t>The collection of all sample functions is called </a:t>
            </a:r>
            <a:r>
              <a:rPr lang="en-US">
                <a:solidFill>
                  <a:srgbClr val="FF3300"/>
                </a:solidFill>
              </a:rPr>
              <a:t>ensemble</a:t>
            </a:r>
            <a:r>
              <a:rPr lang="en-US"/>
              <a:t>.</a:t>
            </a:r>
          </a:p>
          <a:p>
            <a:pPr lvl="1"/>
            <a:r>
              <a:rPr lang="en-US"/>
              <a:t>Random variable: </a:t>
            </a:r>
          </a:p>
          <a:p>
            <a:pPr lvl="2"/>
            <a:r>
              <a:rPr lang="en-US"/>
              <a:t>For a specific time      , we have a RV</a:t>
            </a:r>
          </a:p>
          <a:p>
            <a:pPr lvl="2"/>
            <a:r>
              <a:rPr lang="en-US"/>
              <a:t>Random process is a collection of RVs.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2"/>
            <a:endParaRPr lang="en-US"/>
          </a:p>
        </p:txBody>
      </p:sp>
      <p:graphicFrame>
        <p:nvGraphicFramePr>
          <p:cNvPr id="174084" name="Object 4"/>
          <p:cNvGraphicFramePr>
            <a:graphicFrameLocks noChangeAspect="1"/>
          </p:cNvGraphicFramePr>
          <p:nvPr/>
        </p:nvGraphicFramePr>
        <p:xfrm>
          <a:off x="3133725" y="1933575"/>
          <a:ext cx="15033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2" name="Equation" r:id="rId4" imgW="1041120" imgH="228600" progId="Equation.3">
                  <p:embed/>
                </p:oleObj>
              </mc:Choice>
              <mc:Fallback>
                <p:oleObj name="Equation" r:id="rId4" imgW="104112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1933575"/>
                        <a:ext cx="1503363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5" name="Object 5"/>
          <p:cNvGraphicFramePr>
            <a:graphicFrameLocks noChangeAspect="1"/>
          </p:cNvGraphicFramePr>
          <p:nvPr/>
        </p:nvGraphicFramePr>
        <p:xfrm>
          <a:off x="3698875" y="2590800"/>
          <a:ext cx="274638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3" name="Equation" r:id="rId6" imgW="190440" imgH="228600" progId="Equation.3">
                  <p:embed/>
                </p:oleObj>
              </mc:Choice>
              <mc:Fallback>
                <p:oleObj name="Equation" r:id="rId6" imgW="19044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5" y="2590800"/>
                        <a:ext cx="274638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6" name="Object 6"/>
          <p:cNvGraphicFramePr>
            <a:graphicFrameLocks noChangeAspect="1"/>
          </p:cNvGraphicFramePr>
          <p:nvPr/>
        </p:nvGraphicFramePr>
        <p:xfrm>
          <a:off x="7219950" y="2619375"/>
          <a:ext cx="5683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4" name="Equation" r:id="rId8" imgW="393480" imgH="228600" progId="Equation.3">
                  <p:embed/>
                </p:oleObj>
              </mc:Choice>
              <mc:Fallback>
                <p:oleObj name="Equation" r:id="rId8" imgW="39348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2619375"/>
                        <a:ext cx="56832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7" name="Object 7"/>
          <p:cNvGraphicFramePr>
            <a:graphicFrameLocks noChangeAspect="1"/>
          </p:cNvGraphicFramePr>
          <p:nvPr/>
        </p:nvGraphicFramePr>
        <p:xfrm>
          <a:off x="3162300" y="3267075"/>
          <a:ext cx="15033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5" name="Equation" r:id="rId10" imgW="1041120" imgH="228600" progId="Equation.3">
                  <p:embed/>
                </p:oleObj>
              </mc:Choice>
              <mc:Fallback>
                <p:oleObj name="Equation" r:id="rId10" imgW="104112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3267075"/>
                        <a:ext cx="1503363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8" name="Object 8"/>
          <p:cNvGraphicFramePr>
            <a:graphicFrameLocks noChangeAspect="1"/>
          </p:cNvGraphicFramePr>
          <p:nvPr/>
        </p:nvGraphicFramePr>
        <p:xfrm>
          <a:off x="3651250" y="3590925"/>
          <a:ext cx="20161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6" name="Equation" r:id="rId12" imgW="139680" imgH="228600" progId="Equation.3">
                  <p:embed/>
                </p:oleObj>
              </mc:Choice>
              <mc:Fallback>
                <p:oleObj name="Equation" r:id="rId12" imgW="13968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3590925"/>
                        <a:ext cx="201613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9" name="Object 9"/>
          <p:cNvGraphicFramePr>
            <a:graphicFrameLocks noChangeAspect="1"/>
          </p:cNvGraphicFramePr>
          <p:nvPr/>
        </p:nvGraphicFramePr>
        <p:xfrm>
          <a:off x="5391150" y="3552825"/>
          <a:ext cx="5683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7" name="Equation" r:id="rId14" imgW="393480" imgH="228600" progId="Equation.3">
                  <p:embed/>
                </p:oleObj>
              </mc:Choice>
              <mc:Fallback>
                <p:oleObj name="Equation" r:id="rId14" imgW="39348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3552825"/>
                        <a:ext cx="56832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090" name="Picture 10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005513" y="3852863"/>
            <a:ext cx="28797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E116-E3C5-4781-8711-A41B70937336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SIGNAL: RANDOM PROCESS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15925"/>
          </a:xfrm>
        </p:spPr>
        <p:txBody>
          <a:bodyPr/>
          <a:lstStyle/>
          <a:p>
            <a:r>
              <a:rPr lang="en-US"/>
              <a:t>Mean (ensemble average)</a:t>
            </a:r>
          </a:p>
        </p:txBody>
      </p:sp>
      <p:graphicFrame>
        <p:nvGraphicFramePr>
          <p:cNvPr id="175108" name="Object 4"/>
          <p:cNvGraphicFramePr>
            <a:graphicFrameLocks noChangeAspect="1"/>
          </p:cNvGraphicFramePr>
          <p:nvPr/>
        </p:nvGraphicFramePr>
        <p:xfrm>
          <a:off x="2574925" y="1266825"/>
          <a:ext cx="16510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1" name="Equation" r:id="rId4" imgW="1143000" imgH="228600" progId="Equation.3">
                  <p:embed/>
                </p:oleObj>
              </mc:Choice>
              <mc:Fallback>
                <p:oleObj name="Equation" r:id="rId4" imgW="11430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1266825"/>
                        <a:ext cx="1651000" cy="3317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619125" y="1590675"/>
            <a:ext cx="77724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The mean is a function of time!</a:t>
            </a:r>
          </a:p>
        </p:txBody>
      </p:sp>
      <p:sp>
        <p:nvSpPr>
          <p:cNvPr id="175111" name="Rectangle 7"/>
          <p:cNvSpPr>
            <a:spLocks noChangeArrowheads="1"/>
          </p:cNvSpPr>
          <p:nvPr/>
        </p:nvSpPr>
        <p:spPr bwMode="auto">
          <a:xfrm>
            <a:off x="581025" y="1943100"/>
            <a:ext cx="77724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Autocorrelation function</a:t>
            </a:r>
          </a:p>
        </p:txBody>
      </p:sp>
      <p:graphicFrame>
        <p:nvGraphicFramePr>
          <p:cNvPr id="175112" name="Object 8"/>
          <p:cNvGraphicFramePr>
            <a:graphicFrameLocks noChangeAspect="1"/>
          </p:cNvGraphicFramePr>
          <p:nvPr/>
        </p:nvGraphicFramePr>
        <p:xfrm>
          <a:off x="2616200" y="2352675"/>
          <a:ext cx="23114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2" name="Equation" r:id="rId6" imgW="1600200" imgH="215640" progId="Equation.3">
                  <p:embed/>
                </p:oleObj>
              </mc:Choice>
              <mc:Fallback>
                <p:oleObj name="Equation" r:id="rId6" imgW="160020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352675"/>
                        <a:ext cx="2311400" cy="3127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3" name="Rectangle 9"/>
          <p:cNvSpPr>
            <a:spLocks noChangeArrowheads="1"/>
          </p:cNvSpPr>
          <p:nvPr/>
        </p:nvSpPr>
        <p:spPr bwMode="auto">
          <a:xfrm>
            <a:off x="676275" y="2686050"/>
            <a:ext cx="77724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The correlation of two RVs.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Autocorrelation function is a function of two variables </a:t>
            </a:r>
          </a:p>
        </p:txBody>
      </p:sp>
      <p:graphicFrame>
        <p:nvGraphicFramePr>
          <p:cNvPr id="175114" name="Object 10"/>
          <p:cNvGraphicFramePr>
            <a:graphicFrameLocks noChangeAspect="1"/>
          </p:cNvGraphicFramePr>
          <p:nvPr/>
        </p:nvGraphicFramePr>
        <p:xfrm>
          <a:off x="6570663" y="3019425"/>
          <a:ext cx="4032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3" name="Equation" r:id="rId8" imgW="279360" imgH="215640" progId="Equation.3">
                  <p:embed/>
                </p:oleObj>
              </mc:Choice>
              <mc:Fallback>
                <p:oleObj name="Equation" r:id="rId8" imgW="279360" imgH="215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0663" y="3019425"/>
                        <a:ext cx="403225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5" name="Rectangle 11"/>
          <p:cNvSpPr>
            <a:spLocks noChangeArrowheads="1"/>
          </p:cNvSpPr>
          <p:nvPr/>
        </p:nvSpPr>
        <p:spPr bwMode="auto">
          <a:xfrm>
            <a:off x="533400" y="3343275"/>
            <a:ext cx="7772400" cy="271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>
                <a:solidFill>
                  <a:srgbClr val="000099"/>
                </a:solidFill>
              </a:rPr>
              <a:t>Stationary (strict)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/>
              <a:t>A random process is stationary in the strict sense if none of its properties is affected by a shift in </a:t>
            </a:r>
            <a:r>
              <a:rPr lang="en-US" sz="1800" b="0" dirty="0" smtClean="0"/>
              <a:t>time</a:t>
            </a:r>
            <a:r>
              <a:rPr lang="en-US" sz="1800" b="0" dirty="0"/>
              <a:t>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>
                <a:solidFill>
                  <a:srgbClr val="000099"/>
                </a:solidFill>
              </a:rPr>
              <a:t>Wide-sense stationary (WSS)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/>
              <a:t>A random process is WSS if its mean and autocorrelation function do not vary with a shift in the time.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Mean is independent of time: 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 dirty="0"/>
              <a:t>Autocorrelation depends only on time difference: </a:t>
            </a:r>
          </a:p>
        </p:txBody>
      </p:sp>
      <p:graphicFrame>
        <p:nvGraphicFramePr>
          <p:cNvPr id="175116" name="Object 12"/>
          <p:cNvGraphicFramePr>
            <a:graphicFrameLocks noChangeAspect="1"/>
          </p:cNvGraphicFramePr>
          <p:nvPr/>
        </p:nvGraphicFramePr>
        <p:xfrm>
          <a:off x="6575425" y="5257800"/>
          <a:ext cx="11557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4" name="Equation" r:id="rId10" imgW="799920" imgH="228600" progId="Equation.3">
                  <p:embed/>
                </p:oleObj>
              </mc:Choice>
              <mc:Fallback>
                <p:oleObj name="Equation" r:id="rId10" imgW="799920" imgH="2286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5" y="5257800"/>
                        <a:ext cx="1155700" cy="3317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7" name="Object 13"/>
          <p:cNvGraphicFramePr>
            <a:graphicFrameLocks noChangeAspect="1"/>
          </p:cNvGraphicFramePr>
          <p:nvPr/>
        </p:nvGraphicFramePr>
        <p:xfrm>
          <a:off x="6562725" y="5656263"/>
          <a:ext cx="196373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5" name="Equation" r:id="rId12" imgW="1358640" imgH="215640" progId="Equation.3">
                  <p:embed/>
                </p:oleObj>
              </mc:Choice>
              <mc:Fallback>
                <p:oleObj name="Equation" r:id="rId12" imgW="1358640" imgH="2156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25" y="5656263"/>
                        <a:ext cx="1963738" cy="3143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8" name="Object 14"/>
          <p:cNvGraphicFramePr>
            <a:graphicFrameLocks noChangeAspect="1"/>
          </p:cNvGraphicFramePr>
          <p:nvPr/>
        </p:nvGraphicFramePr>
        <p:xfrm>
          <a:off x="7445375" y="5999163"/>
          <a:ext cx="76993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6" name="Equation" r:id="rId14" imgW="533160" imgH="215640" progId="Equation.3">
                  <p:embed/>
                </p:oleObj>
              </mc:Choice>
              <mc:Fallback>
                <p:oleObj name="Equation" r:id="rId14" imgW="533160" imgH="2156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75" y="5999163"/>
                        <a:ext cx="769938" cy="3143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BBAF-4C0A-4E1D-A510-4560F91A88DE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SIGNAL: RANDOM PROCESS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  <a:p>
            <a:pPr lvl="1">
              <a:buFontTx/>
              <a:buNone/>
            </a:pPr>
            <a:r>
              <a:rPr lang="en-US" dirty="0"/>
              <a:t>	Consider a </a:t>
            </a:r>
            <a:r>
              <a:rPr lang="en-US" dirty="0" smtClean="0"/>
              <a:t>stationary sequence </a:t>
            </a:r>
            <a:r>
              <a:rPr lang="en-US" dirty="0"/>
              <a:t>of independent binary bits. Each bit has equal probability of being or -1 or 1. The bit period is T. </a:t>
            </a:r>
          </a:p>
          <a:p>
            <a:pPr lvl="1"/>
            <a:r>
              <a:rPr lang="en-US" dirty="0"/>
              <a:t>Find the mean of the random process.</a:t>
            </a:r>
          </a:p>
          <a:p>
            <a:pPr lvl="1"/>
            <a:r>
              <a:rPr lang="en-US" dirty="0"/>
              <a:t>Find the average power of the random process.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2A70-E88F-4F62-A501-4B5ACDC7AA7F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RANDOM SIGNAL: POWER SPECTRAL DENSITY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3225800"/>
          </a:xfrm>
        </p:spPr>
        <p:txBody>
          <a:bodyPr/>
          <a:lstStyle/>
          <a:p>
            <a:r>
              <a:rPr lang="en-US"/>
              <a:t>Power spectral density (PSD)</a:t>
            </a:r>
          </a:p>
          <a:p>
            <a:pPr lvl="1"/>
            <a:r>
              <a:rPr lang="en-US"/>
              <a:t>The distribution of the signal’s power in the frequency domain.</a:t>
            </a:r>
          </a:p>
          <a:p>
            <a:pPr lvl="2"/>
            <a:r>
              <a:rPr lang="en-US"/>
              <a:t>The “density” of power in the frequency domain (unit: watt/Hz).</a:t>
            </a:r>
          </a:p>
          <a:p>
            <a:pPr lvl="1"/>
            <a:r>
              <a:rPr lang="en-US"/>
              <a:t>It allows the evaluation of signal power in a certain frequency range.</a:t>
            </a:r>
          </a:p>
          <a:p>
            <a:pPr lvl="2"/>
            <a:r>
              <a:rPr lang="en-US"/>
              <a:t>The power in frequency range</a:t>
            </a:r>
          </a:p>
          <a:p>
            <a:pPr lvl="2"/>
            <a:r>
              <a:rPr lang="en-US"/>
              <a:t>The power in frequency range </a:t>
            </a:r>
          </a:p>
          <a:p>
            <a:pPr lvl="1"/>
            <a:r>
              <a:rPr lang="en-US"/>
              <a:t>PSD of a WSS random process is the Fourier transform of its autocorrelation function</a:t>
            </a:r>
          </a:p>
        </p:txBody>
      </p:sp>
      <p:graphicFrame>
        <p:nvGraphicFramePr>
          <p:cNvPr id="176132" name="Object 4"/>
          <p:cNvGraphicFramePr>
            <a:graphicFrameLocks noChangeAspect="1"/>
          </p:cNvGraphicFramePr>
          <p:nvPr/>
        </p:nvGraphicFramePr>
        <p:xfrm>
          <a:off x="3463925" y="3646488"/>
          <a:ext cx="17049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57" name="Equation" r:id="rId4" imgW="1180800" imgH="215640" progId="Equation.3">
                  <p:embed/>
                </p:oleObj>
              </mc:Choice>
              <mc:Fallback>
                <p:oleObj name="Equation" r:id="rId4" imgW="118080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3646488"/>
                        <a:ext cx="1704975" cy="3143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4" name="Object 6"/>
          <p:cNvGraphicFramePr>
            <a:graphicFrameLocks noChangeAspect="1"/>
          </p:cNvGraphicFramePr>
          <p:nvPr/>
        </p:nvGraphicFramePr>
        <p:xfrm>
          <a:off x="4670425" y="2274888"/>
          <a:ext cx="110013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58" name="Equation" r:id="rId6" imgW="761760" imgH="203040" progId="Equation.3">
                  <p:embed/>
                </p:oleObj>
              </mc:Choice>
              <mc:Fallback>
                <p:oleObj name="Equation" r:id="rId6" imgW="76176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425" y="2274888"/>
                        <a:ext cx="1100138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5" name="Object 7"/>
          <p:cNvGraphicFramePr>
            <a:graphicFrameLocks noChangeAspect="1"/>
          </p:cNvGraphicFramePr>
          <p:nvPr/>
        </p:nvGraphicFramePr>
        <p:xfrm>
          <a:off x="4700588" y="2570163"/>
          <a:ext cx="733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59" name="Equation" r:id="rId8" imgW="507960" imgH="215640" progId="Equation.3">
                  <p:embed/>
                </p:oleObj>
              </mc:Choice>
              <mc:Fallback>
                <p:oleObj name="Equation" r:id="rId8" imgW="50796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2570163"/>
                        <a:ext cx="733425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D7D3D-4B36-4D76-ADA5-44AE949515DB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SIGNAL: NOISE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</a:t>
            </a:r>
          </a:p>
          <a:p>
            <a:pPr lvl="1"/>
            <a:r>
              <a:rPr lang="en-US" dirty="0"/>
              <a:t>Unwanted electrical signals that are always present in electrical system.</a:t>
            </a:r>
          </a:p>
          <a:p>
            <a:pPr lvl="2"/>
            <a:r>
              <a:rPr lang="en-US" dirty="0"/>
              <a:t>Man-made noise: spark-plug ignition noise, switching transients, other radiating electromagnetic signal.</a:t>
            </a:r>
          </a:p>
          <a:p>
            <a:pPr lvl="2"/>
            <a:r>
              <a:rPr lang="en-US" dirty="0"/>
              <a:t>Natural noise: thermal noise, elements of atmosphere, etc.</a:t>
            </a:r>
          </a:p>
          <a:p>
            <a:r>
              <a:rPr lang="en-US" dirty="0"/>
              <a:t>Thermal noise:</a:t>
            </a:r>
          </a:p>
          <a:p>
            <a:pPr lvl="1"/>
            <a:r>
              <a:rPr lang="en-US" dirty="0"/>
              <a:t>Caused by thermal motion of electrons in all electronic components: resistors, diodes, transistors, wires, …</a:t>
            </a:r>
          </a:p>
          <a:p>
            <a:pPr lvl="1"/>
            <a:r>
              <a:rPr lang="en-US" dirty="0"/>
              <a:t>Become worse with the increase of temperature.</a:t>
            </a:r>
          </a:p>
          <a:p>
            <a:pPr lvl="1"/>
            <a:r>
              <a:rPr lang="en-US" dirty="0"/>
              <a:t>Thermal noise is a </a:t>
            </a:r>
            <a:r>
              <a:rPr lang="en-US" dirty="0" smtClean="0"/>
              <a:t>random </a:t>
            </a:r>
            <a:r>
              <a:rPr lang="en-US" dirty="0"/>
              <a:t>process X(A, 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8112-41B5-493B-918C-46F1703B38F0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SIGNAL: NOISE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130300"/>
          </a:xfrm>
        </p:spPr>
        <p:txBody>
          <a:bodyPr/>
          <a:lstStyle/>
          <a:p>
            <a:r>
              <a:rPr lang="en-US"/>
              <a:t>Statistical properties of thermal noise</a:t>
            </a:r>
          </a:p>
          <a:p>
            <a:pPr lvl="1"/>
            <a:r>
              <a:rPr lang="en-US"/>
              <a:t>At a specific time     ,                  is zero-mean Gaussian distributed</a:t>
            </a:r>
          </a:p>
          <a:p>
            <a:pPr lvl="2"/>
            <a:r>
              <a:rPr lang="en-US">
                <a:solidFill>
                  <a:srgbClr val="FF3300"/>
                </a:solidFill>
              </a:rPr>
              <a:t>Gaussian noise</a:t>
            </a:r>
            <a:r>
              <a:rPr lang="en-US"/>
              <a:t>   </a:t>
            </a:r>
          </a:p>
        </p:txBody>
      </p:sp>
      <p:graphicFrame>
        <p:nvGraphicFramePr>
          <p:cNvPr id="191492" name="Object 4"/>
          <p:cNvGraphicFramePr>
            <a:graphicFrameLocks noChangeAspect="1"/>
          </p:cNvGraphicFramePr>
          <p:nvPr/>
        </p:nvGraphicFramePr>
        <p:xfrm>
          <a:off x="3511550" y="1287463"/>
          <a:ext cx="787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38" name="Equation" r:id="rId3" imgW="545760" imgH="228600" progId="Equation.3">
                  <p:embed/>
                </p:oleObj>
              </mc:Choice>
              <mc:Fallback>
                <p:oleObj name="Equation" r:id="rId3" imgW="54576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1287463"/>
                        <a:ext cx="7874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3" name="Object 5"/>
          <p:cNvGraphicFramePr>
            <a:graphicFrameLocks noChangeAspect="1"/>
          </p:cNvGraphicFramePr>
          <p:nvPr/>
        </p:nvGraphicFramePr>
        <p:xfrm>
          <a:off x="3136900" y="1258888"/>
          <a:ext cx="2016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39" name="Equation" r:id="rId5" imgW="139680" imgH="228600" progId="Equation.3">
                  <p:embed/>
                </p:oleObj>
              </mc:Choice>
              <mc:Fallback>
                <p:oleObj name="Equation" r:id="rId5" imgW="13968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1258888"/>
                        <a:ext cx="201613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4" name="Object 6"/>
          <p:cNvGraphicFramePr>
            <a:graphicFrameLocks noChangeAspect="1"/>
          </p:cNvGraphicFramePr>
          <p:nvPr/>
        </p:nvGraphicFramePr>
        <p:xfrm>
          <a:off x="2325688" y="2000250"/>
          <a:ext cx="26257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40" name="Equation" r:id="rId7" imgW="1942920" imgH="533160" progId="Equation.3">
                  <p:embed/>
                </p:oleObj>
              </mc:Choice>
              <mc:Fallback>
                <p:oleObj name="Equation" r:id="rId7" imgW="1942920" imgH="5331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2000250"/>
                        <a:ext cx="2625725" cy="7223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5" name="Rectangle 7"/>
          <p:cNvSpPr>
            <a:spLocks noChangeArrowheads="1"/>
          </p:cNvSpPr>
          <p:nvPr/>
        </p:nvSpPr>
        <p:spPr bwMode="auto">
          <a:xfrm>
            <a:off x="552450" y="2743200"/>
            <a:ext cx="77724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Its power spectral density is the same for all frequencies.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White noise</a:t>
            </a:r>
          </a:p>
        </p:txBody>
      </p:sp>
      <p:graphicFrame>
        <p:nvGraphicFramePr>
          <p:cNvPr id="191496" name="Object 8"/>
          <p:cNvGraphicFramePr>
            <a:graphicFrameLocks noChangeAspect="1"/>
          </p:cNvGraphicFramePr>
          <p:nvPr/>
        </p:nvGraphicFramePr>
        <p:xfrm>
          <a:off x="4430713" y="3757613"/>
          <a:ext cx="7207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41" name="Equation" r:id="rId9" imgW="533160" imgH="215640" progId="Equation.3">
                  <p:embed/>
                </p:oleObj>
              </mc:Choice>
              <mc:Fallback>
                <p:oleObj name="Equation" r:id="rId9" imgW="53316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713" y="3757613"/>
                        <a:ext cx="720725" cy="2921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7" name="Rectangle 9"/>
          <p:cNvSpPr>
            <a:spLocks noChangeArrowheads="1"/>
          </p:cNvSpPr>
          <p:nvPr/>
        </p:nvSpPr>
        <p:spPr bwMode="auto">
          <a:xfrm>
            <a:off x="666750" y="3324225"/>
            <a:ext cx="7772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PSD 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Autocorrelation function: </a:t>
            </a:r>
          </a:p>
        </p:txBody>
      </p:sp>
      <p:sp>
        <p:nvSpPr>
          <p:cNvPr id="191501" name="Rectangle 13"/>
          <p:cNvSpPr>
            <a:spLocks noChangeArrowheads="1"/>
          </p:cNvSpPr>
          <p:nvPr/>
        </p:nvSpPr>
        <p:spPr bwMode="auto">
          <a:xfrm>
            <a:off x="676275" y="5838825"/>
            <a:ext cx="7772400" cy="339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</a:pPr>
            <a:r>
              <a:rPr lang="en-US" sz="1800" b="0"/>
              <a:t>		Additive White Gaussian Noise (AWGN)</a:t>
            </a:r>
          </a:p>
          <a:p>
            <a:pPr marL="742950" lvl="1" indent="-285750">
              <a:spcBef>
                <a:spcPct val="20000"/>
              </a:spcBef>
            </a:pPr>
            <a:endParaRPr lang="en-US" sz="1800" b="0"/>
          </a:p>
        </p:txBody>
      </p:sp>
      <p:graphicFrame>
        <p:nvGraphicFramePr>
          <p:cNvPr id="191502" name="Object 14"/>
          <p:cNvGraphicFramePr>
            <a:graphicFrameLocks noChangeAspect="1"/>
          </p:cNvGraphicFramePr>
          <p:nvPr/>
        </p:nvGraphicFramePr>
        <p:xfrm>
          <a:off x="4441825" y="3154363"/>
          <a:ext cx="109696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42" name="Equation" r:id="rId11" imgW="812520" imgH="393480" progId="Equation.3">
                  <p:embed/>
                </p:oleObj>
              </mc:Choice>
              <mc:Fallback>
                <p:oleObj name="Equation" r:id="rId11" imgW="812520" imgH="393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825" y="3154363"/>
                        <a:ext cx="1096963" cy="5302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03" name="Rectangle 15"/>
          <p:cNvSpPr>
            <a:spLocks noChangeArrowheads="1"/>
          </p:cNvSpPr>
          <p:nvPr/>
        </p:nvSpPr>
        <p:spPr bwMode="auto">
          <a:xfrm>
            <a:off x="685800" y="4105275"/>
            <a:ext cx="7772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600200" lvl="3" indent="-228600">
              <a:spcBef>
                <a:spcPct val="20000"/>
              </a:spcBef>
              <a:buFontTx/>
              <a:buChar char="–"/>
            </a:pPr>
            <a:r>
              <a:rPr lang="en-US" sz="1800" b="0"/>
              <a:t>Any two different noise samples are uncorrelated. </a:t>
            </a:r>
          </a:p>
        </p:txBody>
      </p:sp>
      <p:pic>
        <p:nvPicPr>
          <p:cNvPr id="191504" name="Picture 16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581775" y="1504950"/>
            <a:ext cx="25622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1505" name="Picture 17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381250" y="4505325"/>
            <a:ext cx="4257675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50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45C0-3FB3-4F9F-A191-9F3768F0FE02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folHlink"/>
              </a:solidFill>
            </a:endParaRPr>
          </a:p>
          <a:p>
            <a:r>
              <a:rPr lang="en-US" dirty="0">
                <a:solidFill>
                  <a:schemeClr val="folHlink"/>
                </a:solidFill>
              </a:rPr>
              <a:t>Deterministic signals </a:t>
            </a:r>
          </a:p>
          <a:p>
            <a:pPr lvl="1"/>
            <a:endParaRPr lang="en-US" dirty="0">
              <a:solidFill>
                <a:schemeClr val="folHlink"/>
              </a:solidFill>
            </a:endParaRPr>
          </a:p>
          <a:p>
            <a:pPr lvl="1"/>
            <a:endParaRPr lang="en-US" dirty="0">
              <a:solidFill>
                <a:schemeClr val="folHlink"/>
              </a:solidFill>
            </a:endParaRPr>
          </a:p>
          <a:p>
            <a:r>
              <a:rPr lang="en-US" dirty="0">
                <a:solidFill>
                  <a:schemeClr val="folHlink"/>
                </a:solidFill>
              </a:rPr>
              <a:t>Random Signals </a:t>
            </a:r>
          </a:p>
          <a:p>
            <a:pPr>
              <a:buFontTx/>
              <a:buNone/>
            </a:pPr>
            <a:endParaRPr lang="en-US" dirty="0">
              <a:solidFill>
                <a:schemeClr val="folHlink"/>
              </a:solidFill>
            </a:endParaRPr>
          </a:p>
          <a:p>
            <a:pPr>
              <a:buFontTx/>
              <a:buNone/>
            </a:pPr>
            <a:endParaRPr lang="en-US" dirty="0">
              <a:solidFill>
                <a:schemeClr val="folHlink"/>
              </a:solidFill>
            </a:endParaRPr>
          </a:p>
          <a:p>
            <a:r>
              <a:rPr lang="en-US" dirty="0"/>
              <a:t>Signal transmission through linear system, bandwidth (Ch. 1.6, 1.7)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E930-CA7A-4B31-AAE4-8A4BE851ABD3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TRANSMISSION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2381250"/>
            <a:ext cx="7772400" cy="415925"/>
          </a:xfrm>
        </p:spPr>
        <p:txBody>
          <a:bodyPr/>
          <a:lstStyle/>
          <a:p>
            <a:r>
              <a:rPr lang="en-US"/>
              <a:t>Frequency transfer function (frequency response)</a:t>
            </a:r>
          </a:p>
        </p:txBody>
      </p:sp>
      <p:graphicFrame>
        <p:nvGraphicFramePr>
          <p:cNvPr id="193540" name="Object 4"/>
          <p:cNvGraphicFramePr>
            <a:graphicFrameLocks noChangeAspect="1"/>
          </p:cNvGraphicFramePr>
          <p:nvPr/>
        </p:nvGraphicFramePr>
        <p:xfrm>
          <a:off x="2998788" y="2813050"/>
          <a:ext cx="20240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28" name="Equation" r:id="rId3" imgW="1498320" imgH="419040" progId="Equation.3">
                  <p:embed/>
                </p:oleObj>
              </mc:Choice>
              <mc:Fallback>
                <p:oleObj name="Equation" r:id="rId3" imgW="149832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2813050"/>
                        <a:ext cx="2024062" cy="5651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1" name="Rectangle 5"/>
          <p:cNvSpPr>
            <a:spLocks noChangeArrowheads="1"/>
          </p:cNvSpPr>
          <p:nvPr/>
        </p:nvSpPr>
        <p:spPr bwMode="auto">
          <a:xfrm>
            <a:off x="590550" y="866775"/>
            <a:ext cx="77724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LTI system</a:t>
            </a:r>
          </a:p>
        </p:txBody>
      </p:sp>
      <p:grpSp>
        <p:nvGrpSpPr>
          <p:cNvPr id="193553" name="Group 17"/>
          <p:cNvGrpSpPr>
            <a:grpSpLocks/>
          </p:cNvGrpSpPr>
          <p:nvPr/>
        </p:nvGrpSpPr>
        <p:grpSpPr bwMode="auto">
          <a:xfrm>
            <a:off x="2273300" y="1289050"/>
            <a:ext cx="3692525" cy="1035050"/>
            <a:chOff x="1426" y="926"/>
            <a:chExt cx="2326" cy="652"/>
          </a:xfrm>
        </p:grpSpPr>
        <p:graphicFrame>
          <p:nvGraphicFramePr>
            <p:cNvPr id="193543" name="Object 7"/>
            <p:cNvGraphicFramePr>
              <a:graphicFrameLocks noChangeAspect="1"/>
            </p:cNvGraphicFramePr>
            <p:nvPr/>
          </p:nvGraphicFramePr>
          <p:xfrm>
            <a:off x="1601" y="1203"/>
            <a:ext cx="275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29" name="Equation" r:id="rId5" imgW="279360" imgH="203040" progId="Equation.3">
                    <p:embed/>
                  </p:oleObj>
                </mc:Choice>
                <mc:Fallback>
                  <p:oleObj name="Equation" r:id="rId5" imgW="279360" imgH="2030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1" y="1203"/>
                          <a:ext cx="275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3544" name="Rectangle 8"/>
            <p:cNvSpPr>
              <a:spLocks noChangeArrowheads="1"/>
            </p:cNvSpPr>
            <p:nvPr/>
          </p:nvSpPr>
          <p:spPr bwMode="auto">
            <a:xfrm>
              <a:off x="2173" y="926"/>
              <a:ext cx="832" cy="3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800" b="0">
                  <a:ea typeface="宋体" pitchFamily="2" charset="-122"/>
                </a:rPr>
                <a:t>LTI</a:t>
              </a:r>
            </a:p>
          </p:txBody>
        </p:sp>
        <p:sp>
          <p:nvSpPr>
            <p:cNvPr id="193545" name="Line 9"/>
            <p:cNvSpPr>
              <a:spLocks noChangeShapeType="1"/>
            </p:cNvSpPr>
            <p:nvPr/>
          </p:nvSpPr>
          <p:spPr bwMode="auto">
            <a:xfrm>
              <a:off x="1426" y="1073"/>
              <a:ext cx="7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3546" name="Line 10"/>
            <p:cNvSpPr>
              <a:spLocks noChangeShapeType="1"/>
            </p:cNvSpPr>
            <p:nvPr/>
          </p:nvSpPr>
          <p:spPr bwMode="auto">
            <a:xfrm>
              <a:off x="3005" y="1079"/>
              <a:ext cx="7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93547" name="Object 11"/>
            <p:cNvGraphicFramePr>
              <a:graphicFrameLocks noChangeAspect="1"/>
            </p:cNvGraphicFramePr>
            <p:nvPr/>
          </p:nvGraphicFramePr>
          <p:xfrm>
            <a:off x="3281" y="1203"/>
            <a:ext cx="287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30" name="Equation" r:id="rId7" imgW="291960" imgH="203040" progId="Equation.3">
                    <p:embed/>
                  </p:oleObj>
                </mc:Choice>
                <mc:Fallback>
                  <p:oleObj name="Equation" r:id="rId7" imgW="291960" imgH="2030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1" y="1203"/>
                          <a:ext cx="287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549" name="Object 13"/>
            <p:cNvGraphicFramePr>
              <a:graphicFrameLocks noChangeAspect="1"/>
            </p:cNvGraphicFramePr>
            <p:nvPr/>
          </p:nvGraphicFramePr>
          <p:xfrm>
            <a:off x="2459" y="1227"/>
            <a:ext cx="275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31" name="Equation" r:id="rId9" imgW="279360" imgH="203040" progId="Equation.3">
                    <p:embed/>
                  </p:oleObj>
                </mc:Choice>
                <mc:Fallback>
                  <p:oleObj name="Equation" r:id="rId9" imgW="279360" imgH="2030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9" y="1227"/>
                          <a:ext cx="275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550" name="Object 14"/>
            <p:cNvGraphicFramePr>
              <a:graphicFrameLocks noChangeAspect="1"/>
            </p:cNvGraphicFramePr>
            <p:nvPr/>
          </p:nvGraphicFramePr>
          <p:xfrm>
            <a:off x="1551" y="1371"/>
            <a:ext cx="38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32" name="Equation" r:id="rId11" imgW="393480" imgH="203040" progId="Equation.3">
                    <p:embed/>
                  </p:oleObj>
                </mc:Choice>
                <mc:Fallback>
                  <p:oleObj name="Equation" r:id="rId11" imgW="393480" imgH="20304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1" y="1371"/>
                          <a:ext cx="38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551" name="Object 15"/>
            <p:cNvGraphicFramePr>
              <a:graphicFrameLocks noChangeAspect="1"/>
            </p:cNvGraphicFramePr>
            <p:nvPr/>
          </p:nvGraphicFramePr>
          <p:xfrm>
            <a:off x="3244" y="1377"/>
            <a:ext cx="349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33" name="Equation" r:id="rId13" imgW="355320" imgH="203040" progId="Equation.3">
                    <p:embed/>
                  </p:oleObj>
                </mc:Choice>
                <mc:Fallback>
                  <p:oleObj name="Equation" r:id="rId13" imgW="355320" imgH="20304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4" y="1377"/>
                          <a:ext cx="349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552" name="Object 16"/>
            <p:cNvGraphicFramePr>
              <a:graphicFrameLocks noChangeAspect="1"/>
            </p:cNvGraphicFramePr>
            <p:nvPr/>
          </p:nvGraphicFramePr>
          <p:xfrm>
            <a:off x="2409" y="1401"/>
            <a:ext cx="388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34" name="Equation" r:id="rId15" imgW="393480" imgH="203040" progId="Equation.3">
                    <p:embed/>
                  </p:oleObj>
                </mc:Choice>
                <mc:Fallback>
                  <p:oleObj name="Equation" r:id="rId15" imgW="393480" imgH="20304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9" y="1401"/>
                          <a:ext cx="388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3554" name="Rectangle 18"/>
          <p:cNvSpPr>
            <a:spLocks noChangeArrowheads="1"/>
          </p:cNvSpPr>
          <p:nvPr/>
        </p:nvSpPr>
        <p:spPr bwMode="auto">
          <a:xfrm>
            <a:off x="695325" y="3429000"/>
            <a:ext cx="7772400" cy="114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In general, </a:t>
            </a:r>
            <a:r>
              <a:rPr lang="en-US" sz="1800" b="0" i="1"/>
              <a:t>H</a:t>
            </a:r>
            <a:r>
              <a:rPr lang="en-US" sz="1800" b="0"/>
              <a:t>(</a:t>
            </a:r>
            <a:r>
              <a:rPr lang="en-US" sz="1800" b="0" i="1"/>
              <a:t>f</a:t>
            </a:r>
            <a:r>
              <a:rPr lang="en-US" sz="1800" b="0"/>
              <a:t>) is complex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endParaRPr lang="en-US" sz="1800" b="0"/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endParaRPr lang="en-US" sz="1800" b="0"/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Magnitude response: 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endParaRPr lang="en-US" sz="1800" b="0"/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Phase response: </a:t>
            </a:r>
          </a:p>
        </p:txBody>
      </p:sp>
      <p:graphicFrame>
        <p:nvGraphicFramePr>
          <p:cNvPr id="193555" name="Object 19"/>
          <p:cNvGraphicFramePr>
            <a:graphicFrameLocks noChangeAspect="1"/>
          </p:cNvGraphicFramePr>
          <p:nvPr/>
        </p:nvGraphicFramePr>
        <p:xfrm>
          <a:off x="4119563" y="3827463"/>
          <a:ext cx="1782762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35" name="Equation" r:id="rId17" imgW="1320480" imgH="228600" progId="Equation.3">
                  <p:embed/>
                </p:oleObj>
              </mc:Choice>
              <mc:Fallback>
                <p:oleObj name="Equation" r:id="rId17" imgW="1320480" imgH="2286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9563" y="3827463"/>
                        <a:ext cx="1782762" cy="3079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56" name="Object 20"/>
          <p:cNvGraphicFramePr>
            <a:graphicFrameLocks noChangeAspect="1"/>
          </p:cNvGraphicFramePr>
          <p:nvPr/>
        </p:nvGraphicFramePr>
        <p:xfrm>
          <a:off x="4187825" y="4641850"/>
          <a:ext cx="30178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36" name="Equation" r:id="rId19" imgW="2234880" imgH="279360" progId="Equation.3">
                  <p:embed/>
                </p:oleObj>
              </mc:Choice>
              <mc:Fallback>
                <p:oleObj name="Equation" r:id="rId19" imgW="2234880" imgH="27936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25" y="4641850"/>
                        <a:ext cx="3017838" cy="3762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57" name="Object 21"/>
          <p:cNvGraphicFramePr>
            <a:graphicFrameLocks noChangeAspect="1"/>
          </p:cNvGraphicFramePr>
          <p:nvPr/>
        </p:nvGraphicFramePr>
        <p:xfrm>
          <a:off x="4240213" y="5357813"/>
          <a:ext cx="20748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37" name="Equation" r:id="rId21" imgW="1536480" imgH="419040" progId="Equation.3">
                  <p:embed/>
                </p:oleObj>
              </mc:Choice>
              <mc:Fallback>
                <p:oleObj name="Equation" r:id="rId21" imgW="1536480" imgH="41904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5357813"/>
                        <a:ext cx="2074862" cy="5651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9ADA-60A1-4294-B18D-CF09F0844AB4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TRANSMISSION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06400"/>
          </a:xfrm>
        </p:spPr>
        <p:txBody>
          <a:bodyPr/>
          <a:lstStyle/>
          <a:p>
            <a:r>
              <a:rPr lang="en-US"/>
              <a:t>Random process passes through linear system</a:t>
            </a:r>
          </a:p>
        </p:txBody>
      </p:sp>
      <p:grpSp>
        <p:nvGrpSpPr>
          <p:cNvPr id="195588" name="Group 4"/>
          <p:cNvGrpSpPr>
            <a:grpSpLocks/>
          </p:cNvGrpSpPr>
          <p:nvPr/>
        </p:nvGrpSpPr>
        <p:grpSpPr bwMode="auto">
          <a:xfrm>
            <a:off x="2273300" y="1289050"/>
            <a:ext cx="3692525" cy="1035050"/>
            <a:chOff x="1426" y="926"/>
            <a:chExt cx="2326" cy="652"/>
          </a:xfrm>
        </p:grpSpPr>
        <p:graphicFrame>
          <p:nvGraphicFramePr>
            <p:cNvPr id="195589" name="Object 5"/>
            <p:cNvGraphicFramePr>
              <a:graphicFrameLocks noChangeAspect="1"/>
            </p:cNvGraphicFramePr>
            <p:nvPr/>
          </p:nvGraphicFramePr>
          <p:xfrm>
            <a:off x="1495" y="1203"/>
            <a:ext cx="48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59" name="Equation" r:id="rId3" imgW="495000" imgH="203040" progId="Equation.3">
                    <p:embed/>
                  </p:oleObj>
                </mc:Choice>
                <mc:Fallback>
                  <p:oleObj name="Equation" r:id="rId3" imgW="49500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5" y="1203"/>
                          <a:ext cx="48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590" name="Rectangle 6"/>
            <p:cNvSpPr>
              <a:spLocks noChangeArrowheads="1"/>
            </p:cNvSpPr>
            <p:nvPr/>
          </p:nvSpPr>
          <p:spPr bwMode="auto">
            <a:xfrm>
              <a:off x="2173" y="926"/>
              <a:ext cx="832" cy="3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800" b="0">
                  <a:ea typeface="宋体" pitchFamily="2" charset="-122"/>
                </a:rPr>
                <a:t>LTI</a:t>
              </a:r>
            </a:p>
          </p:txBody>
        </p:sp>
        <p:sp>
          <p:nvSpPr>
            <p:cNvPr id="195591" name="Line 7"/>
            <p:cNvSpPr>
              <a:spLocks noChangeShapeType="1"/>
            </p:cNvSpPr>
            <p:nvPr/>
          </p:nvSpPr>
          <p:spPr bwMode="auto">
            <a:xfrm>
              <a:off x="1426" y="1073"/>
              <a:ext cx="7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5592" name="Line 8"/>
            <p:cNvSpPr>
              <a:spLocks noChangeShapeType="1"/>
            </p:cNvSpPr>
            <p:nvPr/>
          </p:nvSpPr>
          <p:spPr bwMode="auto">
            <a:xfrm>
              <a:off x="3005" y="1079"/>
              <a:ext cx="7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95593" name="Object 9"/>
            <p:cNvGraphicFramePr>
              <a:graphicFrameLocks noChangeAspect="1"/>
            </p:cNvGraphicFramePr>
            <p:nvPr/>
          </p:nvGraphicFramePr>
          <p:xfrm>
            <a:off x="3200" y="1203"/>
            <a:ext cx="449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60" name="Equation" r:id="rId5" imgW="457200" imgH="203040" progId="Equation.3">
                    <p:embed/>
                  </p:oleObj>
                </mc:Choice>
                <mc:Fallback>
                  <p:oleObj name="Equation" r:id="rId5" imgW="457200" imgH="2030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0" y="1203"/>
                          <a:ext cx="449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594" name="Object 10"/>
            <p:cNvGraphicFramePr>
              <a:graphicFrameLocks noChangeAspect="1"/>
            </p:cNvGraphicFramePr>
            <p:nvPr/>
          </p:nvGraphicFramePr>
          <p:xfrm>
            <a:off x="2459" y="1227"/>
            <a:ext cx="275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61" name="Equation" r:id="rId7" imgW="279360" imgH="203040" progId="Equation.3">
                    <p:embed/>
                  </p:oleObj>
                </mc:Choice>
                <mc:Fallback>
                  <p:oleObj name="Equation" r:id="rId7" imgW="279360" imgH="2030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9" y="1227"/>
                          <a:ext cx="275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595" name="Object 11"/>
            <p:cNvGraphicFramePr>
              <a:graphicFrameLocks noChangeAspect="1"/>
            </p:cNvGraphicFramePr>
            <p:nvPr/>
          </p:nvGraphicFramePr>
          <p:xfrm>
            <a:off x="1520" y="1366"/>
            <a:ext cx="450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62" name="Equation" r:id="rId9" imgW="457200" imgH="215640" progId="Equation.3">
                    <p:embed/>
                  </p:oleObj>
                </mc:Choice>
                <mc:Fallback>
                  <p:oleObj name="Equation" r:id="rId9" imgW="457200" imgH="2156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0" y="1366"/>
                          <a:ext cx="450" cy="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596" name="Object 12"/>
            <p:cNvGraphicFramePr>
              <a:graphicFrameLocks noChangeAspect="1"/>
            </p:cNvGraphicFramePr>
            <p:nvPr/>
          </p:nvGraphicFramePr>
          <p:xfrm>
            <a:off x="3201" y="1372"/>
            <a:ext cx="436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63" name="Equation" r:id="rId11" imgW="444240" imgH="215640" progId="Equation.3">
                    <p:embed/>
                  </p:oleObj>
                </mc:Choice>
                <mc:Fallback>
                  <p:oleObj name="Equation" r:id="rId11" imgW="444240" imgH="2156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1" y="1372"/>
                          <a:ext cx="436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597" name="Object 13"/>
            <p:cNvGraphicFramePr>
              <a:graphicFrameLocks noChangeAspect="1"/>
            </p:cNvGraphicFramePr>
            <p:nvPr/>
          </p:nvGraphicFramePr>
          <p:xfrm>
            <a:off x="2409" y="1401"/>
            <a:ext cx="388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64" name="Equation" r:id="rId13" imgW="393480" imgH="203040" progId="Equation.3">
                    <p:embed/>
                  </p:oleObj>
                </mc:Choice>
                <mc:Fallback>
                  <p:oleObj name="Equation" r:id="rId13" imgW="393480" imgH="2030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9" y="1401"/>
                          <a:ext cx="388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5598" name="Rectangle 14"/>
          <p:cNvSpPr>
            <a:spLocks noChangeArrowheads="1"/>
          </p:cNvSpPr>
          <p:nvPr/>
        </p:nvSpPr>
        <p:spPr bwMode="auto">
          <a:xfrm>
            <a:off x="600075" y="2333625"/>
            <a:ext cx="7772400" cy="205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If the input is a random process </a:t>
            </a:r>
            <a:r>
              <a:rPr lang="en-US" sz="1800" b="0" i="1"/>
              <a:t>X</a:t>
            </a:r>
            <a:r>
              <a:rPr lang="en-US" sz="1800" b="0"/>
              <a:t>(</a:t>
            </a:r>
            <a:r>
              <a:rPr lang="en-US" sz="1800" b="0" i="1"/>
              <a:t>A, t</a:t>
            </a:r>
            <a:r>
              <a:rPr lang="en-US" sz="1800" b="0"/>
              <a:t>), then the output is a random process </a:t>
            </a:r>
            <a:r>
              <a:rPr lang="en-US" sz="1800" b="0" i="1"/>
              <a:t>Y</a:t>
            </a:r>
            <a:r>
              <a:rPr lang="en-US" sz="1800" b="0"/>
              <a:t>(</a:t>
            </a:r>
            <a:r>
              <a:rPr lang="en-US" sz="1800" b="0" i="1"/>
              <a:t>A, t</a:t>
            </a:r>
            <a:r>
              <a:rPr lang="en-US" sz="1800" b="0"/>
              <a:t>).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Generally speaking, </a:t>
            </a:r>
            <a:r>
              <a:rPr lang="en-US" sz="1800" b="0" i="1"/>
              <a:t>Y</a:t>
            </a:r>
            <a:r>
              <a:rPr lang="en-US" sz="1800" b="0"/>
              <a:t> and </a:t>
            </a:r>
            <a:r>
              <a:rPr lang="en-US" sz="1800" b="0" i="1"/>
              <a:t>X</a:t>
            </a:r>
            <a:r>
              <a:rPr lang="en-US" sz="1800" b="0"/>
              <a:t> follow different distributions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>
                <a:solidFill>
                  <a:srgbClr val="FF3300"/>
                </a:solidFill>
              </a:rPr>
              <a:t>However, if </a:t>
            </a:r>
            <a:r>
              <a:rPr lang="en-US" sz="1800" b="0" i="1">
                <a:solidFill>
                  <a:srgbClr val="FF3300"/>
                </a:solidFill>
              </a:rPr>
              <a:t>X</a:t>
            </a:r>
            <a:r>
              <a:rPr lang="en-US" sz="1800" b="0">
                <a:solidFill>
                  <a:srgbClr val="FF3300"/>
                </a:solidFill>
              </a:rPr>
              <a:t> is Gaussian distributed, </a:t>
            </a:r>
            <a:r>
              <a:rPr lang="en-US" sz="1800" b="0" i="1">
                <a:solidFill>
                  <a:srgbClr val="FF3300"/>
                </a:solidFill>
              </a:rPr>
              <a:t>Y</a:t>
            </a:r>
            <a:r>
              <a:rPr lang="en-US" sz="1800" b="0">
                <a:solidFill>
                  <a:srgbClr val="FF3300"/>
                </a:solidFill>
              </a:rPr>
              <a:t> is still Gaussian</a:t>
            </a:r>
            <a:r>
              <a:rPr lang="en-US" sz="1800" b="0"/>
              <a:t>!</a:t>
            </a:r>
          </a:p>
          <a:p>
            <a:pPr marL="1600200" lvl="3" indent="-228600">
              <a:spcBef>
                <a:spcPct val="20000"/>
              </a:spcBef>
              <a:buFontTx/>
              <a:buChar char="–"/>
            </a:pPr>
            <a:r>
              <a:rPr lang="en-US" sz="1800" b="0"/>
              <a:t>Linear combination of Gaussian is still Gaussian.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The PSD of </a:t>
            </a:r>
            <a:r>
              <a:rPr lang="en-US" sz="1800" b="0" i="1"/>
              <a:t>X</a:t>
            </a:r>
            <a:r>
              <a:rPr lang="en-US" sz="1800" b="0"/>
              <a:t> and </a:t>
            </a:r>
            <a:r>
              <a:rPr lang="en-US" sz="1800" b="0" i="1"/>
              <a:t>Y</a:t>
            </a:r>
            <a:r>
              <a:rPr lang="en-US" sz="1800" b="0"/>
              <a:t> are related by the following equation</a:t>
            </a:r>
          </a:p>
        </p:txBody>
      </p:sp>
      <p:graphicFrame>
        <p:nvGraphicFramePr>
          <p:cNvPr id="195609" name="Object 25"/>
          <p:cNvGraphicFramePr>
            <a:graphicFrameLocks noChangeAspect="1"/>
          </p:cNvGraphicFramePr>
          <p:nvPr/>
        </p:nvGraphicFramePr>
        <p:xfrm>
          <a:off x="3300413" y="4318000"/>
          <a:ext cx="19558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5" name="Equation" r:id="rId15" imgW="1447560" imgH="279360" progId="Equation.3">
                  <p:embed/>
                </p:oleObj>
              </mc:Choice>
              <mc:Fallback>
                <p:oleObj name="Equation" r:id="rId15" imgW="1447560" imgH="27936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3" y="4318000"/>
                        <a:ext cx="1955800" cy="3762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610" name="Rectangle 26"/>
          <p:cNvSpPr>
            <a:spLocks noChangeArrowheads="1"/>
          </p:cNvSpPr>
          <p:nvPr/>
        </p:nvSpPr>
        <p:spPr bwMode="auto">
          <a:xfrm>
            <a:off x="742950" y="4714875"/>
            <a:ext cx="777240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If the input is white Gaussian random process, then the output is colored Gaussian with PSD determined by </a:t>
            </a:r>
            <a:r>
              <a:rPr lang="en-US" sz="1800" b="0" i="1"/>
              <a:t>H</a:t>
            </a:r>
            <a:r>
              <a:rPr lang="en-US" sz="1800" b="0"/>
              <a:t>(</a:t>
            </a:r>
            <a:r>
              <a:rPr lang="en-US" sz="1800" b="0" i="1"/>
              <a:t>f</a:t>
            </a:r>
            <a:r>
              <a:rPr lang="en-US" sz="1800" b="0"/>
              <a:t>) </a:t>
            </a:r>
            <a:r>
              <a:rPr lang="en-US" sz="1800" b="0">
                <a:sym typeface="Wingdings" pitchFamily="2" charset="2"/>
              </a:rPr>
              <a:t> this can be used to generate colored Gaussian random process.</a:t>
            </a:r>
            <a:endParaRPr lang="en-US" sz="1800" b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603B2-ABC4-43F4-9C85-A43FAAA9C9A6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TRANSMISSION: IDEAL TRANSMISSION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397000"/>
          </a:xfrm>
        </p:spPr>
        <p:txBody>
          <a:bodyPr/>
          <a:lstStyle/>
          <a:p>
            <a:r>
              <a:rPr lang="en-US"/>
              <a:t>Ideal transmission (distortionless transmission)</a:t>
            </a:r>
          </a:p>
          <a:p>
            <a:pPr lvl="1"/>
            <a:r>
              <a:rPr lang="en-US"/>
              <a:t>The output has some delay compared to the input</a:t>
            </a:r>
          </a:p>
          <a:p>
            <a:pPr lvl="1"/>
            <a:r>
              <a:rPr lang="en-US"/>
              <a:t>The output has a different amplitude compared to input</a:t>
            </a:r>
          </a:p>
          <a:p>
            <a:pPr lvl="1"/>
            <a:r>
              <a:rPr lang="en-US"/>
              <a:t>It must have the same shape as the input: no distortion.</a:t>
            </a:r>
          </a:p>
          <a:p>
            <a:pPr lvl="1"/>
            <a:endParaRPr lang="en-US"/>
          </a:p>
        </p:txBody>
      </p:sp>
      <p:graphicFrame>
        <p:nvGraphicFramePr>
          <p:cNvPr id="196612" name="Object 4"/>
          <p:cNvGraphicFramePr>
            <a:graphicFrameLocks noChangeAspect="1"/>
          </p:cNvGraphicFramePr>
          <p:nvPr/>
        </p:nvGraphicFramePr>
        <p:xfrm>
          <a:off x="3314700" y="2322513"/>
          <a:ext cx="1373188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20" name="Equation" r:id="rId3" imgW="1015920" imgH="228600" progId="Equation.3">
                  <p:embed/>
                </p:oleObj>
              </mc:Choice>
              <mc:Fallback>
                <p:oleObj name="Equation" r:id="rId3" imgW="101592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2322513"/>
                        <a:ext cx="1373188" cy="3079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561975" y="2619375"/>
            <a:ext cx="7772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Frequency domain system equation:</a:t>
            </a:r>
          </a:p>
        </p:txBody>
      </p:sp>
      <p:sp>
        <p:nvSpPr>
          <p:cNvPr id="196614" name="Rectangle 6"/>
          <p:cNvSpPr>
            <a:spLocks noChangeArrowheads="1"/>
          </p:cNvSpPr>
          <p:nvPr/>
        </p:nvSpPr>
        <p:spPr bwMode="auto">
          <a:xfrm>
            <a:off x="590550" y="3381375"/>
            <a:ext cx="7772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Transfer function:</a:t>
            </a:r>
          </a:p>
        </p:txBody>
      </p:sp>
      <p:sp>
        <p:nvSpPr>
          <p:cNvPr id="196615" name="Rectangle 7"/>
          <p:cNvSpPr>
            <a:spLocks noChangeArrowheads="1"/>
          </p:cNvSpPr>
          <p:nvPr/>
        </p:nvSpPr>
        <p:spPr bwMode="auto">
          <a:xfrm>
            <a:off x="581025" y="4105275"/>
            <a:ext cx="7772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Amplitude response: </a:t>
            </a:r>
          </a:p>
        </p:txBody>
      </p:sp>
      <p:sp>
        <p:nvSpPr>
          <p:cNvPr id="196616" name="Rectangle 8"/>
          <p:cNvSpPr>
            <a:spLocks noChangeArrowheads="1"/>
          </p:cNvSpPr>
          <p:nvPr/>
        </p:nvSpPr>
        <p:spPr bwMode="auto">
          <a:xfrm>
            <a:off x="590550" y="4867275"/>
            <a:ext cx="77724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Phase response: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F42A1-50D3-4785-9250-7FD51C178C39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TRANSMISSION: IDEAL TRANSMISSION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15925"/>
          </a:xfrm>
        </p:spPr>
        <p:txBody>
          <a:bodyPr/>
          <a:lstStyle/>
          <a:p>
            <a:r>
              <a:rPr lang="en-US"/>
              <a:t>Ideal filters  </a:t>
            </a:r>
          </a:p>
        </p:txBody>
      </p:sp>
      <p:sp>
        <p:nvSpPr>
          <p:cNvPr id="198660" name="Rectangle 4"/>
          <p:cNvSpPr>
            <a:spLocks noChangeArrowheads="1"/>
          </p:cNvSpPr>
          <p:nvPr/>
        </p:nvSpPr>
        <p:spPr bwMode="auto">
          <a:xfrm>
            <a:off x="504825" y="3209925"/>
            <a:ext cx="77724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>
                <a:solidFill>
                  <a:srgbClr val="000099"/>
                </a:solidFill>
              </a:rPr>
              <a:t>Example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Pass a white noise with PSD                     through an ideal low pass filter with bandwidth         . Find the autocorrelation function at the output of the filter.              </a:t>
            </a:r>
          </a:p>
        </p:txBody>
      </p:sp>
      <p:graphicFrame>
        <p:nvGraphicFramePr>
          <p:cNvPr id="198661" name="Object 5"/>
          <p:cNvGraphicFramePr>
            <a:graphicFrameLocks noChangeAspect="1"/>
          </p:cNvGraphicFramePr>
          <p:nvPr/>
        </p:nvGraphicFramePr>
        <p:xfrm>
          <a:off x="3995738" y="3476625"/>
          <a:ext cx="10969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77" name="Equation" r:id="rId4" imgW="812520" imgH="393480" progId="Equation.3">
                  <p:embed/>
                </p:oleObj>
              </mc:Choice>
              <mc:Fallback>
                <p:oleObj name="Equation" r:id="rId4" imgW="81252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476625"/>
                        <a:ext cx="1096962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2" name="Object 6"/>
          <p:cNvGraphicFramePr>
            <a:graphicFrameLocks noChangeAspect="1"/>
          </p:cNvGraphicFramePr>
          <p:nvPr/>
        </p:nvGraphicFramePr>
        <p:xfrm>
          <a:off x="2871788" y="3892550"/>
          <a:ext cx="239712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78" name="Equation" r:id="rId6" imgW="177480" imgH="228600" progId="Equation.3">
                  <p:embed/>
                </p:oleObj>
              </mc:Choice>
              <mc:Fallback>
                <p:oleObj name="Equation" r:id="rId6" imgW="17748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1788" y="3892550"/>
                        <a:ext cx="239712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8663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8625" y="1438275"/>
            <a:ext cx="2455863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8664" name="Text Box 8"/>
          <p:cNvSpPr txBox="1">
            <a:spLocks noChangeArrowheads="1"/>
          </p:cNvSpPr>
          <p:nvPr/>
        </p:nvSpPr>
        <p:spPr bwMode="auto">
          <a:xfrm>
            <a:off x="1041400" y="2724150"/>
            <a:ext cx="1022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bandpass</a:t>
            </a:r>
          </a:p>
        </p:txBody>
      </p:sp>
      <p:pic>
        <p:nvPicPr>
          <p:cNvPr id="198665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319463" y="1300163"/>
            <a:ext cx="1309687" cy="139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8666" name="Text Box 10"/>
          <p:cNvSpPr txBox="1">
            <a:spLocks noChangeArrowheads="1"/>
          </p:cNvSpPr>
          <p:nvPr/>
        </p:nvSpPr>
        <p:spPr bwMode="auto">
          <a:xfrm>
            <a:off x="3479800" y="2733675"/>
            <a:ext cx="920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lowpass</a:t>
            </a:r>
          </a:p>
        </p:txBody>
      </p:sp>
      <p:pic>
        <p:nvPicPr>
          <p:cNvPr id="198667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129213" y="1447800"/>
            <a:ext cx="3057525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8668" name="Text Box 12"/>
          <p:cNvSpPr txBox="1">
            <a:spLocks noChangeArrowheads="1"/>
          </p:cNvSpPr>
          <p:nvPr/>
        </p:nvSpPr>
        <p:spPr bwMode="auto">
          <a:xfrm>
            <a:off x="6203950" y="2695575"/>
            <a:ext cx="984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highpass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9D1CB-9A1F-4225-95E9-518C2E2464D0}" type="slidenum">
              <a:rPr lang="zh-CN" altLang="en-US"/>
              <a:pPr/>
              <a:t>40</a:t>
            </a:fld>
            <a:endParaRPr lang="en-US" altLang="zh-CN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TRANSMISSION: RELIAZABLE TRANSMISSION 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72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Example:</a:t>
            </a:r>
          </a:p>
          <a:p>
            <a:pPr lvl="1">
              <a:lnSpc>
                <a:spcPct val="90000"/>
              </a:lnSpc>
            </a:pPr>
            <a:r>
              <a:rPr lang="en-US"/>
              <a:t>RC filter</a:t>
            </a:r>
          </a:p>
        </p:txBody>
      </p:sp>
      <p:graphicFrame>
        <p:nvGraphicFramePr>
          <p:cNvPr id="199684" name="Object 4"/>
          <p:cNvGraphicFramePr>
            <a:graphicFrameLocks noChangeAspect="1"/>
          </p:cNvGraphicFramePr>
          <p:nvPr/>
        </p:nvGraphicFramePr>
        <p:xfrm>
          <a:off x="3313113" y="1420813"/>
          <a:ext cx="16621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01" name="Equation" r:id="rId3" imgW="1231560" imgH="419040" progId="Equation.3">
                  <p:embed/>
                </p:oleObj>
              </mc:Choice>
              <mc:Fallback>
                <p:oleObj name="Equation" r:id="rId3" imgW="123156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1420813"/>
                        <a:ext cx="1662112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5" name="Rectangle 5"/>
          <p:cNvSpPr>
            <a:spLocks noChangeArrowheads="1"/>
          </p:cNvSpPr>
          <p:nvPr/>
        </p:nvSpPr>
        <p:spPr bwMode="auto">
          <a:xfrm>
            <a:off x="476250" y="3467100"/>
            <a:ext cx="777240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Butterworth filter </a:t>
            </a:r>
          </a:p>
        </p:txBody>
      </p:sp>
      <p:graphicFrame>
        <p:nvGraphicFramePr>
          <p:cNvPr id="199686" name="Object 6"/>
          <p:cNvGraphicFramePr>
            <a:graphicFrameLocks noChangeAspect="1"/>
          </p:cNvGraphicFramePr>
          <p:nvPr/>
        </p:nvGraphicFramePr>
        <p:xfrm>
          <a:off x="3079750" y="3692525"/>
          <a:ext cx="241617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02" name="Equation" r:id="rId5" imgW="1790640" imgH="469800" progId="Equation.3">
                  <p:embed/>
                </p:oleObj>
              </mc:Choice>
              <mc:Fallback>
                <p:oleObj name="Equation" r:id="rId5" imgW="1790640" imgH="4698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3692525"/>
                        <a:ext cx="2416175" cy="636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968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3425" y="2124075"/>
            <a:ext cx="4319588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9688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486400" y="2000250"/>
            <a:ext cx="254635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9689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933700" y="4500563"/>
            <a:ext cx="3265488" cy="158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C7F5B-8961-4005-9CA6-CEF1630B5819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TRANSMISSION: BANDWIDTH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9779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Baseband v.s. Bandpass</a:t>
            </a:r>
          </a:p>
          <a:p>
            <a:pPr lvl="1">
              <a:lnSpc>
                <a:spcPct val="90000"/>
              </a:lnSpc>
            </a:pPr>
            <a:r>
              <a:rPr lang="en-US"/>
              <a:t>A baseband signal can be shifted to a higher frequency by multiplying it with a carrier wave </a:t>
            </a:r>
          </a:p>
        </p:txBody>
      </p:sp>
      <p:graphicFrame>
        <p:nvGraphicFramePr>
          <p:cNvPr id="200708" name="Object 4"/>
          <p:cNvGraphicFramePr>
            <a:graphicFrameLocks noChangeAspect="1"/>
          </p:cNvGraphicFramePr>
          <p:nvPr/>
        </p:nvGraphicFramePr>
        <p:xfrm>
          <a:off x="3340100" y="1512888"/>
          <a:ext cx="77152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33" name="Equation" r:id="rId3" imgW="571320" imgH="228600" progId="Equation.3">
                  <p:embed/>
                </p:oleObj>
              </mc:Choice>
              <mc:Fallback>
                <p:oleObj name="Equation" r:id="rId3" imgW="57132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1512888"/>
                        <a:ext cx="771525" cy="309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09" name="Object 5"/>
          <p:cNvGraphicFramePr>
            <a:graphicFrameLocks noChangeAspect="1"/>
          </p:cNvGraphicFramePr>
          <p:nvPr/>
        </p:nvGraphicFramePr>
        <p:xfrm>
          <a:off x="3068638" y="1893888"/>
          <a:ext cx="1697037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34" name="Equation" r:id="rId5" imgW="1257120" imgH="228600" progId="Equation.3">
                  <p:embed/>
                </p:oleObj>
              </mc:Choice>
              <mc:Fallback>
                <p:oleObj name="Equation" r:id="rId5" imgW="125712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38" y="1893888"/>
                        <a:ext cx="1697037" cy="3095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0" name="Rectangle 6"/>
          <p:cNvSpPr>
            <a:spLocks noChangeArrowheads="1"/>
          </p:cNvSpPr>
          <p:nvPr/>
        </p:nvSpPr>
        <p:spPr bwMode="auto">
          <a:xfrm>
            <a:off x="723900" y="2209800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sz="1800" b="0"/>
              <a:t>In the frequency domain </a:t>
            </a:r>
          </a:p>
        </p:txBody>
      </p:sp>
      <p:graphicFrame>
        <p:nvGraphicFramePr>
          <p:cNvPr id="200711" name="Object 7"/>
          <p:cNvGraphicFramePr>
            <a:graphicFrameLocks noChangeAspect="1"/>
          </p:cNvGraphicFramePr>
          <p:nvPr/>
        </p:nvGraphicFramePr>
        <p:xfrm>
          <a:off x="2851150" y="2601913"/>
          <a:ext cx="291306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35" name="Equation" r:id="rId7" imgW="2158920" imgH="393480" progId="Equation.3">
                  <p:embed/>
                </p:oleObj>
              </mc:Choice>
              <mc:Fallback>
                <p:oleObj name="Equation" r:id="rId7" imgW="215892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2601913"/>
                        <a:ext cx="2913063" cy="5318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2" name="Rectangle 8"/>
          <p:cNvSpPr>
            <a:spLocks noChangeArrowheads="1"/>
          </p:cNvSpPr>
          <p:nvPr/>
        </p:nvSpPr>
        <p:spPr bwMode="auto">
          <a:xfrm>
            <a:off x="238125" y="5133975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1800" b="0"/>
              <a:t>DSB: Double side band, USB: upper side band, LSB: lower side band </a:t>
            </a:r>
          </a:p>
        </p:txBody>
      </p:sp>
      <p:sp>
        <p:nvSpPr>
          <p:cNvPr id="200713" name="Rectangle 9"/>
          <p:cNvSpPr>
            <a:spLocks noChangeArrowheads="1"/>
          </p:cNvSpPr>
          <p:nvPr/>
        </p:nvSpPr>
        <p:spPr bwMode="auto">
          <a:xfrm>
            <a:off x="257175" y="5686425"/>
            <a:ext cx="7772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1800" b="0"/>
              <a:t>Bandpass bandwidth is twice of baseband bandwidth. </a:t>
            </a:r>
          </a:p>
        </p:txBody>
      </p:sp>
      <p:pic>
        <p:nvPicPr>
          <p:cNvPr id="200714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3524250"/>
            <a:ext cx="27940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0715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209925" y="3305175"/>
            <a:ext cx="1687513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0716" name="Picture 1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186363" y="3324225"/>
            <a:ext cx="3705225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2" grpId="0"/>
      <p:bldP spid="2007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7275C-DA1D-45E4-9821-BCA8E695A0E6}" type="slidenum">
              <a:rPr lang="zh-CN" altLang="en-US"/>
              <a:pPr/>
              <a:t>42</a:t>
            </a:fld>
            <a:endParaRPr lang="en-US" altLang="zh-CN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TRANSMISSION: BANDWIDTH DILEMMA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730250"/>
          </a:xfrm>
        </p:spPr>
        <p:txBody>
          <a:bodyPr/>
          <a:lstStyle/>
          <a:p>
            <a:r>
              <a:rPr lang="en-US"/>
              <a:t>Dilemma</a:t>
            </a:r>
          </a:p>
          <a:p>
            <a:pPr lvl="1"/>
            <a:r>
              <a:rPr lang="en-US"/>
              <a:t>Strictly band limited signal imply infinite duration </a:t>
            </a:r>
          </a:p>
        </p:txBody>
      </p:sp>
      <p:sp>
        <p:nvSpPr>
          <p:cNvPr id="201732" name="Rectangle 4"/>
          <p:cNvSpPr>
            <a:spLocks noChangeArrowheads="1"/>
          </p:cNvSpPr>
          <p:nvPr/>
        </p:nvSpPr>
        <p:spPr bwMode="auto">
          <a:xfrm>
            <a:off x="542925" y="2781300"/>
            <a:ext cx="7772400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Duration limited signal has infinite bandwidth </a:t>
            </a:r>
          </a:p>
        </p:txBody>
      </p:sp>
      <p:sp>
        <p:nvSpPr>
          <p:cNvPr id="201733" name="Rectangle 5"/>
          <p:cNvSpPr>
            <a:spLocks noChangeArrowheads="1"/>
          </p:cNvSpPr>
          <p:nvPr/>
        </p:nvSpPr>
        <p:spPr bwMode="auto">
          <a:xfrm>
            <a:off x="542925" y="4905375"/>
            <a:ext cx="7772400" cy="9969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</a:pPr>
            <a:r>
              <a:rPr lang="en-US" sz="1800" b="0"/>
              <a:t>	A signal cannot be limited in both time domain and frequency domain.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	duration limited signal is realizable </a:t>
            </a:r>
            <a:r>
              <a:rPr lang="en-US" sz="1800" b="0">
                <a:sym typeface="Wingdings" pitchFamily="2" charset="2"/>
              </a:rPr>
              <a:t>realizable signal is unlimited in frequency domain.</a:t>
            </a:r>
            <a:endParaRPr lang="en-US" sz="1800" b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1800" b="0"/>
          </a:p>
        </p:txBody>
      </p:sp>
      <p:pic>
        <p:nvPicPr>
          <p:cNvPr id="20173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4075" y="1557338"/>
            <a:ext cx="3429000" cy="126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173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85950" y="3305175"/>
            <a:ext cx="3924300" cy="139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47A3-37E8-484F-9A34-572D49B9A1C0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TRANSMISSION: BANDWIDTH DEFINITION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248025"/>
            <a:ext cx="7772400" cy="1939925"/>
          </a:xfrm>
        </p:spPr>
        <p:txBody>
          <a:bodyPr/>
          <a:lstStyle/>
          <a:p>
            <a:pPr lvl="1"/>
            <a:r>
              <a:rPr lang="en-US"/>
              <a:t>(a) Half-power bandwidth:</a:t>
            </a:r>
          </a:p>
          <a:p>
            <a:pPr lvl="2"/>
            <a:r>
              <a:rPr lang="en-US"/>
              <a:t>The interval between which that             has dropped to half (3 dB) of its peak value. </a:t>
            </a:r>
          </a:p>
          <a:p>
            <a:pPr lvl="1"/>
            <a:r>
              <a:rPr lang="en-US"/>
              <a:t>(b) Equivalent rectangular bandwidth</a:t>
            </a:r>
          </a:p>
          <a:p>
            <a:pPr lvl="2"/>
            <a:r>
              <a:rPr lang="en-US"/>
              <a:t>The bandwidth of an equivalent rectangular filter with magnitude the same as the peak of            and has the same total power of   </a:t>
            </a:r>
          </a:p>
        </p:txBody>
      </p:sp>
      <p:graphicFrame>
        <p:nvGraphicFramePr>
          <p:cNvPr id="202756" name="Object 4"/>
          <p:cNvGraphicFramePr>
            <a:graphicFrameLocks noChangeAspect="1"/>
          </p:cNvGraphicFramePr>
          <p:nvPr/>
        </p:nvGraphicFramePr>
        <p:xfrm>
          <a:off x="4924425" y="3652838"/>
          <a:ext cx="496888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96" name="Equation" r:id="rId3" imgW="368280" imgH="203040" progId="Equation.3">
                  <p:embed/>
                </p:oleObj>
              </mc:Choice>
              <mc:Fallback>
                <p:oleObj name="Equation" r:id="rId3" imgW="3682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3652838"/>
                        <a:ext cx="496888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7" name="Object 5"/>
          <p:cNvGraphicFramePr>
            <a:graphicFrameLocks noChangeAspect="1"/>
          </p:cNvGraphicFramePr>
          <p:nvPr/>
        </p:nvGraphicFramePr>
        <p:xfrm>
          <a:off x="3378200" y="3911600"/>
          <a:ext cx="17811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97" name="Equation" r:id="rId5" imgW="1320480" imgH="228600" progId="Equation.3">
                  <p:embed/>
                </p:oleObj>
              </mc:Choice>
              <mc:Fallback>
                <p:oleObj name="Equation" r:id="rId5" imgW="132048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3911600"/>
                        <a:ext cx="1781175" cy="3111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8" name="Object 6"/>
          <p:cNvGraphicFramePr>
            <a:graphicFrameLocks noChangeAspect="1"/>
          </p:cNvGraphicFramePr>
          <p:nvPr/>
        </p:nvGraphicFramePr>
        <p:xfrm>
          <a:off x="3781425" y="4843463"/>
          <a:ext cx="496888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98" name="Equation" r:id="rId7" imgW="368280" imgH="203040" progId="Equation.3">
                  <p:embed/>
                </p:oleObj>
              </mc:Choice>
              <mc:Fallback>
                <p:oleObj name="Equation" r:id="rId7" imgW="36828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425" y="4843463"/>
                        <a:ext cx="496888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9" name="Object 7"/>
          <p:cNvGraphicFramePr>
            <a:graphicFrameLocks noChangeAspect="1"/>
          </p:cNvGraphicFramePr>
          <p:nvPr/>
        </p:nvGraphicFramePr>
        <p:xfrm>
          <a:off x="7343775" y="4862513"/>
          <a:ext cx="496888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99" name="Equation" r:id="rId8" imgW="368280" imgH="203040" progId="Equation.3">
                  <p:embed/>
                </p:oleObj>
              </mc:Choice>
              <mc:Fallback>
                <p:oleObj name="Equation" r:id="rId8" imgW="36828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3775" y="4862513"/>
                        <a:ext cx="496888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0" name="Object 8"/>
          <p:cNvGraphicFramePr>
            <a:graphicFrameLocks noChangeAspect="1"/>
          </p:cNvGraphicFramePr>
          <p:nvPr/>
        </p:nvGraphicFramePr>
        <p:xfrm>
          <a:off x="3668713" y="5197475"/>
          <a:ext cx="11985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00" name="Equation" r:id="rId9" imgW="888840" imgH="228600" progId="Equation.3">
                  <p:embed/>
                </p:oleObj>
              </mc:Choice>
              <mc:Fallback>
                <p:oleObj name="Equation" r:id="rId9" imgW="88884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5197475"/>
                        <a:ext cx="1198562" cy="3111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62" name="Rectangle 10"/>
          <p:cNvSpPr>
            <a:spLocks noChangeArrowheads="1"/>
          </p:cNvSpPr>
          <p:nvPr/>
        </p:nvSpPr>
        <p:spPr bwMode="auto">
          <a:xfrm>
            <a:off x="714375" y="5495925"/>
            <a:ext cx="7772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/>
              <a:t>(c) Null-to-null bandwidth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1800" b="0"/>
              <a:t>The width of the main spectral lobe.</a:t>
            </a:r>
          </a:p>
        </p:txBody>
      </p:sp>
      <p:pic>
        <p:nvPicPr>
          <p:cNvPr id="202763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419350" y="933450"/>
            <a:ext cx="37433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6629400" y="1628775"/>
            <a:ext cx="766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PSD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FDE3B-5281-4A77-8ED1-06FD126B929B}" type="slidenum">
              <a:rPr lang="zh-CN" altLang="en-US"/>
              <a:pPr/>
              <a:t>44</a:t>
            </a:fld>
            <a:endParaRPr lang="en-US" altLang="zh-CN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TRANSMISSION: BANDWIDTH DEFINITION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362325"/>
            <a:ext cx="7772400" cy="2759075"/>
          </a:xfrm>
        </p:spPr>
        <p:txBody>
          <a:bodyPr/>
          <a:lstStyle/>
          <a:p>
            <a:pPr lvl="1"/>
            <a:r>
              <a:rPr lang="en-US" sz="1600" dirty="0"/>
              <a:t>(d) Fractional power containment bandwidth (FCC definition)</a:t>
            </a:r>
          </a:p>
          <a:p>
            <a:pPr lvl="2"/>
            <a:r>
              <a:rPr lang="en-US" sz="1600" dirty="0"/>
              <a:t>The occupied </a:t>
            </a:r>
            <a:r>
              <a:rPr lang="en-US" sz="1600" dirty="0" smtClean="0"/>
              <a:t>bandwidth is </a:t>
            </a:r>
            <a:r>
              <a:rPr lang="en-US" sz="1600" dirty="0"/>
              <a:t>the band that leaves exactly 0.5% of the signal power above the upper band limit and exactly 0.5% of the signal power below the lower band limit. Thus 99% of the signal power is inside the occupied band.</a:t>
            </a:r>
          </a:p>
          <a:p>
            <a:pPr lvl="1"/>
            <a:r>
              <a:rPr lang="en-US" sz="1600" dirty="0"/>
              <a:t>(e)  bounded power spectral density</a:t>
            </a:r>
          </a:p>
          <a:p>
            <a:pPr lvl="2"/>
            <a:r>
              <a:rPr lang="en-US" sz="1600" dirty="0"/>
              <a:t>Everywhere outside the specified band, G(f) must have fallen at least to a specified value (e.g. 35 dB) below its peak value.</a:t>
            </a:r>
          </a:p>
          <a:p>
            <a:pPr lvl="1"/>
            <a:r>
              <a:rPr lang="en-US" sz="1600" dirty="0"/>
              <a:t>(f) absolute bandwidth:</a:t>
            </a:r>
          </a:p>
          <a:p>
            <a:pPr lvl="2"/>
            <a:r>
              <a:rPr lang="en-US" sz="1600" dirty="0"/>
              <a:t>The interval between frequencies, outside of which the PSD is zero. </a:t>
            </a:r>
          </a:p>
        </p:txBody>
      </p:sp>
      <p:pic>
        <p:nvPicPr>
          <p:cNvPr id="2037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9350" y="933450"/>
            <a:ext cx="374332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 Black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6948</TotalTime>
  <Words>2473</Words>
  <Application>Microsoft Office PowerPoint</Application>
  <PresentationFormat>On-screen Show (4:3)</PresentationFormat>
  <Paragraphs>488</Paragraphs>
  <Slides>44</Slides>
  <Notes>18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6" baseType="lpstr">
      <vt:lpstr>Default Design</vt:lpstr>
      <vt:lpstr>Equation</vt:lpstr>
      <vt:lpstr>ELEG4623/5663 Communication Theory Ch. 1 Signals and Spectra</vt:lpstr>
      <vt:lpstr>OUTLINE</vt:lpstr>
      <vt:lpstr>DETERMINISTIC: SIGNAL CLASSIFICATION</vt:lpstr>
      <vt:lpstr>DETERMINISTIC: SIGNAL</vt:lpstr>
      <vt:lpstr>DETERMINISTIC: SIGNAL</vt:lpstr>
      <vt:lpstr>DETERMINISTIC: SIGNAL</vt:lpstr>
      <vt:lpstr>DETERMINISTIC: SIGNAL</vt:lpstr>
      <vt:lpstr>DETERMINISTIC: SYSTEM</vt:lpstr>
      <vt:lpstr>DETERMINISTIC: SYSTEM</vt:lpstr>
      <vt:lpstr>DETERMINISTIC: SYSTEM</vt:lpstr>
      <vt:lpstr>DETERMINISTIC: FOURIER ANALYSIS</vt:lpstr>
      <vt:lpstr>DETERMINISTIC: FOURIER ANALYSIS</vt:lpstr>
      <vt:lpstr>DETERMINISTIC: FOURIER ANALYSIS</vt:lpstr>
      <vt:lpstr>DETERMINISTIC: FOURIER ANALYSIS</vt:lpstr>
      <vt:lpstr>DETERMINISTIC: ENERGY SPECTRAL DENSITY</vt:lpstr>
      <vt:lpstr>DETERMINISTIC: POWER SPECTRAL DENSITY</vt:lpstr>
      <vt:lpstr>OUTLINE</vt:lpstr>
      <vt:lpstr>RANDOM SIGNAL</vt:lpstr>
      <vt:lpstr>RANDOM SIGNAL</vt:lpstr>
      <vt:lpstr>RANDOM SIGNAL</vt:lpstr>
      <vt:lpstr>RANDOM SIGNAL</vt:lpstr>
      <vt:lpstr>RANDOM SIGNAL</vt:lpstr>
      <vt:lpstr>RANDOM SIGNAL</vt:lpstr>
      <vt:lpstr>RANDOM SIGNAL</vt:lpstr>
      <vt:lpstr>RANDOM SIGNAL: JOINT DISTRIBUTION</vt:lpstr>
      <vt:lpstr>RANDOM SIGNAL: JOINT DISTRIBUTION</vt:lpstr>
      <vt:lpstr>RANDOM SIGNAL: JOINT DISTRIBUTION</vt:lpstr>
      <vt:lpstr>RANDOM SIGNAL: JOINT DISTRIBUTION</vt:lpstr>
      <vt:lpstr>RANDOM SIGNAL: RANDOM PROCESS</vt:lpstr>
      <vt:lpstr>RANDOM SIGNAL: RANDOM PROCESS</vt:lpstr>
      <vt:lpstr>RANDOM SIGNAL: RANDOM PROCESS</vt:lpstr>
      <vt:lpstr>RANDOM SIGNAL: POWER SPECTRAL DENSITY</vt:lpstr>
      <vt:lpstr>RANDOM SIGNAL: NOISE</vt:lpstr>
      <vt:lpstr>RANDOM SIGNAL: NOISE</vt:lpstr>
      <vt:lpstr>OUTLINE</vt:lpstr>
      <vt:lpstr>TRANSMISSION</vt:lpstr>
      <vt:lpstr>TRANSMISSION</vt:lpstr>
      <vt:lpstr>TRANSMISSION: IDEAL TRANSMISSION</vt:lpstr>
      <vt:lpstr>TRANSMISSION: IDEAL TRANSMISSION</vt:lpstr>
      <vt:lpstr>TRANSMISSION: RELIAZABLE TRANSMISSION </vt:lpstr>
      <vt:lpstr>TRANSMISSION: BANDWIDTH</vt:lpstr>
      <vt:lpstr>TRANSMISSION: BANDWIDTH DILEMMA</vt:lpstr>
      <vt:lpstr>TRANSMISSION: BANDWIDTH DEFINITION</vt:lpstr>
      <vt:lpstr>TRANSMISSION: BANDWIDTH DEFINITION</vt:lpstr>
    </vt:vector>
  </TitlesOfParts>
  <Company>Sonoma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 540 Preface</dc:title>
  <dc:creator>Jingxian Wu</dc:creator>
  <cp:lastModifiedBy>Jingxian Wu</cp:lastModifiedBy>
  <cp:revision>717</cp:revision>
  <dcterms:created xsi:type="dcterms:W3CDTF">2005-04-13T03:22:44Z</dcterms:created>
  <dcterms:modified xsi:type="dcterms:W3CDTF">2012-09-05T21:25:57Z</dcterms:modified>
</cp:coreProperties>
</file>