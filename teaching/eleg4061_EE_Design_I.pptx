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60" r:id="rId3"/>
    <p:sldId id="268" r:id="rId4"/>
    <p:sldId id="261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66" r:id="rId21"/>
    <p:sldId id="284" r:id="rId22"/>
    <p:sldId id="263" r:id="rId23"/>
    <p:sldId id="26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2490" y="-9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1/27/2011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800" dirty="0" smtClean="0"/>
              <a:t>ELEG 4061 EE Design I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Instructor: Dr. Jingxian Wu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Email: wuj@uark.edu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Phone: (479) 575-6584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Office Bell 3181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Office Hours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Tu. Th. 9:30 AM – 10:30 AM,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By appointment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Lecture Schedule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Bell 2291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Th. 2:00 PM – 4:50 PM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Lab Schedule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ENGR 119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Th. 2:00 PM – 4:50 PM</a:t>
            </a:r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TA:</a:t>
            </a:r>
          </a:p>
          <a:p>
            <a:pPr lvl="1"/>
            <a:r>
              <a:rPr lang="en-US" dirty="0" smtClean="0"/>
              <a:t>Mr. Steve Yancey</a:t>
            </a:r>
          </a:p>
          <a:p>
            <a:pPr lvl="1"/>
            <a:r>
              <a:rPr lang="en-US" dirty="0" smtClean="0"/>
              <a:t>Email: swyancey@uark.edu</a:t>
            </a:r>
          </a:p>
          <a:p>
            <a:pPr lvl="1"/>
            <a:r>
              <a:rPr lang="en-US" dirty="0" smtClean="0"/>
              <a:t>Responsibility: </a:t>
            </a:r>
          </a:p>
          <a:p>
            <a:pPr lvl="1"/>
            <a:r>
              <a:rPr lang="en-US" dirty="0" smtClean="0"/>
              <a:t>Office: ENGR 119</a:t>
            </a:r>
          </a:p>
          <a:p>
            <a:pPr lvl="1"/>
            <a:r>
              <a:rPr lang="en-US" dirty="0" smtClean="0"/>
              <a:t>Office Hour:</a:t>
            </a:r>
          </a:p>
          <a:p>
            <a:pPr lvl="2"/>
            <a:r>
              <a:rPr lang="en-US" dirty="0" smtClean="0"/>
              <a:t>M. W. Th. F.: 12:00 PM – 4:00 PM</a:t>
            </a:r>
          </a:p>
          <a:p>
            <a:pPr lvl="2"/>
            <a:r>
              <a:rPr lang="en-US" dirty="0" smtClean="0"/>
              <a:t>Tu. 1:00 PM – 5:00 PM</a:t>
            </a:r>
          </a:p>
          <a:p>
            <a:pPr lvl="0">
              <a:defRPr/>
            </a:pPr>
            <a:r>
              <a:rPr lang="en-US" altLang="zh-CN" dirty="0" smtClean="0">
                <a:ea typeface="宋体" pitchFamily="2" charset="-122"/>
              </a:rPr>
              <a:t>Lab Schedule</a:t>
            </a:r>
          </a:p>
          <a:p>
            <a:pPr lvl="1">
              <a:defRPr/>
            </a:pPr>
            <a:r>
              <a:rPr lang="en-US" altLang="zh-CN" dirty="0" smtClean="0">
                <a:ea typeface="宋体" pitchFamily="2" charset="-122"/>
              </a:rPr>
              <a:t>ENGR 119 </a:t>
            </a:r>
            <a:r>
              <a:rPr lang="en-US" dirty="0" smtClean="0"/>
              <a:t>combination: 5-3-4-1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defRPr/>
            </a:pPr>
            <a:r>
              <a:rPr lang="en-US" altLang="zh-CN" dirty="0" smtClean="0">
                <a:ea typeface="宋体" pitchFamily="2" charset="-122"/>
              </a:rPr>
              <a:t>If there is no lecture scheduled on Tue, you must be in the lab during the scheduled time (2:00 – 4:50 PM).  </a:t>
            </a:r>
          </a:p>
          <a:p>
            <a:pPr lvl="1">
              <a:defRPr/>
            </a:pPr>
            <a:r>
              <a:rPr lang="en-US" altLang="zh-CN" dirty="0" smtClean="0">
                <a:ea typeface="宋体" pitchFamily="2" charset="-122"/>
              </a:rPr>
              <a:t>Any other time. </a:t>
            </a:r>
          </a:p>
          <a:p>
            <a:pPr lvl="1">
              <a:defRPr/>
            </a:pPr>
            <a:r>
              <a:rPr lang="en-US" altLang="zh-CN" dirty="0" smtClean="0">
                <a:ea typeface="宋体" pitchFamily="2" charset="-122"/>
              </a:rPr>
              <a:t>Suggested lab hour: 9 hours/week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AND PREREQUISITES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References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P. Horowitz and W. Hill, The Art of Electronics, Cambridge University Press, 2nd Ed., July 1989. 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J. </a:t>
            </a:r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Catsoulis</a:t>
            </a: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Designing Embedded Hardware, </a:t>
            </a:r>
            <a:r>
              <a:rPr lang="en-US" altLang="zh-CN" dirty="0" err="1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O’Reilley</a:t>
            </a: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Media, 2nd Ed., May 2005.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Pre-</a:t>
            </a: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requisties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Microcontroller System Design (ELEG 3924)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Basic analog and interface circuitry (ELEG 3223)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Ability to use commercial integrate circuits in design project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</a:p>
          <a:p>
            <a:pPr lvl="1"/>
            <a:r>
              <a:rPr lang="en-US" dirty="0" smtClean="0"/>
              <a:t>Apply knowledge gained in previous courses </a:t>
            </a:r>
          </a:p>
          <a:p>
            <a:pPr lvl="2"/>
            <a:r>
              <a:rPr lang="en-US" dirty="0" smtClean="0"/>
              <a:t>Electrical circuits and electronics</a:t>
            </a:r>
          </a:p>
          <a:p>
            <a:pPr lvl="2"/>
            <a:r>
              <a:rPr lang="en-US" dirty="0" smtClean="0"/>
              <a:t>Microcontroller and embedded systems</a:t>
            </a:r>
          </a:p>
          <a:p>
            <a:pPr lvl="2"/>
            <a:r>
              <a:rPr lang="en-US" dirty="0" smtClean="0"/>
              <a:t>Signals and systems (control system, communication system, etc.)</a:t>
            </a:r>
          </a:p>
          <a:p>
            <a:pPr lvl="2"/>
            <a:r>
              <a:rPr lang="en-US" dirty="0" err="1" smtClean="0"/>
              <a:t>Electromagnetics</a:t>
            </a:r>
            <a:r>
              <a:rPr lang="en-US" dirty="0" smtClean="0"/>
              <a:t> and Microwave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Improve design skills</a:t>
            </a:r>
          </a:p>
          <a:p>
            <a:pPr lvl="2"/>
            <a:r>
              <a:rPr lang="en-US" dirty="0" smtClean="0"/>
              <a:t>How to design a system?</a:t>
            </a:r>
          </a:p>
          <a:p>
            <a:pPr lvl="2"/>
            <a:r>
              <a:rPr lang="en-US" dirty="0" smtClean="0"/>
              <a:t>Preparation </a:t>
            </a:r>
            <a:r>
              <a:rPr lang="en-US" dirty="0" smtClean="0">
                <a:sym typeface="Wingdings" pitchFamily="2" charset="2"/>
              </a:rPr>
              <a:t> topic identification  proposal  design overview component level design  simulation and verification  component level development  system level development  system integration  debug and calibration  testing  demo and production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Objectives (Cont’d)</a:t>
            </a:r>
          </a:p>
          <a:p>
            <a:pPr lvl="1"/>
            <a:r>
              <a:rPr lang="en-US" dirty="0" smtClean="0"/>
              <a:t>Address the need of a specific engineering work</a:t>
            </a:r>
          </a:p>
          <a:p>
            <a:pPr lvl="2"/>
            <a:r>
              <a:rPr lang="en-US" dirty="0" smtClean="0"/>
              <a:t>The designed system might be an independent system</a:t>
            </a:r>
          </a:p>
          <a:p>
            <a:pPr lvl="2"/>
            <a:r>
              <a:rPr lang="en-US" dirty="0" smtClean="0"/>
              <a:t>Or part of a large problem</a:t>
            </a:r>
          </a:p>
          <a:p>
            <a:pPr lvl="2"/>
            <a:r>
              <a:rPr lang="en-US" dirty="0" smtClean="0"/>
              <a:t>The final product can solve certain Engineering problem or meet certain societal needs.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Exposed to practical design considerations</a:t>
            </a:r>
          </a:p>
          <a:p>
            <a:pPr lvl="2"/>
            <a:r>
              <a:rPr lang="en-US" dirty="0" smtClean="0"/>
              <a:t>Tradeoff among performance, complexity, cost</a:t>
            </a:r>
          </a:p>
          <a:p>
            <a:pPr lvl="2"/>
            <a:r>
              <a:rPr lang="en-US" dirty="0" smtClean="0"/>
              <a:t>Non-ideal elements</a:t>
            </a:r>
          </a:p>
          <a:p>
            <a:pPr lvl="2"/>
            <a:r>
              <a:rPr lang="en-US" dirty="0" smtClean="0"/>
              <a:t>Tolerance, optimization, form factor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Objectives (Cont’d)</a:t>
            </a:r>
          </a:p>
          <a:p>
            <a:pPr lvl="1"/>
            <a:r>
              <a:rPr lang="en-US" dirty="0" smtClean="0"/>
              <a:t>Career training</a:t>
            </a:r>
          </a:p>
          <a:p>
            <a:pPr lvl="2"/>
            <a:r>
              <a:rPr lang="en-US" dirty="0" smtClean="0"/>
              <a:t>Practical engineering work</a:t>
            </a:r>
          </a:p>
          <a:p>
            <a:pPr lvl="2"/>
            <a:r>
              <a:rPr lang="en-US" dirty="0" smtClean="0"/>
              <a:t>How to find a job (job hunting, resume, interview)</a:t>
            </a:r>
          </a:p>
          <a:p>
            <a:pPr lvl="2"/>
            <a:r>
              <a:rPr lang="en-US" dirty="0" smtClean="0"/>
              <a:t>How to survive 1</a:t>
            </a:r>
            <a:r>
              <a:rPr lang="en-US" baseline="30000" dirty="0" smtClean="0"/>
              <a:t>st</a:t>
            </a:r>
            <a:r>
              <a:rPr lang="en-US" dirty="0" smtClean="0"/>
              <a:t> year on a job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Broader impacts</a:t>
            </a:r>
          </a:p>
          <a:p>
            <a:pPr lvl="2"/>
            <a:r>
              <a:rPr lang="en-US" dirty="0" smtClean="0"/>
              <a:t>Understand the impacts of specific engineering work on a large process and/or society</a:t>
            </a:r>
          </a:p>
          <a:p>
            <a:pPr lvl="2"/>
            <a:r>
              <a:rPr lang="en-US" dirty="0" smtClean="0"/>
              <a:t>Address certain needs</a:t>
            </a:r>
          </a:p>
          <a:p>
            <a:pPr lvl="2"/>
            <a:r>
              <a:rPr lang="en-US" dirty="0" smtClean="0"/>
              <a:t>Environmental impact: power consumption, electromagnetic interference (EMI)</a:t>
            </a:r>
          </a:p>
          <a:p>
            <a:pPr lvl="2"/>
            <a:r>
              <a:rPr lang="en-US" dirty="0" smtClean="0"/>
              <a:t>……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Objectives (Cont’d)</a:t>
            </a:r>
          </a:p>
          <a:p>
            <a:pPr lvl="1"/>
            <a:r>
              <a:rPr lang="en-US" dirty="0" smtClean="0"/>
              <a:t>Presentation skills</a:t>
            </a:r>
          </a:p>
          <a:p>
            <a:pPr lvl="2"/>
            <a:r>
              <a:rPr lang="en-US" dirty="0" smtClean="0"/>
              <a:t>Oral presentation</a:t>
            </a:r>
          </a:p>
          <a:p>
            <a:pPr lvl="2"/>
            <a:r>
              <a:rPr lang="en-US" dirty="0" smtClean="0"/>
              <a:t>How to write a proposal?</a:t>
            </a:r>
          </a:p>
          <a:p>
            <a:pPr lvl="2"/>
            <a:r>
              <a:rPr lang="en-US" dirty="0" smtClean="0"/>
              <a:t>How to write a report?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Team work skills</a:t>
            </a:r>
          </a:p>
          <a:p>
            <a:pPr lvl="2"/>
            <a:r>
              <a:rPr lang="en-US" dirty="0" smtClean="0"/>
              <a:t>How to communicate with other team members</a:t>
            </a:r>
          </a:p>
          <a:p>
            <a:pPr lvl="2"/>
            <a:r>
              <a:rPr lang="en-US" dirty="0" smtClean="0"/>
              <a:t>How to collaborate with other team members</a:t>
            </a:r>
          </a:p>
          <a:p>
            <a:pPr lvl="2"/>
            <a:r>
              <a:rPr lang="en-US" dirty="0" smtClean="0"/>
              <a:t>How to manage a project?</a:t>
            </a:r>
          </a:p>
          <a:p>
            <a:pPr lvl="3"/>
            <a:r>
              <a:rPr lang="en-US" dirty="0" smtClean="0"/>
              <a:t>E.g. divide a big project into several sub-projects</a:t>
            </a:r>
          </a:p>
          <a:p>
            <a:pPr lvl="3"/>
            <a:r>
              <a:rPr lang="en-US" dirty="0" smtClean="0"/>
              <a:t>Planning (schedule)</a:t>
            </a:r>
          </a:p>
          <a:p>
            <a:pPr lvl="3"/>
            <a:r>
              <a:rPr lang="en-US" dirty="0" smtClean="0"/>
              <a:t>Monitor the project progress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requirements:</a:t>
            </a:r>
          </a:p>
          <a:p>
            <a:pPr lvl="1"/>
            <a:r>
              <a:rPr lang="en-US" dirty="0" smtClean="0"/>
              <a:t>The final product can solve a practical engineering problem, or meet certain needs.</a:t>
            </a:r>
          </a:p>
          <a:p>
            <a:pPr lvl="1"/>
            <a:r>
              <a:rPr lang="en-US" dirty="0" smtClean="0"/>
              <a:t>Must have clearly defined objectives</a:t>
            </a:r>
          </a:p>
          <a:p>
            <a:pPr lvl="1"/>
            <a:r>
              <a:rPr lang="en-US" dirty="0" smtClean="0"/>
              <a:t>Apply knowledge learned from two or more EE courses</a:t>
            </a:r>
          </a:p>
          <a:p>
            <a:pPr lvl="2"/>
            <a:r>
              <a:rPr lang="en-US" dirty="0" smtClean="0"/>
              <a:t>Electronics, Microcontroller, Programming, Control, Energy, Signal and System, Microwave, etc.</a:t>
            </a:r>
          </a:p>
          <a:p>
            <a:pPr lvl="1"/>
            <a:r>
              <a:rPr lang="en-US" dirty="0" smtClean="0"/>
              <a:t> Must have hardware components</a:t>
            </a:r>
          </a:p>
          <a:p>
            <a:pPr lvl="2"/>
            <a:r>
              <a:rPr lang="en-US" dirty="0" smtClean="0"/>
              <a:t>Software project by itself cannot be used as a stand alone EE design project.</a:t>
            </a:r>
          </a:p>
          <a:p>
            <a:pPr lvl="2"/>
            <a:r>
              <a:rPr lang="en-US" dirty="0" smtClean="0"/>
              <a:t>Software can be part of a bigger project.</a:t>
            </a:r>
          </a:p>
          <a:p>
            <a:pPr lvl="1"/>
            <a:r>
              <a:rPr lang="en-US" dirty="0" smtClean="0"/>
              <a:t>Must involves actual design</a:t>
            </a:r>
          </a:p>
          <a:p>
            <a:pPr lvl="2"/>
            <a:r>
              <a:rPr lang="en-US" dirty="0" smtClean="0"/>
              <a:t>E.g. design interface circuitry; design software; design a new system structure.</a:t>
            </a:r>
          </a:p>
          <a:p>
            <a:pPr lvl="1"/>
            <a:r>
              <a:rPr lang="en-US" dirty="0" smtClean="0"/>
              <a:t>The final demo must function properly</a:t>
            </a:r>
          </a:p>
          <a:p>
            <a:pPr lvl="2"/>
            <a:r>
              <a:rPr lang="en-US" dirty="0" smtClean="0"/>
              <a:t>meet most design objectives</a:t>
            </a:r>
          </a:p>
          <a:p>
            <a:pPr lvl="2"/>
            <a:r>
              <a:rPr lang="en-US" dirty="0" smtClean="0">
                <a:solidFill>
                  <a:srgbClr val="FF0000"/>
                </a:solidFill>
              </a:rPr>
              <a:t>If the final demo does not work, a student will not be able to graduate.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DESIGN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process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1. Identify a project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2. Project proposal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3. Design Overview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4. Component level design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5. Simulation, Development, review and revision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6. Component development and debug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7. System development and integration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8. System level debug and calibration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9. Testing 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10. Demo and Production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Red: EE Design I</a:t>
            </a: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Green: EE Design II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DESIGN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1. Identify a project</a:t>
            </a:r>
          </a:p>
          <a:p>
            <a:pPr lvl="1"/>
            <a:r>
              <a:rPr lang="en-US" dirty="0" smtClean="0"/>
              <a:t>Form a group of 2 ~ 3 students</a:t>
            </a:r>
          </a:p>
          <a:p>
            <a:pPr lvl="1"/>
            <a:r>
              <a:rPr lang="en-US" dirty="0" smtClean="0"/>
              <a:t>Final mutual interests</a:t>
            </a:r>
          </a:p>
          <a:p>
            <a:pPr lvl="1"/>
            <a:r>
              <a:rPr lang="en-US" dirty="0" smtClean="0"/>
              <a:t>Talk to professors in different research areas</a:t>
            </a:r>
          </a:p>
          <a:p>
            <a:pPr lvl="2"/>
            <a:r>
              <a:rPr lang="en-US" dirty="0" smtClean="0"/>
              <a:t>Electronics</a:t>
            </a:r>
          </a:p>
          <a:p>
            <a:pPr lvl="2"/>
            <a:r>
              <a:rPr lang="en-US" dirty="0" smtClean="0"/>
              <a:t>Digital Design and Embedded Systems</a:t>
            </a:r>
          </a:p>
          <a:p>
            <a:pPr lvl="2"/>
            <a:r>
              <a:rPr lang="en-US" dirty="0" smtClean="0"/>
              <a:t>Communication and Digital Signal Processing</a:t>
            </a:r>
          </a:p>
          <a:p>
            <a:pPr lvl="2"/>
            <a:r>
              <a:rPr lang="en-US" dirty="0" smtClean="0"/>
              <a:t>Power and Energy</a:t>
            </a:r>
          </a:p>
          <a:p>
            <a:pPr lvl="2"/>
            <a:r>
              <a:rPr lang="en-US" dirty="0" smtClean="0"/>
              <a:t>Microwave</a:t>
            </a:r>
          </a:p>
          <a:p>
            <a:pPr lvl="2"/>
            <a:r>
              <a:rPr lang="en-US" dirty="0" smtClean="0"/>
              <a:t>Control Systems</a:t>
            </a:r>
          </a:p>
          <a:p>
            <a:pPr lvl="2"/>
            <a:r>
              <a:rPr lang="en-US" dirty="0" err="1" smtClean="0"/>
              <a:t>Nano</a:t>
            </a:r>
            <a:r>
              <a:rPr lang="en-US" dirty="0" smtClean="0"/>
              <a:t>-technologies</a:t>
            </a:r>
          </a:p>
          <a:p>
            <a:pPr lvl="2"/>
            <a:r>
              <a:rPr lang="en-US" dirty="0" smtClean="0"/>
              <a:t>……</a:t>
            </a:r>
          </a:p>
          <a:p>
            <a:pPr lvl="1"/>
            <a:r>
              <a:rPr lang="en-US" dirty="0" smtClean="0"/>
              <a:t>Practical and reasonable</a:t>
            </a:r>
          </a:p>
          <a:p>
            <a:pPr lvl="2"/>
            <a:r>
              <a:rPr lang="en-US" dirty="0" smtClean="0"/>
              <a:t>Don’t be too ambitious</a:t>
            </a:r>
          </a:p>
          <a:p>
            <a:pPr lvl="2"/>
            <a:r>
              <a:rPr lang="en-US" dirty="0" smtClean="0"/>
              <a:t>Don’t be too simple</a:t>
            </a:r>
          </a:p>
          <a:p>
            <a:pPr lvl="2"/>
            <a:r>
              <a:rPr lang="en-US" dirty="0" smtClean="0"/>
              <a:t>Something you can finish in 1 year.</a:t>
            </a:r>
          </a:p>
          <a:p>
            <a:pPr lvl="1"/>
            <a:r>
              <a:rPr lang="en-US" dirty="0" smtClean="0"/>
              <a:t>Discuss with the instructor and TA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DESING: DESIGN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2. Project Proposal</a:t>
            </a:r>
          </a:p>
          <a:p>
            <a:pPr lvl="1"/>
            <a:r>
              <a:rPr lang="en-US" dirty="0" smtClean="0"/>
              <a:t>What is the objective of the project?</a:t>
            </a:r>
          </a:p>
          <a:p>
            <a:pPr lvl="2"/>
            <a:r>
              <a:rPr lang="en-US" dirty="0" smtClean="0"/>
              <a:t>Functional description</a:t>
            </a:r>
          </a:p>
          <a:p>
            <a:pPr lvl="2"/>
            <a:r>
              <a:rPr lang="en-US" dirty="0" smtClean="0"/>
              <a:t>Electrical specification you try to meet or exceed</a:t>
            </a:r>
          </a:p>
          <a:p>
            <a:pPr lvl="1"/>
            <a:r>
              <a:rPr lang="en-US" dirty="0" smtClean="0"/>
              <a:t>How do you plan to design the project?</a:t>
            </a:r>
          </a:p>
          <a:p>
            <a:pPr lvl="2"/>
            <a:r>
              <a:rPr lang="en-US" dirty="0" smtClean="0"/>
              <a:t>Divide the project into individual tasks (task 1, task 2, …)</a:t>
            </a:r>
          </a:p>
          <a:p>
            <a:pPr lvl="2"/>
            <a:r>
              <a:rPr lang="en-US" dirty="0" smtClean="0"/>
              <a:t>The description of each task (or components)</a:t>
            </a:r>
          </a:p>
          <a:p>
            <a:pPr lvl="2"/>
            <a:r>
              <a:rPr lang="en-US" dirty="0" smtClean="0"/>
              <a:t>Use figures and diagrams where </a:t>
            </a:r>
            <a:r>
              <a:rPr lang="en-US" dirty="0" err="1" smtClean="0"/>
              <a:t>approriate</a:t>
            </a:r>
            <a:endParaRPr lang="en-US" dirty="0" smtClean="0"/>
          </a:p>
          <a:p>
            <a:pPr lvl="1"/>
            <a:r>
              <a:rPr lang="en-US" dirty="0" smtClean="0"/>
              <a:t>Project management plan</a:t>
            </a:r>
          </a:p>
          <a:p>
            <a:pPr lvl="2"/>
            <a:r>
              <a:rPr lang="en-US" dirty="0" smtClean="0"/>
              <a:t>Who is responsible for what</a:t>
            </a:r>
          </a:p>
          <a:p>
            <a:pPr lvl="2"/>
            <a:r>
              <a:rPr lang="en-US" dirty="0" smtClean="0"/>
              <a:t>Timeline</a:t>
            </a:r>
          </a:p>
          <a:p>
            <a:pPr lvl="1"/>
            <a:r>
              <a:rPr lang="en-US" dirty="0" smtClean="0"/>
              <a:t>Required instrumentation and part list</a:t>
            </a:r>
          </a:p>
          <a:p>
            <a:pPr lvl="2"/>
            <a:r>
              <a:rPr lang="en-US" dirty="0" smtClean="0"/>
              <a:t>What instrument will be needed?</a:t>
            </a:r>
          </a:p>
          <a:p>
            <a:pPr lvl="2"/>
            <a:r>
              <a:rPr lang="en-US" dirty="0" smtClean="0"/>
              <a:t>What electronic component will be needed?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r>
              <a:rPr lang="en-US" dirty="0" smtClean="0"/>
              <a:t>A proposal template is attached at the end of the syllabus.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DESING: DESIGN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2. Project Proposal (Cont’d)</a:t>
            </a:r>
          </a:p>
          <a:p>
            <a:pPr lvl="1"/>
            <a:r>
              <a:rPr lang="en-US" dirty="0" smtClean="0"/>
              <a:t>Format:</a:t>
            </a:r>
          </a:p>
          <a:p>
            <a:pPr lvl="2"/>
            <a:r>
              <a:rPr lang="en-US" dirty="0" smtClean="0"/>
              <a:t>Title page (project title, students, advisor, date)</a:t>
            </a:r>
          </a:p>
          <a:p>
            <a:pPr lvl="2"/>
            <a:r>
              <a:rPr lang="en-US" dirty="0" smtClean="0"/>
              <a:t>Abstract</a:t>
            </a:r>
          </a:p>
          <a:p>
            <a:pPr lvl="2"/>
            <a:r>
              <a:rPr lang="en-US" dirty="0" smtClean="0"/>
              <a:t>1. Introduction</a:t>
            </a:r>
          </a:p>
          <a:p>
            <a:pPr lvl="3"/>
            <a:r>
              <a:rPr lang="en-US" dirty="0" smtClean="0"/>
              <a:t>Motivation</a:t>
            </a:r>
          </a:p>
          <a:p>
            <a:pPr lvl="3"/>
            <a:r>
              <a:rPr lang="en-US" dirty="0" smtClean="0"/>
              <a:t>Design Goals</a:t>
            </a:r>
          </a:p>
          <a:p>
            <a:pPr lvl="2"/>
            <a:r>
              <a:rPr lang="en-US" dirty="0" smtClean="0"/>
              <a:t>2. Design Overview</a:t>
            </a:r>
          </a:p>
          <a:p>
            <a:pPr lvl="3"/>
            <a:r>
              <a:rPr lang="en-US" dirty="0" smtClean="0"/>
              <a:t>Functional description</a:t>
            </a:r>
          </a:p>
          <a:p>
            <a:pPr lvl="3"/>
            <a:r>
              <a:rPr lang="en-US" dirty="0" smtClean="0"/>
              <a:t>System Structure</a:t>
            </a:r>
          </a:p>
          <a:p>
            <a:pPr lvl="3"/>
            <a:r>
              <a:rPr lang="en-US" dirty="0" smtClean="0"/>
              <a:t>Components and tasks</a:t>
            </a:r>
          </a:p>
          <a:p>
            <a:pPr lvl="3"/>
            <a:r>
              <a:rPr lang="en-US" dirty="0" smtClean="0"/>
              <a:t>…</a:t>
            </a:r>
          </a:p>
          <a:p>
            <a:pPr lvl="2"/>
            <a:r>
              <a:rPr lang="en-US" dirty="0" smtClean="0"/>
              <a:t>3. Management Plan</a:t>
            </a:r>
          </a:p>
          <a:p>
            <a:pPr lvl="2"/>
            <a:r>
              <a:rPr lang="en-US" dirty="0" smtClean="0"/>
              <a:t>4. Components and Instrument</a:t>
            </a:r>
          </a:p>
          <a:p>
            <a:pPr lvl="2"/>
            <a:r>
              <a:rPr lang="en-US" dirty="0" smtClean="0"/>
              <a:t>References</a:t>
            </a:r>
          </a:p>
          <a:p>
            <a:pPr lvl="1"/>
            <a:r>
              <a:rPr lang="en-US" dirty="0" smtClean="0"/>
              <a:t>One proposal/group. Each student must explicitly point out which part he wrote. </a:t>
            </a:r>
          </a:p>
          <a:p>
            <a:pPr lvl="2"/>
            <a:r>
              <a:rPr lang="en-US" dirty="0" smtClean="0"/>
              <a:t>E.g. </a:t>
            </a:r>
            <a:r>
              <a:rPr lang="en-US" b="1" dirty="0" smtClean="0"/>
              <a:t>2.3 Design of the Interface Circuitry</a:t>
            </a:r>
            <a:r>
              <a:rPr lang="en-US" dirty="0" smtClean="0"/>
              <a:t> (student 1)</a:t>
            </a:r>
          </a:p>
          <a:p>
            <a:pPr lvl="3"/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DESING: DESIGN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3. Design Overview</a:t>
            </a:r>
          </a:p>
          <a:p>
            <a:pPr lvl="1"/>
            <a:r>
              <a:rPr lang="en-US" dirty="0" smtClean="0"/>
              <a:t>Identify system structure</a:t>
            </a:r>
          </a:p>
          <a:p>
            <a:pPr lvl="2"/>
            <a:r>
              <a:rPr lang="en-US" dirty="0" smtClean="0"/>
              <a:t>Block diagram of the entire system</a:t>
            </a:r>
          </a:p>
          <a:p>
            <a:pPr lvl="1"/>
            <a:r>
              <a:rPr lang="en-US" dirty="0" smtClean="0"/>
              <a:t>Break the system into several sub-systems/components</a:t>
            </a:r>
          </a:p>
          <a:p>
            <a:pPr lvl="2"/>
            <a:r>
              <a:rPr lang="en-US" dirty="0" smtClean="0"/>
              <a:t>Block diagram of each individual sub-system/component</a:t>
            </a:r>
          </a:p>
          <a:p>
            <a:pPr lvl="2"/>
            <a:r>
              <a:rPr lang="en-US" dirty="0" smtClean="0"/>
              <a:t>Functional description of each sub-system</a:t>
            </a:r>
          </a:p>
          <a:p>
            <a:pPr lvl="2"/>
            <a:r>
              <a:rPr lang="en-US" dirty="0" smtClean="0"/>
              <a:t>How do you plan to implement each sub-system</a:t>
            </a:r>
          </a:p>
          <a:p>
            <a:pPr lvl="1"/>
            <a:r>
              <a:rPr lang="en-US" dirty="0" smtClean="0"/>
              <a:t>Define interface of the sub-systems</a:t>
            </a:r>
          </a:p>
          <a:p>
            <a:pPr lvl="1"/>
            <a:r>
              <a:rPr lang="en-US" dirty="0" smtClean="0"/>
              <a:t>Define interface of the entire system</a:t>
            </a:r>
          </a:p>
          <a:p>
            <a:pPr lvl="1"/>
            <a:r>
              <a:rPr lang="en-US" dirty="0" smtClean="0"/>
              <a:t>Break the work among group </a:t>
            </a:r>
            <a:r>
              <a:rPr lang="en-US" dirty="0" err="1" smtClean="0"/>
              <a:t>memebers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DESIGN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4. Component Design</a:t>
            </a:r>
          </a:p>
          <a:p>
            <a:pPr lvl="1"/>
            <a:r>
              <a:rPr lang="en-US" dirty="0" smtClean="0"/>
              <a:t>Design the schematics and sketch of the components</a:t>
            </a:r>
          </a:p>
          <a:p>
            <a:pPr lvl="1"/>
            <a:r>
              <a:rPr lang="en-US" dirty="0" smtClean="0"/>
              <a:t>Indentify the parts and components that will be needed for this project</a:t>
            </a:r>
          </a:p>
          <a:p>
            <a:pPr lvl="1"/>
            <a:r>
              <a:rPr lang="en-US" dirty="0" smtClean="0"/>
              <a:t>Purchase the necessary components and parts</a:t>
            </a:r>
          </a:p>
          <a:p>
            <a:pPr lvl="2"/>
            <a:r>
              <a:rPr lang="en-US" dirty="0" smtClean="0"/>
              <a:t>Allowance: $100/student</a:t>
            </a:r>
          </a:p>
          <a:p>
            <a:pPr lvl="2"/>
            <a:r>
              <a:rPr lang="en-US" dirty="0" smtClean="0"/>
              <a:t>Submit all purchase order to your TA (links to the components you want to buy)</a:t>
            </a:r>
          </a:p>
          <a:p>
            <a:pPr lvl="2"/>
            <a:r>
              <a:rPr lang="en-US" dirty="0" smtClean="0"/>
              <a:t>Free samples can be obtained from major companies</a:t>
            </a:r>
          </a:p>
          <a:p>
            <a:pPr lvl="1"/>
            <a:r>
              <a:rPr lang="en-US" dirty="0" smtClean="0"/>
              <a:t>Install software development environment</a:t>
            </a:r>
          </a:p>
          <a:p>
            <a:pPr lvl="1"/>
            <a:r>
              <a:rPr lang="en-US" dirty="0" smtClean="0"/>
              <a:t>Get familiar with development environment and development kits (if applicable)</a:t>
            </a:r>
          </a:p>
          <a:p>
            <a:pPr lvl="1"/>
            <a:r>
              <a:rPr lang="en-US" dirty="0" smtClean="0"/>
              <a:t>Start programming of basic operational software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DESIGN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5. Simulation, Development, Review and Revision</a:t>
            </a:r>
          </a:p>
          <a:p>
            <a:pPr lvl="1"/>
            <a:r>
              <a:rPr lang="en-US" dirty="0" smtClean="0"/>
              <a:t>Verification</a:t>
            </a:r>
          </a:p>
          <a:p>
            <a:pPr lvl="2"/>
            <a:r>
              <a:rPr lang="en-US" dirty="0" smtClean="0"/>
              <a:t>Build prototype of some of the components</a:t>
            </a:r>
          </a:p>
          <a:p>
            <a:pPr lvl="2"/>
            <a:r>
              <a:rPr lang="en-US" dirty="0" smtClean="0"/>
              <a:t>Verify the operations of the prototypes</a:t>
            </a:r>
          </a:p>
          <a:p>
            <a:pPr lvl="1"/>
            <a:r>
              <a:rPr lang="en-US" dirty="0" smtClean="0"/>
              <a:t>Simulation</a:t>
            </a:r>
          </a:p>
          <a:p>
            <a:pPr lvl="2"/>
            <a:r>
              <a:rPr lang="en-US" dirty="0" smtClean="0"/>
              <a:t>Component level simulation</a:t>
            </a:r>
          </a:p>
          <a:p>
            <a:pPr lvl="2"/>
            <a:r>
              <a:rPr lang="en-US" dirty="0" smtClean="0"/>
              <a:t>System level simulation</a:t>
            </a:r>
          </a:p>
          <a:p>
            <a:pPr lvl="1"/>
            <a:r>
              <a:rPr lang="en-US" dirty="0" smtClean="0"/>
              <a:t>Critical review</a:t>
            </a:r>
          </a:p>
          <a:p>
            <a:pPr lvl="2"/>
            <a:r>
              <a:rPr lang="en-US" dirty="0" smtClean="0"/>
              <a:t>Revise system requirements</a:t>
            </a:r>
          </a:p>
          <a:p>
            <a:pPr lvl="2"/>
            <a:r>
              <a:rPr lang="en-US" dirty="0" smtClean="0"/>
              <a:t>Revise system design</a:t>
            </a:r>
          </a:p>
          <a:p>
            <a:pPr lvl="2"/>
            <a:r>
              <a:rPr lang="en-US" dirty="0" smtClean="0"/>
              <a:t>Revise component design</a:t>
            </a:r>
          </a:p>
          <a:p>
            <a:pPr lvl="2"/>
            <a:r>
              <a:rPr lang="en-US" dirty="0" smtClean="0"/>
              <a:t>Lesson learned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PROGRESS REPORTS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Progress reports</a:t>
            </a:r>
          </a:p>
          <a:p>
            <a:pPr lvl="1"/>
            <a:r>
              <a:rPr lang="en-US" dirty="0" smtClean="0"/>
              <a:t>Report the current status and progress of the projects</a:t>
            </a:r>
          </a:p>
          <a:p>
            <a:pPr lvl="1"/>
            <a:r>
              <a:rPr lang="en-US" dirty="0" smtClean="0"/>
              <a:t>There are 3 progress reports</a:t>
            </a:r>
          </a:p>
          <a:p>
            <a:pPr lvl="2"/>
            <a:r>
              <a:rPr lang="en-US" dirty="0" smtClean="0"/>
              <a:t>1. design overview</a:t>
            </a:r>
          </a:p>
          <a:p>
            <a:pPr lvl="2"/>
            <a:r>
              <a:rPr lang="en-US" dirty="0" smtClean="0"/>
              <a:t>2. component level design</a:t>
            </a:r>
          </a:p>
          <a:p>
            <a:pPr lvl="2"/>
            <a:r>
              <a:rPr lang="en-US" dirty="0" smtClean="0"/>
              <a:t>3. simulation, verification, development and review</a:t>
            </a:r>
          </a:p>
          <a:p>
            <a:pPr lvl="2"/>
            <a:r>
              <a:rPr lang="en-US" dirty="0" smtClean="0"/>
              <a:t>The desired contents can be found in their respective slides</a:t>
            </a:r>
          </a:p>
          <a:p>
            <a:pPr lvl="2"/>
            <a:r>
              <a:rPr lang="en-US" dirty="0" smtClean="0"/>
              <a:t>A new report can be written by adding contents/revising the previous report. </a:t>
            </a:r>
          </a:p>
          <a:p>
            <a:pPr lvl="1"/>
            <a:r>
              <a:rPr lang="en-US" dirty="0" smtClean="0"/>
              <a:t>Final report</a:t>
            </a:r>
          </a:p>
          <a:p>
            <a:pPr lvl="2"/>
            <a:r>
              <a:rPr lang="en-US" dirty="0" smtClean="0"/>
              <a:t>A comprehensive report that covers the design of the entire project. </a:t>
            </a:r>
          </a:p>
          <a:p>
            <a:pPr lvl="2"/>
            <a:r>
              <a:rPr lang="en-US" dirty="0" smtClean="0"/>
              <a:t>It should include all the design details that are presented in the Proposal and Progress Reports</a:t>
            </a:r>
          </a:p>
          <a:p>
            <a:pPr lvl="2"/>
            <a:r>
              <a:rPr lang="en-US" dirty="0" smtClean="0"/>
              <a:t>Reflect the updated design objectives and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DESING: PROGRESS REPORTS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Progress report format</a:t>
            </a:r>
          </a:p>
          <a:p>
            <a:pPr lvl="1"/>
            <a:r>
              <a:rPr lang="en-US" dirty="0" smtClean="0"/>
              <a:t>Cover page</a:t>
            </a:r>
          </a:p>
          <a:p>
            <a:pPr lvl="1"/>
            <a:r>
              <a:rPr lang="en-US" dirty="0" smtClean="0"/>
              <a:t>1. Objectives</a:t>
            </a:r>
          </a:p>
          <a:p>
            <a:pPr lvl="1"/>
            <a:r>
              <a:rPr lang="en-US" dirty="0" smtClean="0"/>
              <a:t>2. Designs and results</a:t>
            </a:r>
          </a:p>
          <a:p>
            <a:pPr lvl="2"/>
            <a:r>
              <a:rPr lang="en-US" dirty="0" smtClean="0"/>
              <a:t>The actual designs</a:t>
            </a:r>
          </a:p>
          <a:p>
            <a:pPr lvl="2"/>
            <a:r>
              <a:rPr lang="en-US" dirty="0" smtClean="0"/>
              <a:t>Prototype measurement</a:t>
            </a:r>
          </a:p>
          <a:p>
            <a:pPr lvl="2"/>
            <a:r>
              <a:rPr lang="en-US" dirty="0" smtClean="0"/>
              <a:t>Simulation results</a:t>
            </a:r>
          </a:p>
          <a:p>
            <a:pPr lvl="1"/>
            <a:r>
              <a:rPr lang="en-US" dirty="0" smtClean="0"/>
              <a:t>3. Project status</a:t>
            </a:r>
          </a:p>
          <a:p>
            <a:pPr lvl="2"/>
            <a:r>
              <a:rPr lang="en-US" dirty="0" smtClean="0"/>
              <a:t>Current status of the project</a:t>
            </a:r>
          </a:p>
          <a:p>
            <a:pPr lvl="2"/>
            <a:r>
              <a:rPr lang="en-US" dirty="0" smtClean="0"/>
              <a:t>Progress </a:t>
            </a:r>
            <a:r>
              <a:rPr lang="en-US" dirty="0" err="1" smtClean="0"/>
              <a:t>v.s</a:t>
            </a:r>
            <a:r>
              <a:rPr lang="en-US" dirty="0" smtClean="0"/>
              <a:t>. plan</a:t>
            </a:r>
          </a:p>
          <a:p>
            <a:pPr lvl="1"/>
            <a:r>
              <a:rPr lang="en-US" dirty="0" smtClean="0"/>
              <a:t>4. Future work</a:t>
            </a:r>
          </a:p>
          <a:p>
            <a:pPr lvl="2"/>
            <a:r>
              <a:rPr lang="en-US" dirty="0" smtClean="0"/>
              <a:t>What do you plan to do next</a:t>
            </a:r>
          </a:p>
          <a:p>
            <a:pPr lvl="1"/>
            <a:r>
              <a:rPr lang="en-US" dirty="0" smtClean="0"/>
              <a:t>Appendix (programs)</a:t>
            </a:r>
          </a:p>
          <a:p>
            <a:pPr lvl="1"/>
            <a:r>
              <a:rPr lang="en-US" dirty="0" smtClean="0"/>
              <a:t>References</a:t>
            </a: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 DESIGN: FINAL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Final report format</a:t>
            </a:r>
          </a:p>
          <a:p>
            <a:pPr lvl="1"/>
            <a:r>
              <a:rPr lang="en-US" dirty="0" smtClean="0"/>
              <a:t>Title page</a:t>
            </a:r>
          </a:p>
          <a:p>
            <a:pPr lvl="1"/>
            <a:r>
              <a:rPr lang="en-US" dirty="0" smtClean="0"/>
              <a:t>Abstract</a:t>
            </a:r>
          </a:p>
          <a:p>
            <a:pPr lvl="1"/>
            <a:r>
              <a:rPr lang="en-US" dirty="0" smtClean="0"/>
              <a:t>Table of Contents</a:t>
            </a:r>
          </a:p>
          <a:p>
            <a:pPr lvl="1"/>
            <a:r>
              <a:rPr lang="en-US" dirty="0" smtClean="0"/>
              <a:t>List of Figures</a:t>
            </a:r>
          </a:p>
          <a:p>
            <a:pPr lvl="1"/>
            <a:r>
              <a:rPr lang="en-US" dirty="0" smtClean="0"/>
              <a:t>List of Tables</a:t>
            </a:r>
          </a:p>
          <a:p>
            <a:pPr lvl="1"/>
            <a:r>
              <a:rPr lang="en-US" dirty="0" smtClean="0"/>
              <a:t>Nomenclature</a:t>
            </a:r>
          </a:p>
          <a:p>
            <a:pPr lvl="1"/>
            <a:r>
              <a:rPr lang="en-US" dirty="0" smtClean="0"/>
              <a:t>1. Introduction</a:t>
            </a:r>
          </a:p>
          <a:p>
            <a:pPr lvl="2"/>
            <a:r>
              <a:rPr lang="en-US" dirty="0" smtClean="0"/>
              <a:t>1.1 Motivation for Project</a:t>
            </a:r>
          </a:p>
          <a:p>
            <a:pPr lvl="2"/>
            <a:r>
              <a:rPr lang="en-US" dirty="0" smtClean="0"/>
              <a:t>1.2 Goals for Project</a:t>
            </a:r>
          </a:p>
          <a:p>
            <a:pPr lvl="1"/>
            <a:r>
              <a:rPr lang="en-US" dirty="0" smtClean="0"/>
              <a:t>2. Theoretical Background</a:t>
            </a:r>
          </a:p>
          <a:p>
            <a:pPr lvl="1"/>
            <a:r>
              <a:rPr lang="en-US" dirty="0" smtClean="0"/>
              <a:t>3. Design Objectives</a:t>
            </a:r>
          </a:p>
          <a:p>
            <a:pPr lvl="1"/>
            <a:r>
              <a:rPr lang="en-US" dirty="0" smtClean="0"/>
              <a:t>4. Design Implementation</a:t>
            </a:r>
          </a:p>
          <a:p>
            <a:pPr lvl="1"/>
            <a:r>
              <a:rPr lang="en-US" dirty="0" smtClean="0"/>
              <a:t>5. Results and Conclusions</a:t>
            </a:r>
          </a:p>
          <a:p>
            <a:pPr lvl="1"/>
            <a:r>
              <a:rPr lang="en-US" dirty="0" smtClean="0"/>
              <a:t>Appendix </a:t>
            </a:r>
          </a:p>
          <a:p>
            <a:pPr lvl="1"/>
            <a:r>
              <a:rPr lang="en-US" dirty="0" smtClean="0"/>
              <a:t>Reference</a:t>
            </a:r>
          </a:p>
          <a:p>
            <a:pPr lvl="1"/>
            <a:r>
              <a:rPr lang="en-US" dirty="0" smtClean="0"/>
              <a:t>Acknowledgement</a:t>
            </a:r>
          </a:p>
          <a:p>
            <a:pPr lvl="1">
              <a:buNone/>
            </a:pPr>
            <a:r>
              <a:rPr lang="en-US" dirty="0" smtClean="0"/>
              <a:t>A template is attached at the end of the syllabus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SCHEDULE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0100" y="1490663"/>
            <a:ext cx="75438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SCHEDULE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4863" y="1905000"/>
            <a:ext cx="753427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POLICY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 Percentage</a:t>
            </a: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Proposal (written)				15%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Progress Report I				15%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Progress Report II 				15%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Progress Report III				15%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Final Report				20%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Presentation (PPT)				20%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A:		90 ≤ grade ≤ 100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B:		80 ≤ grade &lt; 90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C:		70 ≤ grade &lt; 80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D:		60 ≤ grade &lt; 70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F:		0 ≤ grade &lt; 60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 POLICY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pitchFamily="2" charset="-122"/>
              </a:rPr>
              <a:t>Due dates for report will be strictly enforced. Late submission within one week after due will receive a 20% deduction; no credit if submitted one week past due.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  <a:p>
            <a:pPr eaLnBrk="1" hangingPunct="1"/>
            <a:r>
              <a:rPr lang="en-US" altLang="zh-CN" dirty="0" smtClean="0">
                <a:ea typeface="宋体" pitchFamily="2" charset="-122"/>
              </a:rPr>
              <a:t>One report/group. Students within the same group should divide the report writing based on the tasks. Each student should explicitly specify which section is written by him/her.</a:t>
            </a:r>
          </a:p>
          <a:p>
            <a:pPr eaLnBrk="1" hangingPunct="1"/>
            <a:endParaRPr lang="en-US" altLang="zh-CN" dirty="0" smtClean="0">
              <a:ea typeface="宋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1449</Words>
  <Application>Microsoft Office PowerPoint</Application>
  <PresentationFormat>On-screen Show (4:3)</PresentationFormat>
  <Paragraphs>297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 ELEG 4061 EE Design I</vt:lpstr>
      <vt:lpstr>GENERAL INFORMATION</vt:lpstr>
      <vt:lpstr>TA</vt:lpstr>
      <vt:lpstr>REFERENCES AND PREREQUISITES</vt:lpstr>
      <vt:lpstr>EE DESIGN: OBJECTIVES</vt:lpstr>
      <vt:lpstr>EE DESIGN: OBJECTIVES</vt:lpstr>
      <vt:lpstr>EE DESIGN: OBJECTIVES</vt:lpstr>
      <vt:lpstr>EE DESIGN: OBJECTIVES</vt:lpstr>
      <vt:lpstr>EE DESIGN: REQUIREMENTS</vt:lpstr>
      <vt:lpstr>EE DESIGN: DESIGN PROCESS</vt:lpstr>
      <vt:lpstr>EE DESIGN: DESIGN PROCESS</vt:lpstr>
      <vt:lpstr>EE DESING: DESIGN PROCESS</vt:lpstr>
      <vt:lpstr>EE DESING: DESIGN PROCESS</vt:lpstr>
      <vt:lpstr>EE DESING: DESIGN PROCESS</vt:lpstr>
      <vt:lpstr>EE DESIGN: DESIGN PROCESS</vt:lpstr>
      <vt:lpstr>EE DESIGN: DESIGN PROCESS</vt:lpstr>
      <vt:lpstr>EE DESIGN: PROGRESS REPORTS</vt:lpstr>
      <vt:lpstr>EE DESING: PROGRESS REPORTS</vt:lpstr>
      <vt:lpstr>EE DESIGN: FINAL REPORT</vt:lpstr>
      <vt:lpstr>SCHEDULE</vt:lpstr>
      <vt:lpstr>SCHEDULE</vt:lpstr>
      <vt:lpstr>GRADING POLICY</vt:lpstr>
      <vt:lpstr>GRADING POLICY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105</cp:revision>
  <dcterms:created xsi:type="dcterms:W3CDTF">2006-08-16T00:00:00Z</dcterms:created>
  <dcterms:modified xsi:type="dcterms:W3CDTF">2011-01-27T16:21:28Z</dcterms:modified>
</cp:coreProperties>
</file>