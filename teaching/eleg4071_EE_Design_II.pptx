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8" r:id="rId4"/>
    <p:sldId id="261" r:id="rId5"/>
    <p:sldId id="269" r:id="rId6"/>
    <p:sldId id="270" r:id="rId7"/>
    <p:sldId id="271" r:id="rId8"/>
    <p:sldId id="272" r:id="rId9"/>
    <p:sldId id="274" r:id="rId10"/>
    <p:sldId id="284" r:id="rId11"/>
    <p:sldId id="285" r:id="rId12"/>
    <p:sldId id="281" r:id="rId13"/>
    <p:sldId id="28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490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1/18/2011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800" dirty="0" smtClean="0"/>
              <a:t>ELEG 4071 EE Design II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Instructor: Dr. Jingxian Wu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Email: wuj@uark.edu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Phone: (479) 575-6584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Office: Bell 3181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Hours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Th. 9:30 AM – 10:30 AM,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By appointment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Schedule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Bell 2291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2:00 PM – 4:50 PM</a:t>
            </a: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TA:</a:t>
            </a:r>
          </a:p>
          <a:p>
            <a:pPr lvl="1"/>
            <a:r>
              <a:rPr lang="en-US" dirty="0" smtClean="0"/>
              <a:t>Mr. Steve </a:t>
            </a:r>
            <a:r>
              <a:rPr lang="en-US" dirty="0" smtClean="0"/>
              <a:t>Yancey</a:t>
            </a:r>
            <a:endParaRPr lang="en-US" dirty="0" smtClean="0"/>
          </a:p>
          <a:p>
            <a:pPr lvl="1"/>
            <a:r>
              <a:rPr lang="en-US" dirty="0" smtClean="0"/>
              <a:t>Email: swyancey@uark.edu</a:t>
            </a:r>
          </a:p>
          <a:p>
            <a:pPr lvl="1"/>
            <a:r>
              <a:rPr lang="en-US" dirty="0" smtClean="0"/>
              <a:t>Responsibility: </a:t>
            </a:r>
            <a:endParaRPr lang="en-US" dirty="0" smtClean="0"/>
          </a:p>
          <a:p>
            <a:pPr lvl="1"/>
            <a:r>
              <a:rPr lang="en-US" dirty="0" smtClean="0"/>
              <a:t>Office</a:t>
            </a:r>
            <a:r>
              <a:rPr lang="en-US" dirty="0" smtClean="0"/>
              <a:t>: ENGR 119</a:t>
            </a:r>
          </a:p>
          <a:p>
            <a:pPr lvl="1"/>
            <a:r>
              <a:rPr lang="en-US" dirty="0" smtClean="0"/>
              <a:t>Office </a:t>
            </a:r>
            <a:r>
              <a:rPr lang="en-US" dirty="0" smtClean="0"/>
              <a:t>Hour:</a:t>
            </a:r>
          </a:p>
          <a:p>
            <a:pPr lvl="2"/>
            <a:r>
              <a:rPr lang="en-US" dirty="0" smtClean="0"/>
              <a:t>M. W. Th. F.: 12:00 PM – 4:00 PM</a:t>
            </a:r>
          </a:p>
          <a:p>
            <a:pPr lvl="2"/>
            <a:r>
              <a:rPr lang="en-US" dirty="0" smtClean="0"/>
              <a:t>Tu. 1:00 PM – 5:00 PM</a:t>
            </a:r>
            <a:endParaRPr lang="en-US" dirty="0" smtClean="0"/>
          </a:p>
          <a:p>
            <a:pPr lvl="0">
              <a:defRPr/>
            </a:pPr>
            <a:r>
              <a:rPr lang="en-US" altLang="zh-CN" dirty="0" smtClean="0">
                <a:ea typeface="宋体" pitchFamily="2" charset="-122"/>
              </a:rPr>
              <a:t>Lab Schedule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ENGR </a:t>
            </a:r>
            <a:r>
              <a:rPr lang="en-US" altLang="zh-CN" dirty="0" smtClean="0">
                <a:ea typeface="宋体" pitchFamily="2" charset="-122"/>
              </a:rPr>
              <a:t>119 </a:t>
            </a:r>
            <a:r>
              <a:rPr lang="en-US" dirty="0" smtClean="0"/>
              <a:t>combination: 5-3-4-1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If there is no lecture scheduled on Tue, you must be in the lab during the scheduled time (2:00 – 4:50 PM).  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Any other time. 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Suggested lab </a:t>
            </a:r>
            <a:r>
              <a:rPr lang="en-US" altLang="zh-CN" dirty="0" smtClean="0">
                <a:ea typeface="宋体" pitchFamily="2" charset="-122"/>
              </a:rPr>
              <a:t>hour: 9 </a:t>
            </a:r>
            <a:r>
              <a:rPr lang="en-US" altLang="zh-CN" dirty="0" smtClean="0">
                <a:ea typeface="宋体" pitchFamily="2" charset="-122"/>
              </a:rPr>
              <a:t>hours/week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AND PREREQUISITES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References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P. Horowitz and W. Hill, The Art of Electronics, Cambridge University Press, 2nd Ed., July 1989. 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J. </a:t>
            </a:r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Catsoulis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Designing Embedded Hardware, </a:t>
            </a:r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O’Reilley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Media, 2nd Ed., May 2005.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Pre-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requisties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Microcontroller System Design (ELEG 3924)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analog and interface circuitry (ELEG 3223)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Ability to use commercial integrate circuits in design project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Apply knowledge gained in previous courses </a:t>
            </a:r>
          </a:p>
          <a:p>
            <a:pPr lvl="2"/>
            <a:r>
              <a:rPr lang="en-US" dirty="0" smtClean="0"/>
              <a:t>Electrical circuits and electronics</a:t>
            </a:r>
          </a:p>
          <a:p>
            <a:pPr lvl="2"/>
            <a:r>
              <a:rPr lang="en-US" dirty="0" smtClean="0"/>
              <a:t>Microcontroller and embedded systems</a:t>
            </a:r>
          </a:p>
          <a:p>
            <a:pPr lvl="2"/>
            <a:r>
              <a:rPr lang="en-US" dirty="0" smtClean="0"/>
              <a:t>Signals and systems (control system, communication system, etc.)</a:t>
            </a:r>
          </a:p>
          <a:p>
            <a:pPr lvl="2"/>
            <a:r>
              <a:rPr lang="en-US" dirty="0" err="1" smtClean="0"/>
              <a:t>Electromagnetics</a:t>
            </a:r>
            <a:r>
              <a:rPr lang="en-US" dirty="0" smtClean="0"/>
              <a:t> and Microwave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Improve design skills</a:t>
            </a:r>
          </a:p>
          <a:p>
            <a:pPr lvl="2"/>
            <a:r>
              <a:rPr lang="en-US" dirty="0" smtClean="0"/>
              <a:t>How to design a system?</a:t>
            </a:r>
          </a:p>
          <a:p>
            <a:pPr lvl="2"/>
            <a:r>
              <a:rPr lang="en-US" dirty="0" smtClean="0"/>
              <a:t>Preparation </a:t>
            </a:r>
            <a:r>
              <a:rPr lang="en-US" dirty="0" smtClean="0">
                <a:sym typeface="Wingdings" pitchFamily="2" charset="2"/>
              </a:rPr>
              <a:t> topic identification  proposal  design overview component level design  simulation and verification  component level development  system level development  system integration  debug and calibration  testing  demo and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Address the need of a specific engineering work</a:t>
            </a:r>
          </a:p>
          <a:p>
            <a:pPr lvl="2"/>
            <a:r>
              <a:rPr lang="en-US" dirty="0" smtClean="0"/>
              <a:t>The designed system might be an independent system</a:t>
            </a:r>
          </a:p>
          <a:p>
            <a:pPr lvl="2"/>
            <a:r>
              <a:rPr lang="en-US" dirty="0" smtClean="0"/>
              <a:t>Or part of a large problem</a:t>
            </a:r>
          </a:p>
          <a:p>
            <a:pPr lvl="2"/>
            <a:r>
              <a:rPr lang="en-US" dirty="0" smtClean="0"/>
              <a:t>The final product can solve certain Engineering problem or meet certain societal needs.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Exposed to practical design considerations</a:t>
            </a:r>
          </a:p>
          <a:p>
            <a:pPr lvl="2"/>
            <a:r>
              <a:rPr lang="en-US" dirty="0" smtClean="0"/>
              <a:t>Tradeoff among performance, complexity, cost</a:t>
            </a:r>
          </a:p>
          <a:p>
            <a:pPr lvl="2"/>
            <a:r>
              <a:rPr lang="en-US" dirty="0" smtClean="0"/>
              <a:t>Non-ideal elements</a:t>
            </a:r>
          </a:p>
          <a:p>
            <a:pPr lvl="2"/>
            <a:r>
              <a:rPr lang="en-US" dirty="0" smtClean="0"/>
              <a:t>Tolerance, optimization, form 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Career training</a:t>
            </a:r>
          </a:p>
          <a:p>
            <a:pPr lvl="2"/>
            <a:r>
              <a:rPr lang="en-US" dirty="0" smtClean="0"/>
              <a:t>Practical engineering work</a:t>
            </a:r>
          </a:p>
          <a:p>
            <a:pPr lvl="2"/>
            <a:r>
              <a:rPr lang="en-US" dirty="0" smtClean="0"/>
              <a:t>How to find a job (job hunting, resume, interview)</a:t>
            </a:r>
          </a:p>
          <a:p>
            <a:pPr lvl="2"/>
            <a:r>
              <a:rPr lang="en-US" dirty="0" smtClean="0"/>
              <a:t>How to survive 1</a:t>
            </a:r>
            <a:r>
              <a:rPr lang="en-US" baseline="30000" dirty="0" smtClean="0"/>
              <a:t>st</a:t>
            </a:r>
            <a:r>
              <a:rPr lang="en-US" dirty="0" smtClean="0"/>
              <a:t> year on a job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Broader impacts</a:t>
            </a:r>
          </a:p>
          <a:p>
            <a:pPr lvl="2"/>
            <a:r>
              <a:rPr lang="en-US" dirty="0" smtClean="0"/>
              <a:t>Understand the impacts of specific engineering work on a large process and/or society</a:t>
            </a:r>
          </a:p>
          <a:p>
            <a:pPr lvl="2"/>
            <a:r>
              <a:rPr lang="en-US" dirty="0" smtClean="0"/>
              <a:t>Address certain needs</a:t>
            </a:r>
          </a:p>
          <a:p>
            <a:pPr lvl="2"/>
            <a:r>
              <a:rPr lang="en-US" dirty="0" smtClean="0"/>
              <a:t>Environmental impact: power consumption, electromagnetic interference (EMI)</a:t>
            </a:r>
          </a:p>
          <a:p>
            <a:pPr lvl="2"/>
            <a:r>
              <a:rPr lang="en-US" dirty="0" smtClean="0"/>
              <a:t>……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Presentation skills</a:t>
            </a:r>
          </a:p>
          <a:p>
            <a:pPr lvl="2"/>
            <a:r>
              <a:rPr lang="en-US" dirty="0" smtClean="0"/>
              <a:t>Oral presentation</a:t>
            </a:r>
          </a:p>
          <a:p>
            <a:pPr lvl="2"/>
            <a:r>
              <a:rPr lang="en-US" dirty="0" smtClean="0"/>
              <a:t>How to write a proposal?</a:t>
            </a:r>
          </a:p>
          <a:p>
            <a:pPr lvl="2"/>
            <a:r>
              <a:rPr lang="en-US" dirty="0" smtClean="0"/>
              <a:t>How to write a report?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Team work skills</a:t>
            </a:r>
          </a:p>
          <a:p>
            <a:pPr lvl="2"/>
            <a:r>
              <a:rPr lang="en-US" dirty="0" smtClean="0"/>
              <a:t>How to communicate with other team members</a:t>
            </a:r>
          </a:p>
          <a:p>
            <a:pPr lvl="2"/>
            <a:r>
              <a:rPr lang="en-US" dirty="0" smtClean="0"/>
              <a:t>How to collaborate with other team members</a:t>
            </a:r>
          </a:p>
          <a:p>
            <a:pPr lvl="2"/>
            <a:r>
              <a:rPr lang="en-US" dirty="0" smtClean="0"/>
              <a:t>How to manage a project?</a:t>
            </a:r>
          </a:p>
          <a:p>
            <a:pPr lvl="3"/>
            <a:r>
              <a:rPr lang="en-US" dirty="0" smtClean="0"/>
              <a:t>E.g. divide a big project into several sub-projects</a:t>
            </a:r>
          </a:p>
          <a:p>
            <a:pPr lvl="3"/>
            <a:r>
              <a:rPr lang="en-US" dirty="0" smtClean="0"/>
              <a:t>Planning (schedule)</a:t>
            </a:r>
          </a:p>
          <a:p>
            <a:pPr lvl="3"/>
            <a:r>
              <a:rPr lang="en-US" dirty="0" smtClean="0"/>
              <a:t>Monitor the project progress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process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1. Identify a project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2. Project proposal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3. Design Overview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4. Component level design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5. Simulation, Development, review and revision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6. Component development and debug (weeks 1 ~ 7)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7. System development and integration (weeks 8 ~ 11)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8. Debug and calibration (weeks 12 ~ 13)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9. Testing  (Week 14)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10. Demonstration (Weeks 15 ~ 16)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Red: EE Design I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Green: EE Design II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" y="1447800"/>
            <a:ext cx="9020175" cy="3642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981200"/>
            <a:ext cx="8839200" cy="286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286000"/>
            <a:ext cx="8839200" cy="2854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PROGRESS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7772400" cy="56007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Progress reports</a:t>
            </a:r>
          </a:p>
          <a:p>
            <a:pPr lvl="1"/>
            <a:r>
              <a:rPr lang="en-US" dirty="0" smtClean="0"/>
              <a:t>Report the current status and progress of the projects</a:t>
            </a:r>
          </a:p>
          <a:p>
            <a:pPr lvl="1"/>
            <a:r>
              <a:rPr lang="en-US" dirty="0" smtClean="0"/>
              <a:t>Doesn’t need to be long. Report your current progress</a:t>
            </a:r>
          </a:p>
          <a:p>
            <a:pPr lvl="1"/>
            <a:r>
              <a:rPr lang="en-US" dirty="0" smtClean="0"/>
              <a:t>Format</a:t>
            </a:r>
          </a:p>
          <a:p>
            <a:pPr lvl="2"/>
            <a:r>
              <a:rPr lang="en-US" dirty="0" smtClean="0"/>
              <a:t>Cover page</a:t>
            </a:r>
          </a:p>
          <a:p>
            <a:pPr lvl="2"/>
            <a:r>
              <a:rPr lang="en-US" dirty="0" smtClean="0"/>
              <a:t>1. Objectives</a:t>
            </a:r>
          </a:p>
          <a:p>
            <a:pPr lvl="2"/>
            <a:r>
              <a:rPr lang="en-US" dirty="0" smtClean="0"/>
              <a:t>2. Description of designs and results</a:t>
            </a:r>
          </a:p>
          <a:p>
            <a:pPr lvl="3"/>
            <a:r>
              <a:rPr lang="en-US" dirty="0" smtClean="0"/>
              <a:t>What did you develop during the past few weeks</a:t>
            </a:r>
          </a:p>
          <a:p>
            <a:pPr lvl="3"/>
            <a:r>
              <a:rPr lang="en-US" dirty="0" smtClean="0"/>
              <a:t>Measurement and simulation </a:t>
            </a:r>
            <a:r>
              <a:rPr lang="en-US" dirty="0" smtClean="0"/>
              <a:t>results</a:t>
            </a:r>
          </a:p>
          <a:p>
            <a:pPr lvl="3"/>
            <a:r>
              <a:rPr lang="en-US" dirty="0" smtClean="0"/>
              <a:t>Does the designed component meet specifications?</a:t>
            </a:r>
            <a:endParaRPr lang="en-US" dirty="0" smtClean="0"/>
          </a:p>
          <a:p>
            <a:pPr lvl="2"/>
            <a:r>
              <a:rPr lang="en-US" dirty="0" smtClean="0"/>
              <a:t>3. Project status</a:t>
            </a:r>
          </a:p>
          <a:p>
            <a:pPr lvl="3"/>
            <a:r>
              <a:rPr lang="en-US" dirty="0" smtClean="0"/>
              <a:t>Current status of the project</a:t>
            </a:r>
          </a:p>
          <a:p>
            <a:pPr lvl="3"/>
            <a:r>
              <a:rPr lang="en-US" dirty="0" smtClean="0"/>
              <a:t>Progress </a:t>
            </a:r>
            <a:r>
              <a:rPr lang="en-US" dirty="0" err="1" smtClean="0"/>
              <a:t>v.s</a:t>
            </a:r>
            <a:r>
              <a:rPr lang="en-US" dirty="0" smtClean="0"/>
              <a:t>. plan</a:t>
            </a:r>
          </a:p>
          <a:p>
            <a:pPr lvl="2"/>
            <a:r>
              <a:rPr lang="en-US" dirty="0" smtClean="0"/>
              <a:t>4. Future work</a:t>
            </a:r>
          </a:p>
          <a:p>
            <a:pPr lvl="3"/>
            <a:r>
              <a:rPr lang="en-US" dirty="0" smtClean="0"/>
              <a:t>What do you plan to do next</a:t>
            </a:r>
          </a:p>
          <a:p>
            <a:pPr lvl="2"/>
            <a:r>
              <a:rPr lang="en-US" dirty="0" smtClean="0"/>
              <a:t>Appendix (programs)</a:t>
            </a:r>
          </a:p>
          <a:p>
            <a:pPr lvl="2"/>
            <a:r>
              <a:rPr lang="en-US" dirty="0" smtClean="0"/>
              <a:t>References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Each group also needs to give a power point presentation on the development progress.</a:t>
            </a:r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DESING: FINAL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Final report</a:t>
            </a:r>
          </a:p>
          <a:p>
            <a:pPr lvl="1"/>
            <a:r>
              <a:rPr lang="en-US" dirty="0" smtClean="0"/>
              <a:t>A comprehensive report that includes everything about the project</a:t>
            </a:r>
          </a:p>
          <a:p>
            <a:pPr lvl="1"/>
            <a:r>
              <a:rPr lang="en-US" dirty="0" smtClean="0"/>
              <a:t>Follow the same format as the EE Design I Final Report</a:t>
            </a:r>
          </a:p>
          <a:p>
            <a:pPr lvl="2"/>
            <a:r>
              <a:rPr lang="en-US" dirty="0" smtClean="0"/>
              <a:t>Title page</a:t>
            </a:r>
          </a:p>
          <a:p>
            <a:pPr lvl="2"/>
            <a:r>
              <a:rPr lang="en-US" dirty="0" smtClean="0"/>
              <a:t>Abstract</a:t>
            </a:r>
          </a:p>
          <a:p>
            <a:pPr lvl="2"/>
            <a:r>
              <a:rPr lang="en-US" dirty="0" smtClean="0"/>
              <a:t>Table of Contents</a:t>
            </a:r>
          </a:p>
          <a:p>
            <a:pPr lvl="2"/>
            <a:r>
              <a:rPr lang="en-US" dirty="0" smtClean="0"/>
              <a:t>List of Figures</a:t>
            </a:r>
          </a:p>
          <a:p>
            <a:pPr lvl="2"/>
            <a:r>
              <a:rPr lang="en-US" dirty="0" smtClean="0"/>
              <a:t>List of Tables</a:t>
            </a:r>
          </a:p>
          <a:p>
            <a:pPr lvl="2"/>
            <a:r>
              <a:rPr lang="en-US" dirty="0" smtClean="0"/>
              <a:t>Nomenclature</a:t>
            </a:r>
          </a:p>
          <a:p>
            <a:pPr lvl="2"/>
            <a:r>
              <a:rPr lang="en-US" dirty="0" smtClean="0"/>
              <a:t>1. Introduction</a:t>
            </a:r>
          </a:p>
          <a:p>
            <a:pPr lvl="3"/>
            <a:r>
              <a:rPr lang="en-US" dirty="0" smtClean="0"/>
              <a:t>1.1 Motivation for Project</a:t>
            </a:r>
          </a:p>
          <a:p>
            <a:pPr lvl="3"/>
            <a:r>
              <a:rPr lang="en-US" dirty="0" smtClean="0"/>
              <a:t>1.2 Goals for Project</a:t>
            </a:r>
          </a:p>
          <a:p>
            <a:pPr lvl="2"/>
            <a:r>
              <a:rPr lang="en-US" dirty="0" smtClean="0"/>
              <a:t>2. Theoretical Background</a:t>
            </a:r>
          </a:p>
          <a:p>
            <a:pPr lvl="2"/>
            <a:r>
              <a:rPr lang="en-US" dirty="0" smtClean="0"/>
              <a:t>3. Design Objectives</a:t>
            </a:r>
          </a:p>
          <a:p>
            <a:pPr lvl="2"/>
            <a:r>
              <a:rPr lang="en-US" dirty="0" smtClean="0"/>
              <a:t>4. Design Implementation</a:t>
            </a:r>
          </a:p>
          <a:p>
            <a:pPr lvl="2"/>
            <a:r>
              <a:rPr lang="en-US" dirty="0" smtClean="0"/>
              <a:t>5. Results and Conclusions</a:t>
            </a:r>
          </a:p>
          <a:p>
            <a:pPr lvl="2"/>
            <a:r>
              <a:rPr lang="en-US" dirty="0" smtClean="0"/>
              <a:t>Appendix </a:t>
            </a:r>
          </a:p>
          <a:p>
            <a:pPr lvl="2"/>
            <a:r>
              <a:rPr lang="en-US" dirty="0" smtClean="0"/>
              <a:t>Reference</a:t>
            </a:r>
          </a:p>
          <a:p>
            <a:pPr lvl="2"/>
            <a:r>
              <a:rPr lang="en-US" dirty="0" smtClean="0"/>
              <a:t>Acknowledgement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 Percentage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Progress Reports (written)			10%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Progress Report Presentation	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Final Report				20%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Informal Demo				10%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Final Demo				20%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Finished Projects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v.s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 requirements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Lab station clean				5%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A:		90 ≤ grade ≤ 100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B:		80 ≤ grade &lt; 90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C:		70 ≤ grade &lt; 80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D:		60 ≤ grade &lt; 70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F:		0 ≤ grade &lt; 60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I:			final demo is not successful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If the final demo is not working, students will receive an ‘I’ grade, and will not be able to graduate. 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Due dates for report will be strictly enforced. Late submission within one week after due will receive a 20% deduction; no credit if submitted one week past due.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One report/group. Students within the same group should divide the report writing based on the tasks. Each student should explicitly specify which section is written by him/her.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864</Words>
  <Application>Microsoft Office PowerPoint</Application>
  <PresentationFormat>On-screen Show (4:3)</PresentationFormat>
  <Paragraphs>178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ELEG 4071 EE Design II</vt:lpstr>
      <vt:lpstr>GENERAL INFORMATION</vt:lpstr>
      <vt:lpstr>TA</vt:lpstr>
      <vt:lpstr>REFERENCES AND PREREQUISITES</vt:lpstr>
      <vt:lpstr>EE DESIGN: OBJECTIVES</vt:lpstr>
      <vt:lpstr>EE DESIGN: OBJECTIVES</vt:lpstr>
      <vt:lpstr>EE DESIGN: OBJECTIVES</vt:lpstr>
      <vt:lpstr>EE DESIGN: OBJECTIVES</vt:lpstr>
      <vt:lpstr>EE DESIGN: DESIGN PROCESS</vt:lpstr>
      <vt:lpstr>EE DESIGN: SCHEDULE</vt:lpstr>
      <vt:lpstr>EE DESIGN: SCHEDULE</vt:lpstr>
      <vt:lpstr>EE DESIGN: PROGRESS REPORTS</vt:lpstr>
      <vt:lpstr>EE DESING: FINAL REPORT</vt:lpstr>
      <vt:lpstr>GRADING POLICY</vt:lpstr>
      <vt:lpstr>GRADING POLICY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126</cp:revision>
  <dcterms:created xsi:type="dcterms:W3CDTF">2006-08-16T00:00:00Z</dcterms:created>
  <dcterms:modified xsi:type="dcterms:W3CDTF">2011-01-18T19:51:23Z</dcterms:modified>
</cp:coreProperties>
</file>