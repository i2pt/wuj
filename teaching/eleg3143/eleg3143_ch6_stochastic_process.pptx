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sldIdLst>
    <p:sldId id="256" r:id="rId2"/>
    <p:sldId id="360" r:id="rId3"/>
    <p:sldId id="361" r:id="rId4"/>
    <p:sldId id="362" r:id="rId5"/>
    <p:sldId id="363" r:id="rId6"/>
    <p:sldId id="364" r:id="rId7"/>
    <p:sldId id="407" r:id="rId8"/>
    <p:sldId id="365" r:id="rId9"/>
    <p:sldId id="366" r:id="rId10"/>
    <p:sldId id="367" r:id="rId11"/>
    <p:sldId id="369" r:id="rId12"/>
    <p:sldId id="422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412" r:id="rId22"/>
    <p:sldId id="423" r:id="rId23"/>
    <p:sldId id="413" r:id="rId24"/>
    <p:sldId id="414" r:id="rId25"/>
    <p:sldId id="415" r:id="rId26"/>
    <p:sldId id="416" r:id="rId27"/>
    <p:sldId id="419" r:id="rId28"/>
    <p:sldId id="420" r:id="rId29"/>
    <p:sldId id="424" r:id="rId30"/>
    <p:sldId id="383" r:id="rId31"/>
    <p:sldId id="384" r:id="rId32"/>
    <p:sldId id="385" r:id="rId33"/>
    <p:sldId id="386" r:id="rId34"/>
    <p:sldId id="425" r:id="rId35"/>
    <p:sldId id="387" r:id="rId36"/>
    <p:sldId id="388" r:id="rId37"/>
    <p:sldId id="389" r:id="rId38"/>
    <p:sldId id="399" r:id="rId39"/>
    <p:sldId id="390" r:id="rId40"/>
    <p:sldId id="398" r:id="rId41"/>
    <p:sldId id="426" r:id="rId42"/>
    <p:sldId id="401" r:id="rId43"/>
    <p:sldId id="402" r:id="rId44"/>
    <p:sldId id="403" r:id="rId45"/>
    <p:sldId id="427" r:id="rId46"/>
    <p:sldId id="392" r:id="rId47"/>
    <p:sldId id="393" r:id="rId48"/>
    <p:sldId id="394" r:id="rId49"/>
    <p:sldId id="395" r:id="rId50"/>
    <p:sldId id="396" r:id="rId51"/>
    <p:sldId id="428" r:id="rId52"/>
    <p:sldId id="405" r:id="rId53"/>
    <p:sldId id="406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87716" autoAdjust="0"/>
  </p:normalViewPr>
  <p:slideViewPr>
    <p:cSldViewPr>
      <p:cViewPr varScale="1">
        <p:scale>
          <a:sx n="89" d="100"/>
          <a:sy n="89" d="100"/>
        </p:scale>
        <p:origin x="160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0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29.wmf"/><Relationship Id="rId5" Type="http://schemas.openxmlformats.org/officeDocument/2006/relationships/image" Target="../media/image11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94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4" Type="http://schemas.openxmlformats.org/officeDocument/2006/relationships/image" Target="../media/image10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4" Type="http://schemas.openxmlformats.org/officeDocument/2006/relationships/image" Target="../media/image12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5/1/2018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8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cos</a:t>
            </a:r>
            <a:r>
              <a:rPr lang="en-US" dirty="0" smtClean="0"/>
              <a:t>(x)</a:t>
            </a:r>
            <a:r>
              <a:rPr lang="en-US" dirty="0" err="1" smtClean="0"/>
              <a:t>cos</a:t>
            </a:r>
            <a:r>
              <a:rPr lang="en-US" dirty="0" smtClean="0"/>
              <a:t>(y)=[</a:t>
            </a:r>
            <a:r>
              <a:rPr lang="en-US" dirty="0" err="1" smtClean="0"/>
              <a:t>cos</a:t>
            </a:r>
            <a:r>
              <a:rPr lang="en-US" dirty="0" smtClean="0"/>
              <a:t>(</a:t>
            </a:r>
            <a:r>
              <a:rPr lang="en-US" dirty="0" err="1" smtClean="0"/>
              <a:t>x+y</a:t>
            </a:r>
            <a:r>
              <a:rPr lang="en-US" dirty="0" smtClean="0"/>
              <a:t>)+</a:t>
            </a:r>
            <a:r>
              <a:rPr lang="en-US" dirty="0" err="1" smtClean="0"/>
              <a:t>cos</a:t>
            </a:r>
            <a:r>
              <a:rPr lang="en-US" dirty="0" smtClean="0"/>
              <a:t>(x-y)]/2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8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Sinx</a:t>
            </a:r>
            <a:r>
              <a:rPr lang="en-US" dirty="0" smtClean="0"/>
              <a:t> </a:t>
            </a:r>
            <a:r>
              <a:rPr lang="en-US" dirty="0" err="1" smtClean="0"/>
              <a:t>cos</a:t>
            </a:r>
            <a:r>
              <a:rPr lang="en-US" baseline="0" dirty="0" smtClean="0"/>
              <a:t> y = ½ [sin(</a:t>
            </a:r>
            <a:r>
              <a:rPr lang="en-US" baseline="0" dirty="0" err="1" smtClean="0"/>
              <a:t>x+y</a:t>
            </a:r>
            <a:r>
              <a:rPr lang="en-US" baseline="0" dirty="0" smtClean="0"/>
              <a:t>)+sin(x-y)]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6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3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4.wmf"/><Relationship Id="rId3" Type="http://schemas.openxmlformats.org/officeDocument/2006/relationships/oleObject" Target="../embeddings/oleObject9.bin"/><Relationship Id="rId7" Type="http://schemas.openxmlformats.org/officeDocument/2006/relationships/image" Target="../media/image17.png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0.wmf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4.png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Relationship Id="rId14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11.wmf"/><Relationship Id="rId1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2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33.bin"/><Relationship Id="rId21" Type="http://schemas.openxmlformats.org/officeDocument/2006/relationships/image" Target="../media/image39.wmf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wmf"/><Relationship Id="rId20" Type="http://schemas.openxmlformats.org/officeDocument/2006/relationships/oleObject" Target="../embeddings/oleObject42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9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7" Type="http://schemas.openxmlformats.org/officeDocument/2006/relationships/image" Target="../media/image8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9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image" Target="../media/image97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0.wmf"/><Relationship Id="rId11" Type="http://schemas.openxmlformats.org/officeDocument/2006/relationships/image" Target="../media/image96.wmf"/><Relationship Id="rId5" Type="http://schemas.openxmlformats.org/officeDocument/2006/relationships/oleObject" Target="../embeddings/oleObject76.bin"/><Relationship Id="rId10" Type="http://schemas.openxmlformats.org/officeDocument/2006/relationships/oleObject" Target="../embeddings/oleObject79.bin"/><Relationship Id="rId4" Type="http://schemas.openxmlformats.org/officeDocument/2006/relationships/image" Target="../media/image94.wmf"/><Relationship Id="rId9" Type="http://schemas.openxmlformats.org/officeDocument/2006/relationships/oleObject" Target="../embeddings/oleObject78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9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7" Type="http://schemas.openxmlformats.org/officeDocument/2006/relationships/image" Target="../media/image8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98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8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08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5.wmf"/><Relationship Id="rId11" Type="http://schemas.openxmlformats.org/officeDocument/2006/relationships/image" Target="../media/image110.png"/><Relationship Id="rId5" Type="http://schemas.openxmlformats.org/officeDocument/2006/relationships/oleObject" Target="../embeddings/oleObject90.bin"/><Relationship Id="rId15" Type="http://schemas.openxmlformats.org/officeDocument/2006/relationships/image" Target="../media/image109.wmf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92.bin"/><Relationship Id="rId14" Type="http://schemas.openxmlformats.org/officeDocument/2006/relationships/oleObject" Target="../embeddings/oleObject94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112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19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10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10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image" Target="../media/image3.png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31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14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33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136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37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40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43.wmf"/><Relationship Id="rId9" Type="http://schemas.openxmlformats.org/officeDocument/2006/relationships/image" Target="../media/image14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3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6 Stochastic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stochastic process (random process)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continuous-time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Description of 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discrete-time </a:t>
            </a: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 and non-ergodic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Stochastic process, or, random process</a:t>
            </a:r>
          </a:p>
          <a:p>
            <a:pPr lvl="1"/>
            <a:r>
              <a:rPr lang="en-US" dirty="0" smtClean="0"/>
              <a:t>A random variable changes with respect to time</a:t>
            </a:r>
          </a:p>
          <a:p>
            <a:pPr lvl="2"/>
            <a:r>
              <a:rPr lang="en-US" dirty="0" smtClean="0"/>
              <a:t>Example: the temperature in the room</a:t>
            </a:r>
          </a:p>
          <a:p>
            <a:pPr lvl="3"/>
            <a:r>
              <a:rPr lang="en-US" dirty="0" smtClean="0"/>
              <a:t>At any given moment, the temperature is random: random variable</a:t>
            </a:r>
          </a:p>
          <a:p>
            <a:pPr lvl="3"/>
            <a:r>
              <a:rPr lang="en-US" dirty="0" smtClean="0"/>
              <a:t>The temperature (the value of the random variable) changes with respect to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200400"/>
            <a:ext cx="3886200" cy="322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Stochastic process (random process)</a:t>
            </a:r>
          </a:p>
          <a:p>
            <a:pPr lvl="1"/>
            <a:r>
              <a:rPr lang="en-US" dirty="0" smtClean="0"/>
              <a:t>Recall: Random variable is a mapping from random events to real number:             , where       is a random event</a:t>
            </a:r>
          </a:p>
          <a:p>
            <a:pPr lvl="1"/>
            <a:r>
              <a:rPr lang="en-US" dirty="0" smtClean="0"/>
              <a:t> Stochastic process is a random variable changes with time</a:t>
            </a:r>
          </a:p>
          <a:p>
            <a:pPr lvl="2"/>
            <a:r>
              <a:rPr lang="en-US" dirty="0" smtClean="0"/>
              <a:t>Denoted as:</a:t>
            </a:r>
          </a:p>
          <a:p>
            <a:pPr lvl="2"/>
            <a:r>
              <a:rPr lang="en-US" dirty="0" smtClean="0"/>
              <a:t>It is a function of random event     , and time </a:t>
            </a:r>
            <a:r>
              <a:rPr lang="en-US" i="1" dirty="0" smtClean="0"/>
              <a:t>t</a:t>
            </a:r>
            <a:r>
              <a:rPr lang="en-US" dirty="0" smtClean="0"/>
              <a:t>.   </a:t>
            </a:r>
          </a:p>
          <a:p>
            <a:pPr lvl="2"/>
            <a:r>
              <a:rPr lang="en-US" dirty="0" smtClean="0"/>
              <a:t>Recall: random variable is a function of random event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362200" y="1600200"/>
          <a:ext cx="5524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5" name="Equation" r:id="rId3" imgW="368280" imgH="203040" progId="Equation.3">
                  <p:embed/>
                </p:oleObj>
              </mc:Choice>
              <mc:Fallback>
                <p:oleObj name="Equation" r:id="rId3" imgW="36828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00200"/>
                        <a:ext cx="5524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3733800" y="16002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6" name="Equation" r:id="rId5" imgW="126720" imgH="203040" progId="Equation.3">
                  <p:embed/>
                </p:oleObj>
              </mc:Choice>
              <mc:Fallback>
                <p:oleObj name="Equation" r:id="rId5" imgW="12672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002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2971800" y="2209800"/>
          <a:ext cx="7048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7" name="Equation" r:id="rId7" imgW="469800" imgH="203040" progId="Equation.3">
                  <p:embed/>
                </p:oleObj>
              </mc:Choice>
              <mc:Fallback>
                <p:oleObj name="Equation" r:id="rId7" imgW="46980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09800"/>
                        <a:ext cx="7048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4800600" y="25146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8" name="Equation" r:id="rId9" imgW="126720" imgH="203040" progId="Equation.3">
                  <p:embed/>
                </p:oleObj>
              </mc:Choice>
              <mc:Fallback>
                <p:oleObj name="Equation" r:id="rId9" imgW="12672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5146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/>
        </p:nvGraphicFramePr>
        <p:xfrm>
          <a:off x="6858000" y="28194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9" name="Equation" r:id="rId10" imgW="126720" imgH="203040" progId="Equation.3">
                  <p:embed/>
                </p:oleObj>
              </mc:Choice>
              <mc:Fallback>
                <p:oleObj name="Equation" r:id="rId10" imgW="12672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8194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667000" y="3200400"/>
            <a:ext cx="3886200" cy="322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Stochastic process (random process)</a:t>
            </a:r>
          </a:p>
          <a:p>
            <a:pPr lvl="1"/>
            <a:r>
              <a:rPr lang="en-US" dirty="0" smtClean="0"/>
              <a:t> Fix time:                is a random variable</a:t>
            </a:r>
          </a:p>
          <a:p>
            <a:pPr lvl="2"/>
            <a:r>
              <a:rPr lang="en-US" dirty="0" err="1" smtClean="0"/>
              <a:t>pdf</a:t>
            </a:r>
            <a:r>
              <a:rPr lang="en-US" dirty="0" smtClean="0"/>
              <a:t>, CDF, mean, variance, moments, etc.</a:t>
            </a:r>
          </a:p>
          <a:p>
            <a:pPr lvl="1"/>
            <a:r>
              <a:rPr lang="en-US" dirty="0" smtClean="0"/>
              <a:t> fix event:                 is a deterministic time function</a:t>
            </a:r>
          </a:p>
          <a:p>
            <a:pPr lvl="2"/>
            <a:r>
              <a:rPr lang="en-US" dirty="0" smtClean="0"/>
              <a:t>Defined as a </a:t>
            </a:r>
            <a:r>
              <a:rPr lang="en-US" dirty="0" smtClean="0">
                <a:solidFill>
                  <a:srgbClr val="FF0000"/>
                </a:solidFill>
              </a:rPr>
              <a:t>realization</a:t>
            </a:r>
            <a:r>
              <a:rPr lang="en-US" dirty="0" smtClean="0"/>
              <a:t> of a random process</a:t>
            </a:r>
          </a:p>
          <a:p>
            <a:pPr lvl="2"/>
            <a:r>
              <a:rPr lang="en-US" dirty="0" smtClean="0"/>
              <a:t>Or: a </a:t>
            </a:r>
            <a:r>
              <a:rPr lang="en-US" dirty="0" smtClean="0">
                <a:solidFill>
                  <a:srgbClr val="FF0000"/>
                </a:solidFill>
              </a:rPr>
              <a:t>sample function </a:t>
            </a:r>
            <a:r>
              <a:rPr lang="en-US" dirty="0" smtClean="0"/>
              <a:t>of a random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124200"/>
            <a:ext cx="3886200" cy="322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5105400" y="914400"/>
          <a:ext cx="7048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7" name="Equation" r:id="rId4" imgW="469800" imgH="203040" progId="Equation.3">
                  <p:embed/>
                </p:oleObj>
              </mc:Choice>
              <mc:Fallback>
                <p:oleObj name="Equation" r:id="rId4" imgW="46980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914400"/>
                        <a:ext cx="7048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2390775" y="1276350"/>
          <a:ext cx="80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8" name="Equation" r:id="rId6" imgW="533160" imgH="228600" progId="Equation.3">
                  <p:embed/>
                </p:oleObj>
              </mc:Choice>
              <mc:Fallback>
                <p:oleObj name="Equation" r:id="rId6" imgW="53316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1276350"/>
                        <a:ext cx="800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2524125" y="1905000"/>
          <a:ext cx="781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9" name="Equation" r:id="rId8" imgW="520560" imgH="228600" progId="Equation.3">
                  <p:embed/>
                </p:oleObj>
              </mc:Choice>
              <mc:Fallback>
                <p:oleObj name="Equation" r:id="rId8" imgW="520560" imgH="2286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1905000"/>
                        <a:ext cx="781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1371601" y="3124994"/>
            <a:ext cx="534193" cy="3124200"/>
            <a:chOff x="1371601" y="3124994"/>
            <a:chExt cx="534193" cy="3124200"/>
          </a:xfrm>
        </p:grpSpPr>
        <p:cxnSp>
          <p:nvCxnSpPr>
            <p:cNvPr id="16" name="Straight Arrow Connector 15"/>
            <p:cNvCxnSpPr/>
            <p:nvPr/>
          </p:nvCxnSpPr>
          <p:spPr>
            <a:xfrm rot="5400000" flipH="1" flipV="1">
              <a:off x="342900" y="4686300"/>
              <a:ext cx="3124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 rot="16200000">
              <a:off x="623960" y="4557640"/>
              <a:ext cx="18646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Ensemble domain</a:t>
              </a:r>
              <a:endParaRPr 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438400" y="6324600"/>
            <a:ext cx="4267200" cy="369332"/>
            <a:chOff x="2438400" y="6324600"/>
            <a:chExt cx="4267200" cy="369332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438400" y="6324600"/>
              <a:ext cx="426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57600" y="6324600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time domain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 be a Gaussian random variable with 0 mean and unit variance, then </a:t>
            </a:r>
          </a:p>
          <a:p>
            <a:pPr lvl="1">
              <a:buNone/>
            </a:pPr>
            <a:r>
              <a:rPr lang="en-US" dirty="0" smtClean="0"/>
              <a:t>	</a:t>
            </a:r>
          </a:p>
          <a:p>
            <a:pPr lvl="1">
              <a:buNone/>
            </a:pPr>
            <a:r>
              <a:rPr lang="en-US" dirty="0" smtClean="0"/>
              <a:t>	is a random process .</a:t>
            </a:r>
          </a:p>
          <a:p>
            <a:pPr lvl="2"/>
            <a:r>
              <a:rPr lang="en-US" dirty="0" smtClean="0"/>
              <a:t>If we fix          , we get a Gaussian random variable</a:t>
            </a:r>
          </a:p>
          <a:p>
            <a:pPr lvl="3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                 is:</a:t>
            </a: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2"/>
            <a:r>
              <a:rPr lang="en-US" dirty="0" smtClean="0"/>
              <a:t>If we fix            , we get sample function</a:t>
            </a:r>
          </a:p>
          <a:p>
            <a:pPr lvl="3"/>
            <a:r>
              <a:rPr lang="en-US" dirty="0" smtClean="0"/>
              <a:t>It is a deterministic function of time</a:t>
            </a:r>
          </a:p>
          <a:p>
            <a:pPr lvl="2">
              <a:buNone/>
            </a:pPr>
            <a:r>
              <a:rPr lang="en-US" dirty="0" smtClean="0"/>
              <a:t>	</a:t>
            </a:r>
          </a:p>
          <a:p>
            <a:pPr lvl="2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2362200" y="1752600"/>
          <a:ext cx="2019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0" name="Equation" r:id="rId3" imgW="1346040" imgH="203040" progId="Equation.3">
                  <p:embed/>
                </p:oleObj>
              </mc:Choice>
              <mc:Fallback>
                <p:oleObj name="Equation" r:id="rId3" imgW="13460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2019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1828800" y="12954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1" name="Equation" r:id="rId5" imgW="126720" imgH="203040" progId="Equation.3">
                  <p:embed/>
                </p:oleObj>
              </mc:Choice>
              <mc:Fallback>
                <p:oleObj name="Equation" r:id="rId5" imgW="12672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954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33600" y="4724400"/>
            <a:ext cx="39243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6629400" y="2514600"/>
          <a:ext cx="217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2" name="Equation" r:id="rId8" imgW="1447560" imgH="228600" progId="Equation.3">
                  <p:embed/>
                </p:oleObj>
              </mc:Choice>
              <mc:Fallback>
                <p:oleObj name="Equation" r:id="rId8" imgW="144756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514600"/>
                        <a:ext cx="217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3429000" y="2819400"/>
          <a:ext cx="781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3" name="Equation" r:id="rId10" imgW="520560" imgH="228600" progId="Equation.3">
                  <p:embed/>
                </p:oleObj>
              </mc:Choice>
              <mc:Fallback>
                <p:oleObj name="Equation" r:id="rId10" imgW="52056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19400"/>
                        <a:ext cx="781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2667000" y="2514600"/>
          <a:ext cx="5143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Equation" r:id="rId12" imgW="342720" imgH="228600" progId="Equation.3">
                  <p:embed/>
                </p:oleObj>
              </mc:Choice>
              <mc:Fallback>
                <p:oleObj name="Equation" r:id="rId12" imgW="34272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14600"/>
                        <a:ext cx="5143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2695575" y="3810000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Equation" r:id="rId14" imgW="406080" imgH="228600" progId="Equation.3">
                  <p:embed/>
                </p:oleObj>
              </mc:Choice>
              <mc:Fallback>
                <p:oleObj name="Equation" r:id="rId14" imgW="406080" imgH="2286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3810000"/>
                        <a:ext cx="609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5638800" y="3810000"/>
          <a:ext cx="2152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16" imgW="1434960" imgH="228600" progId="Equation.3">
                  <p:embed/>
                </p:oleObj>
              </mc:Choice>
              <mc:Fallback>
                <p:oleObj name="Equation" r:id="rId16" imgW="143496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810000"/>
                        <a:ext cx="21526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Stochastic process:</a:t>
            </a:r>
          </a:p>
          <a:p>
            <a:pPr lvl="1"/>
            <a:r>
              <a:rPr lang="en-US" dirty="0" smtClean="0"/>
              <a:t>A random variable changes with respect to time </a:t>
            </a:r>
          </a:p>
          <a:p>
            <a:endParaRPr lang="en-US" dirty="0" smtClean="0"/>
          </a:p>
          <a:p>
            <a:r>
              <a:rPr lang="en-US" dirty="0" smtClean="0"/>
              <a:t>Sample function:</a:t>
            </a:r>
          </a:p>
          <a:p>
            <a:pPr lvl="1"/>
            <a:r>
              <a:rPr lang="en-US" dirty="0" smtClean="0"/>
              <a:t>A deterministic time function               associated with outcome     </a:t>
            </a:r>
          </a:p>
          <a:p>
            <a:pPr lvl="1"/>
            <a:endParaRPr lang="en-US" dirty="0"/>
          </a:p>
          <a:p>
            <a:r>
              <a:rPr lang="en-US" dirty="0" smtClean="0"/>
              <a:t>Ensemble: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set of all possible time </a:t>
            </a:r>
            <a:r>
              <a:rPr lang="en-US" dirty="0" smtClean="0"/>
              <a:t>functions of a stochastic process.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288374"/>
              </p:ext>
            </p:extLst>
          </p:nvPr>
        </p:nvGraphicFramePr>
        <p:xfrm>
          <a:off x="5943600" y="1333500"/>
          <a:ext cx="7048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4" name="Equation" r:id="rId3" imgW="469800" imgH="203040" progId="Equation.3">
                  <p:embed/>
                </p:oleObj>
              </mc:Choice>
              <mc:Fallback>
                <p:oleObj name="Equation" r:id="rId3" imgW="469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333500"/>
                        <a:ext cx="7048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680298"/>
              </p:ext>
            </p:extLst>
          </p:nvPr>
        </p:nvGraphicFramePr>
        <p:xfrm>
          <a:off x="4191000" y="2362200"/>
          <a:ext cx="781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5" name="Equation" r:id="rId5" imgW="520560" imgH="228600" progId="Equation.3">
                  <p:embed/>
                </p:oleObj>
              </mc:Choice>
              <mc:Fallback>
                <p:oleObj name="Equation" r:id="rId5" imgW="520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362200"/>
                        <a:ext cx="781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414587"/>
            <a:ext cx="190500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4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be  a random variable uniformly distributed between               , then</a:t>
            </a:r>
          </a:p>
          <a:p>
            <a:pPr lvl="1">
              <a:buNone/>
            </a:pPr>
            <a:r>
              <a:rPr lang="en-US" dirty="0" smtClean="0"/>
              <a:t>	                                      is a random process, where A is a constant. At Find the mean and  variance of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1809750" y="1314450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1" name="Equation" r:id="rId3" imgW="152280" imgH="177480" progId="Equation.3">
                  <p:embed/>
                </p:oleObj>
              </mc:Choice>
              <mc:Fallback>
                <p:oleObj name="Equation" r:id="rId3" imgW="1522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1314450"/>
                        <a:ext cx="228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7010400" y="1295400"/>
          <a:ext cx="723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2" name="Equation" r:id="rId5" imgW="482400" imgH="203040" progId="Equation.3">
                  <p:embed/>
                </p:oleObj>
              </mc:Choice>
              <mc:Fallback>
                <p:oleObj name="Equation" r:id="rId5" imgW="4824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295400"/>
                        <a:ext cx="7239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1209675" y="1600200"/>
          <a:ext cx="2362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3" name="Equation" r:id="rId7" imgW="1574640" imgH="203040" progId="Equation.3">
                  <p:embed/>
                </p:oleObj>
              </mc:Choice>
              <mc:Fallback>
                <p:oleObj name="Equation" r:id="rId7" imgW="157464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1600200"/>
                        <a:ext cx="23622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7924800" y="1600200"/>
          <a:ext cx="5143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4" name="Equation" r:id="rId9" imgW="342720" imgH="228600" progId="Equation.3">
                  <p:embed/>
                </p:oleObj>
              </mc:Choice>
              <mc:Fallback>
                <p:oleObj name="Equation" r:id="rId9" imgW="3427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600200"/>
                        <a:ext cx="5143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4419600" y="1905000"/>
          <a:ext cx="8191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5" name="Equation" r:id="rId11" imgW="545760" imgH="228600" progId="Equation.3">
                  <p:embed/>
                </p:oleObj>
              </mc:Choice>
              <mc:Fallback>
                <p:oleObj name="Equation" r:id="rId11" imgW="54576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905000"/>
                        <a:ext cx="8191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14600" y="5105400"/>
            <a:ext cx="38576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3200400" y="5181600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6" name="Equation" r:id="rId14" imgW="152280" imgH="177480" progId="Equation.3">
                  <p:embed/>
                </p:oleObj>
              </mc:Choice>
              <mc:Fallback>
                <p:oleObj name="Equation" r:id="rId14" imgW="15228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181600"/>
                        <a:ext cx="228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4343400" y="5181600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7" name="Equation" r:id="rId15" imgW="152280" imgH="177480" progId="Equation.3">
                  <p:embed/>
                </p:oleObj>
              </mc:Choice>
              <mc:Fallback>
                <p:oleObj name="Equation" r:id="rId15" imgW="152280" imgH="177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181600"/>
                        <a:ext cx="228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be  a random variable uniformly distributed between               , and</a:t>
            </a:r>
          </a:p>
          <a:p>
            <a:pPr lvl="1">
              <a:buNone/>
            </a:pPr>
            <a:r>
              <a:rPr lang="en-US" dirty="0" smtClean="0"/>
              <a:t>	a Gaussian random variable with 0 mean and variance       . Then   </a:t>
            </a:r>
          </a:p>
          <a:p>
            <a:pPr lvl="1">
              <a:buNone/>
            </a:pPr>
            <a:r>
              <a:rPr lang="en-US" dirty="0" smtClean="0"/>
              <a:t>                                is a random process.      and      are independent.   </a:t>
            </a:r>
          </a:p>
          <a:p>
            <a:pPr lvl="1">
              <a:buNone/>
            </a:pPr>
            <a:r>
              <a:rPr lang="en-US" dirty="0" smtClean="0"/>
              <a:t>	Find the mean and variance of  the random process 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1809750" y="1314450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0" name="Equation" r:id="rId3" imgW="152280" imgH="177480" progId="Equation.3">
                  <p:embed/>
                </p:oleObj>
              </mc:Choice>
              <mc:Fallback>
                <p:oleObj name="Equation" r:id="rId3" imgW="1522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1314450"/>
                        <a:ext cx="228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7010400" y="1295400"/>
          <a:ext cx="723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1" name="Equation" r:id="rId5" imgW="482400" imgH="203040" progId="Equation.3">
                  <p:embed/>
                </p:oleObj>
              </mc:Choice>
              <mc:Fallback>
                <p:oleObj name="Equation" r:id="rId5" imgW="4824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295400"/>
                        <a:ext cx="7239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1524000" y="1905000"/>
          <a:ext cx="14287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2" name="Equation" r:id="rId7" imgW="952200" imgH="203040" progId="Equation.3">
                  <p:embed/>
                </p:oleObj>
              </mc:Choice>
              <mc:Fallback>
                <p:oleObj name="Equation" r:id="rId7" imgW="95220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05000"/>
                        <a:ext cx="14287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6477000" y="2286000"/>
          <a:ext cx="5143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3" name="Equation" r:id="rId9" imgW="342720" imgH="228600" progId="Equation.3">
                  <p:embed/>
                </p:oleObj>
              </mc:Choice>
              <mc:Fallback>
                <p:oleObj name="Equation" r:id="rId9" imgW="3427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286000"/>
                        <a:ext cx="5143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8305800" y="12192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4" name="Equation" r:id="rId11" imgW="126720" imgH="203040" progId="Equation.3">
                  <p:embed/>
                </p:oleObj>
              </mc:Choice>
              <mc:Fallback>
                <p:oleObj name="Equation" r:id="rId11" imgW="12672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12192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6496050" y="1600200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5" name="Equation" r:id="rId13" imgW="203040" imgH="203040" progId="Equation.3">
                  <p:embed/>
                </p:oleObj>
              </mc:Choice>
              <mc:Fallback>
                <p:oleObj name="Equation" r:id="rId13" imgW="20304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1600200"/>
                        <a:ext cx="3048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4953000" y="19050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6" name="Equation" r:id="rId15" imgW="126720" imgH="203040" progId="Equation.3">
                  <p:embed/>
                </p:oleObj>
              </mc:Choice>
              <mc:Fallback>
                <p:oleObj name="Equation" r:id="rId15" imgW="126720" imgH="203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9050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5638800" y="1981200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7" name="Equation" r:id="rId16" imgW="152280" imgH="177480" progId="Equation.3">
                  <p:embed/>
                </p:oleObj>
              </mc:Choice>
              <mc:Fallback>
                <p:oleObj name="Equation" r:id="rId16" imgW="152280" imgH="177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981200"/>
                        <a:ext cx="228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Continuous-time random process</a:t>
            </a:r>
          </a:p>
          <a:p>
            <a:pPr lvl="1"/>
            <a:r>
              <a:rPr lang="en-US" dirty="0" smtClean="0"/>
              <a:t>The time is continuous</a:t>
            </a:r>
          </a:p>
          <a:p>
            <a:pPr lvl="1"/>
            <a:r>
              <a:rPr lang="en-US" dirty="0" smtClean="0"/>
              <a:t>E.g. </a:t>
            </a:r>
          </a:p>
          <a:p>
            <a:r>
              <a:rPr lang="en-US" dirty="0" smtClean="0"/>
              <a:t>Discrete-time random process</a:t>
            </a:r>
          </a:p>
          <a:p>
            <a:pPr lvl="1"/>
            <a:r>
              <a:rPr lang="en-US" dirty="0" smtClean="0"/>
              <a:t>The time is discrete</a:t>
            </a:r>
          </a:p>
          <a:p>
            <a:pPr lvl="1"/>
            <a:r>
              <a:rPr lang="en-US" dirty="0" smtClean="0"/>
              <a:t>E.g. </a:t>
            </a:r>
          </a:p>
          <a:p>
            <a:r>
              <a:rPr lang="en-US" dirty="0" smtClean="0"/>
              <a:t>Continuous random process</a:t>
            </a:r>
          </a:p>
          <a:p>
            <a:pPr lvl="1"/>
            <a:r>
              <a:rPr lang="en-US" dirty="0" smtClean="0"/>
              <a:t>At any time,                is a continuous random variable</a:t>
            </a:r>
          </a:p>
          <a:p>
            <a:pPr lvl="1"/>
            <a:r>
              <a:rPr lang="en-US" dirty="0" smtClean="0"/>
              <a:t>E.g.                                          ,     is Gaussian distributed</a:t>
            </a:r>
          </a:p>
          <a:p>
            <a:r>
              <a:rPr lang="en-US" dirty="0" smtClean="0"/>
              <a:t>Discrete random process</a:t>
            </a:r>
          </a:p>
          <a:p>
            <a:pPr lvl="1"/>
            <a:r>
              <a:rPr lang="en-US" dirty="0" smtClean="0"/>
              <a:t>At any time,                  is a discrete random variable</a:t>
            </a:r>
          </a:p>
          <a:p>
            <a:pPr lvl="1"/>
            <a:r>
              <a:rPr lang="en-US" dirty="0" smtClean="0"/>
              <a:t>E.g.                                        ,      is a Bernoulli RV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2438400" y="1600200"/>
          <a:ext cx="2019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8" name="Equation" r:id="rId3" imgW="1346040" imgH="203040" progId="Equation.3">
                  <p:embed/>
                </p:oleObj>
              </mc:Choice>
              <mc:Fallback>
                <p:oleObj name="Equation" r:id="rId3" imgW="134604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00200"/>
                        <a:ext cx="2019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2314575" y="2667000"/>
          <a:ext cx="21145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9" name="Equation" r:id="rId5" imgW="1409400" imgH="203040" progId="Equation.3">
                  <p:embed/>
                </p:oleObj>
              </mc:Choice>
              <mc:Fallback>
                <p:oleObj name="Equation" r:id="rId5" imgW="14094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2667000"/>
                        <a:ext cx="21145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5153025" y="2676525"/>
          <a:ext cx="11049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0" name="Equation" r:id="rId7" imgW="736560" imgH="190440" progId="Equation.3">
                  <p:embed/>
                </p:oleObj>
              </mc:Choice>
              <mc:Fallback>
                <p:oleObj name="Equation" r:id="rId7" imgW="736560" imgH="1904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3025" y="2676525"/>
                        <a:ext cx="11049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5181600" y="1676400"/>
          <a:ext cx="5143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1" name="Equation" r:id="rId9" imgW="342720" imgH="164880" progId="Equation.3">
                  <p:embed/>
                </p:oleObj>
              </mc:Choice>
              <mc:Fallback>
                <p:oleObj name="Equation" r:id="rId9" imgW="342720" imgH="164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676400"/>
                        <a:ext cx="51435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2667000" y="3352800"/>
          <a:ext cx="781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2" name="Equation" r:id="rId11" imgW="520560" imgH="228600" progId="Equation.3">
                  <p:embed/>
                </p:oleObj>
              </mc:Choice>
              <mc:Fallback>
                <p:oleObj name="Equation" r:id="rId11" imgW="52056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352800"/>
                        <a:ext cx="781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2133600" y="3657600"/>
          <a:ext cx="2019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3" name="Equation" r:id="rId13" imgW="1346040" imgH="203040" progId="Equation.3">
                  <p:embed/>
                </p:oleObj>
              </mc:Choice>
              <mc:Fallback>
                <p:oleObj name="Equation" r:id="rId13" imgW="134604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657600"/>
                        <a:ext cx="2019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4343400" y="36576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4" name="Equation" r:id="rId15" imgW="126720" imgH="203040" progId="Equation.3">
                  <p:embed/>
                </p:oleObj>
              </mc:Choice>
              <mc:Fallback>
                <p:oleObj name="Equation" r:id="rId15" imgW="12672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6576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2743200" y="4343400"/>
          <a:ext cx="781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5" name="Equation" r:id="rId17" imgW="520560" imgH="228600" progId="Equation.3">
                  <p:embed/>
                </p:oleObj>
              </mc:Choice>
              <mc:Fallback>
                <p:oleObj name="Equation" r:id="rId17" imgW="52056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781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0"/>
          <p:cNvGraphicFramePr>
            <a:graphicFrameLocks noChangeAspect="1"/>
          </p:cNvGraphicFramePr>
          <p:nvPr/>
        </p:nvGraphicFramePr>
        <p:xfrm>
          <a:off x="1981200" y="4648200"/>
          <a:ext cx="2019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6" name="Equation" r:id="rId19" imgW="1346040" imgH="203040" progId="Equation.3">
                  <p:embed/>
                </p:oleObj>
              </mc:Choice>
              <mc:Fallback>
                <p:oleObj name="Equation" r:id="rId19" imgW="1346040" imgH="203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648200"/>
                        <a:ext cx="2019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/>
        </p:nvGraphicFramePr>
        <p:xfrm>
          <a:off x="4267200" y="4648200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7" name="Equation" r:id="rId20" imgW="126720" imgH="203040" progId="Equation.3">
                  <p:embed/>
                </p:oleObj>
              </mc:Choice>
              <mc:Fallback>
                <p:oleObj name="Equation" r:id="rId20" imgW="12672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648200"/>
                        <a:ext cx="190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Classifications</a:t>
            </a:r>
          </a:p>
          <a:p>
            <a:pPr lvl="1"/>
            <a:r>
              <a:rPr lang="en-US" dirty="0" smtClean="0"/>
              <a:t>Continuous-time </a:t>
            </a:r>
            <a:r>
              <a:rPr lang="en-US" dirty="0" err="1" smtClean="0"/>
              <a:t>v.s</a:t>
            </a:r>
            <a:r>
              <a:rPr lang="en-US" dirty="0" smtClean="0"/>
              <a:t>. discrete-time</a:t>
            </a:r>
          </a:p>
          <a:p>
            <a:pPr lvl="1"/>
            <a:r>
              <a:rPr lang="en-US" dirty="0" smtClean="0"/>
              <a:t>Continuous </a:t>
            </a:r>
            <a:r>
              <a:rPr lang="en-US" dirty="0" err="1" smtClean="0"/>
              <a:t>v.s</a:t>
            </a:r>
            <a:r>
              <a:rPr lang="en-US" dirty="0" smtClean="0"/>
              <a:t>. discrete</a:t>
            </a:r>
          </a:p>
          <a:p>
            <a:pPr lvl="1"/>
            <a:r>
              <a:rPr lang="en-US" dirty="0" smtClean="0"/>
              <a:t>Stationary </a:t>
            </a:r>
            <a:r>
              <a:rPr lang="en-US" dirty="0" err="1" smtClean="0"/>
              <a:t>v.s</a:t>
            </a:r>
            <a:r>
              <a:rPr lang="en-US" dirty="0" smtClean="0"/>
              <a:t>. non-stationary</a:t>
            </a:r>
          </a:p>
          <a:p>
            <a:pPr lvl="1"/>
            <a:r>
              <a:rPr lang="en-US" dirty="0" smtClean="0"/>
              <a:t>Wide sense stationary (WSS) </a:t>
            </a:r>
            <a:r>
              <a:rPr lang="en-US" dirty="0" err="1" smtClean="0"/>
              <a:t>v.s</a:t>
            </a:r>
            <a:r>
              <a:rPr lang="en-US" dirty="0" smtClean="0"/>
              <a:t>. non-WSS</a:t>
            </a:r>
          </a:p>
          <a:p>
            <a:pPr lvl="1"/>
            <a:r>
              <a:rPr lang="en-US" dirty="0" err="1" smtClean="0"/>
              <a:t>Ergodic</a:t>
            </a:r>
            <a:r>
              <a:rPr lang="en-US" dirty="0" smtClean="0"/>
              <a:t> </a:t>
            </a:r>
            <a:r>
              <a:rPr lang="en-US" dirty="0" err="1" smtClean="0"/>
              <a:t>v.s</a:t>
            </a:r>
            <a:r>
              <a:rPr lang="en-US" dirty="0" smtClean="0"/>
              <a:t>. non-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Simple notation</a:t>
            </a:r>
          </a:p>
          <a:p>
            <a:pPr lvl="1"/>
            <a:r>
              <a:rPr lang="en-US" dirty="0" smtClean="0"/>
              <a:t>Random variable:              , usually denoted as </a:t>
            </a:r>
          </a:p>
          <a:p>
            <a:pPr lvl="1"/>
            <a:r>
              <a:rPr lang="en-US" dirty="0" smtClean="0"/>
              <a:t>Random process:                 , usually denoted 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3276600" y="3581400"/>
          <a:ext cx="5524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4" name="Equation" r:id="rId3" imgW="368280" imgH="203040" progId="Equation.3">
                  <p:embed/>
                </p:oleObj>
              </mc:Choice>
              <mc:Fallback>
                <p:oleObj name="Equation" r:id="rId3" imgW="36828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81400"/>
                        <a:ext cx="5524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5934075" y="3695700"/>
          <a:ext cx="266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5" name="Equation" r:id="rId5" imgW="177480" imgH="152280" progId="Equation.3">
                  <p:embed/>
                </p:oleObj>
              </mc:Choice>
              <mc:Fallback>
                <p:oleObj name="Equation" r:id="rId5" imgW="177480" imgH="152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075" y="3695700"/>
                        <a:ext cx="2667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3200400" y="3962400"/>
          <a:ext cx="7048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6" name="Equation" r:id="rId7" imgW="469800" imgH="203040" progId="Equation.3">
                  <p:embed/>
                </p:oleObj>
              </mc:Choice>
              <mc:Fallback>
                <p:oleObj name="Equation" r:id="rId7" imgW="46980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962400"/>
                        <a:ext cx="7048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5943600" y="3962400"/>
          <a:ext cx="495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7" name="Equation" r:id="rId9" imgW="330120" imgH="203040" progId="Equation.3">
                  <p:embed/>
                </p:oleObj>
              </mc:Choice>
              <mc:Fallback>
                <p:oleObj name="Equation" r:id="rId9" imgW="33012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962400"/>
                        <a:ext cx="495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stochastic process (random process)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continuous-time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Description of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discrete-time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 and non-ergodic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77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describe a random process?</a:t>
            </a:r>
          </a:p>
          <a:p>
            <a:pPr lvl="1"/>
            <a:r>
              <a:rPr lang="en-US" dirty="0" smtClean="0"/>
              <a:t>A random variable is fully characterized by its </a:t>
            </a:r>
            <a:r>
              <a:rPr lang="en-US" dirty="0" err="1" smtClean="0"/>
              <a:t>pdf</a:t>
            </a:r>
            <a:r>
              <a:rPr lang="en-US" dirty="0" smtClean="0"/>
              <a:t> or CDF.</a:t>
            </a:r>
          </a:p>
          <a:p>
            <a:pPr lvl="1"/>
            <a:r>
              <a:rPr lang="en-US" dirty="0" smtClean="0"/>
              <a:t>How do we statistically describe random process?</a:t>
            </a:r>
          </a:p>
          <a:p>
            <a:pPr lvl="2"/>
            <a:r>
              <a:rPr lang="en-US" dirty="0" smtClean="0"/>
              <a:t>E.g. 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We need to describe the random process in both the ensemble domain and the time domain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Descriptions of the random process</a:t>
            </a:r>
          </a:p>
          <a:p>
            <a:pPr lvl="1"/>
            <a:r>
              <a:rPr lang="en-US" dirty="0" smtClean="0"/>
              <a:t>Joint distribution of time samples: joint </a:t>
            </a:r>
            <a:r>
              <a:rPr lang="en-US" dirty="0" err="1" smtClean="0"/>
              <a:t>pdf</a:t>
            </a:r>
            <a:r>
              <a:rPr lang="en-US" dirty="0" smtClean="0"/>
              <a:t>, joint CDF</a:t>
            </a:r>
          </a:p>
          <a:p>
            <a:pPr lvl="1"/>
            <a:r>
              <a:rPr lang="en-US" dirty="0" smtClean="0"/>
              <a:t>Moments: mean, variance, correlation function, covariance function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358" y="2452329"/>
            <a:ext cx="4814438" cy="3081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358" y="1962389"/>
            <a:ext cx="4214813" cy="399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distribution of time samples</a:t>
            </a:r>
          </a:p>
          <a:p>
            <a:pPr lvl="1"/>
            <a:r>
              <a:rPr lang="en-US" dirty="0" smtClean="0"/>
              <a:t>Consider a random process </a:t>
            </a:r>
          </a:p>
          <a:p>
            <a:pPr lvl="1"/>
            <a:r>
              <a:rPr lang="en-US" dirty="0" smtClean="0"/>
              <a:t>Let </a:t>
            </a:r>
          </a:p>
          <a:p>
            <a:pPr lvl="1"/>
            <a:r>
              <a:rPr lang="en-US" dirty="0" smtClean="0"/>
              <a:t>joint CDF: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Joint </a:t>
            </a:r>
            <a:r>
              <a:rPr lang="en-US" dirty="0" err="1" smtClean="0"/>
              <a:t>pdf</a:t>
            </a:r>
            <a:r>
              <a:rPr lang="en-US" dirty="0" smtClean="0"/>
              <a:t>: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 random process is fully specified by the collections of all the joint CDFs (or joint </a:t>
            </a:r>
            <a:r>
              <a:rPr lang="en-US" dirty="0" err="1" smtClean="0"/>
              <a:t>pdfs</a:t>
            </a:r>
            <a:r>
              <a:rPr lang="en-US" dirty="0" smtClean="0"/>
              <a:t>) for any n and any choice of sampling instants.</a:t>
            </a:r>
          </a:p>
          <a:p>
            <a:pPr lvl="2"/>
            <a:r>
              <a:rPr lang="en-US" dirty="0" smtClean="0"/>
              <a:t>For a continuous-time random process, there will be infinite such joint CDFs.</a:t>
            </a:r>
          </a:p>
          <a:p>
            <a:pPr lvl="2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4038600" y="1295400"/>
          <a:ext cx="495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1" name="Equation" r:id="rId3" imgW="330120" imgH="203040" progId="Equation.3">
                  <p:embed/>
                </p:oleObj>
              </mc:Choice>
              <mc:Fallback>
                <p:oleObj name="Equation" r:id="rId3" imgW="33012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295400"/>
                        <a:ext cx="495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290763"/>
            <a:ext cx="5667375" cy="466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3338512"/>
            <a:ext cx="5724525" cy="676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1712" y="1594759"/>
            <a:ext cx="4510088" cy="3683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Moments of time samples</a:t>
            </a:r>
          </a:p>
          <a:p>
            <a:pPr lvl="1"/>
            <a:r>
              <a:rPr lang="en-US" dirty="0" smtClean="0"/>
              <a:t>Provide a partial description of the random process</a:t>
            </a:r>
          </a:p>
          <a:p>
            <a:pPr lvl="1"/>
            <a:r>
              <a:rPr lang="en-US" dirty="0" smtClean="0"/>
              <a:t>For most practical applications it is sufficient to have a partial description.</a:t>
            </a:r>
          </a:p>
          <a:p>
            <a:r>
              <a:rPr lang="en-US" dirty="0" smtClean="0"/>
              <a:t>Mean function 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The mean function is a deterministic function of time. </a:t>
            </a:r>
          </a:p>
          <a:p>
            <a:r>
              <a:rPr lang="en-US" dirty="0" smtClean="0"/>
              <a:t>Variance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2057400" y="2438400"/>
          <a:ext cx="3105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0" name="Equation" r:id="rId3" imgW="2070000" imgH="330120" progId="Equation.3">
                  <p:embed/>
                </p:oleObj>
              </mc:Choice>
              <mc:Fallback>
                <p:oleObj name="Equation" r:id="rId3" imgW="207000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438400"/>
                        <a:ext cx="31051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1762125" y="3810000"/>
          <a:ext cx="5029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1" name="Equation" r:id="rId5" imgW="3352680" imgH="330120" progId="Equation.3">
                  <p:embed/>
                </p:oleObj>
              </mc:Choice>
              <mc:Fallback>
                <p:oleObj name="Equation" r:id="rId5" imgW="335268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3810000"/>
                        <a:ext cx="50292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For a random process                                    , where </a:t>
            </a:r>
            <a:r>
              <a:rPr lang="en-US" i="1" dirty="0" smtClean="0"/>
              <a:t>A</a:t>
            </a:r>
            <a:r>
              <a:rPr lang="en-US" dirty="0" smtClean="0"/>
              <a:t> is a random variable with mean         and variance         . Find the mean function and variance function of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3581400" y="1295400"/>
          <a:ext cx="18859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7" name="Equation" r:id="rId3" imgW="1257120" imgH="203040" progId="Equation.3">
                  <p:embed/>
                </p:oleObj>
              </mc:Choice>
              <mc:Fallback>
                <p:oleObj name="Equation" r:id="rId3" imgW="125712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295400"/>
                        <a:ext cx="18859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2514600" y="1524000"/>
          <a:ext cx="3238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8" name="Equation" r:id="rId5" imgW="215640" imgH="215640" progId="Equation.3">
                  <p:embed/>
                </p:oleObj>
              </mc:Choice>
              <mc:Fallback>
                <p:oleObj name="Equation" r:id="rId5" imgW="21564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24000"/>
                        <a:ext cx="32385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4200525" y="1590675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9" name="Equation" r:id="rId7" imgW="203040" imgH="228600" progId="Equation.3">
                  <p:embed/>
                </p:oleObj>
              </mc:Choice>
              <mc:Fallback>
                <p:oleObj name="Equation" r:id="rId7" imgW="20304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1590675"/>
                        <a:ext cx="304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Autocorrelation function (ACF)</a:t>
            </a:r>
          </a:p>
          <a:p>
            <a:pPr lvl="1"/>
            <a:r>
              <a:rPr lang="en-US" dirty="0" smtClean="0"/>
              <a:t>The autocorrelation function of a random process X(t) is defined as the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It describes the correlation of the random process in the time domain</a:t>
            </a:r>
          </a:p>
          <a:p>
            <a:pPr lvl="2"/>
            <a:r>
              <a:rPr lang="en-US" dirty="0" smtClean="0"/>
              <a:t>How are two events happened at different times related to each other.</a:t>
            </a:r>
          </a:p>
          <a:p>
            <a:pPr lvl="3"/>
            <a:r>
              <a:rPr lang="en-US" dirty="0" smtClean="0"/>
              <a:t>E.g. if there is a strong correlation between the temperature today and the temperature tomorrow, then we can predict tomorrow’s temperature by using today’s observation.</a:t>
            </a:r>
          </a:p>
          <a:p>
            <a:pPr lvl="3"/>
            <a:r>
              <a:rPr lang="en-US" dirty="0" smtClean="0"/>
              <a:t>E.g. the text in a book can be considered as a discrete random process</a:t>
            </a:r>
          </a:p>
          <a:p>
            <a:pPr lvl="4"/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Stochasxxx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4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We can easily guess the contents in xxx by using the time correlation</a:t>
            </a:r>
            <a:r>
              <a:rPr lang="en-US" sz="1600" dirty="0" smtClean="0"/>
              <a:t>.</a:t>
            </a:r>
          </a:p>
          <a:p>
            <a:pPr lvl="1"/>
            <a:r>
              <a:rPr lang="en-US" sz="1600" dirty="0" smtClean="0"/>
              <a:t>                                               is the second moment of </a:t>
            </a:r>
          </a:p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2895600" y="1676400"/>
          <a:ext cx="280147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1" name="Equation" r:id="rId3" imgW="1587240" imgH="215640" progId="Equation.3">
                  <p:embed/>
                </p:oleObj>
              </mc:Choice>
              <mc:Fallback>
                <p:oleObj name="Equation" r:id="rId3" imgW="158724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76400"/>
                        <a:ext cx="2801471" cy="381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600200" y="5257800"/>
          <a:ext cx="1981200" cy="352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2" name="Equation" r:id="rId5" imgW="1282680" imgH="228600" progId="Equation.3">
                  <p:embed/>
                </p:oleObj>
              </mc:Choice>
              <mc:Fallback>
                <p:oleObj name="Equation" r:id="rId5" imgW="12826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0"/>
                        <a:ext cx="1981200" cy="3528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6019800" y="5257800"/>
          <a:ext cx="6127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3" name="Equation" r:id="rId7" imgW="368280" imgH="215640" progId="Equation.3">
                  <p:embed/>
                </p:oleObj>
              </mc:Choice>
              <mc:Fallback>
                <p:oleObj name="Equation" r:id="rId7" imgW="36828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257800"/>
                        <a:ext cx="612775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Autocovariance</a:t>
            </a:r>
            <a:r>
              <a:rPr lang="en-US" dirty="0" smtClean="0"/>
              <a:t> function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autocovariance</a:t>
            </a:r>
            <a:r>
              <a:rPr lang="en-US" dirty="0" smtClean="0"/>
              <a:t> function of a random process X(t) is defined as the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1763713" y="1676400"/>
          <a:ext cx="50657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5" name="Equation" r:id="rId3" imgW="2869920" imgH="215640" progId="Equation.3">
                  <p:embed/>
                </p:oleObj>
              </mc:Choice>
              <mc:Fallback>
                <p:oleObj name="Equation" r:id="rId3" imgW="28699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676400"/>
                        <a:ext cx="5065712" cy="381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3048000" y="2209800"/>
          <a:ext cx="34972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6" name="Equation" r:id="rId5" imgW="1981080" imgH="215640" progId="Equation.3">
                  <p:embed/>
                </p:oleObj>
              </mc:Choice>
              <mc:Fallback>
                <p:oleObj name="Equation" r:id="rId5" imgW="19810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209800"/>
                        <a:ext cx="3497263" cy="381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1600200" y="2971800"/>
          <a:ext cx="16589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7" name="Equation" r:id="rId7" imgW="939600" imgH="253800" progId="Equation.3">
                  <p:embed/>
                </p:oleObj>
              </mc:Choice>
              <mc:Fallback>
                <p:oleObj name="Equation" r:id="rId7" imgW="939600" imgH="253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971800"/>
                        <a:ext cx="1658937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process                                   , where A is a random variable with mean        and variance         . Find the autocorrelation function and </a:t>
            </a:r>
            <a:r>
              <a:rPr lang="en-US" dirty="0" err="1" smtClean="0"/>
              <a:t>autocovariance</a:t>
            </a:r>
            <a:r>
              <a:rPr lang="en-US" dirty="0" smtClean="0"/>
              <a:t> function.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4038600" y="1295400"/>
          <a:ext cx="1903413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9" name="Equation" r:id="rId4" imgW="1231560" imgH="203040" progId="Equation.3">
                  <p:embed/>
                </p:oleObj>
              </mc:Choice>
              <mc:Fallback>
                <p:oleObj name="Equation" r:id="rId4" imgW="12315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295400"/>
                        <a:ext cx="1903413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3276600" y="1524000"/>
          <a:ext cx="3333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0" name="Equation" r:id="rId6" imgW="215640" imgH="215640" progId="Equation.3">
                  <p:embed/>
                </p:oleObj>
              </mc:Choice>
              <mc:Fallback>
                <p:oleObj name="Equation" r:id="rId6" imgW="21564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0"/>
                        <a:ext cx="3333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4962525" y="1590675"/>
          <a:ext cx="314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1" name="Equation" r:id="rId8" imgW="203040" imgH="228600" progId="Equation.3">
                  <p:embed/>
                </p:oleObj>
              </mc:Choice>
              <mc:Fallback>
                <p:oleObj name="Equation" r:id="rId8" imgW="20304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1590675"/>
                        <a:ext cx="31432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process                                       , where A is a random variable with mean        and variance         .       is uniformly distributed in</a:t>
            </a:r>
          </a:p>
          <a:p>
            <a:pPr lvl="1">
              <a:buNone/>
            </a:pPr>
            <a:r>
              <a:rPr lang="en-US" dirty="0" smtClean="0"/>
              <a:t>	              . A and     are independent.   </a:t>
            </a:r>
          </a:p>
          <a:p>
            <a:pPr lvl="1"/>
            <a:r>
              <a:rPr lang="en-US" dirty="0" smtClean="0"/>
              <a:t>Find the autocorrelation function and </a:t>
            </a:r>
            <a:r>
              <a:rPr lang="en-US" dirty="0" err="1" smtClean="0"/>
              <a:t>autocovariance</a:t>
            </a:r>
            <a:r>
              <a:rPr lang="en-US" dirty="0" smtClean="0"/>
              <a:t> function.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3962400" y="1295400"/>
          <a:ext cx="227647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2" name="Equation" r:id="rId3" imgW="1473120" imgH="203040" progId="Equation.3">
                  <p:embed/>
                </p:oleObj>
              </mc:Choice>
              <mc:Fallback>
                <p:oleObj name="Equation" r:id="rId3" imgW="147312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295400"/>
                        <a:ext cx="2276475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3276600" y="1524000"/>
          <a:ext cx="3333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3" name="Equation" r:id="rId5" imgW="215640" imgH="215640" progId="Equation.3">
                  <p:embed/>
                </p:oleObj>
              </mc:Choice>
              <mc:Fallback>
                <p:oleObj name="Equation" r:id="rId5" imgW="21564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0"/>
                        <a:ext cx="3333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4953000" y="1524000"/>
          <a:ext cx="314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4" name="Equation" r:id="rId7" imgW="203040" imgH="228600" progId="Equation.3">
                  <p:embed/>
                </p:oleObj>
              </mc:Choice>
              <mc:Fallback>
                <p:oleObj name="Equation" r:id="rId7" imgW="20304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524000"/>
                        <a:ext cx="31432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5486400" y="1600200"/>
          <a:ext cx="23653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5" name="Equation" r:id="rId9" imgW="152280" imgH="177480" progId="Equation.3">
                  <p:embed/>
                </p:oleObj>
              </mc:Choice>
              <mc:Fallback>
                <p:oleObj name="Equation" r:id="rId9" imgW="152280" imgH="177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600200"/>
                        <a:ext cx="236538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524000" y="1828800"/>
          <a:ext cx="7461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6" name="Equation" r:id="rId11" imgW="482400" imgH="203040" progId="Equation.3">
                  <p:embed/>
                </p:oleObj>
              </mc:Choice>
              <mc:Fallback>
                <p:oleObj name="Equation" r:id="rId11" imgW="4824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28800"/>
                        <a:ext cx="746125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2895600" y="1905000"/>
          <a:ext cx="23653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7" name="Equation" r:id="rId13" imgW="152280" imgH="177480" progId="Equation.3">
                  <p:embed/>
                </p:oleObj>
              </mc:Choice>
              <mc:Fallback>
                <p:oleObj name="Equation" r:id="rId13" imgW="15228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05000"/>
                        <a:ext cx="236538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1295400"/>
            <a:ext cx="7072313" cy="129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97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stochastic process (random process)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continuous-time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Description of 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discrete-time </a:t>
            </a: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 and non-ergodic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53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Discrete-time random process (random sequence)</a:t>
            </a:r>
          </a:p>
          <a:p>
            <a:pPr lvl="1"/>
            <a:r>
              <a:rPr lang="en-US" dirty="0" smtClean="0"/>
              <a:t>A discrete-time random process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/>
              <a:t> </a:t>
            </a:r>
          </a:p>
          <a:p>
            <a:pPr lvl="2"/>
            <a:r>
              <a:rPr lang="en-US" dirty="0" smtClean="0"/>
              <a:t>E.g. </a:t>
            </a:r>
          </a:p>
          <a:p>
            <a:pPr lvl="1"/>
            <a:r>
              <a:rPr lang="en-US" dirty="0" smtClean="0"/>
              <a:t>Joint PMF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Joint CDF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638300"/>
            <a:ext cx="3462338" cy="3743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228949"/>
            <a:ext cx="2397919" cy="3514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399" y="2625026"/>
            <a:ext cx="1760591" cy="2748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46606"/>
            <a:ext cx="3464600" cy="3338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3460528"/>
            <a:ext cx="5105400" cy="4396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6579" y="4747364"/>
            <a:ext cx="5257800" cy="40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58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Bernoulli process</a:t>
            </a:r>
          </a:p>
          <a:p>
            <a:pPr lvl="1"/>
            <a:r>
              <a:rPr lang="en-US" dirty="0"/>
              <a:t>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6615113" cy="133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95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Moments of time samples</a:t>
            </a:r>
          </a:p>
          <a:p>
            <a:pPr lvl="1"/>
            <a:r>
              <a:rPr lang="en-US" dirty="0" smtClean="0"/>
              <a:t>Provide a partial description of the random process</a:t>
            </a:r>
          </a:p>
          <a:p>
            <a:pPr lvl="1"/>
            <a:r>
              <a:rPr lang="en-US" dirty="0" smtClean="0"/>
              <a:t>For most practical applications it is sufficient to have a partial description.</a:t>
            </a:r>
          </a:p>
          <a:p>
            <a:r>
              <a:rPr lang="en-US" dirty="0" smtClean="0"/>
              <a:t>Mean function 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The mean function is a deterministic function of time. </a:t>
            </a:r>
          </a:p>
          <a:p>
            <a:r>
              <a:rPr lang="en-US" dirty="0" smtClean="0"/>
              <a:t>Variance function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It is a deterministic function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362200"/>
            <a:ext cx="1885950" cy="409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29" y="3852862"/>
            <a:ext cx="52863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9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For a Bernoulli (</a:t>
            </a:r>
            <a:r>
              <a:rPr lang="en-US" i="1" dirty="0" smtClean="0"/>
              <a:t>p</a:t>
            </a:r>
            <a:r>
              <a:rPr lang="en-US" dirty="0" smtClean="0"/>
              <a:t>) process, find the mean function and variance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08683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Autocorrelation function of a random sequence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Autocovariance</a:t>
            </a:r>
            <a:r>
              <a:rPr lang="en-US" dirty="0" smtClean="0"/>
              <a:t> function of a random sequence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85900"/>
            <a:ext cx="2714625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3505200"/>
            <a:ext cx="2790825" cy="3732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064" y="4449995"/>
            <a:ext cx="41243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37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295400"/>
            <a:ext cx="6553200" cy="14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93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stochastic process (random process)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continuous-time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Description of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discrete-time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 and non-ergodic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63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</a:p>
          <a:p>
            <a:pPr lvl="1"/>
            <a:r>
              <a:rPr lang="en-US" dirty="0" smtClean="0"/>
              <a:t>A random process, X(t), is stationary if the joint distribution of  any set of samples does not depend on the time origin. 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For any value of 	and      , and for any choice of  </a:t>
            </a:r>
          </a:p>
          <a:p>
            <a:pPr lvl="2">
              <a:buNone/>
            </a:pPr>
            <a:endParaRPr lang="en-US" dirty="0"/>
          </a:p>
          <a:p>
            <a:pPr lvl="2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778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021958"/>
              </p:ext>
            </p:extLst>
          </p:nvPr>
        </p:nvGraphicFramePr>
        <p:xfrm>
          <a:off x="3200400" y="2590800"/>
          <a:ext cx="196850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0" name="Equation" r:id="rId3" imgW="126720" imgH="139680" progId="Equation.3">
                  <p:embed/>
                </p:oleObj>
              </mc:Choice>
              <mc:Fallback>
                <p:oleObj name="Equation" r:id="rId3" imgW="126720" imgH="1396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90800"/>
                        <a:ext cx="196850" cy="21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2062162"/>
            <a:ext cx="6010275" cy="323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554" y="2614612"/>
            <a:ext cx="214313" cy="19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602" y="2516981"/>
            <a:ext cx="1393598" cy="3309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order distribution</a:t>
            </a:r>
          </a:p>
          <a:p>
            <a:pPr lvl="1"/>
            <a:r>
              <a:rPr lang="en-US" dirty="0" smtClean="0"/>
              <a:t>If X(t) is a stationary random process, then the first order CDF or </a:t>
            </a:r>
            <a:r>
              <a:rPr lang="en-US" dirty="0" err="1" smtClean="0"/>
              <a:t>pdf</a:t>
            </a:r>
            <a:r>
              <a:rPr lang="en-US" dirty="0" smtClean="0"/>
              <a:t> must be independent of time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samples at different time instant have the same distribution.</a:t>
            </a:r>
          </a:p>
          <a:p>
            <a:pPr lvl="1"/>
            <a:r>
              <a:rPr lang="en-US" dirty="0" smtClean="0"/>
              <a:t>Mean: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2743200" y="1905000"/>
          <a:ext cx="200818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8" name="Equation" r:id="rId3" imgW="1295280" imgH="241200" progId="Equation.3">
                  <p:embed/>
                </p:oleObj>
              </mc:Choice>
              <mc:Fallback>
                <p:oleObj name="Equation" r:id="rId3" imgW="129528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05000"/>
                        <a:ext cx="2008188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2828925" y="2362200"/>
          <a:ext cx="19875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9" name="Equation" r:id="rId5" imgW="1282680" imgH="241200" progId="Equation.3">
                  <p:embed/>
                </p:oleObj>
              </mc:Choice>
              <mc:Fallback>
                <p:oleObj name="Equation" r:id="rId5" imgW="128268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2362200"/>
                        <a:ext cx="198755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6019800" y="1981200"/>
          <a:ext cx="5127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30" name="Equation" r:id="rId7" imgW="330120" imgH="190440" progId="Equation.3">
                  <p:embed/>
                </p:oleObj>
              </mc:Choice>
              <mc:Fallback>
                <p:oleObj name="Equation" r:id="rId7" imgW="330120" imgH="1904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981200"/>
                        <a:ext cx="512762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6096000" y="2362200"/>
          <a:ext cx="5127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31" name="Equation" r:id="rId9" imgW="330120" imgH="190440" progId="Equation.3">
                  <p:embed/>
                </p:oleObj>
              </mc:Choice>
              <mc:Fallback>
                <p:oleObj name="Equation" r:id="rId9" imgW="33012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62200"/>
                        <a:ext cx="512763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1752600" y="3581400"/>
          <a:ext cx="10033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32" name="Equation" r:id="rId11" imgW="647640" imgH="215640" progId="Equation.3">
                  <p:embed/>
                </p:oleObj>
              </mc:Choice>
              <mc:Fallback>
                <p:oleObj name="Equation" r:id="rId11" imgW="64764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81400"/>
                        <a:ext cx="100330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Object 7"/>
          <p:cNvGraphicFramePr>
            <a:graphicFrameLocks noChangeAspect="1"/>
          </p:cNvGraphicFramePr>
          <p:nvPr/>
        </p:nvGraphicFramePr>
        <p:xfrm>
          <a:off x="1752600" y="4038600"/>
          <a:ext cx="13382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33" name="Equation" r:id="rId13" imgW="863280" imgH="215640" progId="Equation.3">
                  <p:embed/>
                </p:oleObj>
              </mc:Choice>
              <mc:Fallback>
                <p:oleObj name="Equation" r:id="rId13" imgW="86328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038600"/>
                        <a:ext cx="1338262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52600" y="5486400"/>
            <a:ext cx="639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dirty="0" smtClean="0">
                <a:solidFill>
                  <a:srgbClr val="FF0000"/>
                </a:solidFill>
              </a:rPr>
              <a:t>For a stationary random process, the mean is independent of time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order distribution</a:t>
            </a:r>
          </a:p>
          <a:p>
            <a:pPr lvl="1"/>
            <a:r>
              <a:rPr lang="en-US" dirty="0" smtClean="0"/>
              <a:t>If X(t) is a stationary random process, then the 2</a:t>
            </a:r>
            <a:r>
              <a:rPr lang="en-US" baseline="30000" dirty="0" smtClean="0"/>
              <a:t>nd</a:t>
            </a:r>
            <a:r>
              <a:rPr lang="en-US" dirty="0" smtClean="0"/>
              <a:t> order CDF and </a:t>
            </a:r>
            <a:r>
              <a:rPr lang="en-US" dirty="0" err="1" smtClean="0"/>
              <a:t>pdf</a:t>
            </a:r>
            <a:r>
              <a:rPr lang="en-US" dirty="0" smtClean="0"/>
              <a:t> are: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2</a:t>
            </a:r>
            <a:r>
              <a:rPr lang="en-US" baseline="30000" dirty="0" smtClean="0"/>
              <a:t>nd</a:t>
            </a:r>
            <a:r>
              <a:rPr lang="en-US" dirty="0" smtClean="0"/>
              <a:t> order distribution only depends on the time difference between the two samples</a:t>
            </a:r>
          </a:p>
          <a:p>
            <a:pPr lvl="1"/>
            <a:r>
              <a:rPr lang="en-US" dirty="0" smtClean="0"/>
              <a:t>Autocorrelation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Autocovariance</a:t>
            </a:r>
            <a:r>
              <a:rPr lang="en-US" dirty="0" smtClean="0"/>
              <a:t> function: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1616075" y="1828800"/>
          <a:ext cx="33464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2" name="Equation" r:id="rId3" imgW="2158920" imgH="241200" progId="Equation.3">
                  <p:embed/>
                </p:oleObj>
              </mc:Choice>
              <mc:Fallback>
                <p:oleObj name="Equation" r:id="rId3" imgW="215892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1828800"/>
                        <a:ext cx="334645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" name="Object 3"/>
          <p:cNvGraphicFramePr>
            <a:graphicFrameLocks noChangeAspect="1"/>
          </p:cNvGraphicFramePr>
          <p:nvPr/>
        </p:nvGraphicFramePr>
        <p:xfrm>
          <a:off x="6248400" y="1905000"/>
          <a:ext cx="5127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3" name="Equation" r:id="rId5" imgW="330120" imgH="190440" progId="Equation.3">
                  <p:embed/>
                </p:oleObj>
              </mc:Choice>
              <mc:Fallback>
                <p:oleObj name="Equation" r:id="rId5" imgW="330120" imgH="190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05000"/>
                        <a:ext cx="512763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1609725" y="2286000"/>
          <a:ext cx="33274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4" name="Equation" r:id="rId7" imgW="2145960" imgH="241200" progId="Equation.3">
                  <p:embed/>
                </p:oleObj>
              </mc:Choice>
              <mc:Fallback>
                <p:oleObj name="Equation" r:id="rId7" imgW="214596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2286000"/>
                        <a:ext cx="33274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6324600" y="2286000"/>
          <a:ext cx="5127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5" name="Equation" r:id="rId9" imgW="330120" imgH="190440" progId="Equation.3">
                  <p:embed/>
                </p:oleObj>
              </mc:Choice>
              <mc:Fallback>
                <p:oleObj name="Equation" r:id="rId9" imgW="33012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286000"/>
                        <a:ext cx="512763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6"/>
          <p:cNvGraphicFramePr>
            <a:graphicFrameLocks noChangeAspect="1"/>
          </p:cNvGraphicFramePr>
          <p:nvPr/>
        </p:nvGraphicFramePr>
        <p:xfrm>
          <a:off x="2209800" y="3810000"/>
          <a:ext cx="10826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6" name="Equation" r:id="rId10" imgW="698400" imgH="215640" progId="Equation.3">
                  <p:embed/>
                </p:oleObj>
              </mc:Choice>
              <mc:Fallback>
                <p:oleObj name="Equation" r:id="rId10" imgW="6984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810000"/>
                        <a:ext cx="10826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6800" y="556260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dirty="0" smtClean="0">
                <a:solidFill>
                  <a:srgbClr val="FF0000"/>
                </a:solidFill>
              </a:rPr>
              <a:t>For a stationary random process, the autocorrelation function and </a:t>
            </a:r>
            <a:r>
              <a:rPr lang="en-US" dirty="0" err="1" smtClean="0">
                <a:solidFill>
                  <a:srgbClr val="FF0000"/>
                </a:solidFill>
              </a:rPr>
              <a:t>autocovariance</a:t>
            </a:r>
            <a:r>
              <a:rPr lang="en-US" dirty="0" smtClean="0">
                <a:solidFill>
                  <a:srgbClr val="FF0000"/>
                </a:solidFill>
              </a:rPr>
              <a:t> function only depends on the time difference:</a:t>
            </a:r>
          </a:p>
          <a:p>
            <a:endParaRPr lang="en-US" dirty="0"/>
          </a:p>
        </p:txBody>
      </p:sp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6934200" y="5867400"/>
          <a:ext cx="5508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7" name="Equation" r:id="rId12" imgW="355320" imgH="215640" progId="Equation.3">
                  <p:embed/>
                </p:oleObj>
              </mc:Choice>
              <mc:Fallback>
                <p:oleObj name="Equation" r:id="rId12" imgW="35532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867400"/>
                        <a:ext cx="550862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</a:p>
          <a:p>
            <a:pPr lvl="1"/>
            <a:r>
              <a:rPr lang="en-US" dirty="0" smtClean="0"/>
              <a:t>In order to determine whether a random process is stationary, we need to find out the joint distribution of any group of samples</a:t>
            </a:r>
          </a:p>
          <a:p>
            <a:pPr lvl="1"/>
            <a:r>
              <a:rPr lang="en-US" dirty="0" smtClean="0"/>
              <a:t>Stationary random process </a:t>
            </a:r>
            <a:r>
              <a:rPr lang="en-US" dirty="0" smtClean="0">
                <a:sym typeface="Wingdings" pitchFamily="2" charset="2"/>
              </a:rPr>
              <a:t> the joint distribution of any group of time samples is independent of the starting time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This is a very strict requirement, and sometimes it is difficult to determine whether a random process is stationary. 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RANDOM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Wide-Sense Stationary (WSS) Random Process</a:t>
            </a:r>
          </a:p>
          <a:p>
            <a:pPr lvl="1"/>
            <a:r>
              <a:rPr lang="en-US" dirty="0"/>
              <a:t>A random process, X(t), is wide-sense stationary (WSS), if the following two conditions are satisfied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 first moment is independent of time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The autocorrelation function depends only on the time difference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Only consider the 1</a:t>
            </a:r>
            <a:r>
              <a:rPr lang="en-US" baseline="30000" dirty="0"/>
              <a:t>st</a:t>
            </a:r>
            <a:r>
              <a:rPr lang="en-US" dirty="0"/>
              <a:t> order and 2</a:t>
            </a:r>
            <a:r>
              <a:rPr lang="en-US" baseline="30000" dirty="0"/>
              <a:t>nd</a:t>
            </a:r>
            <a:r>
              <a:rPr lang="en-US" dirty="0"/>
              <a:t> order distributions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132517"/>
              </p:ext>
            </p:extLst>
          </p:nvPr>
        </p:nvGraphicFramePr>
        <p:xfrm>
          <a:off x="2514600" y="2362200"/>
          <a:ext cx="267493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6" name="Equation" r:id="rId3" imgW="1726920" imgH="215640" progId="Equation.3">
                  <p:embed/>
                </p:oleObj>
              </mc:Choice>
              <mc:Fallback>
                <p:oleObj name="Equation" r:id="rId3" imgW="1726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2200"/>
                        <a:ext cx="2674938" cy="331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243149"/>
              </p:ext>
            </p:extLst>
          </p:nvPr>
        </p:nvGraphicFramePr>
        <p:xfrm>
          <a:off x="2743200" y="3276600"/>
          <a:ext cx="23971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7" name="Equation" r:id="rId5" imgW="1549080" imgH="215640" progId="Equation.3">
                  <p:embed/>
                </p:oleObj>
              </mc:Choice>
              <mc:Fallback>
                <p:oleObj name="Equation" r:id="rId5" imgW="1549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76600"/>
                        <a:ext cx="2397125" cy="331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3117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Stationary </a:t>
            </a:r>
            <a:r>
              <a:rPr lang="en-US" dirty="0" err="1" smtClean="0"/>
              <a:t>v.s</a:t>
            </a:r>
            <a:r>
              <a:rPr lang="en-US" dirty="0" smtClean="0"/>
              <a:t>. Wide-Sense Stationary</a:t>
            </a:r>
          </a:p>
          <a:p>
            <a:pPr lvl="1"/>
            <a:r>
              <a:rPr lang="en-US" dirty="0" smtClean="0"/>
              <a:t>If X(t) is stationary </a:t>
            </a:r>
            <a:r>
              <a:rPr lang="en-US" dirty="0" smtClean="0">
                <a:sym typeface="Wingdings" pitchFamily="2" charset="2"/>
              </a:rPr>
              <a:t> X(t) is WSS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It is not true the other way around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Stationary is a much stricter condition. It requires the joint distribution of any combination of samples to be independent of the absolute starting time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WSS only considers the first moment (mean is a constant) and second order moment (autocorrelation function depends only on the time difference)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2819400" y="5105400"/>
          <a:ext cx="267493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0" name="Equation" r:id="rId3" imgW="1726920" imgH="215640" progId="Equation.3">
                  <p:embed/>
                </p:oleObj>
              </mc:Choice>
              <mc:Fallback>
                <p:oleObj name="Equation" r:id="rId3" imgW="17269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105400"/>
                        <a:ext cx="2674938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2819400" y="5638800"/>
          <a:ext cx="23971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1" name="Equation" r:id="rId5" imgW="1549080" imgH="215640" progId="Equation.3">
                  <p:embed/>
                </p:oleObj>
              </mc:Choice>
              <mc:Fallback>
                <p:oleObj name="Equation" r:id="rId5" imgW="15490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638800"/>
                        <a:ext cx="239712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339193"/>
            <a:ext cx="601027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random process is described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	where A is a random variable uniformly distributed between [-3, 3], B is an RV with zero mean and variance 4, and     is a random variable uniformly distributed in                        . A, B, and      are independent. Find the mean and autocorrelation function. Is X(t) WSS?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82946" name="Object 2"/>
          <p:cNvGraphicFramePr>
            <a:graphicFrameLocks noChangeAspect="1"/>
          </p:cNvGraphicFramePr>
          <p:nvPr/>
        </p:nvGraphicFramePr>
        <p:xfrm>
          <a:off x="2590800" y="1676400"/>
          <a:ext cx="2576512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8" name="Equation" r:id="rId3" imgW="1663560" imgH="203040" progId="Equation.3">
                  <p:embed/>
                </p:oleObj>
              </mc:Choice>
              <mc:Fallback>
                <p:oleObj name="Equation" r:id="rId3" imgW="16635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2576512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5334000" y="2590800"/>
          <a:ext cx="236537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9" name="Equation" r:id="rId5" imgW="152280" imgH="177480" progId="Equation.3">
                  <p:embed/>
                </p:oleObj>
              </mc:Choice>
              <mc:Fallback>
                <p:oleObj name="Equation" r:id="rId5" imgW="15228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590800"/>
                        <a:ext cx="236537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3657600" y="2819400"/>
          <a:ext cx="13398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0" name="Equation" r:id="rId7" imgW="863280" imgH="203040" progId="Equation.3">
                  <p:embed/>
                </p:oleObj>
              </mc:Choice>
              <mc:Fallback>
                <p:oleObj name="Equation" r:id="rId7" imgW="8632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13398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6019800" y="2819400"/>
          <a:ext cx="23653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1" name="Equation" r:id="rId9" imgW="152280" imgH="177480" progId="Equation.3">
                  <p:embed/>
                </p:oleObj>
              </mc:Choice>
              <mc:Fallback>
                <p:oleObj name="Equation" r:id="rId9" imgW="152280" imgH="177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819400"/>
                        <a:ext cx="236538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229600" cy="5600700"/>
          </a:xfrm>
        </p:spPr>
        <p:txBody>
          <a:bodyPr/>
          <a:lstStyle/>
          <a:p>
            <a:r>
              <a:rPr lang="en-US" dirty="0" smtClean="0"/>
              <a:t>Autocorrelation function of a WSS random process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                                   is the </a:t>
            </a:r>
            <a:r>
              <a:rPr lang="en-US" dirty="0" smtClean="0">
                <a:solidFill>
                  <a:srgbClr val="FF0000"/>
                </a:solidFill>
              </a:rPr>
              <a:t>average power </a:t>
            </a:r>
            <a:r>
              <a:rPr lang="en-US" dirty="0" smtClean="0"/>
              <a:t>of the signal X(t)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                                                                                             is an even function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                               </a:t>
            </a:r>
          </a:p>
          <a:p>
            <a:pPr lvl="2"/>
            <a:r>
              <a:rPr lang="en-US" dirty="0" smtClean="0"/>
              <a:t> Cauchy-Schwartz inequality </a:t>
            </a:r>
          </a:p>
          <a:p>
            <a:pPr lvl="1"/>
            <a:r>
              <a:rPr lang="en-US" dirty="0" smtClean="0"/>
              <a:t> If               is non-periodic, then</a:t>
            </a:r>
          </a:p>
          <a:p>
            <a:pPr lvl="2"/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83970" name="Object 2"/>
          <p:cNvGraphicFramePr>
            <a:graphicFrameLocks noChangeAspect="1"/>
          </p:cNvGraphicFramePr>
          <p:nvPr/>
        </p:nvGraphicFramePr>
        <p:xfrm>
          <a:off x="2667000" y="1447800"/>
          <a:ext cx="23971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56" name="Equation" r:id="rId3" imgW="1549080" imgH="215640" progId="Equation.3">
                  <p:embed/>
                </p:oleObj>
              </mc:Choice>
              <mc:Fallback>
                <p:oleObj name="Equation" r:id="rId3" imgW="15490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447800"/>
                        <a:ext cx="2397125" cy="331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3"/>
          <p:cNvGraphicFramePr>
            <a:graphicFrameLocks noChangeAspect="1"/>
          </p:cNvGraphicFramePr>
          <p:nvPr/>
        </p:nvGraphicFramePr>
        <p:xfrm>
          <a:off x="1600200" y="2057400"/>
          <a:ext cx="16891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57" name="Equation" r:id="rId5" imgW="1091880" imgH="228600" progId="Equation.3">
                  <p:embed/>
                </p:oleObj>
              </mc:Choice>
              <mc:Fallback>
                <p:oleObj name="Equation" r:id="rId5" imgW="10918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0"/>
                        <a:ext cx="16891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1600200" y="2667000"/>
          <a:ext cx="510698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58" name="Equation" r:id="rId7" imgW="3301920" imgH="215640" progId="Equation.3">
                  <p:embed/>
                </p:oleObj>
              </mc:Choice>
              <mc:Fallback>
                <p:oleObj name="Equation" r:id="rId7" imgW="330192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667000"/>
                        <a:ext cx="5106988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1676400" y="3276600"/>
          <a:ext cx="15113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59" name="Equation" r:id="rId9" imgW="977760" imgH="253800" progId="Equation.3">
                  <p:embed/>
                </p:oleObj>
              </mc:Choice>
              <mc:Fallback>
                <p:oleObj name="Equation" r:id="rId9" imgW="977760" imgH="253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276600"/>
                        <a:ext cx="15113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976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724400" y="3657600"/>
            <a:ext cx="19240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1752600" y="4419600"/>
          <a:ext cx="15113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0" name="Equation" r:id="rId12" imgW="977760" imgH="291960" progId="Equation.3">
                  <p:embed/>
                </p:oleObj>
              </mc:Choice>
              <mc:Fallback>
                <p:oleObj name="Equation" r:id="rId12" imgW="977760" imgH="2919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19600"/>
                        <a:ext cx="151130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1828800" y="3962400"/>
          <a:ext cx="6477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1" name="Equation" r:id="rId14" imgW="419040" imgH="215640" progId="Equation.3">
                  <p:embed/>
                </p:oleObj>
              </mc:Choice>
              <mc:Fallback>
                <p:oleObj name="Equation" r:id="rId14" imgW="41904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962400"/>
                        <a:ext cx="64770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 smtClean="0"/>
          </a:p>
          <a:p>
            <a:pPr lvl="1"/>
            <a:r>
              <a:rPr lang="en-US" dirty="0" smtClean="0"/>
              <a:t>Consider a random process having an autocorrelation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mean and variance of X(t)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636862"/>
            <a:ext cx="1990725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random process Z(t) is</a:t>
            </a:r>
          </a:p>
          <a:p>
            <a:pPr lvl="1"/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Where X(t) is a WSS random process with autocorrelation function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Find the autocorrelation function of Z(t). Is Z(t) WSS?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2362200" y="1752600"/>
          <a:ext cx="220027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0" name="Equation" r:id="rId3" imgW="1422360" imgH="228600" progId="Equation.3">
                  <p:embed/>
                </p:oleObj>
              </mc:Choice>
              <mc:Fallback>
                <p:oleObj name="Equation" r:id="rId3" imgW="142236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2200275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2667000" y="2743200"/>
          <a:ext cx="1728788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1" name="Equation" r:id="rId5" imgW="1117440" imgH="228600" progId="Equation.3">
                  <p:embed/>
                </p:oleObj>
              </mc:Choice>
              <mc:Fallback>
                <p:oleObj name="Equation" r:id="rId5" imgW="111744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743200"/>
                        <a:ext cx="1728788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random process X(t) = At + B, where A is a Gaussian random variable with 0 mean and variance 16, and B is uniformly distributed between 0 and 6. A and B are independent. Find the mean and auto-correlation function. Is it WSS?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stochastic process (random process)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continuous-time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Description of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discrete-time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 and non-ergodic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1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RANDOM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random processes</a:t>
            </a:r>
          </a:p>
          <a:p>
            <a:pPr lvl="1"/>
            <a:r>
              <a:rPr lang="en-US" dirty="0" smtClean="0"/>
              <a:t>X(t) and Y(t)</a:t>
            </a:r>
          </a:p>
          <a:p>
            <a:r>
              <a:rPr lang="en-US" dirty="0" smtClean="0"/>
              <a:t>Cross-correlation function</a:t>
            </a:r>
          </a:p>
          <a:p>
            <a:pPr lvl="1"/>
            <a:r>
              <a:rPr lang="en-US" dirty="0" smtClean="0"/>
              <a:t>The cross-correlation function between two random processes X(t) and Y(t) is defined as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Two random processes are said to be </a:t>
            </a:r>
            <a:r>
              <a:rPr lang="en-US" dirty="0" smtClean="0">
                <a:solidFill>
                  <a:srgbClr val="000099"/>
                </a:solidFill>
              </a:rPr>
              <a:t>uncorrelated</a:t>
            </a:r>
            <a:r>
              <a:rPr lang="en-US" dirty="0" smtClean="0"/>
              <a:t> if  </a:t>
            </a:r>
            <a:r>
              <a:rPr lang="en-US" dirty="0" smtClean="0">
                <a:solidFill>
                  <a:srgbClr val="FF0000"/>
                </a:solidFill>
              </a:rPr>
              <a:t>for all     and 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Two random processes are said to be </a:t>
            </a:r>
            <a:r>
              <a:rPr lang="en-US" dirty="0" smtClean="0">
                <a:solidFill>
                  <a:srgbClr val="000099"/>
                </a:solidFill>
              </a:rPr>
              <a:t>orthogonal</a:t>
            </a:r>
            <a:r>
              <a:rPr lang="en-US" dirty="0" smtClean="0"/>
              <a:t> if </a:t>
            </a:r>
            <a:r>
              <a:rPr lang="en-US" dirty="0" smtClean="0">
                <a:solidFill>
                  <a:srgbClr val="FF0000"/>
                </a:solidFill>
              </a:rPr>
              <a:t>for all     and </a:t>
            </a:r>
          </a:p>
          <a:p>
            <a:pPr lvl="1"/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Cross-covariance function</a:t>
            </a:r>
          </a:p>
          <a:p>
            <a:pPr lvl="1"/>
            <a:r>
              <a:rPr lang="en-US" dirty="0" smtClean="0"/>
              <a:t>The cross-covariance function between two random processes X(t) and Y(t) is defined as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42</a:t>
            </a:fld>
            <a:endParaRPr lang="en-US" altLang="zh-CN" dirty="0" smtClean="0"/>
          </a:p>
        </p:txBody>
      </p:sp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3076575" y="2514600"/>
          <a:ext cx="251301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2" name="Equation" r:id="rId3" imgW="1625400" imgH="215640" progId="Equation.3">
                  <p:embed/>
                </p:oleObj>
              </mc:Choice>
              <mc:Fallback>
                <p:oleObj name="Equation" r:id="rId3" imgW="162540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2514600"/>
                        <a:ext cx="2513013" cy="331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2286000" y="3352800"/>
          <a:ext cx="32194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3" name="Equation" r:id="rId5" imgW="2082600" imgH="215640" progId="Equation.3">
                  <p:embed/>
                </p:oleObj>
              </mc:Choice>
              <mc:Fallback>
                <p:oleObj name="Equation" r:id="rId5" imgW="208260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52800"/>
                        <a:ext cx="321945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6934200" y="2895600"/>
          <a:ext cx="1968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4" name="Equation" r:id="rId7" imgW="126720" imgH="215640" progId="Equation.3">
                  <p:embed/>
                </p:oleObj>
              </mc:Choice>
              <mc:Fallback>
                <p:oleObj name="Equation" r:id="rId7" imgW="12672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895600"/>
                        <a:ext cx="19685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7543800" y="2895600"/>
          <a:ext cx="2159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5" name="Equation" r:id="rId9" imgW="139680" imgH="215640" progId="Equation.3">
                  <p:embed/>
                </p:oleObj>
              </mc:Choice>
              <mc:Fallback>
                <p:oleObj name="Equation" r:id="rId9" imgW="13968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895600"/>
                        <a:ext cx="21590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6705600" y="3886200"/>
          <a:ext cx="1968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6" name="Equation" r:id="rId11" imgW="126720" imgH="215640" progId="Equation.3">
                  <p:embed/>
                </p:oleObj>
              </mc:Choice>
              <mc:Fallback>
                <p:oleObj name="Equation" r:id="rId11" imgW="12672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86200"/>
                        <a:ext cx="19685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7315200" y="3886200"/>
          <a:ext cx="2159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7" name="Equation" r:id="rId13" imgW="139680" imgH="215640" progId="Equation.3">
                  <p:embed/>
                </p:oleObj>
              </mc:Choice>
              <mc:Fallback>
                <p:oleObj name="Equation" r:id="rId13" imgW="13968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886200"/>
                        <a:ext cx="21590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3505200" y="4267200"/>
          <a:ext cx="1335087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8" name="Equation" r:id="rId15" imgW="863280" imgH="215640" progId="Equation.3">
                  <p:embed/>
                </p:oleObj>
              </mc:Choice>
              <mc:Fallback>
                <p:oleObj name="Equation" r:id="rId15" imgW="86328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267200"/>
                        <a:ext cx="1335087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2362200" y="5562600"/>
          <a:ext cx="39846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9" name="Equation" r:id="rId17" imgW="2577960" imgH="215640" progId="Equation.3">
                  <p:embed/>
                </p:oleObj>
              </mc:Choice>
              <mc:Fallback>
                <p:oleObj name="Equation" r:id="rId17" imgW="257796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562600"/>
                        <a:ext cx="3984625" cy="331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RANDOM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 Consider two random processes                                       and</a:t>
            </a:r>
          </a:p>
          <a:p>
            <a:pPr lvl="1">
              <a:buNone/>
            </a:pPr>
            <a:r>
              <a:rPr lang="en-US" dirty="0" smtClean="0"/>
              <a:t>	                                    . Are they uncorrelated?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43</a:t>
            </a:fld>
            <a:endParaRPr lang="en-US" altLang="zh-CN" dirty="0" smtClean="0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4572000" y="1295400"/>
          <a:ext cx="20034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08" name="Equation" r:id="rId4" imgW="1295280" imgH="203040" progId="Equation.3">
                  <p:embed/>
                </p:oleObj>
              </mc:Choice>
              <mc:Fallback>
                <p:oleObj name="Equation" r:id="rId4" imgW="129528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295400"/>
                        <a:ext cx="2003425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1562100" y="1600200"/>
          <a:ext cx="1925638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09" name="Equation" r:id="rId6" imgW="1244520" imgH="203040" progId="Equation.3">
                  <p:embed/>
                </p:oleObj>
              </mc:Choice>
              <mc:Fallback>
                <p:oleObj name="Equation" r:id="rId6" imgW="124452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1600200"/>
                        <a:ext cx="1925638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RANDOM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Suppose signal Y(t) consists a desired signal X(t) plus noise N(t) as</a:t>
            </a:r>
          </a:p>
          <a:p>
            <a:pPr lvl="1">
              <a:buNone/>
            </a:pPr>
            <a:r>
              <a:rPr lang="en-US" dirty="0" smtClean="0"/>
              <a:t>	Y(t) = X(t) + N(t)</a:t>
            </a:r>
          </a:p>
          <a:p>
            <a:pPr lvl="1">
              <a:buNone/>
            </a:pPr>
            <a:r>
              <a:rPr lang="en-US" dirty="0" smtClean="0"/>
              <a:t>	The autocorrelation functions of X(t) and N(t) are:                   and                    , respectively. The mean function of X(t) and N(t) are:            and            , respectively. Find the cross-correlation between X(t) and Y(t).    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44</a:t>
            </a:fld>
            <a:endParaRPr lang="en-US" altLang="zh-CN" dirty="0" smtClean="0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6096000" y="1905000"/>
          <a:ext cx="9826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8" name="Equation" r:id="rId3" imgW="634680" imgH="215640" progId="Equation.3">
                  <p:embed/>
                </p:oleObj>
              </mc:Choice>
              <mc:Fallback>
                <p:oleObj name="Equation" r:id="rId3" imgW="6346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05000"/>
                        <a:ext cx="982662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7543800" y="1895475"/>
          <a:ext cx="982663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9" name="Equation" r:id="rId5" imgW="634680" imgH="228600" progId="Equation.3">
                  <p:embed/>
                </p:oleObj>
              </mc:Choice>
              <mc:Fallback>
                <p:oleObj name="Equation" r:id="rId5" imgW="6346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895475"/>
                        <a:ext cx="982663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6400800" y="2209800"/>
          <a:ext cx="6286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0" name="Equation" r:id="rId7" imgW="406080" imgH="215640" progId="Equation.3">
                  <p:embed/>
                </p:oleObj>
              </mc:Choice>
              <mc:Fallback>
                <p:oleObj name="Equation" r:id="rId7" imgW="40608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209800"/>
                        <a:ext cx="62865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7467600" y="2200275"/>
          <a:ext cx="6286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1" name="Equation" r:id="rId9" imgW="406080" imgH="228600" progId="Equation.3">
                  <p:embed/>
                </p:oleObj>
              </mc:Choice>
              <mc:Fallback>
                <p:oleObj name="Equation" r:id="rId9" imgW="40608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200275"/>
                        <a:ext cx="62865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45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stochastic process (random process)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continuous-time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Description of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discrete-time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 and non-ergodic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29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average of a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Time average of a sample function of the random process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Ensemble average (mean) of a random process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46</a:t>
            </a:fld>
            <a:endParaRPr lang="en-US" altLang="zh-CN" dirty="0" smtClean="0"/>
          </a:p>
        </p:txBody>
      </p:sp>
      <p:graphicFrame>
        <p:nvGraphicFramePr>
          <p:cNvPr id="86018" name="Object 2"/>
          <p:cNvGraphicFramePr>
            <a:graphicFrameLocks noChangeAspect="1"/>
          </p:cNvGraphicFramePr>
          <p:nvPr/>
        </p:nvGraphicFramePr>
        <p:xfrm>
          <a:off x="2590800" y="1295400"/>
          <a:ext cx="18859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3" name="Equation" r:id="rId3" imgW="1218960" imgH="393480" progId="Equation.3">
                  <p:embed/>
                </p:oleObj>
              </mc:Choice>
              <mc:Fallback>
                <p:oleObj name="Equation" r:id="rId3" imgW="12189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295400"/>
                        <a:ext cx="1885950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7427913" y="2038350"/>
          <a:ext cx="14160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4" name="Equation" r:id="rId5" imgW="914400" imgH="228600" progId="Equation.3">
                  <p:embed/>
                </p:oleObj>
              </mc:Choice>
              <mc:Fallback>
                <p:oleObj name="Equation" r:id="rId5" imgW="91440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913" y="2038350"/>
                        <a:ext cx="141605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2514600" y="2514600"/>
          <a:ext cx="26114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5" name="Equation" r:id="rId7" imgW="1688760" imgH="393480" progId="Equation.3">
                  <p:embed/>
                </p:oleObj>
              </mc:Choice>
              <mc:Fallback>
                <p:oleObj name="Equation" r:id="rId7" imgW="16887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514600"/>
                        <a:ext cx="2611438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/>
        </p:nvGraphicFramePr>
        <p:xfrm>
          <a:off x="6400800" y="3124200"/>
          <a:ext cx="8064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6" name="Equation" r:id="rId9" imgW="520560" imgH="228600" progId="Equation.3">
                  <p:embed/>
                </p:oleObj>
              </mc:Choice>
              <mc:Fallback>
                <p:oleObj name="Equation" r:id="rId9" imgW="52056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124200"/>
                        <a:ext cx="80645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2514600" y="3657600"/>
          <a:ext cx="27146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7" name="Equation" r:id="rId11" imgW="1752480" imgH="330120" progId="Equation.3">
                  <p:embed/>
                </p:oleObj>
              </mc:Choice>
              <mc:Fallback>
                <p:oleObj name="Equation" r:id="rId11" imgW="1752480" imgH="3301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657600"/>
                        <a:ext cx="2714625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657600" y="4343400"/>
            <a:ext cx="2373658" cy="1969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2743202" y="4545435"/>
            <a:ext cx="306902" cy="1668272"/>
            <a:chOff x="1371601" y="3124994"/>
            <a:chExt cx="534193" cy="3124200"/>
          </a:xfrm>
        </p:grpSpPr>
        <p:cxnSp>
          <p:nvCxnSpPr>
            <p:cNvPr id="12" name="Straight Arrow Connector 11"/>
            <p:cNvCxnSpPr/>
            <p:nvPr/>
          </p:nvCxnSpPr>
          <p:spPr>
            <a:xfrm rot="5400000" flipH="1" flipV="1">
              <a:off x="342900" y="4686300"/>
              <a:ext cx="3124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 rot="16200000">
              <a:off x="623960" y="4557640"/>
              <a:ext cx="18646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Ensemble domain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10000" y="6461227"/>
            <a:ext cx="2451567" cy="197218"/>
            <a:chOff x="2438400" y="6324600"/>
            <a:chExt cx="4267200" cy="369332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2438400" y="6324600"/>
              <a:ext cx="426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657600" y="6324600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time domain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Ergodic</a:t>
            </a:r>
            <a:r>
              <a:rPr lang="en-US" dirty="0" smtClean="0"/>
              <a:t> random process</a:t>
            </a:r>
          </a:p>
          <a:p>
            <a:pPr lvl="1"/>
            <a:r>
              <a:rPr lang="en-US" dirty="0" smtClean="0"/>
              <a:t>A stationary random process is also an </a:t>
            </a:r>
            <a:r>
              <a:rPr lang="en-US" dirty="0" err="1" smtClean="0"/>
              <a:t>ergodic</a:t>
            </a:r>
            <a:r>
              <a:rPr lang="en-US" dirty="0" smtClean="0"/>
              <a:t> random process if the n-</a:t>
            </a:r>
            <a:r>
              <a:rPr lang="en-US" dirty="0" err="1" smtClean="0"/>
              <a:t>th</a:t>
            </a:r>
            <a:r>
              <a:rPr lang="en-US" dirty="0" smtClean="0"/>
              <a:t> order </a:t>
            </a:r>
            <a:r>
              <a:rPr lang="en-US" dirty="0" smtClean="0">
                <a:solidFill>
                  <a:srgbClr val="FF0000"/>
                </a:solidFill>
              </a:rPr>
              <a:t>ensemble average </a:t>
            </a:r>
            <a:r>
              <a:rPr lang="en-US" dirty="0" smtClean="0"/>
              <a:t>is the same as the n-</a:t>
            </a:r>
            <a:r>
              <a:rPr lang="en-US" dirty="0" err="1" smtClean="0"/>
              <a:t>th</a:t>
            </a:r>
            <a:r>
              <a:rPr lang="en-US" dirty="0" smtClean="0"/>
              <a:t> order </a:t>
            </a:r>
            <a:r>
              <a:rPr lang="en-US" dirty="0" smtClean="0">
                <a:solidFill>
                  <a:srgbClr val="FF0000"/>
                </a:solidFill>
              </a:rPr>
              <a:t>time average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If a random process is </a:t>
            </a:r>
            <a:r>
              <a:rPr lang="en-US" dirty="0" err="1" smtClean="0"/>
              <a:t>ergodic</a:t>
            </a:r>
            <a:r>
              <a:rPr lang="en-US" dirty="0" smtClean="0"/>
              <a:t>, we can find the moments by performing time average over a single sample function.</a:t>
            </a:r>
          </a:p>
          <a:p>
            <a:pPr lvl="1"/>
            <a:r>
              <a:rPr lang="en-US" dirty="0" err="1" smtClean="0"/>
              <a:t>Ergodic</a:t>
            </a:r>
            <a:r>
              <a:rPr lang="en-US" dirty="0" smtClean="0"/>
              <a:t> is only defined for stationary random process</a:t>
            </a:r>
          </a:p>
          <a:p>
            <a:pPr lvl="2"/>
            <a:r>
              <a:rPr lang="en-US" dirty="0" smtClean="0"/>
              <a:t>If a random process is </a:t>
            </a:r>
            <a:r>
              <a:rPr lang="en-US" dirty="0" err="1" smtClean="0"/>
              <a:t>ergodic</a:t>
            </a:r>
            <a:r>
              <a:rPr lang="en-US" dirty="0" smtClean="0"/>
              <a:t> , then it must be stationary</a:t>
            </a:r>
          </a:p>
          <a:p>
            <a:pPr lvl="3"/>
            <a:r>
              <a:rPr lang="en-US" dirty="0" smtClean="0"/>
              <a:t>Not </a:t>
            </a:r>
            <a:r>
              <a:rPr lang="en-US" dirty="0" smtClean="0"/>
              <a:t>true </a:t>
            </a:r>
            <a:r>
              <a:rPr lang="en-US" dirty="0" smtClean="0"/>
              <a:t>the other way around</a:t>
            </a:r>
          </a:p>
          <a:p>
            <a:pPr lvl="3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47</a:t>
            </a:fld>
            <a:endParaRPr lang="en-US" altLang="zh-CN" dirty="0" smtClean="0"/>
          </a:p>
        </p:txBody>
      </p:sp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2819400" y="2743200"/>
          <a:ext cx="24368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1" name="Equation" r:id="rId3" imgW="1574640" imgH="393480" progId="Equation.3">
                  <p:embed/>
                </p:oleObj>
              </mc:Choice>
              <mc:Fallback>
                <p:oleObj name="Equation" r:id="rId3" imgW="15746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743200"/>
                        <a:ext cx="2436813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2895600" y="3505200"/>
          <a:ext cx="25939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2" name="Equation" r:id="rId5" imgW="1676160" imgH="330120" progId="Equation.3">
                  <p:embed/>
                </p:oleObj>
              </mc:Choice>
              <mc:Fallback>
                <p:oleObj name="Equation" r:id="rId5" imgW="167616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05200"/>
                        <a:ext cx="2593975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2895600" y="2133600"/>
          <a:ext cx="18462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3" name="Equation" r:id="rId7" imgW="1193760" imgH="279360" progId="Equation.3">
                  <p:embed/>
                </p:oleObj>
              </mc:Choice>
              <mc:Fallback>
                <p:oleObj name="Equation" r:id="rId7" imgW="1193760" imgH="2793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133600"/>
                        <a:ext cx="1846263" cy="427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process </a:t>
            </a:r>
          </a:p>
          <a:p>
            <a:pPr lvl="1">
              <a:buNone/>
            </a:pPr>
            <a:r>
              <a:rPr lang="en-US" dirty="0" smtClean="0"/>
              <a:t>	where A is a Gaussian RV with 0 mean and variance 4. Is it </a:t>
            </a:r>
            <a:r>
              <a:rPr lang="en-US" dirty="0" err="1" smtClean="0"/>
              <a:t>ergodic</a:t>
            </a:r>
            <a:r>
              <a:rPr lang="en-US" dirty="0" smtClean="0"/>
              <a:t>?  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48</a:t>
            </a:fld>
            <a:endParaRPr lang="en-US" altLang="zh-CN" dirty="0" smtClean="0"/>
          </a:p>
        </p:txBody>
      </p:sp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4191000" y="1295400"/>
          <a:ext cx="9239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3" name="Equation" r:id="rId3" imgW="596880" imgH="203040" progId="Equation.3">
                  <p:embed/>
                </p:oleObj>
              </mc:Choice>
              <mc:Fallback>
                <p:oleObj name="Equation" r:id="rId3" imgW="59688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95400"/>
                        <a:ext cx="923925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WSS</a:t>
            </a:r>
            <a:r>
              <a:rPr lang="en-US" dirty="0" smtClean="0"/>
              <a:t> random process is </a:t>
            </a:r>
            <a:r>
              <a:rPr lang="en-US" dirty="0" smtClean="0">
                <a:solidFill>
                  <a:srgbClr val="FF0000"/>
                </a:solidFill>
              </a:rPr>
              <a:t>mean </a:t>
            </a:r>
            <a:r>
              <a:rPr lang="en-US" dirty="0" err="1" smtClean="0">
                <a:solidFill>
                  <a:srgbClr val="FF0000"/>
                </a:solidFill>
              </a:rPr>
              <a:t>ergodic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if the </a:t>
            </a:r>
            <a:r>
              <a:rPr lang="en-US" dirty="0" smtClean="0">
                <a:solidFill>
                  <a:srgbClr val="FF0000"/>
                </a:solidFill>
              </a:rPr>
              <a:t>ensemble average </a:t>
            </a:r>
            <a:r>
              <a:rPr lang="en-US" dirty="0" smtClean="0"/>
              <a:t>is the same as the </a:t>
            </a:r>
            <a:r>
              <a:rPr lang="en-US" dirty="0" smtClean="0">
                <a:solidFill>
                  <a:srgbClr val="FF0000"/>
                </a:solidFill>
              </a:rPr>
              <a:t>time average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 </a:t>
            </a:r>
            <a:r>
              <a:rPr lang="en-US" dirty="0" err="1" smtClean="0"/>
              <a:t>v.s</a:t>
            </a:r>
            <a:r>
              <a:rPr lang="en-US" dirty="0" smtClean="0"/>
              <a:t>. 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2"/>
            <a:r>
              <a:rPr lang="en-US" dirty="0" err="1" smtClean="0"/>
              <a:t>Ergodic</a:t>
            </a:r>
            <a:r>
              <a:rPr lang="en-US" dirty="0" smtClean="0"/>
              <a:t>:                                                for stationary process </a:t>
            </a:r>
          </a:p>
          <a:p>
            <a:pPr lvl="2"/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:                                       for WSS process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If a random process is </a:t>
            </a:r>
            <a:r>
              <a:rPr lang="en-US" dirty="0" err="1" smtClean="0"/>
              <a:t>ergodic</a:t>
            </a:r>
            <a:r>
              <a:rPr lang="en-US" dirty="0" smtClean="0"/>
              <a:t>, then it must be mean 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3"/>
            <a:r>
              <a:rPr lang="en-US" dirty="0" smtClean="0"/>
              <a:t>Not true the other way around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If a process is mean </a:t>
            </a:r>
            <a:r>
              <a:rPr lang="en-US" dirty="0" err="1" smtClean="0"/>
              <a:t>ergodic</a:t>
            </a:r>
            <a:r>
              <a:rPr lang="en-US" dirty="0" smtClean="0"/>
              <a:t>, it must be WSS</a:t>
            </a:r>
          </a:p>
          <a:p>
            <a:pPr lvl="2"/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 is defined for WSS process only.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49</a:t>
            </a:fld>
            <a:endParaRPr lang="en-US" altLang="zh-CN" dirty="0" smtClean="0"/>
          </a:p>
        </p:txBody>
      </p:sp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3048000" y="2133600"/>
          <a:ext cx="16494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29" name="Equation" r:id="rId3" imgW="1066680" imgH="253800" progId="Equation.3">
                  <p:embed/>
                </p:oleObj>
              </mc:Choice>
              <mc:Fallback>
                <p:oleObj name="Equation" r:id="rId3" imgW="106668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33600"/>
                        <a:ext cx="1649413" cy="387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3581400" y="3200400"/>
          <a:ext cx="160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30" name="Equation" r:id="rId5" imgW="1193760" imgH="279360" progId="Equation.3">
                  <p:embed/>
                </p:oleObj>
              </mc:Choice>
              <mc:Fallback>
                <p:oleObj name="Equation" r:id="rId5" imgW="1193760" imgH="2793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200400"/>
                        <a:ext cx="16002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3657600" y="3581400"/>
          <a:ext cx="1447800" cy="34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31" name="Equation" r:id="rId7" imgW="1066680" imgH="253800" progId="Equation.3">
                  <p:embed/>
                </p:oleObj>
              </mc:Choice>
              <mc:Fallback>
                <p:oleObj name="Equation" r:id="rId7" imgW="1066680" imgH="253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581400"/>
                        <a:ext cx="1447800" cy="3400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process</a:t>
            </a:r>
          </a:p>
          <a:p>
            <a:pPr lvl="1">
              <a:buNone/>
            </a:pPr>
            <a:r>
              <a:rPr lang="en-US" dirty="0" smtClean="0"/>
              <a:t>	where A is a non-zero constant, and       is uniformly distributed between 0 and      . </a:t>
            </a:r>
            <a:r>
              <a:rPr lang="en-US" smtClean="0"/>
              <a:t>Is it </a:t>
            </a:r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50</a:t>
            </a:fld>
            <a:endParaRPr lang="en-US" altLang="zh-CN" dirty="0" smtClean="0"/>
          </a:p>
        </p:txBody>
      </p:sp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4181475" y="1295400"/>
          <a:ext cx="22002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3" name="Equation" r:id="rId3" imgW="1422360" imgH="203040" progId="Equation.3">
                  <p:embed/>
                </p:oleObj>
              </mc:Choice>
              <mc:Fallback>
                <p:oleObj name="Equation" r:id="rId3" imgW="14223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1295400"/>
                        <a:ext cx="22002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/>
          <p:cNvGraphicFramePr>
            <a:graphicFrameLocks noChangeAspect="1"/>
          </p:cNvGraphicFramePr>
          <p:nvPr/>
        </p:nvGraphicFramePr>
        <p:xfrm>
          <a:off x="4800600" y="1600200"/>
          <a:ext cx="23653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4" name="Equation" r:id="rId5" imgW="152280" imgH="177480" progId="Equation.3">
                  <p:embed/>
                </p:oleObj>
              </mc:Choice>
              <mc:Fallback>
                <p:oleObj name="Equation" r:id="rId5" imgW="15228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00200"/>
                        <a:ext cx="236538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1914525" y="1933575"/>
          <a:ext cx="217488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5" name="Equation" r:id="rId7" imgW="139680" imgH="139680" progId="Equation.3">
                  <p:embed/>
                </p:oleObj>
              </mc:Choice>
              <mc:Fallback>
                <p:oleObj name="Equation" r:id="rId7" imgW="139680" imgH="1396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1933575"/>
                        <a:ext cx="217488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stochastic process (random process)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continuous-time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Description of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discrete-time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 and non-ergodic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9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SPECTRAL DENSITY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Power spectral density (PSD)</a:t>
            </a:r>
          </a:p>
          <a:p>
            <a:pPr lvl="1"/>
            <a:r>
              <a:rPr lang="en-US" dirty="0" smtClean="0"/>
              <a:t>The distribution of the power in the frequency domain.</a:t>
            </a:r>
          </a:p>
          <a:p>
            <a:pPr lvl="1"/>
            <a:r>
              <a:rPr lang="en-US" dirty="0" smtClean="0"/>
              <a:t>For a WSS random process, the PSD is the Fourier transform of the auto-correlation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“density” of power in the frequency domain.</a:t>
            </a:r>
          </a:p>
          <a:p>
            <a:pPr lvl="1"/>
            <a:r>
              <a:rPr lang="en-US" dirty="0" smtClean="0"/>
              <a:t>The power consumption between the frequency range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52</a:t>
            </a:fld>
            <a:endParaRPr lang="en-US" altLang="zh-CN" dirty="0" smtClean="0"/>
          </a:p>
        </p:txBody>
      </p:sp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3059113" y="2362200"/>
          <a:ext cx="204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6" name="Equation" r:id="rId3" imgW="1168200" imgH="215640" progId="Equation.3">
                  <p:embed/>
                </p:oleObj>
              </mc:Choice>
              <mc:Fallback>
                <p:oleObj name="Equation" r:id="rId3" imgW="116820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362200"/>
                        <a:ext cx="2044700" cy="381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6553200" y="3581400"/>
          <a:ext cx="733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7" name="Equation" r:id="rId5" imgW="507960" imgH="215640" progId="Equation.3">
                  <p:embed/>
                </p:oleObj>
              </mc:Choice>
              <mc:Fallback>
                <p:oleObj name="Equation" r:id="rId5" imgW="50796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581400"/>
                        <a:ext cx="733425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5"/>
          <p:cNvGraphicFramePr>
            <a:graphicFrameLocks noChangeAspect="1"/>
          </p:cNvGraphicFramePr>
          <p:nvPr/>
        </p:nvGraphicFramePr>
        <p:xfrm>
          <a:off x="2982913" y="3962400"/>
          <a:ext cx="18224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8" name="Equation" r:id="rId7" imgW="1041120" imgH="355320" progId="Equation.3">
                  <p:embed/>
                </p:oleObj>
              </mc:Choice>
              <mc:Fallback>
                <p:oleObj name="Equation" r:id="rId7" imgW="1041120" imgH="355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3962400"/>
                        <a:ext cx="1822450" cy="6270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430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05400" y="4267200"/>
            <a:ext cx="3505200" cy="219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SPECTRAL DENSITY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White noise</a:t>
            </a:r>
          </a:p>
          <a:p>
            <a:pPr lvl="1"/>
            <a:r>
              <a:rPr lang="en-US" dirty="0" smtClean="0"/>
              <a:t>Autocorrelation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 any two samples in the time domain are uncorrelated.</a:t>
            </a:r>
          </a:p>
          <a:p>
            <a:pPr lvl="1"/>
            <a:r>
              <a:rPr lang="en-US" dirty="0" smtClean="0"/>
              <a:t>Power spectral density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53</a:t>
            </a:fld>
            <a:endParaRPr lang="en-US" altLang="zh-CN" dirty="0" smtClean="0"/>
          </a:p>
        </p:txBody>
      </p:sp>
      <p:graphicFrame>
        <p:nvGraphicFramePr>
          <p:cNvPr id="104450" name="Object 8"/>
          <p:cNvGraphicFramePr>
            <a:graphicFrameLocks noChangeAspect="1"/>
          </p:cNvGraphicFramePr>
          <p:nvPr/>
        </p:nvGraphicFramePr>
        <p:xfrm>
          <a:off x="3200400" y="1600200"/>
          <a:ext cx="1976437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5" name="Equation" r:id="rId3" imgW="1028520" imgH="393480" progId="Equation.3">
                  <p:embed/>
                </p:oleObj>
              </mc:Choice>
              <mc:Fallback>
                <p:oleObj name="Equation" r:id="rId3" imgW="102852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1976437" cy="754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1" name="Object 9"/>
          <p:cNvGraphicFramePr>
            <a:graphicFrameLocks noChangeAspect="1"/>
          </p:cNvGraphicFramePr>
          <p:nvPr/>
        </p:nvGraphicFramePr>
        <p:xfrm>
          <a:off x="2743200" y="3048000"/>
          <a:ext cx="3367087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6" name="Equation" r:id="rId5" imgW="1752480" imgH="393480" progId="Equation.3">
                  <p:embed/>
                </p:oleObj>
              </mc:Choice>
              <mc:Fallback>
                <p:oleObj name="Equation" r:id="rId5" imgW="175248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048000"/>
                        <a:ext cx="3367087" cy="754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5743575" y="6076950"/>
            <a:ext cx="3152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V="1">
            <a:off x="7200900" y="459105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6727825" y="5075238"/>
            <a:ext cx="4635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N</a:t>
            </a:r>
            <a:r>
              <a:rPr lang="en-US" altLang="zh-CN" sz="800">
                <a:solidFill>
                  <a:srgbClr val="000099"/>
                </a:solidFill>
                <a:ea typeface="宋体" pitchFamily="2" charset="-122"/>
              </a:rPr>
              <a:t>0</a:t>
            </a:r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/2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8680450" y="5764213"/>
            <a:ext cx="2428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400" i="1">
                <a:ea typeface="宋体" pitchFamily="2" charset="-122"/>
              </a:rPr>
              <a:t>f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5838825" y="5314950"/>
            <a:ext cx="2714625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6461125" y="4589463"/>
          <a:ext cx="6127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7" name="Equation" r:id="rId7" imgW="406080" imgH="215640" progId="Equation.3">
                  <p:embed/>
                </p:oleObj>
              </mc:Choice>
              <mc:Fallback>
                <p:oleObj name="Equation" r:id="rId7" imgW="40608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4589463"/>
                        <a:ext cx="612775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7"/>
          <p:cNvSpPr>
            <a:spLocks noChangeShapeType="1"/>
          </p:cNvSpPr>
          <p:nvPr/>
        </p:nvSpPr>
        <p:spPr bwMode="auto">
          <a:xfrm>
            <a:off x="1000125" y="5953125"/>
            <a:ext cx="3152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 flipV="1">
            <a:off x="2457450" y="4467225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V="1">
            <a:off x="2457450" y="5210175"/>
            <a:ext cx="0" cy="74295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1760538" y="4541838"/>
          <a:ext cx="5746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8" name="Equation" r:id="rId9" imgW="419040" imgH="215640" progId="Equation.3">
                  <p:embed/>
                </p:oleObj>
              </mc:Choice>
              <mc:Fallback>
                <p:oleObj name="Equation" r:id="rId9" imgW="419040" imgH="215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4541838"/>
                        <a:ext cx="574675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1889125" y="5113338"/>
            <a:ext cx="4635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N</a:t>
            </a:r>
            <a:r>
              <a:rPr lang="en-US" altLang="zh-CN" sz="800">
                <a:solidFill>
                  <a:srgbClr val="000099"/>
                </a:solidFill>
                <a:ea typeface="宋体" pitchFamily="2" charset="-122"/>
              </a:rPr>
              <a:t>0</a:t>
            </a:r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/2</a:t>
            </a:r>
          </a:p>
        </p:txBody>
      </p:sp>
      <p:graphicFrame>
        <p:nvGraphicFramePr>
          <p:cNvPr id="18" name="Object 24"/>
          <p:cNvGraphicFramePr>
            <a:graphicFrameLocks noChangeAspect="1"/>
          </p:cNvGraphicFramePr>
          <p:nvPr/>
        </p:nvGraphicFramePr>
        <p:xfrm>
          <a:off x="3941763" y="5689600"/>
          <a:ext cx="17462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9" name="Equation" r:id="rId11" imgW="126720" imgH="139680" progId="Equation.3">
                  <p:embed/>
                </p:oleObj>
              </mc:Choice>
              <mc:Fallback>
                <p:oleObj name="Equation" r:id="rId11" imgW="126720" imgH="1396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5689600"/>
                        <a:ext cx="174625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2995</TotalTime>
  <Words>2026</Words>
  <Application>Microsoft Office PowerPoint</Application>
  <PresentationFormat>On-screen Show (4:3)</PresentationFormat>
  <Paragraphs>526</Paragraphs>
  <Slides>53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宋体</vt:lpstr>
      <vt:lpstr>Arial</vt:lpstr>
      <vt:lpstr>Arial Black</vt:lpstr>
      <vt:lpstr>Calibri</vt:lpstr>
      <vt:lpstr>Times New Roman</vt:lpstr>
      <vt:lpstr>Wingdings</vt:lpstr>
      <vt:lpstr>Office Theme</vt:lpstr>
      <vt:lpstr>Equation</vt:lpstr>
      <vt:lpstr>ELEG 3143 Probability &amp; Stochastic Process Ch. 6 Stochastic Process</vt:lpstr>
      <vt:lpstr>OUTLINE</vt:lpstr>
      <vt:lpstr>DEFINITION</vt:lpstr>
      <vt:lpstr>DEFINITION</vt:lpstr>
      <vt:lpstr>DEFINITION</vt:lpstr>
      <vt:lpstr>DEFINITION</vt:lpstr>
      <vt:lpstr>DEFINITION</vt:lpstr>
      <vt:lpstr>DEFINITION</vt:lpstr>
      <vt:lpstr>DEFINITION</vt:lpstr>
      <vt:lpstr>DEFINITION</vt:lpstr>
      <vt:lpstr>DEFINITION</vt:lpstr>
      <vt:lpstr>OUTLINE</vt:lpstr>
      <vt:lpstr>DESCRIPTION</vt:lpstr>
      <vt:lpstr>DESCRIPTION</vt:lpstr>
      <vt:lpstr>DESCRIPTION</vt:lpstr>
      <vt:lpstr>DESCRIPTION</vt:lpstr>
      <vt:lpstr>DESCRIPTION</vt:lpstr>
      <vt:lpstr>DESCRIPTION</vt:lpstr>
      <vt:lpstr>DESCRIPTION</vt:lpstr>
      <vt:lpstr>DESCRIPTION</vt:lpstr>
      <vt:lpstr>DESCRIPTION</vt:lpstr>
      <vt:lpstr>OUTLINE</vt:lpstr>
      <vt:lpstr>DESCRIPTION</vt:lpstr>
      <vt:lpstr>DESCRIPTION</vt:lpstr>
      <vt:lpstr>DESCRIPTION</vt:lpstr>
      <vt:lpstr>DESCRIPTION</vt:lpstr>
      <vt:lpstr>DESCRIPTION</vt:lpstr>
      <vt:lpstr>DESCRIPTION</vt:lpstr>
      <vt:lpstr>OUTLINE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OUTLINE</vt:lpstr>
      <vt:lpstr>TWO RANDOM PROCESSES</vt:lpstr>
      <vt:lpstr>TWO RANDOM PROCESSES</vt:lpstr>
      <vt:lpstr>TWO RANDOM PROCESSES</vt:lpstr>
      <vt:lpstr>OUTLINE</vt:lpstr>
      <vt:lpstr>ERGODIC RANDOM PROCESS</vt:lpstr>
      <vt:lpstr>ERGODIC RANDOM PROCESS</vt:lpstr>
      <vt:lpstr>ERGODIC RANDOM PROCESS </vt:lpstr>
      <vt:lpstr>ERGODIC RANDOM PROCESS</vt:lpstr>
      <vt:lpstr>ERGODIC RANDOM PROCESS</vt:lpstr>
      <vt:lpstr>OUTLINE</vt:lpstr>
      <vt:lpstr>POWER SPECTRAL DENSITY</vt:lpstr>
      <vt:lpstr>POWER SPECTRAL DENSITY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1175</cp:revision>
  <dcterms:created xsi:type="dcterms:W3CDTF">2006-08-16T00:00:00Z</dcterms:created>
  <dcterms:modified xsi:type="dcterms:W3CDTF">2018-05-01T15:41:59Z</dcterms:modified>
</cp:coreProperties>
</file>