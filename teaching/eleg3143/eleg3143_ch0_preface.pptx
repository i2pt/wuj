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66" r:id="rId6"/>
    <p:sldId id="263" r:id="rId7"/>
    <p:sldId id="264" r:id="rId8"/>
    <p:sldId id="265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8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uj.hosted.uark.edu/teaching/eleg3143/eleg3143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provost.uark.ed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0 Preface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Instructor: Dr. Jingxian Wu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Email: wuj@uark.edu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Phone: (479) 575-6584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Bell 3168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Hours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Tu. Th. 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1:00 PM 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– 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2:00 PM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By appointment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Lecture Schedule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Bell 2273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Tu. Th. 11:00 AM – 12:15 PM</a:t>
            </a:r>
          </a:p>
          <a:p>
            <a:pPr marL="285750" indent="-285750">
              <a:spcBef>
                <a:spcPct val="20000"/>
              </a:spcBef>
              <a:defRPr/>
            </a:pP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TEXTBOOK AND 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Required Text Books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R. D. Yates and D. Goodman,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Probability and Stochastic Processes: A Friendly Introduction for Electrical and Computer Engineers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baseline="3000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altLang="zh-CN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Edition, Wiley, 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May </a:t>
            </a:r>
            <a:r>
              <a:rPr lang="en-US" altLang="zh-CN" smtClean="0">
                <a:latin typeface="Times New Roman" pitchFamily="18" charset="0"/>
                <a:cs typeface="Times New Roman" pitchFamily="18" charset="0"/>
              </a:rPr>
              <a:t>2014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Required Software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Matlab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References (optional)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S. M. Ross, </a:t>
            </a:r>
            <a:r>
              <a:rPr lang="en-US" altLang="zh-CN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Introduction to Probability Models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9th Ed., Academic Press, 2007.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A. Papoulis and S. U. Pillai, </a:t>
            </a:r>
            <a:r>
              <a:rPr lang="en-US" altLang="zh-CN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Probability, Random Variables and Stochastic Processes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4th Ed., McGraw Hill, 2002. 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G. R. Cooper and C. D.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McGillem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Probabilistic Methods of Signal and System Analysis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, 3rd Ed., Oxford University Press, 1999. </a:t>
            </a: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Pre-requisite: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Signal and System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Calculus I, II, &amp; III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This course involves heavy mathematical derivations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It is a Mathematics course.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A large number of examples will be given in class –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It’s ESSENTIAL for you to repeat all the examples by yourself after class</a:t>
            </a:r>
            <a:r>
              <a:rPr lang="en-US" altLang="zh-CN" dirty="0" smtClean="0">
                <a:ea typeface="宋体" pitchFamily="2" charset="-122"/>
              </a:rPr>
              <a:t>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Teaching format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Slides 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Examples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Exercises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Homework assignments (problems, software)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TENTATIVE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534400" cy="560070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Week 1 (1/15, 1/17): Ch.1 Introduction to Probability</a:t>
            </a:r>
          </a:p>
          <a:p>
            <a:pPr lvl="1"/>
            <a:r>
              <a:rPr lang="en-US" dirty="0"/>
              <a:t>Week 2 (1/22, 1/24): Ch. 1 Introduction to Probability</a:t>
            </a:r>
          </a:p>
          <a:p>
            <a:pPr lvl="1"/>
            <a:r>
              <a:rPr lang="en-US" dirty="0"/>
              <a:t>Week 3 (1/29, 1/31): Ch. 1 Introduction to Probability</a:t>
            </a:r>
          </a:p>
          <a:p>
            <a:pPr lvl="1"/>
            <a:r>
              <a:rPr lang="en-US" dirty="0"/>
              <a:t>Week 4 (2/5, 2/7): Ch. 2 Discrete Random Variables</a:t>
            </a:r>
          </a:p>
          <a:p>
            <a:pPr lvl="1"/>
            <a:r>
              <a:rPr lang="en-US" dirty="0"/>
              <a:t>Week 5 (2/12, 2/14): Ch. 2 Discrete Random Variables </a:t>
            </a:r>
          </a:p>
          <a:p>
            <a:pPr lvl="1"/>
            <a:r>
              <a:rPr lang="en-US" dirty="0"/>
              <a:t>Week 6 (2/19, 2/21): Ch. 3 Continuous Random Variables (</a:t>
            </a:r>
            <a:r>
              <a:rPr lang="en-US" dirty="0">
                <a:solidFill>
                  <a:srgbClr val="FF0000"/>
                </a:solidFill>
              </a:rPr>
              <a:t>Test 1 on 2/21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Week 7 (2/26, 2/28): Ch. 3 Continuous Random Variables</a:t>
            </a:r>
          </a:p>
          <a:p>
            <a:pPr lvl="1"/>
            <a:r>
              <a:rPr lang="en-US" dirty="0"/>
              <a:t>Week 8 (3/5, 3/7): Ch. 4 Multiple Random Variables</a:t>
            </a:r>
          </a:p>
          <a:p>
            <a:pPr lvl="1"/>
            <a:r>
              <a:rPr lang="en-US" dirty="0"/>
              <a:t>Week 9 (3/12, 3/14): Ch. 4 Multiple Random Variables</a:t>
            </a:r>
          </a:p>
          <a:p>
            <a:pPr lvl="1"/>
            <a:r>
              <a:rPr lang="en-US" dirty="0"/>
              <a:t>Week 10 (3/19, 3/21): Spring Break </a:t>
            </a:r>
          </a:p>
          <a:p>
            <a:pPr lvl="1"/>
            <a:r>
              <a:rPr lang="en-US" dirty="0"/>
              <a:t>Week 11 (3/26, 3/28): Ch. 4 Multiple Random Variables </a:t>
            </a:r>
          </a:p>
          <a:p>
            <a:pPr lvl="1"/>
            <a:r>
              <a:rPr lang="en-US" dirty="0"/>
              <a:t>Week 12 (4/2, 4/4): Ch. 5 Elements of Statistics (</a:t>
            </a:r>
            <a:r>
              <a:rPr lang="en-US" dirty="0">
                <a:solidFill>
                  <a:srgbClr val="FF0000"/>
                </a:solidFill>
              </a:rPr>
              <a:t>Test 2 on 4/4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Week 13 (4/9, 4/11): Ch. 5 Elements of Statistics</a:t>
            </a:r>
          </a:p>
          <a:p>
            <a:pPr lvl="1"/>
            <a:r>
              <a:rPr lang="en-US" dirty="0"/>
              <a:t>Week 14 (4/16, 4/18): Ch. 6 Stochastic Process</a:t>
            </a:r>
          </a:p>
          <a:p>
            <a:pPr lvl="1"/>
            <a:r>
              <a:rPr lang="en-US" dirty="0"/>
              <a:t>Week 15 (4/23, 4/25): Ch. 6 Stochastic Process</a:t>
            </a:r>
          </a:p>
          <a:p>
            <a:pPr lvl="1"/>
            <a:r>
              <a:rPr lang="en-US" dirty="0"/>
              <a:t>Week 16 (4/30, 5/2): Ch. 6 Stochastic Process (dead day: 5/3)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Test 3 at the Final week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 Percentage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1	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	23%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2			23%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3			23%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Homework			23%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Quiz			8%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A:		90 ≤ grade ≤ 100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B:		80 ≤ grade &lt; 90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C:		70 ≤ grade &lt; 80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D:		60 ≤ grade &lt; 70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F:		0 ≤ grade &lt; 60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All homework need to be directly uploaded to blackboard before the due date. </a:t>
            </a:r>
          </a:p>
          <a:p>
            <a:pPr eaLnBrk="1" hangingPunct="1"/>
            <a:endParaRPr lang="en-US" altLang="zh-CN" dirty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Due dates for homework and lab report will be strictly enforced. Late submission within one week after due will receive a 20% deduction; no credit if submitted one week past due.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marL="0" indent="0" eaLnBrk="1" hangingPunct="1">
              <a:buNone/>
            </a:pPr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There will be NO make up for quizzes.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If for some legitimate reason (sickness, death in the family, etc.), you cannot take an exam on the scheduled day, you must notify the instructor prior to the exam. 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RESOURCES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Course Home Page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wuj.hosted.uark.edu/teaching/eleg3143/eleg3143.html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Blackboard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All the course related materials, such as slides, homework assignments, links, announcements, etc., will be posted on this website.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Please check the webpage regularly (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at least once per week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for update.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Academic Honesty</a:t>
            </a:r>
          </a:p>
          <a:p>
            <a:pPr lvl="1"/>
            <a:r>
              <a:rPr lang="en-US" dirty="0"/>
              <a:t>Each University of Arkansas student is required to be familiar with and abide by the University’s ‘Academic Integrity Policy’ which may be found at </a:t>
            </a:r>
            <a:r>
              <a:rPr lang="en-US" dirty="0">
                <a:hlinkClick r:id="rId2"/>
              </a:rPr>
              <a:t>http://provost.uark.edu/</a:t>
            </a:r>
            <a:endParaRPr lang="en-US" dirty="0"/>
          </a:p>
          <a:p>
            <a:pPr lvl="1"/>
            <a:r>
              <a:rPr lang="en-US" altLang="zh-CN" dirty="0"/>
              <a:t>Any kind of activities related to academic dishonesty (copying homework, lab report, code, plagiarism, etc.) will be dealt with. </a:t>
            </a:r>
          </a:p>
          <a:p>
            <a:pPr lvl="1"/>
            <a:r>
              <a:rPr lang="en-US" altLang="zh-CN" dirty="0"/>
              <a:t>If you are not sure about plagiarism, please contact the </a:t>
            </a:r>
            <a:r>
              <a:rPr lang="en-US" altLang="zh-CN" smtClean="0"/>
              <a:t>instructor.</a:t>
            </a:r>
          </a:p>
          <a:p>
            <a:r>
              <a:rPr lang="en-US" altLang="zh-CN" smtClean="0"/>
              <a:t>Questions </a:t>
            </a:r>
            <a:r>
              <a:rPr lang="en-US" altLang="zh-CN" dirty="0"/>
              <a:t>are welcome in my class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You are very welcome to raise any question related to course materials.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Please feel free to stop me at any time if you have any question.</a:t>
            </a:r>
          </a:p>
          <a:p>
            <a:pPr lvl="1" eaLnBrk="1" hangingPunct="1"/>
            <a:r>
              <a:rPr lang="en-US" altLang="zh-CN" dirty="0" smtClean="0">
                <a:ea typeface="宋体" pitchFamily="2" charset="-122"/>
              </a:rPr>
              <a:t>You can also ask me question via email or during office hours.</a:t>
            </a: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To respect your fellow students as well as the instructor, please turn off or silencing your cell phone.</a:t>
            </a:r>
          </a:p>
          <a:p>
            <a:pPr lvl="1" eaLnBrk="1" hangingPunct="1"/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No text messaging or web surfing!</a:t>
            </a:r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BE ON TIME! </a:t>
            </a: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Have Fun!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778</Words>
  <Application>Microsoft Office PowerPoint</Application>
  <PresentationFormat>On-screen Show (4:3)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宋体</vt:lpstr>
      <vt:lpstr>Arial</vt:lpstr>
      <vt:lpstr>Arial Black</vt:lpstr>
      <vt:lpstr>Calibri</vt:lpstr>
      <vt:lpstr>Times New Roman</vt:lpstr>
      <vt:lpstr>Office Theme</vt:lpstr>
      <vt:lpstr>ELEG 3143 Probability &amp; Stochastic Process Ch. 0 Preface</vt:lpstr>
      <vt:lpstr>GENERAL INFORMATION</vt:lpstr>
      <vt:lpstr>TEXTBOOK AND REFERENCES</vt:lpstr>
      <vt:lpstr>COURSE INFORMATION</vt:lpstr>
      <vt:lpstr>TENTATIVE SCHEDULE</vt:lpstr>
      <vt:lpstr>GRADING POLICY</vt:lpstr>
      <vt:lpstr>GRADING POLICY</vt:lpstr>
      <vt:lpstr>ONLINE RESOURCES</vt:lpstr>
      <vt:lpstr>ADDITIONAL ISSUES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35</cp:revision>
  <dcterms:created xsi:type="dcterms:W3CDTF">2006-08-16T00:00:00Z</dcterms:created>
  <dcterms:modified xsi:type="dcterms:W3CDTF">2019-01-14T23:15:15Z</dcterms:modified>
</cp:coreProperties>
</file>