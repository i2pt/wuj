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360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9" r:id="rId11"/>
    <p:sldId id="368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81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9" r:id="rId29"/>
    <p:sldId id="390" r:id="rId30"/>
    <p:sldId id="398" r:id="rId31"/>
    <p:sldId id="400" r:id="rId32"/>
    <p:sldId id="401" r:id="rId33"/>
    <p:sldId id="402" r:id="rId34"/>
    <p:sldId id="403" r:id="rId35"/>
    <p:sldId id="391" r:id="rId36"/>
    <p:sldId id="392" r:id="rId37"/>
    <p:sldId id="393" r:id="rId38"/>
    <p:sldId id="394" r:id="rId39"/>
    <p:sldId id="395" r:id="rId40"/>
    <p:sldId id="396" r:id="rId41"/>
    <p:sldId id="404" r:id="rId42"/>
    <p:sldId id="405" r:id="rId43"/>
    <p:sldId id="406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1" autoAdjust="0"/>
    <p:restoredTop sz="87716" autoAdjust="0"/>
  </p:normalViewPr>
  <p:slideViewPr>
    <p:cSldViewPr>
      <p:cViewPr varScale="1">
        <p:scale>
          <a:sx n="89" d="100"/>
          <a:sy n="89" d="100"/>
        </p:scale>
        <p:origin x="-1584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9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8.wmf"/><Relationship Id="rId5" Type="http://schemas.openxmlformats.org/officeDocument/2006/relationships/image" Target="../media/image11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4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81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4" Type="http://schemas.openxmlformats.org/officeDocument/2006/relationships/image" Target="../media/image11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cos</a:t>
            </a:r>
            <a:r>
              <a:rPr lang="en-US" dirty="0" smtClean="0"/>
              <a:t>(x)</a:t>
            </a:r>
            <a:r>
              <a:rPr lang="en-US" dirty="0" err="1" smtClean="0"/>
              <a:t>cos</a:t>
            </a:r>
            <a:r>
              <a:rPr lang="en-US" dirty="0" smtClean="0"/>
              <a:t>(y)=[</a:t>
            </a:r>
            <a:r>
              <a:rPr lang="en-US" dirty="0" err="1" smtClean="0"/>
              <a:t>cos</a:t>
            </a:r>
            <a:r>
              <a:rPr lang="en-US" dirty="0" smtClean="0"/>
              <a:t>(</a:t>
            </a:r>
            <a:r>
              <a:rPr lang="en-US" dirty="0" err="1" smtClean="0"/>
              <a:t>x+y</a:t>
            </a:r>
            <a:r>
              <a:rPr lang="en-US" dirty="0" smtClean="0"/>
              <a:t>)+</a:t>
            </a:r>
            <a:r>
              <a:rPr lang="en-US" dirty="0" err="1" smtClean="0"/>
              <a:t>cos</a:t>
            </a:r>
            <a:r>
              <a:rPr lang="en-US" dirty="0" smtClean="0"/>
              <a:t>(x-y)]/2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Sinx</a:t>
            </a:r>
            <a:r>
              <a:rPr lang="en-US" dirty="0" smtClean="0"/>
              <a:t> </a:t>
            </a:r>
            <a:r>
              <a:rPr lang="en-US" dirty="0" err="1" smtClean="0"/>
              <a:t>cos</a:t>
            </a:r>
            <a:r>
              <a:rPr lang="en-US" baseline="0" dirty="0" smtClean="0"/>
              <a:t> y = ½ [sin(</a:t>
            </a:r>
            <a:r>
              <a:rPr lang="en-US" baseline="0" dirty="0" err="1" smtClean="0"/>
              <a:t>x+y</a:t>
            </a:r>
            <a:r>
              <a:rPr lang="en-US" baseline="0" dirty="0" smtClean="0"/>
              <a:t>)+sin(x-y)]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7.png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5.bin"/><Relationship Id="rId12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4.bin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3.bin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2.bin"/><Relationship Id="rId9" Type="http://schemas.openxmlformats.org/officeDocument/2006/relationships/oleObject" Target="../embeddings/oleObject3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4.bin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4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0.bin"/><Relationship Id="rId5" Type="http://schemas.openxmlformats.org/officeDocument/2006/relationships/oleObject" Target="../embeddings/oleObject49.bin"/><Relationship Id="rId4" Type="http://schemas.openxmlformats.org/officeDocument/2006/relationships/oleObject" Target="../embeddings/oleObject4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5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55.bin"/><Relationship Id="rId4" Type="http://schemas.openxmlformats.org/officeDocument/2006/relationships/oleObject" Target="../embeddings/oleObject5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58.bin"/><Relationship Id="rId4" Type="http://schemas.openxmlformats.org/officeDocument/2006/relationships/oleObject" Target="../embeddings/oleObject5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61.bin"/><Relationship Id="rId4" Type="http://schemas.openxmlformats.org/officeDocument/2006/relationships/oleObject" Target="../embeddings/oleObject6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4.bin"/><Relationship Id="rId5" Type="http://schemas.openxmlformats.org/officeDocument/2006/relationships/oleObject" Target="../embeddings/oleObject63.bin"/><Relationship Id="rId4" Type="http://schemas.openxmlformats.org/officeDocument/2006/relationships/oleObject" Target="../embeddings/oleObject6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8.bin"/><Relationship Id="rId5" Type="http://schemas.openxmlformats.org/officeDocument/2006/relationships/oleObject" Target="../embeddings/oleObject67.bin"/><Relationship Id="rId4" Type="http://schemas.openxmlformats.org/officeDocument/2006/relationships/oleObject" Target="../embeddings/oleObject66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74.png"/><Relationship Id="rId4" Type="http://schemas.openxmlformats.org/officeDocument/2006/relationships/oleObject" Target="../embeddings/oleObject7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79.bin"/><Relationship Id="rId5" Type="http://schemas.openxmlformats.org/officeDocument/2006/relationships/oleObject" Target="../embeddings/oleObject78.bin"/><Relationship Id="rId4" Type="http://schemas.openxmlformats.org/officeDocument/2006/relationships/oleObject" Target="../embeddings/oleObject7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5.bin"/><Relationship Id="rId5" Type="http://schemas.openxmlformats.org/officeDocument/2006/relationships/oleObject" Target="../embeddings/oleObject84.bin"/><Relationship Id="rId4" Type="http://schemas.openxmlformats.org/officeDocument/2006/relationships/oleObject" Target="../embeddings/oleObject8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8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91.bin"/><Relationship Id="rId4" Type="http://schemas.openxmlformats.org/officeDocument/2006/relationships/oleObject" Target="../embeddings/oleObject9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5.bin"/><Relationship Id="rId5" Type="http://schemas.openxmlformats.org/officeDocument/2006/relationships/oleObject" Target="../embeddings/oleObject94.bin"/><Relationship Id="rId4" Type="http://schemas.openxmlformats.org/officeDocument/2006/relationships/oleObject" Target="../embeddings/oleObject9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oleObject" Target="../embeddings/oleObject96.bin"/><Relationship Id="rId7" Type="http://schemas.openxmlformats.org/officeDocument/2006/relationships/image" Target="../media/image9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99.bin"/><Relationship Id="rId5" Type="http://schemas.openxmlformats.org/officeDocument/2006/relationships/oleObject" Target="../embeddings/oleObject98.bin"/><Relationship Id="rId4" Type="http://schemas.openxmlformats.org/officeDocument/2006/relationships/oleObject" Target="../embeddings/oleObject97.bin"/><Relationship Id="rId9" Type="http://schemas.openxmlformats.org/officeDocument/2006/relationships/oleObject" Target="../embeddings/oleObject10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oleObject" Target="../embeddings/oleObject104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08.bin"/><Relationship Id="rId5" Type="http://schemas.openxmlformats.org/officeDocument/2006/relationships/oleObject" Target="../embeddings/oleObject107.bin"/><Relationship Id="rId10" Type="http://schemas.openxmlformats.org/officeDocument/2006/relationships/oleObject" Target="../embeddings/oleObject112.bin"/><Relationship Id="rId4" Type="http://schemas.openxmlformats.org/officeDocument/2006/relationships/oleObject" Target="../embeddings/oleObject106.bin"/><Relationship Id="rId9" Type="http://schemas.openxmlformats.org/officeDocument/2006/relationships/oleObject" Target="../embeddings/oleObject11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114.bin"/><Relationship Id="rId4" Type="http://schemas.openxmlformats.org/officeDocument/2006/relationships/oleObject" Target="../embeddings/oleObject11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18.bin"/><Relationship Id="rId5" Type="http://schemas.openxmlformats.org/officeDocument/2006/relationships/oleObject" Target="../embeddings/oleObject117.bin"/><Relationship Id="rId4" Type="http://schemas.openxmlformats.org/officeDocument/2006/relationships/oleObject" Target="../embeddings/oleObject116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22.bin"/><Relationship Id="rId5" Type="http://schemas.openxmlformats.org/officeDocument/2006/relationships/oleObject" Target="../embeddings/oleObject121.bin"/><Relationship Id="rId4" Type="http://schemas.openxmlformats.org/officeDocument/2006/relationships/oleObject" Target="../embeddings/oleObject120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5" Type="http://schemas.openxmlformats.org/officeDocument/2006/relationships/oleObject" Target="../embeddings/oleObject126.bin"/><Relationship Id="rId4" Type="http://schemas.openxmlformats.org/officeDocument/2006/relationships/oleObject" Target="../embeddings/oleObject125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oleObject" Target="../embeddings/oleObject130.bin"/><Relationship Id="rId4" Type="http://schemas.openxmlformats.org/officeDocument/2006/relationships/oleObject" Target="../embeddings/oleObject129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5" Type="http://schemas.openxmlformats.org/officeDocument/2006/relationships/oleObject" Target="../embeddings/oleObject133.bin"/><Relationship Id="rId4" Type="http://schemas.openxmlformats.org/officeDocument/2006/relationships/oleObject" Target="../embeddings/oleObject132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33.png"/><Relationship Id="rId5" Type="http://schemas.openxmlformats.org/officeDocument/2006/relationships/oleObject" Target="../embeddings/oleObject136.bin"/><Relationship Id="rId4" Type="http://schemas.openxmlformats.org/officeDocument/2006/relationships/oleObject" Target="../embeddings/oleObject135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40.bin"/><Relationship Id="rId5" Type="http://schemas.openxmlformats.org/officeDocument/2006/relationships/oleObject" Target="../embeddings/oleObject139.bin"/><Relationship Id="rId4" Type="http://schemas.openxmlformats.org/officeDocument/2006/relationships/oleObject" Target="../embeddings/oleObject13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dirty="0" smtClean="0"/>
              <a:t>Ch. 5 Stochastic 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random 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err="1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and non-</a:t>
            </a:r>
            <a:r>
              <a:rPr lang="en-US" altLang="zh-CN" b="1" dirty="0" err="1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Stochastic process, or, random process</a:t>
            </a:r>
          </a:p>
          <a:p>
            <a:pPr lvl="1"/>
            <a:r>
              <a:rPr lang="en-US" dirty="0" smtClean="0"/>
              <a:t>A random variable changes with respect to time</a:t>
            </a:r>
          </a:p>
          <a:p>
            <a:pPr lvl="2"/>
            <a:r>
              <a:rPr lang="en-US" dirty="0" smtClean="0"/>
              <a:t>Example: the temperature in the room</a:t>
            </a:r>
          </a:p>
          <a:p>
            <a:pPr lvl="3"/>
            <a:r>
              <a:rPr lang="en-US" dirty="0" smtClean="0"/>
              <a:t>At any given moment, the temperature is random: random variable</a:t>
            </a:r>
          </a:p>
          <a:p>
            <a:pPr lvl="3"/>
            <a:r>
              <a:rPr lang="en-US" dirty="0" smtClean="0"/>
              <a:t>The temperature (the value of the random variable) changes with respect to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200400"/>
            <a:ext cx="3886200" cy="322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Stochastic process (random process)</a:t>
            </a:r>
          </a:p>
          <a:p>
            <a:pPr lvl="1"/>
            <a:r>
              <a:rPr lang="en-US" dirty="0" smtClean="0"/>
              <a:t>Recall: Random variable is a mapping from random events to real number:             , where       is a random event</a:t>
            </a:r>
          </a:p>
          <a:p>
            <a:pPr lvl="1"/>
            <a:r>
              <a:rPr lang="en-US" dirty="0" smtClean="0"/>
              <a:t> Stochastic process is a random variable changes with time</a:t>
            </a:r>
          </a:p>
          <a:p>
            <a:pPr lvl="2"/>
            <a:r>
              <a:rPr lang="en-US" dirty="0" smtClean="0"/>
              <a:t>Denoted as:</a:t>
            </a:r>
          </a:p>
          <a:p>
            <a:pPr lvl="2"/>
            <a:r>
              <a:rPr lang="en-US" dirty="0" smtClean="0"/>
              <a:t>It is a function of random event     , and time </a:t>
            </a:r>
            <a:r>
              <a:rPr lang="en-US" i="1" dirty="0" smtClean="0"/>
              <a:t>t</a:t>
            </a:r>
            <a:r>
              <a:rPr lang="en-US" dirty="0" smtClean="0"/>
              <a:t>.   </a:t>
            </a:r>
          </a:p>
          <a:p>
            <a:pPr lvl="2"/>
            <a:r>
              <a:rPr lang="en-US" dirty="0" smtClean="0"/>
              <a:t>Recall: random variable is a function of random event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362200" y="1600200"/>
          <a:ext cx="552450" cy="304800"/>
        </p:xfrm>
        <a:graphic>
          <a:graphicData uri="http://schemas.openxmlformats.org/presentationml/2006/ole">
            <p:oleObj spid="_x0000_s50178" name="Equation" r:id="rId3" imgW="368280" imgH="203040" progId="Equation.3">
              <p:embed/>
            </p:oleObj>
          </a:graphicData>
        </a:graphic>
      </p:graphicFrame>
      <p:graphicFrame>
        <p:nvGraphicFramePr>
          <p:cNvPr id="50179" name="Object 3"/>
          <p:cNvGraphicFramePr>
            <a:graphicFrameLocks noChangeAspect="1"/>
          </p:cNvGraphicFramePr>
          <p:nvPr/>
        </p:nvGraphicFramePr>
        <p:xfrm>
          <a:off x="3733800" y="1600200"/>
          <a:ext cx="190500" cy="304800"/>
        </p:xfrm>
        <a:graphic>
          <a:graphicData uri="http://schemas.openxmlformats.org/presentationml/2006/ole">
            <p:oleObj spid="_x0000_s50179" name="Equation" r:id="rId4" imgW="126720" imgH="203040" progId="Equation.3">
              <p:embed/>
            </p:oleObj>
          </a:graphicData>
        </a:graphic>
      </p:graphicFrame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2971800" y="2209800"/>
          <a:ext cx="704850" cy="304800"/>
        </p:xfrm>
        <a:graphic>
          <a:graphicData uri="http://schemas.openxmlformats.org/presentationml/2006/ole">
            <p:oleObj spid="_x0000_s50180" name="Equation" r:id="rId5" imgW="469800" imgH="203040" progId="Equation.3">
              <p:embed/>
            </p:oleObj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4800600" y="2514600"/>
          <a:ext cx="190500" cy="304800"/>
        </p:xfrm>
        <a:graphic>
          <a:graphicData uri="http://schemas.openxmlformats.org/presentationml/2006/ole">
            <p:oleObj spid="_x0000_s50183" name="Equation" r:id="rId6" imgW="126720" imgH="203040" progId="Equation.3">
              <p:embed/>
            </p:oleObj>
          </a:graphicData>
        </a:graphic>
      </p:graphicFrame>
      <p:graphicFrame>
        <p:nvGraphicFramePr>
          <p:cNvPr id="50184" name="Object 8"/>
          <p:cNvGraphicFramePr>
            <a:graphicFrameLocks noChangeAspect="1"/>
          </p:cNvGraphicFramePr>
          <p:nvPr/>
        </p:nvGraphicFramePr>
        <p:xfrm>
          <a:off x="6858000" y="2819400"/>
          <a:ext cx="190500" cy="304800"/>
        </p:xfrm>
        <a:graphic>
          <a:graphicData uri="http://schemas.openxmlformats.org/presentationml/2006/ole">
            <p:oleObj spid="_x0000_s50184" name="Equation" r:id="rId7" imgW="126720" imgH="203040" progId="Equation.3">
              <p:embed/>
            </p:oleObj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667000" y="3200400"/>
            <a:ext cx="3886200" cy="322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Stochastic process (random process)</a:t>
            </a:r>
          </a:p>
          <a:p>
            <a:pPr lvl="1"/>
            <a:r>
              <a:rPr lang="en-US" dirty="0" smtClean="0"/>
              <a:t> Fix time:                is a random variable</a:t>
            </a:r>
          </a:p>
          <a:p>
            <a:pPr lvl="2"/>
            <a:r>
              <a:rPr lang="en-US" dirty="0" err="1" smtClean="0"/>
              <a:t>pdf</a:t>
            </a:r>
            <a:r>
              <a:rPr lang="en-US" dirty="0" smtClean="0"/>
              <a:t>, CDF, mean, variance, moments, etc.</a:t>
            </a:r>
          </a:p>
          <a:p>
            <a:pPr lvl="1"/>
            <a:r>
              <a:rPr lang="en-US" dirty="0" smtClean="0"/>
              <a:t> fix event:                 is a deterministic time function</a:t>
            </a:r>
          </a:p>
          <a:p>
            <a:pPr lvl="2"/>
            <a:r>
              <a:rPr lang="en-US" dirty="0" smtClean="0"/>
              <a:t>Defined as a </a:t>
            </a:r>
            <a:r>
              <a:rPr lang="en-US" dirty="0" smtClean="0">
                <a:solidFill>
                  <a:srgbClr val="FF0000"/>
                </a:solidFill>
              </a:rPr>
              <a:t>realization</a:t>
            </a:r>
            <a:r>
              <a:rPr lang="en-US" dirty="0" smtClean="0"/>
              <a:t> of a random process</a:t>
            </a:r>
          </a:p>
          <a:p>
            <a:pPr lvl="2"/>
            <a:r>
              <a:rPr lang="en-US" dirty="0" smtClean="0"/>
              <a:t>Or: a </a:t>
            </a:r>
            <a:r>
              <a:rPr lang="en-US" dirty="0" smtClean="0">
                <a:solidFill>
                  <a:srgbClr val="FF0000"/>
                </a:solidFill>
              </a:rPr>
              <a:t>sample function </a:t>
            </a:r>
            <a:r>
              <a:rPr lang="en-US" dirty="0" smtClean="0"/>
              <a:t>of a random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124200"/>
            <a:ext cx="3886200" cy="322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5105400" y="914400"/>
          <a:ext cx="704850" cy="304800"/>
        </p:xfrm>
        <a:graphic>
          <a:graphicData uri="http://schemas.openxmlformats.org/presentationml/2006/ole">
            <p:oleObj spid="_x0000_s51207" name="Equation" r:id="rId4" imgW="469800" imgH="203040" progId="Equation.3">
              <p:embed/>
            </p:oleObj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/>
        </p:nvGraphicFramePr>
        <p:xfrm>
          <a:off x="2390775" y="1276350"/>
          <a:ext cx="800100" cy="342900"/>
        </p:xfrm>
        <a:graphic>
          <a:graphicData uri="http://schemas.openxmlformats.org/presentationml/2006/ole">
            <p:oleObj spid="_x0000_s51209" name="Equation" r:id="rId5" imgW="533160" imgH="228600" progId="Equation.3">
              <p:embed/>
            </p:oleObj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2524125" y="1905000"/>
          <a:ext cx="781050" cy="342900"/>
        </p:xfrm>
        <a:graphic>
          <a:graphicData uri="http://schemas.openxmlformats.org/presentationml/2006/ole">
            <p:oleObj spid="_x0000_s51210" name="Equation" r:id="rId6" imgW="520560" imgH="228600" progId="Equation.3">
              <p:embed/>
            </p:oleObj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1371601" y="3124994"/>
            <a:ext cx="534193" cy="3124200"/>
            <a:chOff x="1371601" y="3124994"/>
            <a:chExt cx="534193" cy="3124200"/>
          </a:xfrm>
        </p:grpSpPr>
        <p:cxnSp>
          <p:nvCxnSpPr>
            <p:cNvPr id="16" name="Straight Arrow Connector 15"/>
            <p:cNvCxnSpPr/>
            <p:nvPr/>
          </p:nvCxnSpPr>
          <p:spPr>
            <a:xfrm rot="5400000" flipH="1" flipV="1">
              <a:off x="342900" y="4686300"/>
              <a:ext cx="3124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 rot="16200000">
              <a:off x="623960" y="4557640"/>
              <a:ext cx="18646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Ensemble domain</a:t>
              </a:r>
              <a:endParaRPr 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438400" y="6324600"/>
            <a:ext cx="4267200" cy="369332"/>
            <a:chOff x="2438400" y="6324600"/>
            <a:chExt cx="4267200" cy="369332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438400" y="6324600"/>
              <a:ext cx="4267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657600" y="6324600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time domain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      be a Gaussian random variable with 0 mean and unit variance, then </a:t>
            </a:r>
          </a:p>
          <a:p>
            <a:pPr lvl="1">
              <a:buNone/>
            </a:pPr>
            <a:r>
              <a:rPr lang="en-US" dirty="0" smtClean="0"/>
              <a:t>	</a:t>
            </a:r>
          </a:p>
          <a:p>
            <a:pPr lvl="1">
              <a:buNone/>
            </a:pPr>
            <a:r>
              <a:rPr lang="en-US" dirty="0" smtClean="0"/>
              <a:t>	is a random process .</a:t>
            </a:r>
          </a:p>
          <a:p>
            <a:pPr lvl="2"/>
            <a:r>
              <a:rPr lang="en-US" dirty="0" smtClean="0"/>
              <a:t>If we fix          , we get a Gaussian random variable</a:t>
            </a:r>
          </a:p>
          <a:p>
            <a:pPr lvl="3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                 is:</a:t>
            </a:r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2"/>
            <a:r>
              <a:rPr lang="en-US" dirty="0" smtClean="0"/>
              <a:t>If we fix            , we get sample function</a:t>
            </a:r>
          </a:p>
          <a:p>
            <a:pPr lvl="3"/>
            <a:r>
              <a:rPr lang="en-US" dirty="0" smtClean="0"/>
              <a:t>It is a deterministic function of time</a:t>
            </a:r>
          </a:p>
          <a:p>
            <a:pPr lvl="2">
              <a:buNone/>
            </a:pPr>
            <a:r>
              <a:rPr lang="en-US" dirty="0" smtClean="0"/>
              <a:t>	</a:t>
            </a:r>
          </a:p>
          <a:p>
            <a:pPr lvl="2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2362200" y="1752600"/>
          <a:ext cx="2019300" cy="304800"/>
        </p:xfrm>
        <a:graphic>
          <a:graphicData uri="http://schemas.openxmlformats.org/presentationml/2006/ole">
            <p:oleObj spid="_x0000_s52227" name="Equation" r:id="rId3" imgW="1346040" imgH="203040" progId="Equation.3">
              <p:embed/>
            </p:oleObj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1828800" y="1295400"/>
          <a:ext cx="190500" cy="304800"/>
        </p:xfrm>
        <a:graphic>
          <a:graphicData uri="http://schemas.openxmlformats.org/presentationml/2006/ole">
            <p:oleObj spid="_x0000_s52228" name="Equation" r:id="rId4" imgW="126720" imgH="203040" progId="Equation.3">
              <p:embed/>
            </p:oleObj>
          </a:graphicData>
        </a:graphic>
      </p:graphicFrame>
      <p:pic>
        <p:nvPicPr>
          <p:cNvPr id="522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3600" y="4724400"/>
            <a:ext cx="39243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6629400" y="2514600"/>
          <a:ext cx="2171700" cy="342900"/>
        </p:xfrm>
        <a:graphic>
          <a:graphicData uri="http://schemas.openxmlformats.org/presentationml/2006/ole">
            <p:oleObj spid="_x0000_s52231" name="Equation" r:id="rId6" imgW="1447560" imgH="228600" progId="Equation.3">
              <p:embed/>
            </p:oleObj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3429000" y="2819400"/>
          <a:ext cx="781050" cy="342900"/>
        </p:xfrm>
        <a:graphic>
          <a:graphicData uri="http://schemas.openxmlformats.org/presentationml/2006/ole">
            <p:oleObj spid="_x0000_s52232" name="Equation" r:id="rId7" imgW="520560" imgH="228600" progId="Equation.3">
              <p:embed/>
            </p:oleObj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2667000" y="2514600"/>
          <a:ext cx="514350" cy="342900"/>
        </p:xfrm>
        <a:graphic>
          <a:graphicData uri="http://schemas.openxmlformats.org/presentationml/2006/ole">
            <p:oleObj spid="_x0000_s52233" name="Equation" r:id="rId8" imgW="342720" imgH="228600" progId="Equation.3">
              <p:embed/>
            </p:oleObj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2695575" y="3810000"/>
          <a:ext cx="609600" cy="342900"/>
        </p:xfrm>
        <a:graphic>
          <a:graphicData uri="http://schemas.openxmlformats.org/presentationml/2006/ole">
            <p:oleObj spid="_x0000_s52234" name="Equation" r:id="rId9" imgW="406080" imgH="228600" progId="Equation.3">
              <p:embed/>
            </p:oleObj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5638800" y="3810000"/>
          <a:ext cx="2152650" cy="342900"/>
        </p:xfrm>
        <a:graphic>
          <a:graphicData uri="http://schemas.openxmlformats.org/presentationml/2006/ole">
            <p:oleObj spid="_x0000_s52235" name="Equation" r:id="rId10" imgW="143496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     be  a random variable uniformly distributed between               , then</a:t>
            </a:r>
          </a:p>
          <a:p>
            <a:pPr lvl="1">
              <a:buNone/>
            </a:pPr>
            <a:r>
              <a:rPr lang="en-US" dirty="0" smtClean="0"/>
              <a:t>	                                      is a random process, where A is a constant. At Find the mean and  variance of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1809750" y="1314450"/>
          <a:ext cx="228600" cy="266700"/>
        </p:xfrm>
        <a:graphic>
          <a:graphicData uri="http://schemas.openxmlformats.org/presentationml/2006/ole">
            <p:oleObj spid="_x0000_s53250" name="Equation" r:id="rId3" imgW="152280" imgH="177480" progId="Equation.3">
              <p:embed/>
            </p:oleObj>
          </a:graphicData>
        </a:graphic>
      </p:graphicFrame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7010400" y="1295400"/>
          <a:ext cx="723900" cy="304800"/>
        </p:xfrm>
        <a:graphic>
          <a:graphicData uri="http://schemas.openxmlformats.org/presentationml/2006/ole">
            <p:oleObj spid="_x0000_s53251" name="Equation" r:id="rId4" imgW="482400" imgH="203040" progId="Equation.3">
              <p:embed/>
            </p:oleObj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1209675" y="1600200"/>
          <a:ext cx="2362200" cy="304800"/>
        </p:xfrm>
        <a:graphic>
          <a:graphicData uri="http://schemas.openxmlformats.org/presentationml/2006/ole">
            <p:oleObj spid="_x0000_s53252" name="Equation" r:id="rId5" imgW="1574640" imgH="203040" progId="Equation.3">
              <p:embed/>
            </p:oleObj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7924800" y="1600200"/>
          <a:ext cx="514350" cy="342900"/>
        </p:xfrm>
        <a:graphic>
          <a:graphicData uri="http://schemas.openxmlformats.org/presentationml/2006/ole">
            <p:oleObj spid="_x0000_s53253" name="Equation" r:id="rId6" imgW="342720" imgH="228600" progId="Equation.3">
              <p:embed/>
            </p:oleObj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4419600" y="1905000"/>
          <a:ext cx="819150" cy="342900"/>
        </p:xfrm>
        <a:graphic>
          <a:graphicData uri="http://schemas.openxmlformats.org/presentationml/2006/ole">
            <p:oleObj spid="_x0000_s53254" name="Equation" r:id="rId7" imgW="545760" imgH="228600" progId="Equation.3">
              <p:embed/>
            </p:oleObj>
          </a:graphicData>
        </a:graphic>
      </p:graphicFrame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14600" y="5105400"/>
            <a:ext cx="385762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3200400" y="5181600"/>
          <a:ext cx="228600" cy="266700"/>
        </p:xfrm>
        <a:graphic>
          <a:graphicData uri="http://schemas.openxmlformats.org/presentationml/2006/ole">
            <p:oleObj spid="_x0000_s53255" name="Equation" r:id="rId9" imgW="152280" imgH="177480" progId="Equation.3">
              <p:embed/>
            </p:oleObj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4343400" y="5181600"/>
          <a:ext cx="228600" cy="266700"/>
        </p:xfrm>
        <a:graphic>
          <a:graphicData uri="http://schemas.openxmlformats.org/presentationml/2006/ole">
            <p:oleObj spid="_x0000_s53256" name="Equation" r:id="rId10" imgW="15228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     be  a random variable uniformly distributed between               , and</a:t>
            </a:r>
          </a:p>
          <a:p>
            <a:pPr lvl="1">
              <a:buNone/>
            </a:pPr>
            <a:r>
              <a:rPr lang="en-US" dirty="0" smtClean="0"/>
              <a:t>	a Gaussian random variable with 0 mean and variance       . Then   </a:t>
            </a:r>
          </a:p>
          <a:p>
            <a:pPr lvl="1">
              <a:buNone/>
            </a:pPr>
            <a:r>
              <a:rPr lang="en-US" dirty="0" smtClean="0"/>
              <a:t>                                is a random process.      and      are independent.   </a:t>
            </a:r>
          </a:p>
          <a:p>
            <a:pPr lvl="1">
              <a:buNone/>
            </a:pPr>
            <a:r>
              <a:rPr lang="en-US" dirty="0" smtClean="0"/>
              <a:t>	Find the mean and variance of  the random process at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1809750" y="1314450"/>
          <a:ext cx="228600" cy="266700"/>
        </p:xfrm>
        <a:graphic>
          <a:graphicData uri="http://schemas.openxmlformats.org/presentationml/2006/ole">
            <p:oleObj spid="_x0000_s54274" name="Equation" r:id="rId3" imgW="152280" imgH="177480" progId="Equation.3">
              <p:embed/>
            </p:oleObj>
          </a:graphicData>
        </a:graphic>
      </p:graphicFrame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7010400" y="1295400"/>
          <a:ext cx="723900" cy="304800"/>
        </p:xfrm>
        <a:graphic>
          <a:graphicData uri="http://schemas.openxmlformats.org/presentationml/2006/ole">
            <p:oleObj spid="_x0000_s54275" name="Equation" r:id="rId4" imgW="482400" imgH="203040" progId="Equation.3">
              <p:embed/>
            </p:oleObj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1524000" y="1905000"/>
          <a:ext cx="1428750" cy="304800"/>
        </p:xfrm>
        <a:graphic>
          <a:graphicData uri="http://schemas.openxmlformats.org/presentationml/2006/ole">
            <p:oleObj spid="_x0000_s54276" name="Equation" r:id="rId5" imgW="952200" imgH="203040" progId="Equation.3">
              <p:embed/>
            </p:oleObj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6477000" y="2286000"/>
          <a:ext cx="514350" cy="342900"/>
        </p:xfrm>
        <a:graphic>
          <a:graphicData uri="http://schemas.openxmlformats.org/presentationml/2006/ole">
            <p:oleObj spid="_x0000_s54277" name="Equation" r:id="rId6" imgW="342720" imgH="228600" progId="Equation.3">
              <p:embed/>
            </p:oleObj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8305800" y="1219200"/>
          <a:ext cx="190500" cy="304800"/>
        </p:xfrm>
        <a:graphic>
          <a:graphicData uri="http://schemas.openxmlformats.org/presentationml/2006/ole">
            <p:oleObj spid="_x0000_s54279" name="Equation" r:id="rId7" imgW="126720" imgH="203040" progId="Equation.3">
              <p:embed/>
            </p:oleObj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6496050" y="1600200"/>
          <a:ext cx="304800" cy="304800"/>
        </p:xfrm>
        <a:graphic>
          <a:graphicData uri="http://schemas.openxmlformats.org/presentationml/2006/ole">
            <p:oleObj spid="_x0000_s54280" name="Equation" r:id="rId8" imgW="203040" imgH="203040" progId="Equation.3">
              <p:embed/>
            </p:oleObj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4953000" y="1905000"/>
          <a:ext cx="190500" cy="304800"/>
        </p:xfrm>
        <a:graphic>
          <a:graphicData uri="http://schemas.openxmlformats.org/presentationml/2006/ole">
            <p:oleObj spid="_x0000_s54282" name="Equation" r:id="rId9" imgW="126720" imgH="203040" progId="Equation.3">
              <p:embed/>
            </p:oleObj>
          </a:graphicData>
        </a:graphic>
      </p:graphicFrame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5638800" y="1981200"/>
          <a:ext cx="228600" cy="266700"/>
        </p:xfrm>
        <a:graphic>
          <a:graphicData uri="http://schemas.openxmlformats.org/presentationml/2006/ole">
            <p:oleObj spid="_x0000_s54283" name="Equation" r:id="rId10" imgW="15228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Continuous-time random process</a:t>
            </a:r>
          </a:p>
          <a:p>
            <a:pPr lvl="1"/>
            <a:r>
              <a:rPr lang="en-US" dirty="0" smtClean="0"/>
              <a:t>The time is continuous</a:t>
            </a:r>
          </a:p>
          <a:p>
            <a:pPr lvl="1"/>
            <a:r>
              <a:rPr lang="en-US" dirty="0" smtClean="0"/>
              <a:t>E.g. </a:t>
            </a:r>
          </a:p>
          <a:p>
            <a:r>
              <a:rPr lang="en-US" dirty="0" smtClean="0"/>
              <a:t>Discrete-time random process</a:t>
            </a:r>
          </a:p>
          <a:p>
            <a:pPr lvl="1"/>
            <a:r>
              <a:rPr lang="en-US" dirty="0" smtClean="0"/>
              <a:t>The time is discrete</a:t>
            </a:r>
          </a:p>
          <a:p>
            <a:pPr lvl="1"/>
            <a:r>
              <a:rPr lang="en-US" dirty="0" smtClean="0"/>
              <a:t>E.g. </a:t>
            </a:r>
          </a:p>
          <a:p>
            <a:r>
              <a:rPr lang="en-US" dirty="0" smtClean="0"/>
              <a:t>Continuous random process</a:t>
            </a:r>
          </a:p>
          <a:p>
            <a:pPr lvl="1"/>
            <a:r>
              <a:rPr lang="en-US" dirty="0" smtClean="0"/>
              <a:t>At any time,                is a continuous random variable</a:t>
            </a:r>
          </a:p>
          <a:p>
            <a:pPr lvl="1"/>
            <a:r>
              <a:rPr lang="en-US" dirty="0" smtClean="0"/>
              <a:t>E.g.                                          ,     is Gaussian distributed</a:t>
            </a:r>
          </a:p>
          <a:p>
            <a:r>
              <a:rPr lang="en-US" dirty="0" smtClean="0"/>
              <a:t>Discrete random process</a:t>
            </a:r>
          </a:p>
          <a:p>
            <a:pPr lvl="1"/>
            <a:r>
              <a:rPr lang="en-US" dirty="0" smtClean="0"/>
              <a:t>At any time,                  is a discrete random variable</a:t>
            </a:r>
          </a:p>
          <a:p>
            <a:pPr lvl="1"/>
            <a:r>
              <a:rPr lang="en-US" dirty="0" smtClean="0"/>
              <a:t>E.g.                                        ,      is a Bernoulli RV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2438400" y="1600200"/>
          <a:ext cx="2019300" cy="304800"/>
        </p:xfrm>
        <a:graphic>
          <a:graphicData uri="http://schemas.openxmlformats.org/presentationml/2006/ole">
            <p:oleObj spid="_x0000_s55298" name="Equation" r:id="rId3" imgW="1346040" imgH="203040" progId="Equation.3">
              <p:embed/>
            </p:oleObj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2314575" y="2667000"/>
          <a:ext cx="2114550" cy="304800"/>
        </p:xfrm>
        <a:graphic>
          <a:graphicData uri="http://schemas.openxmlformats.org/presentationml/2006/ole">
            <p:oleObj spid="_x0000_s55299" name="Equation" r:id="rId4" imgW="1409400" imgH="203040" progId="Equation.3">
              <p:embed/>
            </p:oleObj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5153025" y="2676525"/>
          <a:ext cx="1104900" cy="285750"/>
        </p:xfrm>
        <a:graphic>
          <a:graphicData uri="http://schemas.openxmlformats.org/presentationml/2006/ole">
            <p:oleObj spid="_x0000_s55300" name="Equation" r:id="rId5" imgW="736560" imgH="190440" progId="Equation.3">
              <p:embed/>
            </p:oleObj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5181600" y="1676400"/>
          <a:ext cx="514350" cy="247650"/>
        </p:xfrm>
        <a:graphic>
          <a:graphicData uri="http://schemas.openxmlformats.org/presentationml/2006/ole">
            <p:oleObj spid="_x0000_s55301" name="Equation" r:id="rId6" imgW="342720" imgH="164880" progId="Equation.3">
              <p:embed/>
            </p:oleObj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2667000" y="3352800"/>
          <a:ext cx="781050" cy="342900"/>
        </p:xfrm>
        <a:graphic>
          <a:graphicData uri="http://schemas.openxmlformats.org/presentationml/2006/ole">
            <p:oleObj spid="_x0000_s55302" name="Equation" r:id="rId7" imgW="520560" imgH="228600" progId="Equation.3">
              <p:embed/>
            </p:oleObj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2133600" y="3657600"/>
          <a:ext cx="2019300" cy="304800"/>
        </p:xfrm>
        <a:graphic>
          <a:graphicData uri="http://schemas.openxmlformats.org/presentationml/2006/ole">
            <p:oleObj spid="_x0000_s55303" name="Equation" r:id="rId8" imgW="1346040" imgH="203040" progId="Equation.3">
              <p:embed/>
            </p:oleObj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4343400" y="3657600"/>
          <a:ext cx="190500" cy="304800"/>
        </p:xfrm>
        <a:graphic>
          <a:graphicData uri="http://schemas.openxmlformats.org/presentationml/2006/ole">
            <p:oleObj spid="_x0000_s55304" name="Equation" r:id="rId9" imgW="126720" imgH="203040" progId="Equation.3">
              <p:embed/>
            </p:oleObj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/>
        </p:nvGraphicFramePr>
        <p:xfrm>
          <a:off x="2743200" y="4343400"/>
          <a:ext cx="781050" cy="342900"/>
        </p:xfrm>
        <a:graphic>
          <a:graphicData uri="http://schemas.openxmlformats.org/presentationml/2006/ole">
            <p:oleObj spid="_x0000_s55305" name="Equation" r:id="rId10" imgW="520560" imgH="228600" progId="Equation.3">
              <p:embed/>
            </p:oleObj>
          </a:graphicData>
        </a:graphic>
      </p:graphicFrame>
      <p:graphicFrame>
        <p:nvGraphicFramePr>
          <p:cNvPr id="55306" name="Object 10"/>
          <p:cNvGraphicFramePr>
            <a:graphicFrameLocks noChangeAspect="1"/>
          </p:cNvGraphicFramePr>
          <p:nvPr/>
        </p:nvGraphicFramePr>
        <p:xfrm>
          <a:off x="1981200" y="4648200"/>
          <a:ext cx="2019300" cy="304800"/>
        </p:xfrm>
        <a:graphic>
          <a:graphicData uri="http://schemas.openxmlformats.org/presentationml/2006/ole">
            <p:oleObj spid="_x0000_s55306" name="Equation" r:id="rId11" imgW="1346040" imgH="203040" progId="Equation.3">
              <p:embed/>
            </p:oleObj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/>
        </p:nvGraphicFramePr>
        <p:xfrm>
          <a:off x="4267200" y="4648200"/>
          <a:ext cx="190500" cy="304800"/>
        </p:xfrm>
        <a:graphic>
          <a:graphicData uri="http://schemas.openxmlformats.org/presentationml/2006/ole">
            <p:oleObj spid="_x0000_s55307" name="Equation" r:id="rId12" imgW="126720" imgH="20304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Classifications</a:t>
            </a:r>
          </a:p>
          <a:p>
            <a:pPr lvl="1"/>
            <a:r>
              <a:rPr lang="en-US" dirty="0" smtClean="0"/>
              <a:t>Continuous-time </a:t>
            </a:r>
            <a:r>
              <a:rPr lang="en-US" dirty="0" err="1" smtClean="0"/>
              <a:t>v.s</a:t>
            </a:r>
            <a:r>
              <a:rPr lang="en-US" dirty="0" smtClean="0"/>
              <a:t>. discrete-time</a:t>
            </a:r>
          </a:p>
          <a:p>
            <a:pPr lvl="1"/>
            <a:r>
              <a:rPr lang="en-US" dirty="0" smtClean="0"/>
              <a:t>Continuous </a:t>
            </a:r>
            <a:r>
              <a:rPr lang="en-US" dirty="0" err="1" smtClean="0"/>
              <a:t>v.s</a:t>
            </a:r>
            <a:r>
              <a:rPr lang="en-US" dirty="0" smtClean="0"/>
              <a:t>. discrete</a:t>
            </a:r>
          </a:p>
          <a:p>
            <a:pPr lvl="1"/>
            <a:r>
              <a:rPr lang="en-US" dirty="0" smtClean="0"/>
              <a:t>Stationary </a:t>
            </a:r>
            <a:r>
              <a:rPr lang="en-US" dirty="0" err="1" smtClean="0"/>
              <a:t>v.s</a:t>
            </a:r>
            <a:r>
              <a:rPr lang="en-US" dirty="0" smtClean="0"/>
              <a:t>. non-stationary</a:t>
            </a:r>
          </a:p>
          <a:p>
            <a:pPr lvl="1"/>
            <a:r>
              <a:rPr lang="en-US" dirty="0" smtClean="0"/>
              <a:t>Wide sense stationary (WSS) </a:t>
            </a:r>
            <a:r>
              <a:rPr lang="en-US" dirty="0" err="1" smtClean="0"/>
              <a:t>v.s</a:t>
            </a:r>
            <a:r>
              <a:rPr lang="en-US" dirty="0" smtClean="0"/>
              <a:t>. non-WSS</a:t>
            </a:r>
          </a:p>
          <a:p>
            <a:pPr lvl="1"/>
            <a:r>
              <a:rPr lang="en-US" dirty="0" err="1" smtClean="0"/>
              <a:t>Ergodic</a:t>
            </a:r>
            <a:r>
              <a:rPr lang="en-US" dirty="0" smtClean="0"/>
              <a:t> </a:t>
            </a:r>
            <a:r>
              <a:rPr lang="en-US" dirty="0" err="1" smtClean="0"/>
              <a:t>v.s</a:t>
            </a:r>
            <a:r>
              <a:rPr lang="en-US" dirty="0" smtClean="0"/>
              <a:t>. non-</a:t>
            </a:r>
            <a:r>
              <a:rPr lang="en-US" dirty="0" err="1" smtClean="0"/>
              <a:t>ergodic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Simple notation</a:t>
            </a:r>
          </a:p>
          <a:p>
            <a:pPr lvl="1"/>
            <a:r>
              <a:rPr lang="en-US" dirty="0" smtClean="0"/>
              <a:t>Random variable:              , usually denoted as </a:t>
            </a:r>
          </a:p>
          <a:p>
            <a:pPr lvl="1"/>
            <a:r>
              <a:rPr lang="en-US" dirty="0" smtClean="0"/>
              <a:t>Random process:                 , usually denoted as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3276600" y="3581400"/>
          <a:ext cx="552450" cy="304800"/>
        </p:xfrm>
        <a:graphic>
          <a:graphicData uri="http://schemas.openxmlformats.org/presentationml/2006/ole">
            <p:oleObj spid="_x0000_s56322" name="Equation" r:id="rId3" imgW="368280" imgH="203040" progId="Equation.3">
              <p:embed/>
            </p:oleObj>
          </a:graphicData>
        </a:graphic>
      </p:graphicFrame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5934075" y="3695700"/>
          <a:ext cx="266700" cy="228600"/>
        </p:xfrm>
        <a:graphic>
          <a:graphicData uri="http://schemas.openxmlformats.org/presentationml/2006/ole">
            <p:oleObj spid="_x0000_s56323" name="Equation" r:id="rId4" imgW="177480" imgH="152280" progId="Equation.3">
              <p:embed/>
            </p:oleObj>
          </a:graphicData>
        </a:graphic>
      </p:graphicFrame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3200400" y="3962400"/>
          <a:ext cx="704850" cy="304800"/>
        </p:xfrm>
        <a:graphic>
          <a:graphicData uri="http://schemas.openxmlformats.org/presentationml/2006/ole">
            <p:oleObj spid="_x0000_s56324" name="Equation" r:id="rId5" imgW="469800" imgH="203040" progId="Equation.3">
              <p:embed/>
            </p:oleObj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5943600" y="3962400"/>
          <a:ext cx="495300" cy="304800"/>
        </p:xfrm>
        <a:graphic>
          <a:graphicData uri="http://schemas.openxmlformats.org/presentationml/2006/ole">
            <p:oleObj spid="_x0000_s56325" name="Equation" r:id="rId6" imgW="330120" imgH="20304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random 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and non-</a:t>
            </a:r>
            <a:r>
              <a:rPr lang="en-US" altLang="zh-CN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we describe a random process?</a:t>
            </a:r>
          </a:p>
          <a:p>
            <a:pPr lvl="1"/>
            <a:r>
              <a:rPr lang="en-US" dirty="0" smtClean="0"/>
              <a:t>A random variable is fully characterized by its </a:t>
            </a:r>
            <a:r>
              <a:rPr lang="en-US" dirty="0" err="1" smtClean="0"/>
              <a:t>pdf</a:t>
            </a:r>
            <a:r>
              <a:rPr lang="en-US" dirty="0" smtClean="0"/>
              <a:t> or CDF.</a:t>
            </a:r>
          </a:p>
          <a:p>
            <a:pPr lvl="1"/>
            <a:r>
              <a:rPr lang="en-US" dirty="0" smtClean="0"/>
              <a:t>How do we statistically describe random process?</a:t>
            </a:r>
          </a:p>
          <a:p>
            <a:pPr lvl="2"/>
            <a:r>
              <a:rPr lang="en-US" dirty="0" smtClean="0"/>
              <a:t>E.g. 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We need to describe the random process in both the ensemble domain and the time domain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Descriptions of the random process</a:t>
            </a:r>
          </a:p>
          <a:p>
            <a:pPr lvl="1"/>
            <a:r>
              <a:rPr lang="en-US" dirty="0" smtClean="0"/>
              <a:t>Joint distribution of time samples: joint </a:t>
            </a:r>
            <a:r>
              <a:rPr lang="en-US" dirty="0" err="1" smtClean="0"/>
              <a:t>pdf</a:t>
            </a:r>
            <a:r>
              <a:rPr lang="en-US" dirty="0" smtClean="0"/>
              <a:t>, joint CDF</a:t>
            </a:r>
          </a:p>
          <a:p>
            <a:pPr lvl="1"/>
            <a:r>
              <a:rPr lang="en-US" dirty="0" smtClean="0"/>
              <a:t>Moments: mean, variance, correlation function, covariance function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aphicFrame>
        <p:nvGraphicFramePr>
          <p:cNvPr id="57346" name="Object 2"/>
          <p:cNvGraphicFramePr>
            <a:graphicFrameLocks noChangeAspect="1"/>
          </p:cNvGraphicFramePr>
          <p:nvPr/>
        </p:nvGraphicFramePr>
        <p:xfrm>
          <a:off x="2590800" y="1981200"/>
          <a:ext cx="3486150" cy="342900"/>
        </p:xfrm>
        <a:graphic>
          <a:graphicData uri="http://schemas.openxmlformats.org/presentationml/2006/ole">
            <p:oleObj spid="_x0000_s57346" name="Equation" r:id="rId3" imgW="2323800" imgH="228600" progId="Equation.3">
              <p:embed/>
            </p:oleObj>
          </a:graphicData>
        </a:graphic>
      </p:graphicFrame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2667000" y="2514600"/>
          <a:ext cx="4400550" cy="342900"/>
        </p:xfrm>
        <a:graphic>
          <a:graphicData uri="http://schemas.openxmlformats.org/presentationml/2006/ole">
            <p:oleObj spid="_x0000_s57347" name="Equation" r:id="rId4" imgW="293364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distribution of time samples</a:t>
            </a:r>
          </a:p>
          <a:p>
            <a:pPr lvl="1"/>
            <a:r>
              <a:rPr lang="en-US" dirty="0" smtClean="0"/>
              <a:t>Consider a random process </a:t>
            </a:r>
          </a:p>
          <a:p>
            <a:pPr lvl="1"/>
            <a:r>
              <a:rPr lang="en-US" dirty="0" smtClean="0"/>
              <a:t>Let </a:t>
            </a:r>
          </a:p>
          <a:p>
            <a:pPr lvl="1"/>
            <a:r>
              <a:rPr lang="en-US" dirty="0" smtClean="0"/>
              <a:t>joint CDF: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Joint </a:t>
            </a:r>
            <a:r>
              <a:rPr lang="en-US" dirty="0" err="1" smtClean="0"/>
              <a:t>pdf</a:t>
            </a:r>
            <a:r>
              <a:rPr lang="en-US" dirty="0" smtClean="0"/>
              <a:t>: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 random process is fully specified by the collections of all the joint CDFs (or joint </a:t>
            </a:r>
            <a:r>
              <a:rPr lang="en-US" dirty="0" err="1" smtClean="0"/>
              <a:t>pdfs</a:t>
            </a:r>
            <a:r>
              <a:rPr lang="en-US" dirty="0" smtClean="0"/>
              <a:t>) for any n and any choice of sampling instants.</a:t>
            </a:r>
          </a:p>
          <a:p>
            <a:pPr lvl="2"/>
            <a:r>
              <a:rPr lang="en-US" dirty="0" smtClean="0"/>
              <a:t>For a continuous-time random process, there will be infinite such joint CDFs.</a:t>
            </a:r>
          </a:p>
          <a:p>
            <a:pPr lvl="2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4038600" y="1295400"/>
          <a:ext cx="495300" cy="304800"/>
        </p:xfrm>
        <a:graphic>
          <a:graphicData uri="http://schemas.openxmlformats.org/presentationml/2006/ole">
            <p:oleObj spid="_x0000_s58370" name="Equation" r:id="rId3" imgW="330120" imgH="203040" progId="Equation.3">
              <p:embed/>
            </p:oleObj>
          </a:graphicData>
        </a:graphic>
      </p:graphicFrame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2133600" y="1600200"/>
          <a:ext cx="3543300" cy="342900"/>
        </p:xfrm>
        <a:graphic>
          <a:graphicData uri="http://schemas.openxmlformats.org/presentationml/2006/ole">
            <p:oleObj spid="_x0000_s58371" name="Equation" r:id="rId4" imgW="2361960" imgH="228600" progId="Equation.3">
              <p:embed/>
            </p:oleObj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1905000" y="2362200"/>
          <a:ext cx="4686300" cy="361950"/>
        </p:xfrm>
        <a:graphic>
          <a:graphicData uri="http://schemas.openxmlformats.org/presentationml/2006/ole">
            <p:oleObj spid="_x0000_s58372" name="Equation" r:id="rId5" imgW="3124080" imgH="241200" progId="Equation.3">
              <p:embed/>
            </p:oleObj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2514600" y="3276600"/>
          <a:ext cx="3600450" cy="704850"/>
        </p:xfrm>
        <a:graphic>
          <a:graphicData uri="http://schemas.openxmlformats.org/presentationml/2006/ole">
            <p:oleObj spid="_x0000_s58373" name="Equation" r:id="rId6" imgW="240012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Moments of time samples</a:t>
            </a:r>
          </a:p>
          <a:p>
            <a:pPr lvl="1"/>
            <a:r>
              <a:rPr lang="en-US" dirty="0" smtClean="0"/>
              <a:t>Provide a partial description of the random process</a:t>
            </a:r>
          </a:p>
          <a:p>
            <a:pPr lvl="1"/>
            <a:r>
              <a:rPr lang="en-US" dirty="0" smtClean="0"/>
              <a:t>For most practical applications it is sufficient to have a partial description.</a:t>
            </a:r>
          </a:p>
          <a:p>
            <a:r>
              <a:rPr lang="en-US" dirty="0" smtClean="0"/>
              <a:t>Mean function 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The mean function is a deterministic function of time. </a:t>
            </a:r>
          </a:p>
          <a:p>
            <a:r>
              <a:rPr lang="en-US" dirty="0" smtClean="0"/>
              <a:t>Variance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2057400" y="2438400"/>
          <a:ext cx="3105150" cy="495300"/>
        </p:xfrm>
        <a:graphic>
          <a:graphicData uri="http://schemas.openxmlformats.org/presentationml/2006/ole">
            <p:oleObj spid="_x0000_s59394" name="Equation" r:id="rId3" imgW="2070000" imgH="330120" progId="Equation.3">
              <p:embed/>
            </p:oleObj>
          </a:graphicData>
        </a:graphic>
      </p:graphicFrame>
      <p:graphicFrame>
        <p:nvGraphicFramePr>
          <p:cNvPr id="59395" name="Object 3"/>
          <p:cNvGraphicFramePr>
            <a:graphicFrameLocks noChangeAspect="1"/>
          </p:cNvGraphicFramePr>
          <p:nvPr/>
        </p:nvGraphicFramePr>
        <p:xfrm>
          <a:off x="1762125" y="3810000"/>
          <a:ext cx="5029200" cy="495300"/>
        </p:xfrm>
        <a:graphic>
          <a:graphicData uri="http://schemas.openxmlformats.org/presentationml/2006/ole">
            <p:oleObj spid="_x0000_s59395" name="Equation" r:id="rId4" imgW="3352680" imgH="330120" progId="Equation.3">
              <p:embed/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For a random process                                    , where </a:t>
            </a:r>
            <a:r>
              <a:rPr lang="en-US" i="1" dirty="0" smtClean="0"/>
              <a:t>A</a:t>
            </a:r>
            <a:r>
              <a:rPr lang="en-US" dirty="0" smtClean="0"/>
              <a:t> is a random variable with mean         and variance         . Find the mean function and variance function of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3581400" y="1295400"/>
          <a:ext cx="1885950" cy="304800"/>
        </p:xfrm>
        <a:graphic>
          <a:graphicData uri="http://schemas.openxmlformats.org/presentationml/2006/ole">
            <p:oleObj spid="_x0000_s60418" name="Equation" r:id="rId3" imgW="1257120" imgH="203040" progId="Equation.3">
              <p:embed/>
            </p:oleObj>
          </a:graphicData>
        </a:graphic>
      </p:graphicFrame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2514600" y="1524000"/>
          <a:ext cx="323850" cy="323850"/>
        </p:xfrm>
        <a:graphic>
          <a:graphicData uri="http://schemas.openxmlformats.org/presentationml/2006/ole">
            <p:oleObj spid="_x0000_s60419" name="Equation" r:id="rId4" imgW="215640" imgH="215640" progId="Equation.3">
              <p:embed/>
            </p:oleObj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4200525" y="1590675"/>
          <a:ext cx="304800" cy="342900"/>
        </p:xfrm>
        <a:graphic>
          <a:graphicData uri="http://schemas.openxmlformats.org/presentationml/2006/ole">
            <p:oleObj spid="_x0000_s60420" name="Equation" r:id="rId5" imgW="20304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Autocorrelation function (ACF)</a:t>
            </a:r>
          </a:p>
          <a:p>
            <a:pPr lvl="1"/>
            <a:r>
              <a:rPr lang="en-US" dirty="0" smtClean="0"/>
              <a:t>The autocorrelation function of a random process X(t) is defined as the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It describes the correlation of the random process in the time domain</a:t>
            </a:r>
          </a:p>
          <a:p>
            <a:pPr lvl="2"/>
            <a:r>
              <a:rPr lang="en-US" dirty="0" smtClean="0"/>
              <a:t>How are two events happened at different times related to each other.</a:t>
            </a:r>
          </a:p>
          <a:p>
            <a:pPr lvl="3"/>
            <a:r>
              <a:rPr lang="en-US" dirty="0" smtClean="0"/>
              <a:t>E.g. if there is a strong correlation between the temperature today and the temperature tomorrow, then we can predict tomorrow’s temperature by using today’s observation.</a:t>
            </a:r>
          </a:p>
          <a:p>
            <a:pPr lvl="3"/>
            <a:r>
              <a:rPr lang="en-US" dirty="0" smtClean="0"/>
              <a:t>E.g. the text in a book can be considered as a discrete random process</a:t>
            </a:r>
          </a:p>
          <a:p>
            <a:pPr lvl="4"/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Stochasxxx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4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We can easily guess the contents in xxx by using the time correlation</a:t>
            </a:r>
            <a:r>
              <a:rPr lang="en-US" sz="1600" dirty="0" smtClean="0"/>
              <a:t>.</a:t>
            </a:r>
          </a:p>
          <a:p>
            <a:pPr lvl="1"/>
            <a:r>
              <a:rPr lang="en-US" sz="1600" dirty="0" smtClean="0"/>
              <a:t>                                               is the second moment of </a:t>
            </a:r>
          </a:p>
          <a:p>
            <a:pPr lvl="1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graphicFrame>
        <p:nvGraphicFramePr>
          <p:cNvPr id="61442" name="Object 2"/>
          <p:cNvGraphicFramePr>
            <a:graphicFrameLocks noChangeAspect="1"/>
          </p:cNvGraphicFramePr>
          <p:nvPr/>
        </p:nvGraphicFramePr>
        <p:xfrm>
          <a:off x="2895600" y="1676400"/>
          <a:ext cx="2801471" cy="381000"/>
        </p:xfrm>
        <a:graphic>
          <a:graphicData uri="http://schemas.openxmlformats.org/presentationml/2006/ole">
            <p:oleObj spid="_x0000_s61442" name="Equation" r:id="rId3" imgW="1587240" imgH="215640" progId="Equation.3">
              <p:embed/>
            </p:oleObj>
          </a:graphicData>
        </a:graphic>
      </p:graphicFrame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600200" y="5257800"/>
          <a:ext cx="1981200" cy="352892"/>
        </p:xfrm>
        <a:graphic>
          <a:graphicData uri="http://schemas.openxmlformats.org/presentationml/2006/ole">
            <p:oleObj spid="_x0000_s61443" name="Equation" r:id="rId4" imgW="1282680" imgH="228600" progId="Equation.3">
              <p:embed/>
            </p:oleObj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6019800" y="5257800"/>
          <a:ext cx="612775" cy="358775"/>
        </p:xfrm>
        <a:graphic>
          <a:graphicData uri="http://schemas.openxmlformats.org/presentationml/2006/ole">
            <p:oleObj spid="_x0000_s61444" name="Equation" r:id="rId5" imgW="368280" imgH="215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Autocovariance</a:t>
            </a:r>
            <a:r>
              <a:rPr lang="en-US" dirty="0" smtClean="0"/>
              <a:t> function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autocovariance</a:t>
            </a:r>
            <a:r>
              <a:rPr lang="en-US" dirty="0" smtClean="0"/>
              <a:t> function of a random process X(t) is defined as the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1763713" y="1676400"/>
          <a:ext cx="5065712" cy="381000"/>
        </p:xfrm>
        <a:graphic>
          <a:graphicData uri="http://schemas.openxmlformats.org/presentationml/2006/ole">
            <p:oleObj spid="_x0000_s62466" name="Equation" r:id="rId3" imgW="2869920" imgH="215640" progId="Equation.3">
              <p:embed/>
            </p:oleObj>
          </a:graphicData>
        </a:graphic>
      </p:graphicFrame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3048000" y="2209800"/>
          <a:ext cx="3497263" cy="381000"/>
        </p:xfrm>
        <a:graphic>
          <a:graphicData uri="http://schemas.openxmlformats.org/presentationml/2006/ole">
            <p:oleObj spid="_x0000_s62467" name="Equation" r:id="rId4" imgW="1981080" imgH="215640" progId="Equation.3">
              <p:embed/>
            </p:oleObj>
          </a:graphicData>
        </a:graphic>
      </p:graphicFrame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1600200" y="2971800"/>
          <a:ext cx="1658937" cy="447675"/>
        </p:xfrm>
        <a:graphic>
          <a:graphicData uri="http://schemas.openxmlformats.org/presentationml/2006/ole">
            <p:oleObj spid="_x0000_s62468" name="Equation" r:id="rId5" imgW="939600" imgH="253800" progId="Equation.3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process                                   , where A is a random variable with mean        and variance         . Find the autocorrelation function and </a:t>
            </a:r>
            <a:r>
              <a:rPr lang="en-US" dirty="0" err="1" smtClean="0"/>
              <a:t>autocovariance</a:t>
            </a:r>
            <a:r>
              <a:rPr lang="en-US" dirty="0" smtClean="0"/>
              <a:t> function.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4038600" y="1295400"/>
          <a:ext cx="1903413" cy="312738"/>
        </p:xfrm>
        <a:graphic>
          <a:graphicData uri="http://schemas.openxmlformats.org/presentationml/2006/ole">
            <p:oleObj spid="_x0000_s63490" name="Equation" r:id="rId4" imgW="1231560" imgH="203040" progId="Equation.3">
              <p:embed/>
            </p:oleObj>
          </a:graphicData>
        </a:graphic>
      </p:graphicFrame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3276600" y="1524000"/>
          <a:ext cx="333375" cy="331788"/>
        </p:xfrm>
        <a:graphic>
          <a:graphicData uri="http://schemas.openxmlformats.org/presentationml/2006/ole">
            <p:oleObj spid="_x0000_s63491" name="Equation" r:id="rId5" imgW="215640" imgH="215640" progId="Equation.3">
              <p:embed/>
            </p:oleObj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4962525" y="1590675"/>
          <a:ext cx="314325" cy="352425"/>
        </p:xfrm>
        <a:graphic>
          <a:graphicData uri="http://schemas.openxmlformats.org/presentationml/2006/ole">
            <p:oleObj spid="_x0000_s63492" name="Equation" r:id="rId6" imgW="20304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process                                       , where A is a random variable with mean        and variance         .       is uniformly distributed in</a:t>
            </a:r>
          </a:p>
          <a:p>
            <a:pPr lvl="1">
              <a:buNone/>
            </a:pPr>
            <a:r>
              <a:rPr lang="en-US" dirty="0" smtClean="0"/>
              <a:t>	              . A and     are independent.   </a:t>
            </a:r>
          </a:p>
          <a:p>
            <a:pPr lvl="1"/>
            <a:r>
              <a:rPr lang="en-US" dirty="0" smtClean="0"/>
              <a:t>Find the autocorrelation function and </a:t>
            </a:r>
            <a:r>
              <a:rPr lang="en-US" dirty="0" err="1" smtClean="0"/>
              <a:t>autocovariance</a:t>
            </a:r>
            <a:r>
              <a:rPr lang="en-US" dirty="0" smtClean="0"/>
              <a:t> function.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3962400" y="1295400"/>
          <a:ext cx="2276475" cy="312738"/>
        </p:xfrm>
        <a:graphic>
          <a:graphicData uri="http://schemas.openxmlformats.org/presentationml/2006/ole">
            <p:oleObj spid="_x0000_s64514" name="Equation" r:id="rId3" imgW="1473120" imgH="203040" progId="Equation.3">
              <p:embed/>
            </p:oleObj>
          </a:graphicData>
        </a:graphic>
      </p:graphicFrame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3276600" y="1524000"/>
          <a:ext cx="333375" cy="331788"/>
        </p:xfrm>
        <a:graphic>
          <a:graphicData uri="http://schemas.openxmlformats.org/presentationml/2006/ole">
            <p:oleObj spid="_x0000_s64515" name="Equation" r:id="rId4" imgW="215640" imgH="215640" progId="Equation.3">
              <p:embed/>
            </p:oleObj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4953000" y="1524000"/>
          <a:ext cx="314325" cy="352425"/>
        </p:xfrm>
        <a:graphic>
          <a:graphicData uri="http://schemas.openxmlformats.org/presentationml/2006/ole">
            <p:oleObj spid="_x0000_s64516" name="Equation" r:id="rId5" imgW="203040" imgH="228600" progId="Equation.3">
              <p:embed/>
            </p:oleObj>
          </a:graphicData>
        </a:graphic>
      </p:graphicFrame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5486400" y="1600200"/>
          <a:ext cx="236538" cy="273050"/>
        </p:xfrm>
        <a:graphic>
          <a:graphicData uri="http://schemas.openxmlformats.org/presentationml/2006/ole">
            <p:oleObj spid="_x0000_s64517" name="Equation" r:id="rId6" imgW="152280" imgH="177480" progId="Equation.3">
              <p:embed/>
            </p:oleObj>
          </a:graphicData>
        </a:graphic>
      </p:graphicFrame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524000" y="1828800"/>
          <a:ext cx="746125" cy="312738"/>
        </p:xfrm>
        <a:graphic>
          <a:graphicData uri="http://schemas.openxmlformats.org/presentationml/2006/ole">
            <p:oleObj spid="_x0000_s64518" name="Equation" r:id="rId7" imgW="482400" imgH="203040" progId="Equation.3">
              <p:embed/>
            </p:oleObj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2895600" y="1905000"/>
          <a:ext cx="236538" cy="273050"/>
        </p:xfrm>
        <a:graphic>
          <a:graphicData uri="http://schemas.openxmlformats.org/presentationml/2006/ole">
            <p:oleObj spid="_x0000_s64519" name="Equation" r:id="rId8" imgW="15228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random 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and non-</a:t>
            </a:r>
            <a:r>
              <a:rPr lang="en-US" altLang="zh-CN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</a:p>
          <a:p>
            <a:pPr lvl="1"/>
            <a:r>
              <a:rPr lang="en-US" dirty="0" smtClean="0"/>
              <a:t>A random process, X(t), is stationary if the joint distribution of  any set of samples does not depend on the time origin. </a:t>
            </a:r>
          </a:p>
          <a:p>
            <a:pPr lvl="2"/>
            <a:r>
              <a:rPr lang="en-US" dirty="0" smtClean="0"/>
              <a:t>The two sets of samples,                                          , and 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>
              <a:buNone/>
            </a:pPr>
            <a:r>
              <a:rPr lang="en-US" dirty="0" smtClean="0"/>
              <a:t>   	have the same joint distribution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/>
              <a:t>	for any value of      ,    , and for any choice of the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/>
            <a:r>
              <a:rPr lang="en-US" dirty="0" smtClean="0"/>
              <a:t>The joint distribution is independent of the absolute  starting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4191000" y="1905000"/>
          <a:ext cx="2220912" cy="352425"/>
        </p:xfrm>
        <a:graphic>
          <a:graphicData uri="http://schemas.openxmlformats.org/presentationml/2006/ole">
            <p:oleObj spid="_x0000_s77826" name="Equation" r:id="rId3" imgW="1434960" imgH="228600" progId="Equation.3">
              <p:embed/>
            </p:oleObj>
          </a:graphicData>
        </a:graphic>
      </p:graphicFrame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4114800" y="2286000"/>
          <a:ext cx="3222625" cy="352425"/>
        </p:xfrm>
        <a:graphic>
          <a:graphicData uri="http://schemas.openxmlformats.org/presentationml/2006/ole">
            <p:oleObj spid="_x0000_s77827" name="Equation" r:id="rId4" imgW="2082600" imgH="228600" progId="Equation.3">
              <p:embed/>
            </p:oleObj>
          </a:graphicData>
        </a:graphic>
      </p:graphicFrame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09800" y="3200400"/>
            <a:ext cx="519646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3429000" y="3886200"/>
          <a:ext cx="196850" cy="214312"/>
        </p:xfrm>
        <a:graphic>
          <a:graphicData uri="http://schemas.openxmlformats.org/presentationml/2006/ole">
            <p:oleObj spid="_x0000_s77829" name="Equation" r:id="rId6" imgW="126720" imgH="139680" progId="Equation.3">
              <p:embed/>
            </p:oleObj>
          </a:graphicData>
        </a:graphic>
      </p:graphicFrame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3733800" y="3857625"/>
          <a:ext cx="196850" cy="271463"/>
        </p:xfrm>
        <a:graphic>
          <a:graphicData uri="http://schemas.openxmlformats.org/presentationml/2006/ole">
            <p:oleObj spid="_x0000_s77830" name="Equation" r:id="rId7" imgW="126720" imgH="177480" progId="Equation.3">
              <p:embed/>
            </p:oleObj>
          </a:graphicData>
        </a:graphic>
      </p:graphicFrame>
      <p:graphicFrame>
        <p:nvGraphicFramePr>
          <p:cNvPr id="77831" name="Object 7"/>
          <p:cNvGraphicFramePr>
            <a:graphicFrameLocks noChangeAspect="1"/>
          </p:cNvGraphicFramePr>
          <p:nvPr/>
        </p:nvGraphicFramePr>
        <p:xfrm>
          <a:off x="6400800" y="3810000"/>
          <a:ext cx="962025" cy="352425"/>
        </p:xfrm>
        <a:graphic>
          <a:graphicData uri="http://schemas.openxmlformats.org/presentationml/2006/ole">
            <p:oleObj spid="_x0000_s77831" name="Equation" r:id="rId8" imgW="62208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order distribution</a:t>
            </a:r>
          </a:p>
          <a:p>
            <a:pPr lvl="1"/>
            <a:r>
              <a:rPr lang="en-US" dirty="0" smtClean="0"/>
              <a:t>If X(t) is a stationary random process, then the first order CDF or </a:t>
            </a:r>
            <a:r>
              <a:rPr lang="en-US" dirty="0" err="1" smtClean="0"/>
              <a:t>pdf</a:t>
            </a:r>
            <a:r>
              <a:rPr lang="en-US" dirty="0" smtClean="0"/>
              <a:t> must be independent of time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samples at different time instant have the same distribution.</a:t>
            </a:r>
          </a:p>
          <a:p>
            <a:pPr lvl="1"/>
            <a:r>
              <a:rPr lang="en-US" dirty="0" smtClean="0"/>
              <a:t>Mean: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2743200" y="1905000"/>
          <a:ext cx="2008188" cy="369887"/>
        </p:xfrm>
        <a:graphic>
          <a:graphicData uri="http://schemas.openxmlformats.org/presentationml/2006/ole">
            <p:oleObj spid="_x0000_s78850" name="Equation" r:id="rId3" imgW="1295280" imgH="241200" progId="Equation.3">
              <p:embed/>
            </p:oleObj>
          </a:graphicData>
        </a:graphic>
      </p:graphicFrame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2828925" y="2362200"/>
          <a:ext cx="1987550" cy="369888"/>
        </p:xfrm>
        <a:graphic>
          <a:graphicData uri="http://schemas.openxmlformats.org/presentationml/2006/ole">
            <p:oleObj spid="_x0000_s78851" name="Equation" r:id="rId4" imgW="1282680" imgH="241200" progId="Equation.3">
              <p:embed/>
            </p:oleObj>
          </a:graphicData>
        </a:graphic>
      </p:graphicFrame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6019800" y="1981200"/>
          <a:ext cx="512762" cy="292100"/>
        </p:xfrm>
        <a:graphic>
          <a:graphicData uri="http://schemas.openxmlformats.org/presentationml/2006/ole">
            <p:oleObj spid="_x0000_s78852" name="Equation" r:id="rId5" imgW="330120" imgH="190440" progId="Equation.3">
              <p:embed/>
            </p:oleObj>
          </a:graphicData>
        </a:graphic>
      </p:graphicFrame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6096000" y="2362200"/>
          <a:ext cx="512763" cy="292100"/>
        </p:xfrm>
        <a:graphic>
          <a:graphicData uri="http://schemas.openxmlformats.org/presentationml/2006/ole">
            <p:oleObj spid="_x0000_s78853" name="Equation" r:id="rId6" imgW="330120" imgH="190440" progId="Equation.3">
              <p:embed/>
            </p:oleObj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1752600" y="3581400"/>
          <a:ext cx="1003300" cy="331788"/>
        </p:xfrm>
        <a:graphic>
          <a:graphicData uri="http://schemas.openxmlformats.org/presentationml/2006/ole">
            <p:oleObj spid="_x0000_s78854" name="Equation" r:id="rId7" imgW="647640" imgH="215640" progId="Equation.3">
              <p:embed/>
            </p:oleObj>
          </a:graphicData>
        </a:graphic>
      </p:graphicFrame>
      <p:graphicFrame>
        <p:nvGraphicFramePr>
          <p:cNvPr id="78855" name="Object 7"/>
          <p:cNvGraphicFramePr>
            <a:graphicFrameLocks noChangeAspect="1"/>
          </p:cNvGraphicFramePr>
          <p:nvPr/>
        </p:nvGraphicFramePr>
        <p:xfrm>
          <a:off x="1752600" y="4038600"/>
          <a:ext cx="1338262" cy="331788"/>
        </p:xfrm>
        <a:graphic>
          <a:graphicData uri="http://schemas.openxmlformats.org/presentationml/2006/ole">
            <p:oleObj spid="_x0000_s78855" name="Equation" r:id="rId8" imgW="863280" imgH="215640" progId="Equation.3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52600" y="5486400"/>
            <a:ext cx="639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dirty="0" smtClean="0">
                <a:solidFill>
                  <a:srgbClr val="FF0000"/>
                </a:solidFill>
              </a:rPr>
              <a:t>For a stationary random process, the mean is independent of time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order distribution</a:t>
            </a:r>
          </a:p>
          <a:p>
            <a:pPr lvl="1"/>
            <a:r>
              <a:rPr lang="en-US" dirty="0" smtClean="0"/>
              <a:t>If X(t) is a stationary random process, then the 2</a:t>
            </a:r>
            <a:r>
              <a:rPr lang="en-US" baseline="30000" dirty="0" smtClean="0"/>
              <a:t>nd</a:t>
            </a:r>
            <a:r>
              <a:rPr lang="en-US" dirty="0" smtClean="0"/>
              <a:t> order CDF and </a:t>
            </a:r>
            <a:r>
              <a:rPr lang="en-US" dirty="0" err="1" smtClean="0"/>
              <a:t>pdf</a:t>
            </a:r>
            <a:r>
              <a:rPr lang="en-US" dirty="0" smtClean="0"/>
              <a:t> are: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2</a:t>
            </a:r>
            <a:r>
              <a:rPr lang="en-US" baseline="30000" dirty="0" smtClean="0"/>
              <a:t>nd</a:t>
            </a:r>
            <a:r>
              <a:rPr lang="en-US" dirty="0" smtClean="0"/>
              <a:t> order distribution only depends on the time difference between the two samples</a:t>
            </a:r>
          </a:p>
          <a:p>
            <a:pPr lvl="1"/>
            <a:r>
              <a:rPr lang="en-US" dirty="0" smtClean="0"/>
              <a:t>Autocorrelation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Autocovariance</a:t>
            </a:r>
            <a:r>
              <a:rPr lang="en-US" dirty="0" smtClean="0"/>
              <a:t> function: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1616075" y="1828800"/>
          <a:ext cx="3346450" cy="369888"/>
        </p:xfrm>
        <a:graphic>
          <a:graphicData uri="http://schemas.openxmlformats.org/presentationml/2006/ole">
            <p:oleObj spid="_x0000_s79874" name="Equation" r:id="rId3" imgW="2158920" imgH="241200" progId="Equation.3">
              <p:embed/>
            </p:oleObj>
          </a:graphicData>
        </a:graphic>
      </p:graphicFrame>
      <p:graphicFrame>
        <p:nvGraphicFramePr>
          <p:cNvPr id="79875" name="Object 3"/>
          <p:cNvGraphicFramePr>
            <a:graphicFrameLocks noChangeAspect="1"/>
          </p:cNvGraphicFramePr>
          <p:nvPr/>
        </p:nvGraphicFramePr>
        <p:xfrm>
          <a:off x="6248400" y="1905000"/>
          <a:ext cx="512763" cy="292100"/>
        </p:xfrm>
        <a:graphic>
          <a:graphicData uri="http://schemas.openxmlformats.org/presentationml/2006/ole">
            <p:oleObj spid="_x0000_s79875" name="Equation" r:id="rId4" imgW="330120" imgH="190440" progId="Equation.3">
              <p:embed/>
            </p:oleObj>
          </a:graphicData>
        </a:graphic>
      </p:graphicFrame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1609725" y="2286000"/>
          <a:ext cx="3327400" cy="369888"/>
        </p:xfrm>
        <a:graphic>
          <a:graphicData uri="http://schemas.openxmlformats.org/presentationml/2006/ole">
            <p:oleObj spid="_x0000_s79876" name="Equation" r:id="rId5" imgW="2145960" imgH="241200" progId="Equation.3">
              <p:embed/>
            </p:oleObj>
          </a:graphicData>
        </a:graphic>
      </p:graphicFrame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6324600" y="2286000"/>
          <a:ext cx="512763" cy="292100"/>
        </p:xfrm>
        <a:graphic>
          <a:graphicData uri="http://schemas.openxmlformats.org/presentationml/2006/ole">
            <p:oleObj spid="_x0000_s79877" name="Equation" r:id="rId6" imgW="330120" imgH="190440" progId="Equation.3">
              <p:embed/>
            </p:oleObj>
          </a:graphicData>
        </a:graphic>
      </p:graphicFrame>
      <p:graphicFrame>
        <p:nvGraphicFramePr>
          <p:cNvPr id="79878" name="Object 6"/>
          <p:cNvGraphicFramePr>
            <a:graphicFrameLocks noChangeAspect="1"/>
          </p:cNvGraphicFramePr>
          <p:nvPr/>
        </p:nvGraphicFramePr>
        <p:xfrm>
          <a:off x="2209800" y="3810000"/>
          <a:ext cx="1082675" cy="331788"/>
        </p:xfrm>
        <a:graphic>
          <a:graphicData uri="http://schemas.openxmlformats.org/presentationml/2006/ole">
            <p:oleObj spid="_x0000_s79878" name="Equation" r:id="rId7" imgW="698400" imgH="21564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6800" y="5562600"/>
            <a:ext cx="769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dirty="0" smtClean="0">
                <a:solidFill>
                  <a:srgbClr val="FF0000"/>
                </a:solidFill>
              </a:rPr>
              <a:t>For a stationary random process, the autocorrelation function and </a:t>
            </a:r>
            <a:r>
              <a:rPr lang="en-US" dirty="0" err="1" smtClean="0">
                <a:solidFill>
                  <a:srgbClr val="FF0000"/>
                </a:solidFill>
              </a:rPr>
              <a:t>autocovariance</a:t>
            </a:r>
            <a:r>
              <a:rPr lang="en-US" dirty="0" smtClean="0">
                <a:solidFill>
                  <a:srgbClr val="FF0000"/>
                </a:solidFill>
              </a:rPr>
              <a:t> function only depends on the time difference:</a:t>
            </a:r>
          </a:p>
          <a:p>
            <a:endParaRPr lang="en-US" dirty="0"/>
          </a:p>
        </p:txBody>
      </p:sp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6934200" y="5867400"/>
          <a:ext cx="550862" cy="331788"/>
        </p:xfrm>
        <a:graphic>
          <a:graphicData uri="http://schemas.openxmlformats.org/presentationml/2006/ole">
            <p:oleObj spid="_x0000_s79879" name="Equation" r:id="rId8" imgW="355320" imgH="215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</a:p>
          <a:p>
            <a:pPr lvl="1"/>
            <a:r>
              <a:rPr lang="en-US" dirty="0" smtClean="0"/>
              <a:t>In order to determine whether a random process is stationary, we need to find out the joint distribution of any group of samples</a:t>
            </a:r>
          </a:p>
          <a:p>
            <a:pPr lvl="1"/>
            <a:r>
              <a:rPr lang="en-US" dirty="0" smtClean="0"/>
              <a:t>Stationary random process </a:t>
            </a:r>
            <a:r>
              <a:rPr lang="en-US" dirty="0" smtClean="0">
                <a:sym typeface="Wingdings" pitchFamily="2" charset="2"/>
              </a:rPr>
              <a:t> the joint distribution of any group of time samples is independent of the starting time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This is a very strict requirement, and sometimes it is difficult to determine whether a random process is stationary. </a:t>
            </a:r>
            <a:endParaRPr lang="en-US" dirty="0" smtClean="0"/>
          </a:p>
          <a:p>
            <a:r>
              <a:rPr lang="en-US" dirty="0" smtClean="0"/>
              <a:t>Wide-Sense Stationary (WSS) Random Process</a:t>
            </a:r>
          </a:p>
          <a:p>
            <a:pPr lvl="1"/>
            <a:r>
              <a:rPr lang="en-US" dirty="0" smtClean="0"/>
              <a:t>A random process, X(t), is wide-sense stationary (WSS), if the following two conditions are satisfied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The first moment is independent of time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The autocorrelation function depends only on the time difference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Only consider the 1</a:t>
            </a:r>
            <a:r>
              <a:rPr lang="en-US" baseline="30000" dirty="0" smtClean="0"/>
              <a:t>st</a:t>
            </a:r>
            <a:r>
              <a:rPr lang="en-US" dirty="0" smtClean="0"/>
              <a:t> order and 2</a:t>
            </a:r>
            <a:r>
              <a:rPr lang="en-US" baseline="30000" dirty="0" smtClean="0"/>
              <a:t>nd</a:t>
            </a:r>
            <a:r>
              <a:rPr lang="en-US" dirty="0" smtClean="0"/>
              <a:t> order distributions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graphicFrame>
        <p:nvGraphicFramePr>
          <p:cNvPr id="80898" name="Object 2"/>
          <p:cNvGraphicFramePr>
            <a:graphicFrameLocks noChangeAspect="1"/>
          </p:cNvGraphicFramePr>
          <p:nvPr/>
        </p:nvGraphicFramePr>
        <p:xfrm>
          <a:off x="2590800" y="4495800"/>
          <a:ext cx="2674938" cy="331788"/>
        </p:xfrm>
        <a:graphic>
          <a:graphicData uri="http://schemas.openxmlformats.org/presentationml/2006/ole">
            <p:oleObj spid="_x0000_s80898" name="Equation" r:id="rId3" imgW="1726920" imgH="215640" progId="Equation.3">
              <p:embed/>
            </p:oleObj>
          </a:graphicData>
        </a:graphic>
      </p:graphicFrame>
      <p:graphicFrame>
        <p:nvGraphicFramePr>
          <p:cNvPr id="80899" name="Object 3"/>
          <p:cNvGraphicFramePr>
            <a:graphicFrameLocks noChangeAspect="1"/>
          </p:cNvGraphicFramePr>
          <p:nvPr/>
        </p:nvGraphicFramePr>
        <p:xfrm>
          <a:off x="2819400" y="5410200"/>
          <a:ext cx="2397125" cy="331788"/>
        </p:xfrm>
        <a:graphic>
          <a:graphicData uri="http://schemas.openxmlformats.org/presentationml/2006/ole">
            <p:oleObj spid="_x0000_s80899" name="Equation" r:id="rId4" imgW="1549080" imgH="21564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Stationary </a:t>
            </a:r>
            <a:r>
              <a:rPr lang="en-US" dirty="0" err="1" smtClean="0"/>
              <a:t>v.s</a:t>
            </a:r>
            <a:r>
              <a:rPr lang="en-US" dirty="0" smtClean="0"/>
              <a:t>. Wide-Sense Stationary</a:t>
            </a:r>
          </a:p>
          <a:p>
            <a:pPr lvl="1"/>
            <a:r>
              <a:rPr lang="en-US" dirty="0" smtClean="0"/>
              <a:t>If X(t) is stationary </a:t>
            </a:r>
            <a:r>
              <a:rPr lang="en-US" dirty="0" smtClean="0">
                <a:sym typeface="Wingdings" pitchFamily="2" charset="2"/>
              </a:rPr>
              <a:t> X(t) is WSS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It is not true the other way around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Stationary is a much stricter condition. It requires the joint distribution of any combination of samples to be independent of the absolute starting time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WSS only considers the first moment (mean is a constant) and second order moment (autocorrelation function depends only on the time difference)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3276600"/>
            <a:ext cx="519646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1922" name="Object 2"/>
          <p:cNvGraphicFramePr>
            <a:graphicFrameLocks noChangeAspect="1"/>
          </p:cNvGraphicFramePr>
          <p:nvPr/>
        </p:nvGraphicFramePr>
        <p:xfrm>
          <a:off x="2819400" y="5105400"/>
          <a:ext cx="2674938" cy="331788"/>
        </p:xfrm>
        <a:graphic>
          <a:graphicData uri="http://schemas.openxmlformats.org/presentationml/2006/ole">
            <p:oleObj spid="_x0000_s81922" name="Equation" r:id="rId4" imgW="1726920" imgH="215640" progId="Equation.3">
              <p:embed/>
            </p:oleObj>
          </a:graphicData>
        </a:graphic>
      </p:graphicFrame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2819400" y="5638800"/>
          <a:ext cx="2397125" cy="331788"/>
        </p:xfrm>
        <a:graphic>
          <a:graphicData uri="http://schemas.openxmlformats.org/presentationml/2006/ole">
            <p:oleObj spid="_x0000_s81923" name="Equation" r:id="rId5" imgW="1549080" imgH="215640" progId="Equation.3">
              <p:embed/>
            </p:oleObj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random process is described by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	where A is a random variable uniformly distributed between [-3, 3], B is an RV with zero mean and variance 4, and     is a random variable uniformly distributed in                        . A, B, and      are independent. Find the mean and autocorrelation function. Is X(t) WSS?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  <p:graphicFrame>
        <p:nvGraphicFramePr>
          <p:cNvPr id="82946" name="Object 2"/>
          <p:cNvGraphicFramePr>
            <a:graphicFrameLocks noChangeAspect="1"/>
          </p:cNvGraphicFramePr>
          <p:nvPr/>
        </p:nvGraphicFramePr>
        <p:xfrm>
          <a:off x="2590800" y="1676400"/>
          <a:ext cx="2576512" cy="312738"/>
        </p:xfrm>
        <a:graphic>
          <a:graphicData uri="http://schemas.openxmlformats.org/presentationml/2006/ole">
            <p:oleObj spid="_x0000_s82946" name="Equation" r:id="rId3" imgW="1663560" imgH="203040" progId="Equation.3">
              <p:embed/>
            </p:oleObj>
          </a:graphicData>
        </a:graphic>
      </p:graphicFrame>
      <p:graphicFrame>
        <p:nvGraphicFramePr>
          <p:cNvPr id="82947" name="Object 3"/>
          <p:cNvGraphicFramePr>
            <a:graphicFrameLocks noChangeAspect="1"/>
          </p:cNvGraphicFramePr>
          <p:nvPr/>
        </p:nvGraphicFramePr>
        <p:xfrm>
          <a:off x="5334000" y="2590800"/>
          <a:ext cx="236537" cy="273050"/>
        </p:xfrm>
        <a:graphic>
          <a:graphicData uri="http://schemas.openxmlformats.org/presentationml/2006/ole">
            <p:oleObj spid="_x0000_s82947" name="Equation" r:id="rId4" imgW="152280" imgH="177480" progId="Equation.3">
              <p:embed/>
            </p:oleObj>
          </a:graphicData>
        </a:graphic>
      </p:graphicFrame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3657600" y="2819400"/>
          <a:ext cx="1339850" cy="311150"/>
        </p:xfrm>
        <a:graphic>
          <a:graphicData uri="http://schemas.openxmlformats.org/presentationml/2006/ole">
            <p:oleObj spid="_x0000_s82948" name="Equation" r:id="rId5" imgW="863280" imgH="203040" progId="Equation.3">
              <p:embed/>
            </p:oleObj>
          </a:graphicData>
        </a:graphic>
      </p:graphicFrame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6019800" y="2819400"/>
          <a:ext cx="236538" cy="273050"/>
        </p:xfrm>
        <a:graphic>
          <a:graphicData uri="http://schemas.openxmlformats.org/presentationml/2006/ole">
            <p:oleObj spid="_x0000_s82949" name="Equation" r:id="rId6" imgW="15228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229600" cy="5600700"/>
          </a:xfrm>
        </p:spPr>
        <p:txBody>
          <a:bodyPr/>
          <a:lstStyle/>
          <a:p>
            <a:r>
              <a:rPr lang="en-US" dirty="0" smtClean="0"/>
              <a:t>Autocorrelation function of a WSS random process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                                   is the average power of the signal X(t)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                                                                                             is an even function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                               </a:t>
            </a:r>
          </a:p>
          <a:p>
            <a:pPr lvl="2"/>
            <a:r>
              <a:rPr lang="en-US" dirty="0" smtClean="0"/>
              <a:t> Cauchy-Schwartz inequality </a:t>
            </a:r>
          </a:p>
          <a:p>
            <a:pPr lvl="1"/>
            <a:r>
              <a:rPr lang="en-US" dirty="0" smtClean="0"/>
              <a:t> If               is non-periodic, then</a:t>
            </a:r>
          </a:p>
          <a:p>
            <a:pPr lvl="2"/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83970" name="Object 2"/>
          <p:cNvGraphicFramePr>
            <a:graphicFrameLocks noChangeAspect="1"/>
          </p:cNvGraphicFramePr>
          <p:nvPr/>
        </p:nvGraphicFramePr>
        <p:xfrm>
          <a:off x="2667000" y="1447800"/>
          <a:ext cx="2397125" cy="331788"/>
        </p:xfrm>
        <a:graphic>
          <a:graphicData uri="http://schemas.openxmlformats.org/presentationml/2006/ole">
            <p:oleObj spid="_x0000_s83970" name="Equation" r:id="rId3" imgW="1549080" imgH="215640" progId="Equation.3">
              <p:embed/>
            </p:oleObj>
          </a:graphicData>
        </a:graphic>
      </p:graphicFrame>
      <p:graphicFrame>
        <p:nvGraphicFramePr>
          <p:cNvPr id="83971" name="Object 3"/>
          <p:cNvGraphicFramePr>
            <a:graphicFrameLocks noChangeAspect="1"/>
          </p:cNvGraphicFramePr>
          <p:nvPr/>
        </p:nvGraphicFramePr>
        <p:xfrm>
          <a:off x="1600200" y="2057400"/>
          <a:ext cx="1689100" cy="350838"/>
        </p:xfrm>
        <a:graphic>
          <a:graphicData uri="http://schemas.openxmlformats.org/presentationml/2006/ole">
            <p:oleObj spid="_x0000_s83971" name="Equation" r:id="rId4" imgW="1091880" imgH="228600" progId="Equation.3">
              <p:embed/>
            </p:oleObj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1600200" y="2667000"/>
          <a:ext cx="5106988" cy="331788"/>
        </p:xfrm>
        <a:graphic>
          <a:graphicData uri="http://schemas.openxmlformats.org/presentationml/2006/ole">
            <p:oleObj spid="_x0000_s83973" name="Equation" r:id="rId5" imgW="3301920" imgH="215640" progId="Equation.3">
              <p:embed/>
            </p:oleObj>
          </a:graphicData>
        </a:graphic>
      </p:graphicFrame>
      <p:graphicFrame>
        <p:nvGraphicFramePr>
          <p:cNvPr id="83974" name="Object 6"/>
          <p:cNvGraphicFramePr>
            <a:graphicFrameLocks noChangeAspect="1"/>
          </p:cNvGraphicFramePr>
          <p:nvPr/>
        </p:nvGraphicFramePr>
        <p:xfrm>
          <a:off x="1676400" y="3276600"/>
          <a:ext cx="1511300" cy="390525"/>
        </p:xfrm>
        <a:graphic>
          <a:graphicData uri="http://schemas.openxmlformats.org/presentationml/2006/ole">
            <p:oleObj spid="_x0000_s83974" name="Equation" r:id="rId6" imgW="977760" imgH="253800" progId="Equation.3">
              <p:embed/>
            </p:oleObj>
          </a:graphicData>
        </a:graphic>
      </p:graphicFrame>
      <p:pic>
        <p:nvPicPr>
          <p:cNvPr id="83976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24400" y="3657600"/>
            <a:ext cx="19240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1752600" y="4419600"/>
          <a:ext cx="1511300" cy="449263"/>
        </p:xfrm>
        <a:graphic>
          <a:graphicData uri="http://schemas.openxmlformats.org/presentationml/2006/ole">
            <p:oleObj spid="_x0000_s83976" name="Equation" r:id="rId8" imgW="977760" imgH="291960" progId="Equation.3">
              <p:embed/>
            </p:oleObj>
          </a:graphicData>
        </a:graphic>
      </p:graphicFrame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1828800" y="3962400"/>
          <a:ext cx="647700" cy="331787"/>
        </p:xfrm>
        <a:graphic>
          <a:graphicData uri="http://schemas.openxmlformats.org/presentationml/2006/ole">
            <p:oleObj spid="_x0000_s83977" name="Equation" r:id="rId9" imgW="419040" imgH="215640" progId="Equation.3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Exampl</a:t>
            </a:r>
            <a:endParaRPr lang="en-US" dirty="0" smtClean="0"/>
          </a:p>
          <a:p>
            <a:pPr lvl="1"/>
            <a:r>
              <a:rPr lang="en-US" dirty="0" smtClean="0"/>
              <a:t>Consider a random process having an autocorrelation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mean and variance of X(t)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2667000" y="1600200"/>
          <a:ext cx="1609725" cy="644525"/>
        </p:xfrm>
        <a:graphic>
          <a:graphicData uri="http://schemas.openxmlformats.org/presentationml/2006/ole">
            <p:oleObj spid="_x0000_s95234" name="Equation" r:id="rId3" imgW="104112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random process Z(t) is</a:t>
            </a:r>
          </a:p>
          <a:p>
            <a:pPr lvl="1"/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/>
              <a:t>Where X(t) is a WSS random process with autocorrelation function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/>
              <a:t>Find the autocorrelation function of Z(t). Is Z(t) WSS?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2362200" y="1752600"/>
          <a:ext cx="2200275" cy="350838"/>
        </p:xfrm>
        <a:graphic>
          <a:graphicData uri="http://schemas.openxmlformats.org/presentationml/2006/ole">
            <p:oleObj spid="_x0000_s84994" name="Equation" r:id="rId3" imgW="1422360" imgH="228600" progId="Equation.3">
              <p:embed/>
            </p:oleObj>
          </a:graphicData>
        </a:graphic>
      </p:graphicFrame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2667000" y="2743200"/>
          <a:ext cx="1728788" cy="350838"/>
        </p:xfrm>
        <a:graphic>
          <a:graphicData uri="http://schemas.openxmlformats.org/presentationml/2006/ole">
            <p:oleObj spid="_x0000_s84995" name="Equation" r:id="rId4" imgW="111744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STATIONARY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random process X(t) = At + B, where A is a Gaussian random variable with 0 mean and variance 16, and B is uniformly distributed between 0 and 6. A and B are independent. Find the mean and auto-</a:t>
            </a:r>
            <a:r>
              <a:rPr lang="en-US" dirty="0" err="1" smtClean="0"/>
              <a:t>corrleation</a:t>
            </a:r>
            <a:r>
              <a:rPr lang="en-US" dirty="0" smtClean="0"/>
              <a:t> function. Is it WSS?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random 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and non-</a:t>
            </a:r>
            <a:r>
              <a:rPr lang="en-US" altLang="zh-CN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RANDOM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random processes</a:t>
            </a:r>
          </a:p>
          <a:p>
            <a:pPr lvl="1"/>
            <a:r>
              <a:rPr lang="en-US" dirty="0" smtClean="0"/>
              <a:t>X(t) and Y(t)</a:t>
            </a:r>
          </a:p>
          <a:p>
            <a:r>
              <a:rPr lang="en-US" dirty="0" smtClean="0"/>
              <a:t>Cross-correlation function</a:t>
            </a:r>
          </a:p>
          <a:p>
            <a:pPr lvl="1"/>
            <a:r>
              <a:rPr lang="en-US" dirty="0" smtClean="0"/>
              <a:t>The cross-correlation function between two random processes X(t) and Y(t) is defined as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Two random processes are said to be </a:t>
            </a:r>
            <a:r>
              <a:rPr lang="en-US" dirty="0" smtClean="0">
                <a:solidFill>
                  <a:srgbClr val="000099"/>
                </a:solidFill>
              </a:rPr>
              <a:t>uncorrelated</a:t>
            </a:r>
            <a:r>
              <a:rPr lang="en-US" dirty="0" smtClean="0"/>
              <a:t> if  </a:t>
            </a:r>
            <a:r>
              <a:rPr lang="en-US" dirty="0" smtClean="0">
                <a:solidFill>
                  <a:srgbClr val="FF0000"/>
                </a:solidFill>
              </a:rPr>
              <a:t>for all     and 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Two random processes are said to be </a:t>
            </a:r>
            <a:r>
              <a:rPr lang="en-US" dirty="0" smtClean="0">
                <a:solidFill>
                  <a:srgbClr val="000099"/>
                </a:solidFill>
              </a:rPr>
              <a:t>orthogonal</a:t>
            </a:r>
            <a:r>
              <a:rPr lang="en-US" dirty="0" smtClean="0"/>
              <a:t> if </a:t>
            </a:r>
            <a:r>
              <a:rPr lang="en-US" dirty="0" smtClean="0">
                <a:solidFill>
                  <a:srgbClr val="FF0000"/>
                </a:solidFill>
              </a:rPr>
              <a:t>for all     and </a:t>
            </a:r>
          </a:p>
          <a:p>
            <a:pPr lvl="1"/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Cross-covariance function</a:t>
            </a:r>
          </a:p>
          <a:p>
            <a:pPr lvl="1"/>
            <a:r>
              <a:rPr lang="en-US" dirty="0" smtClean="0"/>
              <a:t>The cross-covariance function between two random processes X(t) and Y(t) is defined as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graphicFrame>
        <p:nvGraphicFramePr>
          <p:cNvPr id="65538" name="Object 2"/>
          <p:cNvGraphicFramePr>
            <a:graphicFrameLocks noChangeAspect="1"/>
          </p:cNvGraphicFramePr>
          <p:nvPr/>
        </p:nvGraphicFramePr>
        <p:xfrm>
          <a:off x="3076575" y="2514600"/>
          <a:ext cx="2513013" cy="331788"/>
        </p:xfrm>
        <a:graphic>
          <a:graphicData uri="http://schemas.openxmlformats.org/presentationml/2006/ole">
            <p:oleObj spid="_x0000_s96258" name="Equation" r:id="rId3" imgW="1625400" imgH="215640" progId="Equation.3">
              <p:embed/>
            </p:oleObj>
          </a:graphicData>
        </a:graphic>
      </p:graphicFrame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2286000" y="3352800"/>
          <a:ext cx="3219450" cy="331788"/>
        </p:xfrm>
        <a:graphic>
          <a:graphicData uri="http://schemas.openxmlformats.org/presentationml/2006/ole">
            <p:oleObj spid="_x0000_s96259" name="Equation" r:id="rId4" imgW="2082600" imgH="215640" progId="Equation.3">
              <p:embed/>
            </p:oleObj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6934200" y="2895600"/>
          <a:ext cx="196850" cy="331788"/>
        </p:xfrm>
        <a:graphic>
          <a:graphicData uri="http://schemas.openxmlformats.org/presentationml/2006/ole">
            <p:oleObj spid="_x0000_s96260" name="Equation" r:id="rId5" imgW="126720" imgH="215640" progId="Equation.3">
              <p:embed/>
            </p:oleObj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7543800" y="2895600"/>
          <a:ext cx="215900" cy="331788"/>
        </p:xfrm>
        <a:graphic>
          <a:graphicData uri="http://schemas.openxmlformats.org/presentationml/2006/ole">
            <p:oleObj spid="_x0000_s96261" name="Equation" r:id="rId6" imgW="139680" imgH="215640" progId="Equation.3">
              <p:embed/>
            </p:oleObj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6705600" y="3886200"/>
          <a:ext cx="196850" cy="331788"/>
        </p:xfrm>
        <a:graphic>
          <a:graphicData uri="http://schemas.openxmlformats.org/presentationml/2006/ole">
            <p:oleObj spid="_x0000_s96262" name="Equation" r:id="rId7" imgW="126720" imgH="215640" progId="Equation.3">
              <p:embed/>
            </p:oleObj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7315200" y="3886200"/>
          <a:ext cx="215900" cy="331788"/>
        </p:xfrm>
        <a:graphic>
          <a:graphicData uri="http://schemas.openxmlformats.org/presentationml/2006/ole">
            <p:oleObj spid="_x0000_s96263" name="Equation" r:id="rId8" imgW="139680" imgH="215640" progId="Equation.3">
              <p:embed/>
            </p:oleObj>
          </a:graphicData>
        </a:graphic>
      </p:graphicFrame>
      <p:graphicFrame>
        <p:nvGraphicFramePr>
          <p:cNvPr id="65544" name="Object 8"/>
          <p:cNvGraphicFramePr>
            <a:graphicFrameLocks noChangeAspect="1"/>
          </p:cNvGraphicFramePr>
          <p:nvPr/>
        </p:nvGraphicFramePr>
        <p:xfrm>
          <a:off x="3505200" y="4267200"/>
          <a:ext cx="1335087" cy="331788"/>
        </p:xfrm>
        <a:graphic>
          <a:graphicData uri="http://schemas.openxmlformats.org/presentationml/2006/ole">
            <p:oleObj spid="_x0000_s96264" name="Equation" r:id="rId9" imgW="863280" imgH="215640" progId="Equation.3">
              <p:embed/>
            </p:oleObj>
          </a:graphicData>
        </a:graphic>
      </p:graphicFrame>
      <p:graphicFrame>
        <p:nvGraphicFramePr>
          <p:cNvPr id="65545" name="Object 9"/>
          <p:cNvGraphicFramePr>
            <a:graphicFrameLocks noChangeAspect="1"/>
          </p:cNvGraphicFramePr>
          <p:nvPr/>
        </p:nvGraphicFramePr>
        <p:xfrm>
          <a:off x="2362200" y="5562600"/>
          <a:ext cx="3984625" cy="331788"/>
        </p:xfrm>
        <a:graphic>
          <a:graphicData uri="http://schemas.openxmlformats.org/presentationml/2006/ole">
            <p:oleObj spid="_x0000_s96265" name="Equation" r:id="rId10" imgW="2577960" imgH="215640" progId="Equation.3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RANDOM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 Consider two random processes                                       and</a:t>
            </a:r>
          </a:p>
          <a:p>
            <a:pPr lvl="1">
              <a:buNone/>
            </a:pPr>
            <a:r>
              <a:rPr lang="en-US" dirty="0" smtClean="0"/>
              <a:t>	                                    . Are they uncorrelated?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4572000" y="1295400"/>
          <a:ext cx="2003425" cy="312738"/>
        </p:xfrm>
        <a:graphic>
          <a:graphicData uri="http://schemas.openxmlformats.org/presentationml/2006/ole">
            <p:oleObj spid="_x0000_s97282" name="Equation" r:id="rId4" imgW="1295280" imgH="203040" progId="Equation.3">
              <p:embed/>
            </p:oleObj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1562100" y="1600200"/>
          <a:ext cx="1925638" cy="312738"/>
        </p:xfrm>
        <a:graphic>
          <a:graphicData uri="http://schemas.openxmlformats.org/presentationml/2006/ole">
            <p:oleObj spid="_x0000_s97283" name="Equation" r:id="rId5" imgW="1244520" imgH="203040" progId="Equation.3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RANDOM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Suppose signal Y(t) consists a desired signal X(t) plus noise N(t) as</a:t>
            </a:r>
          </a:p>
          <a:p>
            <a:pPr lvl="1">
              <a:buNone/>
            </a:pPr>
            <a:r>
              <a:rPr lang="en-US" dirty="0" smtClean="0"/>
              <a:t>	Y(t) = X(t) + N(t)</a:t>
            </a:r>
          </a:p>
          <a:p>
            <a:pPr lvl="1">
              <a:buNone/>
            </a:pPr>
            <a:r>
              <a:rPr lang="en-US" dirty="0" smtClean="0"/>
              <a:t>	The autocorrelation functions of X(t) and N(t) are:                   and                    , respectively. The mean function of X(t) and N(t) are:            and            , respectively. Find the cross-correlation between X(t) and Y(t).    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6096000" y="1905000"/>
          <a:ext cx="982662" cy="331788"/>
        </p:xfrm>
        <a:graphic>
          <a:graphicData uri="http://schemas.openxmlformats.org/presentationml/2006/ole">
            <p:oleObj spid="_x0000_s98306" name="Equation" r:id="rId3" imgW="634680" imgH="215640" progId="Equation.3">
              <p:embed/>
            </p:oleObj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7543800" y="1895475"/>
          <a:ext cx="982663" cy="350838"/>
        </p:xfrm>
        <a:graphic>
          <a:graphicData uri="http://schemas.openxmlformats.org/presentationml/2006/ole">
            <p:oleObj spid="_x0000_s98307" name="Equation" r:id="rId4" imgW="634680" imgH="228600" progId="Equation.3">
              <p:embed/>
            </p:oleObj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6400800" y="2209800"/>
          <a:ext cx="628650" cy="331788"/>
        </p:xfrm>
        <a:graphic>
          <a:graphicData uri="http://schemas.openxmlformats.org/presentationml/2006/ole">
            <p:oleObj spid="_x0000_s98308" name="Equation" r:id="rId5" imgW="406080" imgH="215640" progId="Equation.3">
              <p:embed/>
            </p:oleObj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7467600" y="2200275"/>
          <a:ext cx="628650" cy="350838"/>
        </p:xfrm>
        <a:graphic>
          <a:graphicData uri="http://schemas.openxmlformats.org/presentationml/2006/ole">
            <p:oleObj spid="_x0000_s98309" name="Equation" r:id="rId6" imgW="406080" imgH="228600" progId="Equation.3">
              <p:embed/>
            </p:oleObj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random 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err="1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and non-</a:t>
            </a:r>
            <a:r>
              <a:rPr lang="en-US" altLang="zh-CN" b="1" dirty="0" err="1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 average of a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Time average of a sample function of the random process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Ensemble average (mean) of a random process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86018" name="Object 2"/>
          <p:cNvGraphicFramePr>
            <a:graphicFrameLocks noChangeAspect="1"/>
          </p:cNvGraphicFramePr>
          <p:nvPr/>
        </p:nvGraphicFramePr>
        <p:xfrm>
          <a:off x="2590800" y="1295400"/>
          <a:ext cx="1885950" cy="603250"/>
        </p:xfrm>
        <a:graphic>
          <a:graphicData uri="http://schemas.openxmlformats.org/presentationml/2006/ole">
            <p:oleObj spid="_x0000_s86018" name="Equation" r:id="rId3" imgW="1218960" imgH="393480" progId="Equation.3">
              <p:embed/>
            </p:oleObj>
          </a:graphicData>
        </a:graphic>
      </p:graphicFrame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7427913" y="2038350"/>
          <a:ext cx="1416050" cy="350838"/>
        </p:xfrm>
        <a:graphic>
          <a:graphicData uri="http://schemas.openxmlformats.org/presentationml/2006/ole">
            <p:oleObj spid="_x0000_s86019" name="Equation" r:id="rId4" imgW="914400" imgH="228600" progId="Equation.3">
              <p:embed/>
            </p:oleObj>
          </a:graphicData>
        </a:graphic>
      </p:graphicFrame>
      <p:graphicFrame>
        <p:nvGraphicFramePr>
          <p:cNvPr id="86020" name="Object 4"/>
          <p:cNvGraphicFramePr>
            <a:graphicFrameLocks noChangeAspect="1"/>
          </p:cNvGraphicFramePr>
          <p:nvPr/>
        </p:nvGraphicFramePr>
        <p:xfrm>
          <a:off x="2514600" y="2514600"/>
          <a:ext cx="2611438" cy="603250"/>
        </p:xfrm>
        <a:graphic>
          <a:graphicData uri="http://schemas.openxmlformats.org/presentationml/2006/ole">
            <p:oleObj spid="_x0000_s86020" name="Equation" r:id="rId5" imgW="1688760" imgH="393480" progId="Equation.3">
              <p:embed/>
            </p:oleObj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/>
        </p:nvGraphicFramePr>
        <p:xfrm>
          <a:off x="6400800" y="3124200"/>
          <a:ext cx="806450" cy="350838"/>
        </p:xfrm>
        <a:graphic>
          <a:graphicData uri="http://schemas.openxmlformats.org/presentationml/2006/ole">
            <p:oleObj spid="_x0000_s86021" name="Equation" r:id="rId6" imgW="520560" imgH="228600" progId="Equation.3">
              <p:embed/>
            </p:oleObj>
          </a:graphicData>
        </a:graphic>
      </p:graphicFrame>
      <p:graphicFrame>
        <p:nvGraphicFramePr>
          <p:cNvPr id="86022" name="Object 6"/>
          <p:cNvGraphicFramePr>
            <a:graphicFrameLocks noChangeAspect="1"/>
          </p:cNvGraphicFramePr>
          <p:nvPr/>
        </p:nvGraphicFramePr>
        <p:xfrm>
          <a:off x="2514600" y="3657600"/>
          <a:ext cx="2714625" cy="506412"/>
        </p:xfrm>
        <a:graphic>
          <a:graphicData uri="http://schemas.openxmlformats.org/presentationml/2006/ole">
            <p:oleObj spid="_x0000_s86022" name="Equation" r:id="rId7" imgW="1752480" imgH="330120" progId="Equation.3">
              <p:embed/>
            </p:oleObj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657600" y="4343400"/>
            <a:ext cx="2373658" cy="1969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10"/>
          <p:cNvGrpSpPr/>
          <p:nvPr/>
        </p:nvGrpSpPr>
        <p:grpSpPr>
          <a:xfrm>
            <a:off x="2743202" y="4545435"/>
            <a:ext cx="306902" cy="1668272"/>
            <a:chOff x="1371601" y="3124994"/>
            <a:chExt cx="534193" cy="3124200"/>
          </a:xfrm>
        </p:grpSpPr>
        <p:cxnSp>
          <p:nvCxnSpPr>
            <p:cNvPr id="12" name="Straight Arrow Connector 11"/>
            <p:cNvCxnSpPr/>
            <p:nvPr/>
          </p:nvCxnSpPr>
          <p:spPr>
            <a:xfrm rot="5400000" flipH="1" flipV="1">
              <a:off x="342900" y="4686300"/>
              <a:ext cx="3124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 rot="16200000">
              <a:off x="623960" y="4557640"/>
              <a:ext cx="18646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Ensemble domain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10000" y="6461227"/>
            <a:ext cx="2451567" cy="197218"/>
            <a:chOff x="2438400" y="6324600"/>
            <a:chExt cx="4267200" cy="369332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2438400" y="6324600"/>
              <a:ext cx="42672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657600" y="6324600"/>
              <a:ext cx="1380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time domain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Ergodic</a:t>
            </a:r>
            <a:r>
              <a:rPr lang="en-US" dirty="0" smtClean="0"/>
              <a:t> random process</a:t>
            </a:r>
          </a:p>
          <a:p>
            <a:pPr lvl="1"/>
            <a:r>
              <a:rPr lang="en-US" dirty="0" smtClean="0"/>
              <a:t>A stationary random process is also an </a:t>
            </a:r>
            <a:r>
              <a:rPr lang="en-US" dirty="0" err="1" smtClean="0"/>
              <a:t>ergodic</a:t>
            </a:r>
            <a:r>
              <a:rPr lang="en-US" dirty="0" smtClean="0"/>
              <a:t> random process if the n-</a:t>
            </a:r>
            <a:r>
              <a:rPr lang="en-US" dirty="0" err="1" smtClean="0"/>
              <a:t>th</a:t>
            </a:r>
            <a:r>
              <a:rPr lang="en-US" dirty="0" smtClean="0"/>
              <a:t> order </a:t>
            </a:r>
            <a:r>
              <a:rPr lang="en-US" dirty="0" smtClean="0">
                <a:solidFill>
                  <a:srgbClr val="FF0000"/>
                </a:solidFill>
              </a:rPr>
              <a:t>ensemble average </a:t>
            </a:r>
            <a:r>
              <a:rPr lang="en-US" dirty="0" smtClean="0"/>
              <a:t>is the same as the n-</a:t>
            </a:r>
            <a:r>
              <a:rPr lang="en-US" dirty="0" err="1" smtClean="0"/>
              <a:t>th</a:t>
            </a:r>
            <a:r>
              <a:rPr lang="en-US" dirty="0" smtClean="0"/>
              <a:t> order </a:t>
            </a:r>
            <a:r>
              <a:rPr lang="en-US" dirty="0" smtClean="0">
                <a:solidFill>
                  <a:srgbClr val="FF0000"/>
                </a:solidFill>
              </a:rPr>
              <a:t>time average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If a random process is </a:t>
            </a:r>
            <a:r>
              <a:rPr lang="en-US" dirty="0" err="1" smtClean="0"/>
              <a:t>ergodic</a:t>
            </a:r>
            <a:r>
              <a:rPr lang="en-US" dirty="0" smtClean="0"/>
              <a:t>, we can find the moments by performing time average over a single sample function.</a:t>
            </a:r>
          </a:p>
          <a:p>
            <a:pPr lvl="1"/>
            <a:r>
              <a:rPr lang="en-US" dirty="0" err="1" smtClean="0"/>
              <a:t>Ergodic</a:t>
            </a:r>
            <a:r>
              <a:rPr lang="en-US" dirty="0" smtClean="0"/>
              <a:t> is only defined for stationary random process</a:t>
            </a:r>
          </a:p>
          <a:p>
            <a:pPr lvl="2"/>
            <a:r>
              <a:rPr lang="en-US" dirty="0" smtClean="0"/>
              <a:t>If a random process is </a:t>
            </a:r>
            <a:r>
              <a:rPr lang="en-US" dirty="0" err="1" smtClean="0"/>
              <a:t>ergodic</a:t>
            </a:r>
            <a:r>
              <a:rPr lang="en-US" dirty="0" smtClean="0"/>
              <a:t> , then it must be stationary</a:t>
            </a:r>
          </a:p>
          <a:p>
            <a:pPr lvl="3"/>
            <a:r>
              <a:rPr lang="en-US" dirty="0" smtClean="0"/>
              <a:t>Not </a:t>
            </a:r>
            <a:r>
              <a:rPr lang="en-US" dirty="0" err="1" smtClean="0"/>
              <a:t>ture</a:t>
            </a:r>
            <a:r>
              <a:rPr lang="en-US" dirty="0" smtClean="0"/>
              <a:t> the other way around</a:t>
            </a:r>
          </a:p>
          <a:p>
            <a:pPr lvl="3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2819400" y="2743200"/>
          <a:ext cx="2436813" cy="603250"/>
        </p:xfrm>
        <a:graphic>
          <a:graphicData uri="http://schemas.openxmlformats.org/presentationml/2006/ole">
            <p:oleObj spid="_x0000_s87042" name="Equation" r:id="rId3" imgW="1574640" imgH="393480" progId="Equation.3">
              <p:embed/>
            </p:oleObj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2895600" y="3505200"/>
          <a:ext cx="2593975" cy="506413"/>
        </p:xfrm>
        <a:graphic>
          <a:graphicData uri="http://schemas.openxmlformats.org/presentationml/2006/ole">
            <p:oleObj spid="_x0000_s87043" name="Equation" r:id="rId4" imgW="1676160" imgH="330120" progId="Equation.3">
              <p:embed/>
            </p:oleObj>
          </a:graphicData>
        </a:graphic>
      </p:graphicFrame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2895600" y="2133600"/>
          <a:ext cx="1846263" cy="427037"/>
        </p:xfrm>
        <a:graphic>
          <a:graphicData uri="http://schemas.openxmlformats.org/presentationml/2006/ole">
            <p:oleObj spid="_x0000_s87044" name="Equation" r:id="rId5" imgW="119376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</a:t>
            </a:r>
            <a:r>
              <a:rPr lang="en-US" dirty="0" smtClean="0"/>
              <a:t>process </a:t>
            </a:r>
            <a:endParaRPr lang="en-US" dirty="0" smtClean="0"/>
          </a:p>
          <a:p>
            <a:pPr lvl="1">
              <a:buNone/>
            </a:pPr>
            <a:r>
              <a:rPr lang="en-US" dirty="0" smtClean="0"/>
              <a:t>	where A </a:t>
            </a:r>
            <a:r>
              <a:rPr lang="en-US" dirty="0" smtClean="0"/>
              <a:t>is </a:t>
            </a:r>
            <a:r>
              <a:rPr lang="en-US" dirty="0" smtClean="0"/>
              <a:t>a Gaussian RV with 0 mean and variance 4. </a:t>
            </a:r>
            <a:r>
              <a:rPr lang="en-US" dirty="0" smtClean="0"/>
              <a:t>Is it </a:t>
            </a:r>
            <a:r>
              <a:rPr lang="en-US" dirty="0" err="1" smtClean="0"/>
              <a:t>ergodic</a:t>
            </a:r>
            <a:r>
              <a:rPr lang="en-US" dirty="0" smtClean="0"/>
              <a:t>?  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graphicFrame>
        <p:nvGraphicFramePr>
          <p:cNvPr id="88070" name="Object 6"/>
          <p:cNvGraphicFramePr>
            <a:graphicFrameLocks noChangeAspect="1"/>
          </p:cNvGraphicFramePr>
          <p:nvPr/>
        </p:nvGraphicFramePr>
        <p:xfrm>
          <a:off x="4191000" y="1295400"/>
          <a:ext cx="923925" cy="312738"/>
        </p:xfrm>
        <a:graphic>
          <a:graphicData uri="http://schemas.openxmlformats.org/presentationml/2006/ole">
            <p:oleObj spid="_x0000_s88070" name="Equation" r:id="rId3" imgW="596880" imgH="203040" progId="Equation.3">
              <p:embed/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WSS</a:t>
            </a:r>
            <a:r>
              <a:rPr lang="en-US" dirty="0" smtClean="0"/>
              <a:t> random process is </a:t>
            </a:r>
            <a:r>
              <a:rPr lang="en-US" dirty="0" smtClean="0">
                <a:solidFill>
                  <a:srgbClr val="FF0000"/>
                </a:solidFill>
              </a:rPr>
              <a:t>mean </a:t>
            </a:r>
            <a:r>
              <a:rPr lang="en-US" dirty="0" err="1" smtClean="0">
                <a:solidFill>
                  <a:srgbClr val="FF0000"/>
                </a:solidFill>
              </a:rPr>
              <a:t>ergodic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if the </a:t>
            </a:r>
            <a:r>
              <a:rPr lang="en-US" dirty="0" smtClean="0">
                <a:solidFill>
                  <a:srgbClr val="FF0000"/>
                </a:solidFill>
              </a:rPr>
              <a:t>ensemble average </a:t>
            </a:r>
            <a:r>
              <a:rPr lang="en-US" dirty="0" smtClean="0"/>
              <a:t>is the same as the </a:t>
            </a:r>
            <a:r>
              <a:rPr lang="en-US" dirty="0" smtClean="0">
                <a:solidFill>
                  <a:srgbClr val="FF0000"/>
                </a:solidFill>
              </a:rPr>
              <a:t>time average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r>
              <a:rPr lang="en-US" dirty="0" smtClean="0"/>
              <a:t> </a:t>
            </a:r>
            <a:r>
              <a:rPr lang="en-US" dirty="0" err="1" smtClean="0"/>
              <a:t>v.s</a:t>
            </a:r>
            <a:r>
              <a:rPr lang="en-US" dirty="0" smtClean="0"/>
              <a:t>. </a:t>
            </a:r>
            <a:r>
              <a:rPr lang="en-US" dirty="0" err="1" smtClean="0"/>
              <a:t>ergodic</a:t>
            </a:r>
            <a:endParaRPr lang="en-US" dirty="0" smtClean="0"/>
          </a:p>
          <a:p>
            <a:pPr lvl="2"/>
            <a:r>
              <a:rPr lang="en-US" dirty="0" err="1" smtClean="0"/>
              <a:t>Ergodic</a:t>
            </a:r>
            <a:r>
              <a:rPr lang="en-US" dirty="0" smtClean="0"/>
              <a:t>:                                                for stationary process </a:t>
            </a:r>
          </a:p>
          <a:p>
            <a:pPr lvl="2"/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r>
              <a:rPr lang="en-US" dirty="0" smtClean="0"/>
              <a:t>:                                       for WSS process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If a random process is </a:t>
            </a:r>
            <a:r>
              <a:rPr lang="en-US" dirty="0" err="1" smtClean="0"/>
              <a:t>ergodic</a:t>
            </a:r>
            <a:r>
              <a:rPr lang="en-US" dirty="0" smtClean="0"/>
              <a:t>, then it must be mean </a:t>
            </a:r>
            <a:r>
              <a:rPr lang="en-US" dirty="0" err="1" smtClean="0"/>
              <a:t>ergodic</a:t>
            </a:r>
            <a:endParaRPr lang="en-US" dirty="0" smtClean="0"/>
          </a:p>
          <a:p>
            <a:pPr lvl="3"/>
            <a:r>
              <a:rPr lang="en-US" dirty="0" smtClean="0"/>
              <a:t>Not true the other way around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If a process is mean </a:t>
            </a:r>
            <a:r>
              <a:rPr lang="en-US" dirty="0" err="1" smtClean="0"/>
              <a:t>ergodic</a:t>
            </a:r>
            <a:r>
              <a:rPr lang="en-US" dirty="0" smtClean="0"/>
              <a:t>, it must be WSS</a:t>
            </a:r>
          </a:p>
          <a:p>
            <a:pPr lvl="2"/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r>
              <a:rPr lang="en-US" dirty="0" smtClean="0"/>
              <a:t> is defined for WSS process only.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39</a:t>
            </a:fld>
            <a:endParaRPr lang="en-US" altLang="zh-CN" dirty="0" smtClean="0"/>
          </a:p>
        </p:txBody>
      </p:sp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3048000" y="2133600"/>
          <a:ext cx="1649413" cy="387350"/>
        </p:xfrm>
        <a:graphic>
          <a:graphicData uri="http://schemas.openxmlformats.org/presentationml/2006/ole">
            <p:oleObj spid="_x0000_s89090" name="Equation" r:id="rId3" imgW="1066680" imgH="253800" progId="Equation.3">
              <p:embed/>
            </p:oleObj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3581400" y="3200400"/>
          <a:ext cx="1600200" cy="368300"/>
        </p:xfrm>
        <a:graphic>
          <a:graphicData uri="http://schemas.openxmlformats.org/presentationml/2006/ole">
            <p:oleObj spid="_x0000_s89091" name="Equation" r:id="rId4" imgW="1193760" imgH="279360" progId="Equation.3">
              <p:embed/>
            </p:oleObj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3657600" y="3581400"/>
          <a:ext cx="1447800" cy="340003"/>
        </p:xfrm>
        <a:graphic>
          <a:graphicData uri="http://schemas.openxmlformats.org/presentationml/2006/ole">
            <p:oleObj spid="_x0000_s89092" name="Equation" r:id="rId5" imgW="1066680" imgH="253800" progId="Equation.3">
              <p:embed/>
            </p:oleObj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ERGODIC RANDOM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process</a:t>
            </a:r>
          </a:p>
          <a:p>
            <a:pPr lvl="1">
              <a:buNone/>
            </a:pPr>
            <a:r>
              <a:rPr lang="en-US" dirty="0" smtClean="0"/>
              <a:t>	where A is a non-zero constant, and       is uniformly distributed between 0 and      . </a:t>
            </a:r>
            <a:r>
              <a:rPr lang="en-US" smtClean="0"/>
              <a:t>Is it </a:t>
            </a:r>
            <a:r>
              <a:rPr lang="en-US" dirty="0" smtClean="0"/>
              <a:t>mean </a:t>
            </a:r>
            <a:r>
              <a:rPr lang="en-US" dirty="0" err="1" smtClean="0"/>
              <a:t>ergodic</a:t>
            </a:r>
            <a:r>
              <a:rPr lang="en-US" dirty="0" smtClean="0"/>
              <a:t>?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40</a:t>
            </a:fld>
            <a:endParaRPr lang="en-US" altLang="zh-CN" dirty="0" smtClean="0"/>
          </a:p>
        </p:txBody>
      </p:sp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4181475" y="1295400"/>
          <a:ext cx="2200275" cy="311150"/>
        </p:xfrm>
        <a:graphic>
          <a:graphicData uri="http://schemas.openxmlformats.org/presentationml/2006/ole">
            <p:oleObj spid="_x0000_s90114" name="Equation" r:id="rId3" imgW="1422360" imgH="203040" progId="Equation.3">
              <p:embed/>
            </p:oleObj>
          </a:graphicData>
        </a:graphic>
      </p:graphicFrame>
      <p:graphicFrame>
        <p:nvGraphicFramePr>
          <p:cNvPr id="90115" name="Object 3"/>
          <p:cNvGraphicFramePr>
            <a:graphicFrameLocks noChangeAspect="1"/>
          </p:cNvGraphicFramePr>
          <p:nvPr/>
        </p:nvGraphicFramePr>
        <p:xfrm>
          <a:off x="4800600" y="1600200"/>
          <a:ext cx="236538" cy="273050"/>
        </p:xfrm>
        <a:graphic>
          <a:graphicData uri="http://schemas.openxmlformats.org/presentationml/2006/ole">
            <p:oleObj spid="_x0000_s90115" name="Equation" r:id="rId4" imgW="152280" imgH="177480" progId="Equation.3">
              <p:embed/>
            </p:oleObj>
          </a:graphicData>
        </a:graphic>
      </p:graphicFrame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1914525" y="1933575"/>
          <a:ext cx="217488" cy="214313"/>
        </p:xfrm>
        <a:graphic>
          <a:graphicData uri="http://schemas.openxmlformats.org/presentationml/2006/ole">
            <p:oleObj spid="_x0000_s90116" name="Equation" r:id="rId5" imgW="139680" imgH="139680" progId="Equation.3">
              <p:embed/>
            </p:oleObj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41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Definition of random 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noProof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Description of random process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Stationary and non-stationary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random processes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and non-</a:t>
            </a:r>
            <a:r>
              <a:rPr lang="en-US" altLang="zh-CN" b="1" dirty="0" err="1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ergodic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process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Power Spectral Density</a:t>
            </a: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SPECTRAL DENSITY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Power spectral density (PSD)</a:t>
            </a:r>
          </a:p>
          <a:p>
            <a:pPr lvl="1"/>
            <a:r>
              <a:rPr lang="en-US" dirty="0" smtClean="0"/>
              <a:t>The distribution of the power in the frequency domain.</a:t>
            </a:r>
          </a:p>
          <a:p>
            <a:pPr lvl="1"/>
            <a:r>
              <a:rPr lang="en-US" dirty="0" smtClean="0"/>
              <a:t>For a WSS random process, the PSD is the Fourier transform of the auto-correlation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“density” of power in the frequency domain.</a:t>
            </a:r>
          </a:p>
          <a:p>
            <a:pPr lvl="1"/>
            <a:r>
              <a:rPr lang="en-US" dirty="0" smtClean="0"/>
              <a:t>The power consumption between the frequency range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42</a:t>
            </a:fld>
            <a:endParaRPr lang="en-US" altLang="zh-CN" dirty="0" smtClean="0"/>
          </a:p>
        </p:txBody>
      </p:sp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3059113" y="2362200"/>
          <a:ext cx="2044700" cy="381000"/>
        </p:xfrm>
        <a:graphic>
          <a:graphicData uri="http://schemas.openxmlformats.org/presentationml/2006/ole">
            <p:oleObj spid="_x0000_s103426" name="Equation" r:id="rId3" imgW="1168200" imgH="215640" progId="Equation.3">
              <p:embed/>
            </p:oleObj>
          </a:graphicData>
        </a:graphic>
      </p:graphicFrame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6553200" y="3581400"/>
          <a:ext cx="733425" cy="314325"/>
        </p:xfrm>
        <a:graphic>
          <a:graphicData uri="http://schemas.openxmlformats.org/presentationml/2006/ole">
            <p:oleObj spid="_x0000_s103428" name="Equation" r:id="rId4" imgW="507960" imgH="215640" progId="Equation.3">
              <p:embed/>
            </p:oleObj>
          </a:graphicData>
        </a:graphic>
      </p:graphicFrame>
      <p:graphicFrame>
        <p:nvGraphicFramePr>
          <p:cNvPr id="103429" name="Object 5"/>
          <p:cNvGraphicFramePr>
            <a:graphicFrameLocks noChangeAspect="1"/>
          </p:cNvGraphicFramePr>
          <p:nvPr/>
        </p:nvGraphicFramePr>
        <p:xfrm>
          <a:off x="2982913" y="3962400"/>
          <a:ext cx="1822450" cy="627063"/>
        </p:xfrm>
        <a:graphic>
          <a:graphicData uri="http://schemas.openxmlformats.org/presentationml/2006/ole">
            <p:oleObj spid="_x0000_s103429" name="Equation" r:id="rId5" imgW="1041120" imgH="355320" progId="Equation.3">
              <p:embed/>
            </p:oleObj>
          </a:graphicData>
        </a:graphic>
      </p:graphicFrame>
      <p:pic>
        <p:nvPicPr>
          <p:cNvPr id="1034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05400" y="4267200"/>
            <a:ext cx="3505200" cy="219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SPECTRAL DENSITY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White noise</a:t>
            </a:r>
          </a:p>
          <a:p>
            <a:pPr lvl="1"/>
            <a:r>
              <a:rPr lang="en-US" dirty="0" smtClean="0"/>
              <a:t>Autocorrelation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 </a:t>
            </a:r>
            <a:r>
              <a:rPr lang="en-US" dirty="0" smtClean="0"/>
              <a:t>any two samples in the time domain are uncorrelated.</a:t>
            </a:r>
          </a:p>
          <a:p>
            <a:pPr lvl="1"/>
            <a:r>
              <a:rPr lang="en-US" dirty="0" smtClean="0"/>
              <a:t>Power spectral density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43</a:t>
            </a:fld>
            <a:endParaRPr lang="en-US" altLang="zh-CN" dirty="0" smtClean="0"/>
          </a:p>
        </p:txBody>
      </p:sp>
      <p:graphicFrame>
        <p:nvGraphicFramePr>
          <p:cNvPr id="104450" name="Object 8"/>
          <p:cNvGraphicFramePr>
            <a:graphicFrameLocks noChangeAspect="1"/>
          </p:cNvGraphicFramePr>
          <p:nvPr/>
        </p:nvGraphicFramePr>
        <p:xfrm>
          <a:off x="3200400" y="1600200"/>
          <a:ext cx="1976437" cy="754062"/>
        </p:xfrm>
        <a:graphic>
          <a:graphicData uri="http://schemas.openxmlformats.org/presentationml/2006/ole">
            <p:oleObj spid="_x0000_s104450" name="Equation" r:id="rId3" imgW="1028520" imgH="393480" progId="Equation.3">
              <p:embed/>
            </p:oleObj>
          </a:graphicData>
        </a:graphic>
      </p:graphicFrame>
      <p:graphicFrame>
        <p:nvGraphicFramePr>
          <p:cNvPr id="104451" name="Object 9"/>
          <p:cNvGraphicFramePr>
            <a:graphicFrameLocks noChangeAspect="1"/>
          </p:cNvGraphicFramePr>
          <p:nvPr/>
        </p:nvGraphicFramePr>
        <p:xfrm>
          <a:off x="2743200" y="3048000"/>
          <a:ext cx="3367087" cy="754062"/>
        </p:xfrm>
        <a:graphic>
          <a:graphicData uri="http://schemas.openxmlformats.org/presentationml/2006/ole">
            <p:oleObj spid="_x0000_s104451" name="Equation" r:id="rId4" imgW="1752480" imgH="393480" progId="Equation.3">
              <p:embed/>
            </p:oleObj>
          </a:graphicData>
        </a:graphic>
      </p:graphicFrame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5743575" y="6076950"/>
            <a:ext cx="3152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V="1">
            <a:off x="7200900" y="459105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6727825" y="5075238"/>
            <a:ext cx="4635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rgbClr val="000099"/>
                </a:solidFill>
                <a:ea typeface="宋体" pitchFamily="2" charset="-122"/>
              </a:rPr>
              <a:t>N</a:t>
            </a:r>
            <a:r>
              <a:rPr lang="en-US" altLang="zh-CN" sz="800">
                <a:solidFill>
                  <a:srgbClr val="000099"/>
                </a:solidFill>
                <a:ea typeface="宋体" pitchFamily="2" charset="-122"/>
              </a:rPr>
              <a:t>0</a:t>
            </a:r>
            <a:r>
              <a:rPr lang="en-US" altLang="zh-CN" sz="1200">
                <a:solidFill>
                  <a:srgbClr val="000099"/>
                </a:solidFill>
                <a:ea typeface="宋体" pitchFamily="2" charset="-122"/>
              </a:rPr>
              <a:t>/2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8680450" y="5764213"/>
            <a:ext cx="2428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400" i="1">
                <a:ea typeface="宋体" pitchFamily="2" charset="-122"/>
              </a:rPr>
              <a:t>f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5838825" y="5314950"/>
            <a:ext cx="2714625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6461125" y="4589463"/>
          <a:ext cx="612775" cy="325437"/>
        </p:xfrm>
        <a:graphic>
          <a:graphicData uri="http://schemas.openxmlformats.org/presentationml/2006/ole">
            <p:oleObj spid="_x0000_s104452" name="Equation" r:id="rId5" imgW="406080" imgH="215640" progId="Equation.3">
              <p:embed/>
            </p:oleObj>
          </a:graphicData>
        </a:graphic>
      </p:graphicFrame>
      <p:sp>
        <p:nvSpPr>
          <p:cNvPr id="13" name="Line 17"/>
          <p:cNvSpPr>
            <a:spLocks noChangeShapeType="1"/>
          </p:cNvSpPr>
          <p:nvPr/>
        </p:nvSpPr>
        <p:spPr bwMode="auto">
          <a:xfrm>
            <a:off x="1000125" y="5953125"/>
            <a:ext cx="3152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 flipV="1">
            <a:off x="2457450" y="4467225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V="1">
            <a:off x="2457450" y="5210175"/>
            <a:ext cx="0" cy="74295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Object 22"/>
          <p:cNvGraphicFramePr>
            <a:graphicFrameLocks noChangeAspect="1"/>
          </p:cNvGraphicFramePr>
          <p:nvPr/>
        </p:nvGraphicFramePr>
        <p:xfrm>
          <a:off x="1760538" y="4541838"/>
          <a:ext cx="574675" cy="295275"/>
        </p:xfrm>
        <a:graphic>
          <a:graphicData uri="http://schemas.openxmlformats.org/presentationml/2006/ole">
            <p:oleObj spid="_x0000_s104453" name="Equation" r:id="rId6" imgW="419040" imgH="215640" progId="Equation.3">
              <p:embed/>
            </p:oleObj>
          </a:graphicData>
        </a:graphic>
      </p:graphicFrame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1889125" y="5113338"/>
            <a:ext cx="4635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>
                <a:solidFill>
                  <a:srgbClr val="000099"/>
                </a:solidFill>
                <a:ea typeface="宋体" pitchFamily="2" charset="-122"/>
              </a:rPr>
              <a:t>N</a:t>
            </a:r>
            <a:r>
              <a:rPr lang="en-US" altLang="zh-CN" sz="800">
                <a:solidFill>
                  <a:srgbClr val="000099"/>
                </a:solidFill>
                <a:ea typeface="宋体" pitchFamily="2" charset="-122"/>
              </a:rPr>
              <a:t>0</a:t>
            </a:r>
            <a:r>
              <a:rPr lang="en-US" altLang="zh-CN" sz="1200">
                <a:solidFill>
                  <a:srgbClr val="000099"/>
                </a:solidFill>
                <a:ea typeface="宋体" pitchFamily="2" charset="-122"/>
              </a:rPr>
              <a:t>/2</a:t>
            </a:r>
          </a:p>
        </p:txBody>
      </p:sp>
      <p:graphicFrame>
        <p:nvGraphicFramePr>
          <p:cNvPr id="18" name="Object 24"/>
          <p:cNvGraphicFramePr>
            <a:graphicFrameLocks noChangeAspect="1"/>
          </p:cNvGraphicFramePr>
          <p:nvPr/>
        </p:nvGraphicFramePr>
        <p:xfrm>
          <a:off x="3941763" y="5689600"/>
          <a:ext cx="174625" cy="190500"/>
        </p:xfrm>
        <a:graphic>
          <a:graphicData uri="http://schemas.openxmlformats.org/presentationml/2006/ole">
            <p:oleObj spid="_x0000_s104454" name="Equation" r:id="rId7" imgW="126720" imgH="13968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2917</TotalTime>
  <Words>1768</Words>
  <Application>Microsoft Office PowerPoint</Application>
  <PresentationFormat>On-screen Show (4:3)</PresentationFormat>
  <Paragraphs>434</Paragraphs>
  <Slides>43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Office Theme</vt:lpstr>
      <vt:lpstr>Equation</vt:lpstr>
      <vt:lpstr>Microsoft Equation 3.0</vt:lpstr>
      <vt:lpstr>ELEG 3143 Probability &amp; Stochastic Process Ch. 5 Stochastic Process</vt:lpstr>
      <vt:lpstr>OUTLINE</vt:lpstr>
      <vt:lpstr>DEFINITION</vt:lpstr>
      <vt:lpstr>DEFINITION</vt:lpstr>
      <vt:lpstr>DEFINITION</vt:lpstr>
      <vt:lpstr>DEFINITION</vt:lpstr>
      <vt:lpstr>DEFINITION</vt:lpstr>
      <vt:lpstr>DEFINITION</vt:lpstr>
      <vt:lpstr>DEFINITION</vt:lpstr>
      <vt:lpstr>DEFINITION</vt:lpstr>
      <vt:lpstr>OUTLINE</vt:lpstr>
      <vt:lpstr>DESCRIPTION</vt:lpstr>
      <vt:lpstr>DESCRIPTION</vt:lpstr>
      <vt:lpstr>DESCRIPTION</vt:lpstr>
      <vt:lpstr>DESCRIPTION</vt:lpstr>
      <vt:lpstr>DESCRIPTION</vt:lpstr>
      <vt:lpstr>DESCRIPTION</vt:lpstr>
      <vt:lpstr>DESCRIPTION</vt:lpstr>
      <vt:lpstr>DESCRIPTION</vt:lpstr>
      <vt:lpstr>OUTLINE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STATIONARY RANDOM PROCESS</vt:lpstr>
      <vt:lpstr>OUTLINE</vt:lpstr>
      <vt:lpstr>TWO RANDOM PROCESSES</vt:lpstr>
      <vt:lpstr>TWO RANDOM PROCESSES</vt:lpstr>
      <vt:lpstr>TWO RANDOM PROCESSES</vt:lpstr>
      <vt:lpstr>OUTLINE</vt:lpstr>
      <vt:lpstr>ERGODIC RANDOM PROCESS</vt:lpstr>
      <vt:lpstr>ERGODIC RANDOM PROCESS</vt:lpstr>
      <vt:lpstr>ERGODIC RANDOM PROCESS </vt:lpstr>
      <vt:lpstr>ERGODIC RANDOM PROCESS</vt:lpstr>
      <vt:lpstr>ERGODIC RANDOM PROCESS</vt:lpstr>
      <vt:lpstr>OUTLINE</vt:lpstr>
      <vt:lpstr>POWER SPECTRAL DENSITY</vt:lpstr>
      <vt:lpstr>POWER SPECTRAL DENSITY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wuj</cp:lastModifiedBy>
  <cp:revision>1160</cp:revision>
  <dcterms:created xsi:type="dcterms:W3CDTF">2006-08-16T00:00:00Z</dcterms:created>
  <dcterms:modified xsi:type="dcterms:W3CDTF">2011-04-28T02:25:32Z</dcterms:modified>
</cp:coreProperties>
</file>