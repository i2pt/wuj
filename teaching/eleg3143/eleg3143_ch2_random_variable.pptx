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sldIdLst>
    <p:sldId id="256" r:id="rId2"/>
    <p:sldId id="331" r:id="rId3"/>
    <p:sldId id="261" r:id="rId4"/>
    <p:sldId id="262" r:id="rId5"/>
    <p:sldId id="263" r:id="rId6"/>
    <p:sldId id="264" r:id="rId7"/>
    <p:sldId id="330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320" r:id="rId23"/>
    <p:sldId id="32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328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2" r:id="rId45"/>
    <p:sldId id="301" r:id="rId46"/>
    <p:sldId id="327" r:id="rId47"/>
    <p:sldId id="305" r:id="rId48"/>
    <p:sldId id="304" r:id="rId49"/>
    <p:sldId id="306" r:id="rId50"/>
    <p:sldId id="308" r:id="rId51"/>
    <p:sldId id="309" r:id="rId52"/>
    <p:sldId id="311" r:id="rId53"/>
    <p:sldId id="307" r:id="rId54"/>
    <p:sldId id="313" r:id="rId55"/>
    <p:sldId id="314" r:id="rId56"/>
    <p:sldId id="316" r:id="rId57"/>
    <p:sldId id="323" r:id="rId58"/>
    <p:sldId id="322" r:id="rId59"/>
    <p:sldId id="325" r:id="rId60"/>
    <p:sldId id="326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91" autoAdjust="0"/>
    <p:restoredTop sz="90086" autoAdjust="0"/>
  </p:normalViewPr>
  <p:slideViewPr>
    <p:cSldViewPr>
      <p:cViewPr varScale="1">
        <p:scale>
          <a:sx n="112" d="100"/>
          <a:sy n="112" d="100"/>
        </p:scale>
        <p:origin x="-195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37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45.wmf"/><Relationship Id="rId1" Type="http://schemas.openxmlformats.org/officeDocument/2006/relationships/image" Target="../media/image11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4" Type="http://schemas.openxmlformats.org/officeDocument/2006/relationships/image" Target="../media/image6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4" Type="http://schemas.openxmlformats.org/officeDocument/2006/relationships/image" Target="../media/image7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4" Type="http://schemas.openxmlformats.org/officeDocument/2006/relationships/image" Target="../media/image8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4" Type="http://schemas.openxmlformats.org/officeDocument/2006/relationships/image" Target="../media/image9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89.wmf"/><Relationship Id="rId1" Type="http://schemas.openxmlformats.org/officeDocument/2006/relationships/image" Target="../media/image10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92.wmf"/><Relationship Id="rId1" Type="http://schemas.openxmlformats.org/officeDocument/2006/relationships/image" Target="../media/image106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108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111.wmf"/><Relationship Id="rId6" Type="http://schemas.openxmlformats.org/officeDocument/2006/relationships/image" Target="../media/image112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1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3/8/2011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0.972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8.bin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oleObject" Target="../embeddings/oleObject40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7.bin"/><Relationship Id="rId5" Type="http://schemas.openxmlformats.org/officeDocument/2006/relationships/oleObject" Target="../embeddings/oleObject46.bin"/><Relationship Id="rId4" Type="http://schemas.openxmlformats.org/officeDocument/2006/relationships/oleObject" Target="../embeddings/oleObject45.bin"/><Relationship Id="rId9" Type="http://schemas.openxmlformats.org/officeDocument/2006/relationships/oleObject" Target="../embeddings/oleObject5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58.bin"/><Relationship Id="rId5" Type="http://schemas.openxmlformats.org/officeDocument/2006/relationships/oleObject" Target="../embeddings/oleObject57.bin"/><Relationship Id="rId4" Type="http://schemas.openxmlformats.org/officeDocument/2006/relationships/oleObject" Target="../embeddings/oleObject5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62.bin"/><Relationship Id="rId5" Type="http://schemas.openxmlformats.org/officeDocument/2006/relationships/oleObject" Target="../embeddings/oleObject61.bin"/><Relationship Id="rId4" Type="http://schemas.openxmlformats.org/officeDocument/2006/relationships/oleObject" Target="../embeddings/oleObject60.bin"/><Relationship Id="rId9" Type="http://schemas.openxmlformats.org/officeDocument/2006/relationships/oleObject" Target="../embeddings/oleObject6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68.bin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71.bin"/><Relationship Id="rId4" Type="http://schemas.openxmlformats.org/officeDocument/2006/relationships/oleObject" Target="../embeddings/oleObject7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75.bin"/><Relationship Id="rId5" Type="http://schemas.openxmlformats.org/officeDocument/2006/relationships/oleObject" Target="../embeddings/oleObject74.bin"/><Relationship Id="rId4" Type="http://schemas.openxmlformats.org/officeDocument/2006/relationships/oleObject" Target="../embeddings/oleObject73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78.bin"/><Relationship Id="rId4" Type="http://schemas.openxmlformats.org/officeDocument/2006/relationships/oleObject" Target="../embeddings/oleObject77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oleObject" Target="../embeddings/oleObject8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87.bin"/><Relationship Id="rId5" Type="http://schemas.openxmlformats.org/officeDocument/2006/relationships/oleObject" Target="../embeddings/oleObject86.bin"/><Relationship Id="rId4" Type="http://schemas.openxmlformats.org/officeDocument/2006/relationships/oleObject" Target="../embeddings/oleObject85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oleObject" Target="../embeddings/oleObject90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9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95.bin"/><Relationship Id="rId5" Type="http://schemas.openxmlformats.org/officeDocument/2006/relationships/oleObject" Target="../embeddings/oleObject94.bin"/><Relationship Id="rId4" Type="http://schemas.openxmlformats.org/officeDocument/2006/relationships/oleObject" Target="../embeddings/oleObject93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99.bin"/><Relationship Id="rId5" Type="http://schemas.openxmlformats.org/officeDocument/2006/relationships/oleObject" Target="../embeddings/oleObject98.bin"/><Relationship Id="rId4" Type="http://schemas.openxmlformats.org/officeDocument/2006/relationships/oleObject" Target="../embeddings/oleObject97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5" Type="http://schemas.openxmlformats.org/officeDocument/2006/relationships/oleObject" Target="../embeddings/oleObject104.bin"/><Relationship Id="rId4" Type="http://schemas.openxmlformats.org/officeDocument/2006/relationships/oleObject" Target="../embeddings/oleObject103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oleObject" Target="../embeddings/oleObject108.bin"/><Relationship Id="rId4" Type="http://schemas.openxmlformats.org/officeDocument/2006/relationships/oleObject" Target="../embeddings/oleObject107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12.bin"/><Relationship Id="rId5" Type="http://schemas.openxmlformats.org/officeDocument/2006/relationships/oleObject" Target="../embeddings/oleObject111.bin"/><Relationship Id="rId4" Type="http://schemas.openxmlformats.org/officeDocument/2006/relationships/oleObject" Target="../embeddings/oleObject110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17.bin"/><Relationship Id="rId5" Type="http://schemas.openxmlformats.org/officeDocument/2006/relationships/oleObject" Target="../embeddings/oleObject116.bin"/><Relationship Id="rId4" Type="http://schemas.openxmlformats.org/officeDocument/2006/relationships/oleObject" Target="../embeddings/oleObject115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5" Type="http://schemas.openxmlformats.org/officeDocument/2006/relationships/oleObject" Target="../embeddings/oleObject122.bin"/><Relationship Id="rId4" Type="http://schemas.openxmlformats.org/officeDocument/2006/relationships/oleObject" Target="../embeddings/oleObject121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5" Type="http://schemas.openxmlformats.org/officeDocument/2006/relationships/oleObject" Target="../embeddings/oleObject126.bin"/><Relationship Id="rId4" Type="http://schemas.openxmlformats.org/officeDocument/2006/relationships/oleObject" Target="../embeddings/oleObject125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4" Type="http://schemas.openxmlformats.org/officeDocument/2006/relationships/oleObject" Target="../embeddings/oleObject128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4" Type="http://schemas.openxmlformats.org/officeDocument/2006/relationships/oleObject" Target="../embeddings/oleObject1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3143 Probability &amp; Stochastic Process</a:t>
            </a:r>
            <a:br>
              <a:rPr lang="en-US" sz="2400" dirty="0" smtClean="0"/>
            </a:br>
            <a:r>
              <a:rPr lang="en-US" dirty="0" smtClean="0"/>
              <a:t>Ch. 2 Random Variables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Discrete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variable (RV)</a:t>
            </a:r>
          </a:p>
          <a:p>
            <a:pPr lvl="1"/>
            <a:r>
              <a:rPr lang="en-US" dirty="0" smtClean="0"/>
              <a:t>A function, which assigns a unique numerical value to each possible outcome of a random experiment</a:t>
            </a:r>
          </a:p>
          <a:p>
            <a:pPr lvl="1"/>
            <a:r>
              <a:rPr lang="en-US" dirty="0" smtClean="0"/>
              <a:t>A mapping from the sample space to some real numbers.</a:t>
            </a:r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Toss a coin. S = {H, T}</a:t>
            </a:r>
          </a:p>
          <a:p>
            <a:pPr lvl="2"/>
            <a:r>
              <a:rPr lang="en-US" dirty="0" smtClean="0"/>
              <a:t>Define random variable X such that</a:t>
            </a:r>
          </a:p>
          <a:p>
            <a:pPr lvl="3"/>
            <a:r>
              <a:rPr lang="en-US" dirty="0" smtClean="0"/>
              <a:t>X = 1, if the outcome is H </a:t>
            </a:r>
          </a:p>
          <a:p>
            <a:pPr lvl="3"/>
            <a:r>
              <a:rPr lang="en-US" dirty="0" smtClean="0"/>
              <a:t>X = 0, if the outcome is T </a:t>
            </a:r>
          </a:p>
          <a:p>
            <a:pPr lvl="2"/>
            <a:r>
              <a:rPr lang="en-US" dirty="0" smtClean="0"/>
              <a:t>A mapping from the sample space to some real numbers</a:t>
            </a:r>
          </a:p>
          <a:p>
            <a:pPr lvl="3"/>
            <a:r>
              <a:rPr lang="en-US" dirty="0" smtClean="0"/>
              <a:t>Event {H} </a:t>
            </a:r>
            <a:r>
              <a:rPr lang="en-US" dirty="0" smtClean="0">
                <a:sym typeface="Wingdings" pitchFamily="2" charset="2"/>
              </a:rPr>
              <a:t> X = 1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Event {T}  X = 0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The value of the random variable, X, is random. The actual value of X depends on the outcome of the experiment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We can assign probability to each value of the random variable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P(X = 1) = P({H}) = 0.5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P(X = 0) = P({T}) = 0.5</a:t>
            </a:r>
          </a:p>
          <a:p>
            <a:pPr lvl="2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experiment of tossing 2 fair coins. Define the RV, Y, as the number of heads appearing. </a:t>
            </a:r>
          </a:p>
          <a:p>
            <a:pPr lvl="2"/>
            <a:r>
              <a:rPr lang="en-US" dirty="0" smtClean="0"/>
              <a:t>Find the mapping from the sample space to the value of Y</a:t>
            </a:r>
          </a:p>
          <a:p>
            <a:pPr lvl="2"/>
            <a:r>
              <a:rPr lang="en-US" dirty="0" smtClean="0"/>
              <a:t>Find the probability of the different values of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5410200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66800" y="5410200"/>
            <a:ext cx="77724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Capital letter is used to represent an</a:t>
            </a:r>
            <a:r>
              <a:rPr kumimoji="0" lang="en-US" sz="2000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2000" baseline="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Small letter is used to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represent a deterministic RV. 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that there is an unfair coin with a probability </a:t>
            </a:r>
            <a:r>
              <a:rPr lang="en-US" i="1" dirty="0" smtClean="0"/>
              <a:t>p</a:t>
            </a:r>
            <a:r>
              <a:rPr lang="en-US" dirty="0" smtClean="0"/>
              <a:t> of coming up heads. We perform an experiment, in which we flip the coin, until the first head appears. Define an RV, N, as the number of flips required. </a:t>
            </a:r>
          </a:p>
          <a:p>
            <a:pPr lvl="2"/>
            <a:r>
              <a:rPr lang="en-US" dirty="0" smtClean="0"/>
              <a:t>1. Find the mapping from the sample space to the RV</a:t>
            </a:r>
          </a:p>
          <a:p>
            <a:pPr lvl="2"/>
            <a:r>
              <a:rPr lang="en-US" dirty="0" smtClean="0"/>
              <a:t>2. Find the probability of the RV.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 RV </a:t>
            </a:r>
            <a:r>
              <a:rPr lang="en-US" dirty="0" err="1" smtClean="0"/>
              <a:t>v.s</a:t>
            </a:r>
            <a:r>
              <a:rPr lang="en-US" dirty="0" smtClean="0"/>
              <a:t>. continuous RV</a:t>
            </a:r>
          </a:p>
          <a:p>
            <a:pPr lvl="1"/>
            <a:r>
              <a:rPr lang="en-US" dirty="0" smtClean="0"/>
              <a:t>Consider a random variable X </a:t>
            </a:r>
          </a:p>
          <a:p>
            <a:pPr lvl="1"/>
            <a:r>
              <a:rPr lang="en-US" dirty="0" smtClean="0"/>
              <a:t>If X has countable number values, then X is a discrete RV</a:t>
            </a:r>
          </a:p>
          <a:p>
            <a:pPr lvl="2"/>
            <a:r>
              <a:rPr lang="en-US" dirty="0" smtClean="0"/>
              <a:t>E.g. toss a coin, X = 0 if H, X = 1 if T</a:t>
            </a:r>
          </a:p>
          <a:p>
            <a:pPr lvl="2"/>
            <a:r>
              <a:rPr lang="en-US" dirty="0" smtClean="0"/>
              <a:t>E.g. Defined the RV N as the number of flips required to get the head of a coin</a:t>
            </a:r>
          </a:p>
          <a:p>
            <a:pPr lvl="1"/>
            <a:r>
              <a:rPr lang="en-US" dirty="0" smtClean="0"/>
              <a:t>If X has uncountable number of values, then X is a continuous RV</a:t>
            </a:r>
          </a:p>
          <a:p>
            <a:pPr lvl="2"/>
            <a:r>
              <a:rPr lang="en-US" dirty="0" smtClean="0"/>
              <a:t>E.g. Define the RV X as the current temperature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the lifetime of a car</a:t>
            </a:r>
          </a:p>
          <a:p>
            <a:pPr lvl="2"/>
            <a:r>
              <a:rPr lang="en-US" dirty="0" smtClean="0"/>
              <a:t>Define the RV, X, as the lifetime of the car</a:t>
            </a:r>
          </a:p>
          <a:p>
            <a:pPr lvl="3"/>
            <a:r>
              <a:rPr lang="en-US" dirty="0" smtClean="0"/>
              <a:t>Then X is a continuous RV, </a:t>
            </a:r>
          </a:p>
          <a:p>
            <a:pPr lvl="2"/>
            <a:r>
              <a:rPr lang="en-US" dirty="0" smtClean="0"/>
              <a:t>Define the RV, Y, as follows</a:t>
            </a:r>
          </a:p>
          <a:p>
            <a:pPr lvl="3"/>
            <a:r>
              <a:rPr lang="en-US" dirty="0" smtClean="0"/>
              <a:t>If the car has a life longer than 2 years </a:t>
            </a:r>
            <a:r>
              <a:rPr lang="en-US" dirty="0" smtClean="0">
                <a:sym typeface="Wingdings" pitchFamily="2" charset="2"/>
              </a:rPr>
              <a:t> Y = 1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If the car has a life shorter than 2 years  Y = 0</a:t>
            </a:r>
          </a:p>
          <a:p>
            <a:pPr lvl="3"/>
            <a:r>
              <a:rPr lang="en-US" dirty="0" smtClean="0">
                <a:sym typeface="Wingdings" pitchFamily="2" charset="2"/>
              </a:rPr>
              <a:t>Then Y is a discrete RV, </a:t>
            </a:r>
            <a:endParaRPr lang="en-US" dirty="0" smtClean="0"/>
          </a:p>
          <a:p>
            <a:pPr lvl="3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953000" y="4572000"/>
          <a:ext cx="1143000" cy="320842"/>
        </p:xfrm>
        <a:graphic>
          <a:graphicData uri="http://schemas.openxmlformats.org/presentationml/2006/ole">
            <p:oleObj spid="_x0000_s86018" name="Equation" r:id="rId3" imgW="723600" imgH="203040" progId="Equation.3">
              <p:embed/>
            </p:oleObj>
          </a:graphicData>
        </a:graphic>
      </p:graphicFrame>
      <p:graphicFrame>
        <p:nvGraphicFramePr>
          <p:cNvPr id="86019" name="Object 3"/>
          <p:cNvGraphicFramePr>
            <a:graphicFrameLocks noChangeAspect="1"/>
          </p:cNvGraphicFramePr>
          <p:nvPr/>
        </p:nvGraphicFramePr>
        <p:xfrm>
          <a:off x="4854575" y="5867400"/>
          <a:ext cx="882650" cy="320675"/>
        </p:xfrm>
        <a:graphic>
          <a:graphicData uri="http://schemas.openxmlformats.org/presentationml/2006/ole">
            <p:oleObj spid="_x0000_s86019" name="Equation" r:id="rId4" imgW="55872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Discrete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</a:p>
          <a:p>
            <a:pPr lvl="1"/>
            <a:r>
              <a:rPr lang="en-US" dirty="0" smtClean="0"/>
              <a:t>A random variable that can take at most a countable number of possible values.</a:t>
            </a:r>
          </a:p>
          <a:p>
            <a:r>
              <a:rPr lang="en-US" dirty="0" smtClean="0"/>
              <a:t>Probability mass function (PMF)</a:t>
            </a:r>
          </a:p>
          <a:p>
            <a:pPr lvl="1"/>
            <a:r>
              <a:rPr lang="en-US" dirty="0" smtClean="0"/>
              <a:t>Consider a discrete RV </a:t>
            </a:r>
            <a:r>
              <a:rPr lang="en-US" i="1" dirty="0" smtClean="0"/>
              <a:t>X</a:t>
            </a:r>
            <a:r>
              <a:rPr lang="en-US" dirty="0" smtClean="0"/>
              <a:t>, which can take any one of the following values: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probability mass function of </a:t>
            </a:r>
            <a:r>
              <a:rPr lang="en-US" i="1" dirty="0" smtClean="0"/>
              <a:t>X</a:t>
            </a:r>
            <a:r>
              <a:rPr lang="en-US" dirty="0" smtClean="0"/>
              <a:t> is defined as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Flip an unfair coin with the probability </a:t>
            </a:r>
            <a:r>
              <a:rPr lang="en-US" i="1" dirty="0" smtClean="0"/>
              <a:t>p</a:t>
            </a:r>
            <a:r>
              <a:rPr lang="en-US" dirty="0" smtClean="0"/>
              <a:t> of coming up head. Define an RV X, such that H </a:t>
            </a:r>
            <a:r>
              <a:rPr lang="en-US" dirty="0" smtClean="0">
                <a:sym typeface="Wingdings" pitchFamily="2" charset="2"/>
              </a:rPr>
              <a:t> X = 1; T  X = 0. What is the PMF?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87042" name="Object 2"/>
          <p:cNvGraphicFramePr>
            <a:graphicFrameLocks noChangeAspect="1"/>
          </p:cNvGraphicFramePr>
          <p:nvPr/>
        </p:nvGraphicFramePr>
        <p:xfrm>
          <a:off x="1447800" y="2514600"/>
          <a:ext cx="1784350" cy="360363"/>
        </p:xfrm>
        <a:graphic>
          <a:graphicData uri="http://schemas.openxmlformats.org/presentationml/2006/ole">
            <p:oleObj spid="_x0000_s87042" name="Equation" r:id="rId3" imgW="1130040" imgH="228600" progId="Equation.3">
              <p:embed/>
            </p:oleObj>
          </a:graphicData>
        </a:graphic>
      </p:graphicFrame>
      <p:graphicFrame>
        <p:nvGraphicFramePr>
          <p:cNvPr id="87043" name="Object 3"/>
          <p:cNvGraphicFramePr>
            <a:graphicFrameLocks noChangeAspect="1"/>
          </p:cNvGraphicFramePr>
          <p:nvPr/>
        </p:nvGraphicFramePr>
        <p:xfrm>
          <a:off x="2438400" y="3352800"/>
          <a:ext cx="2003425" cy="360363"/>
        </p:xfrm>
        <a:graphic>
          <a:graphicData uri="http://schemas.openxmlformats.org/presentationml/2006/ole">
            <p:oleObj spid="_x0000_s87043" name="Equation" r:id="rId4" imgW="1269720" imgH="228600" progId="Equation.3">
              <p:embed/>
            </p:oleObj>
          </a:graphicData>
        </a:graphic>
      </p:graphicFrame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5791200" y="3352800"/>
          <a:ext cx="1101725" cy="320675"/>
        </p:xfrm>
        <a:graphic>
          <a:graphicData uri="http://schemas.openxmlformats.org/presentationml/2006/ole">
            <p:oleObj spid="_x0000_s87044" name="Equation" r:id="rId5" imgW="69840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urn with 3 black balls, 5 red balls, and 8 white balls. Randomly pick 1 ball. Define an RV X as: </a:t>
            </a:r>
          </a:p>
          <a:p>
            <a:pPr lvl="2"/>
            <a:r>
              <a:rPr lang="en-US" dirty="0" smtClean="0"/>
              <a:t>black ball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X = 1, red ball </a:t>
            </a:r>
            <a:r>
              <a:rPr lang="en-US" dirty="0" smtClean="0">
                <a:sym typeface="Wingdings" pitchFamily="2" charset="2"/>
              </a:rPr>
              <a:t> X = 2, white ball  X = 3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Find the PMF.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PMF</a:t>
            </a:r>
          </a:p>
          <a:p>
            <a:pPr lvl="1"/>
            <a:r>
              <a:rPr lang="en-US" dirty="0" smtClean="0"/>
              <a:t>For an RV                                        , since X must take one of the values of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Cumulative distribution function (CDF)</a:t>
            </a:r>
          </a:p>
          <a:p>
            <a:pPr lvl="1"/>
            <a:r>
              <a:rPr lang="en-US" dirty="0" smtClean="0"/>
              <a:t>All called distribution function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probability that the RV, </a:t>
            </a:r>
            <a:r>
              <a:rPr lang="en-US" i="1" dirty="0" smtClean="0"/>
              <a:t>X</a:t>
            </a:r>
            <a:r>
              <a:rPr lang="en-US" dirty="0" smtClean="0"/>
              <a:t>, is less than or equal to a deterministic number, </a:t>
            </a:r>
            <a:r>
              <a:rPr lang="en-US" i="1" dirty="0" smtClean="0"/>
              <a:t>x</a:t>
            </a:r>
            <a:r>
              <a:rPr lang="en-US" dirty="0" smtClean="0"/>
              <a:t>        </a:t>
            </a:r>
          </a:p>
          <a:p>
            <a:pPr lvl="2"/>
            <a:r>
              <a:rPr lang="en-US" dirty="0" smtClean="0"/>
              <a:t>capital letter X: Random variable (has random values)</a:t>
            </a:r>
          </a:p>
          <a:p>
            <a:pPr lvl="2"/>
            <a:r>
              <a:rPr lang="en-US" dirty="0" smtClean="0"/>
              <a:t>Small letter x: deterministic variable (has fixed value)</a:t>
            </a:r>
          </a:p>
          <a:p>
            <a:pPr lvl="2"/>
            <a:r>
              <a:rPr lang="en-US" dirty="0" smtClean="0"/>
              <a:t>E.g.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88066" name="Object 2"/>
          <p:cNvGraphicFramePr>
            <a:graphicFrameLocks noChangeAspect="1"/>
          </p:cNvGraphicFramePr>
          <p:nvPr/>
        </p:nvGraphicFramePr>
        <p:xfrm>
          <a:off x="2514600" y="1295400"/>
          <a:ext cx="2103437" cy="360363"/>
        </p:xfrm>
        <a:graphic>
          <a:graphicData uri="http://schemas.openxmlformats.org/presentationml/2006/ole">
            <p:oleObj spid="_x0000_s88066" name="Equation" r:id="rId3" imgW="1333440" imgH="228600" progId="Equation.3">
              <p:embed/>
            </p:oleObj>
          </a:graphicData>
        </a:graphic>
      </p:graphicFrame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8382000" y="1219200"/>
          <a:ext cx="279400" cy="360363"/>
        </p:xfrm>
        <a:graphic>
          <a:graphicData uri="http://schemas.openxmlformats.org/presentationml/2006/ole">
            <p:oleObj spid="_x0000_s88067" name="Equation" r:id="rId4" imgW="177480" imgH="228600" progId="Equation.3">
              <p:embed/>
            </p:oleObj>
          </a:graphicData>
        </a:graphic>
      </p:graphicFrame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2438400" y="1752600"/>
          <a:ext cx="2884488" cy="679450"/>
        </p:xfrm>
        <a:graphic>
          <a:graphicData uri="http://schemas.openxmlformats.org/presentationml/2006/ole">
            <p:oleObj spid="_x0000_s88068" name="Equation" r:id="rId5" imgW="1828800" imgH="431640" progId="Equation.3">
              <p:embed/>
            </p:oleObj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2819400" y="3352800"/>
          <a:ext cx="1843088" cy="339725"/>
        </p:xfrm>
        <a:graphic>
          <a:graphicData uri="http://schemas.openxmlformats.org/presentationml/2006/ole">
            <p:oleObj spid="_x0000_s88069" name="Equation" r:id="rId6" imgW="1168200" imgH="215640" progId="Equation.3">
              <p:embed/>
            </p:oleObj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2514600" y="5181600"/>
          <a:ext cx="1801812" cy="339725"/>
        </p:xfrm>
        <a:graphic>
          <a:graphicData uri="http://schemas.openxmlformats.org/presentationml/2006/ole">
            <p:oleObj spid="_x0000_s88071" name="Equation" r:id="rId7" imgW="114300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Flip an unfair coin with the probability </a:t>
            </a:r>
            <a:r>
              <a:rPr lang="en-US" i="1" dirty="0" smtClean="0"/>
              <a:t>p</a:t>
            </a:r>
            <a:r>
              <a:rPr lang="en-US" dirty="0" smtClean="0"/>
              <a:t> of coming up head. Define an RV X, such that H </a:t>
            </a:r>
            <a:r>
              <a:rPr lang="en-US" dirty="0" smtClean="0">
                <a:sym typeface="Wingdings" pitchFamily="2" charset="2"/>
              </a:rPr>
              <a:t> X = 1; T  X = 0. What is the CDF?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Suppose X has a PMF given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Find and plot the CDF.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746250" y="1536700"/>
          <a:ext cx="1020763" cy="619125"/>
        </p:xfrm>
        <a:graphic>
          <a:graphicData uri="http://schemas.openxmlformats.org/presentationml/2006/ole">
            <p:oleObj spid="_x0000_s89090" name="Equation" r:id="rId3" imgW="647640" imgH="393480" progId="Equation.3">
              <p:embed/>
            </p:oleObj>
          </a:graphicData>
        </a:graphic>
      </p:graphicFrame>
      <p:graphicFrame>
        <p:nvGraphicFramePr>
          <p:cNvPr id="89091" name="Object 3"/>
          <p:cNvGraphicFramePr>
            <a:graphicFrameLocks noChangeAspect="1"/>
          </p:cNvGraphicFramePr>
          <p:nvPr/>
        </p:nvGraphicFramePr>
        <p:xfrm>
          <a:off x="3413125" y="1536700"/>
          <a:ext cx="1041400" cy="619125"/>
        </p:xfrm>
        <a:graphic>
          <a:graphicData uri="http://schemas.openxmlformats.org/presentationml/2006/ole">
            <p:oleObj spid="_x0000_s89091" name="Equation" r:id="rId4" imgW="660240" imgH="393480" progId="Equation.3">
              <p:embed/>
            </p:oleObj>
          </a:graphicData>
        </a:graphic>
      </p:graphicFrame>
      <p:graphicFrame>
        <p:nvGraphicFramePr>
          <p:cNvPr id="89092" name="Object 4"/>
          <p:cNvGraphicFramePr>
            <a:graphicFrameLocks noChangeAspect="1"/>
          </p:cNvGraphicFramePr>
          <p:nvPr/>
        </p:nvGraphicFramePr>
        <p:xfrm>
          <a:off x="5257800" y="1524000"/>
          <a:ext cx="1041400" cy="619125"/>
        </p:xfrm>
        <a:graphic>
          <a:graphicData uri="http://schemas.openxmlformats.org/presentationml/2006/ole">
            <p:oleObj spid="_x0000_s89092" name="Equation" r:id="rId5" imgW="66024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of CDF</a:t>
            </a:r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                      is a non-decreasing function of </a:t>
            </a:r>
            <a:r>
              <a:rPr lang="en-US" i="1" dirty="0" smtClean="0"/>
              <a:t>x</a:t>
            </a:r>
          </a:p>
          <a:p>
            <a:pPr lvl="1"/>
            <a:endParaRPr lang="en-US" i="1" dirty="0" smtClean="0"/>
          </a:p>
          <a:p>
            <a:pPr lvl="1"/>
            <a:r>
              <a:rPr lang="en-US" i="1" dirty="0" smtClean="0"/>
              <a:t> </a:t>
            </a:r>
          </a:p>
          <a:p>
            <a:pPr lvl="1"/>
            <a:endParaRPr lang="en-US" i="1" dirty="0" smtClean="0"/>
          </a:p>
          <a:p>
            <a:pPr lvl="1"/>
            <a:r>
              <a:rPr lang="en-US" i="1" dirty="0" smtClean="0"/>
              <a:t>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90114" name="Object 2"/>
          <p:cNvGraphicFramePr>
            <a:graphicFrameLocks noChangeAspect="1"/>
          </p:cNvGraphicFramePr>
          <p:nvPr/>
        </p:nvGraphicFramePr>
        <p:xfrm>
          <a:off x="1905000" y="1295400"/>
          <a:ext cx="1322387" cy="339725"/>
        </p:xfrm>
        <a:graphic>
          <a:graphicData uri="http://schemas.openxmlformats.org/presentationml/2006/ole">
            <p:oleObj spid="_x0000_s90114" name="Equation" r:id="rId3" imgW="838080" imgH="215640" progId="Equation.3">
              <p:embed/>
            </p:oleObj>
          </a:graphicData>
        </a:graphic>
      </p:graphicFrame>
      <p:graphicFrame>
        <p:nvGraphicFramePr>
          <p:cNvPr id="90117" name="Object 5"/>
          <p:cNvGraphicFramePr>
            <a:graphicFrameLocks noChangeAspect="1"/>
          </p:cNvGraphicFramePr>
          <p:nvPr/>
        </p:nvGraphicFramePr>
        <p:xfrm>
          <a:off x="2057400" y="2286000"/>
          <a:ext cx="1201738" cy="339725"/>
        </p:xfrm>
        <a:graphic>
          <a:graphicData uri="http://schemas.openxmlformats.org/presentationml/2006/ole">
            <p:oleObj spid="_x0000_s90117" name="Equation" r:id="rId4" imgW="761760" imgH="215640" progId="Equation.3">
              <p:embed/>
            </p:oleObj>
          </a:graphicData>
        </a:graphic>
      </p:graphicFrame>
      <p:graphicFrame>
        <p:nvGraphicFramePr>
          <p:cNvPr id="90118" name="Object 6"/>
          <p:cNvGraphicFramePr>
            <a:graphicFrameLocks noChangeAspect="1"/>
          </p:cNvGraphicFramePr>
          <p:nvPr/>
        </p:nvGraphicFramePr>
        <p:xfrm>
          <a:off x="2209800" y="3200400"/>
          <a:ext cx="1022350" cy="339725"/>
        </p:xfrm>
        <a:graphic>
          <a:graphicData uri="http://schemas.openxmlformats.org/presentationml/2006/ole">
            <p:oleObj spid="_x0000_s90118" name="Equation" r:id="rId5" imgW="647640" imgH="215640" progId="Equation.3">
              <p:embed/>
            </p:oleObj>
          </a:graphicData>
        </a:graphic>
      </p:graphicFrame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1981200" y="4191000"/>
          <a:ext cx="660400" cy="339725"/>
        </p:xfrm>
        <a:graphic>
          <a:graphicData uri="http://schemas.openxmlformats.org/presentationml/2006/ole">
            <p:oleObj spid="_x0000_s90119" name="Equation" r:id="rId6" imgW="419040" imgH="215640" progId="Equation.3">
              <p:embed/>
            </p:oleObj>
          </a:graphicData>
        </a:graphic>
      </p:graphicFrame>
      <p:graphicFrame>
        <p:nvGraphicFramePr>
          <p:cNvPr id="90120" name="Object 8"/>
          <p:cNvGraphicFramePr>
            <a:graphicFrameLocks noChangeAspect="1"/>
          </p:cNvGraphicFramePr>
          <p:nvPr/>
        </p:nvGraphicFramePr>
        <p:xfrm>
          <a:off x="1981200" y="4876800"/>
          <a:ext cx="3302000" cy="339725"/>
        </p:xfrm>
        <a:graphic>
          <a:graphicData uri="http://schemas.openxmlformats.org/presentationml/2006/ole">
            <p:oleObj spid="_x0000_s90120" name="Equation" r:id="rId7" imgW="2095200" imgH="215640" progId="Equation.3">
              <p:embed/>
            </p:oleObj>
          </a:graphicData>
        </a:graphic>
      </p:graphicFrame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2133600" y="5562600"/>
          <a:ext cx="2141537" cy="339725"/>
        </p:xfrm>
        <a:graphic>
          <a:graphicData uri="http://schemas.openxmlformats.org/presentationml/2006/ole">
            <p:oleObj spid="_x0000_s90121" name="Equation" r:id="rId8" imgW="1358640" imgH="215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Bernoulli RV</a:t>
            </a:r>
          </a:p>
          <a:p>
            <a:pPr lvl="1"/>
            <a:r>
              <a:rPr lang="en-US" dirty="0" smtClean="0"/>
              <a:t>Consider an experiment, whose outcome can be classified as either a “success” or as a “failure”. The probability of success is </a:t>
            </a:r>
            <a:r>
              <a:rPr lang="en-US" i="1" dirty="0" smtClean="0"/>
              <a:t>p</a:t>
            </a:r>
            <a:r>
              <a:rPr lang="en-US" dirty="0" smtClean="0"/>
              <a:t>. Define an RV X such that</a:t>
            </a:r>
          </a:p>
          <a:p>
            <a:pPr lvl="2"/>
            <a:r>
              <a:rPr lang="en-US" dirty="0" smtClean="0"/>
              <a:t>Success </a:t>
            </a:r>
            <a:r>
              <a:rPr lang="en-US" dirty="0" smtClean="0">
                <a:sym typeface="Wingdings" pitchFamily="2" charset="2"/>
              </a:rPr>
              <a:t> X = 1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Failure  X = 0.</a:t>
            </a:r>
          </a:p>
          <a:p>
            <a:pPr lvl="2">
              <a:buNone/>
            </a:pPr>
            <a:r>
              <a:rPr lang="en-US" dirty="0" smtClean="0">
                <a:sym typeface="Wingdings" pitchFamily="2" charset="2"/>
              </a:rPr>
              <a:t>Then X is called a Bernoulli RV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 PMF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The CDF</a:t>
            </a: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Recall Bernoulli trials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Perform the experiment independently for </a:t>
            </a:r>
            <a:r>
              <a:rPr lang="en-US" i="1" dirty="0" smtClean="0">
                <a:sym typeface="Wingdings" pitchFamily="2" charset="2"/>
              </a:rPr>
              <a:t>N</a:t>
            </a:r>
            <a:r>
              <a:rPr lang="en-US" dirty="0" smtClean="0">
                <a:sym typeface="Wingdings" pitchFamily="2" charset="2"/>
              </a:rPr>
              <a:t> times</a:t>
            </a:r>
          </a:p>
          <a:p>
            <a:pPr lvl="1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1905000" y="3581400"/>
          <a:ext cx="1381125" cy="319088"/>
        </p:xfrm>
        <a:graphic>
          <a:graphicData uri="http://schemas.openxmlformats.org/presentationml/2006/ole">
            <p:oleObj spid="_x0000_s91138" name="Equation" r:id="rId3" imgW="876240" imgH="203040" progId="Equation.3">
              <p:embed/>
            </p:oleObj>
          </a:graphicData>
        </a:graphic>
      </p:graphicFrame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4495800" y="3581400"/>
          <a:ext cx="1700213" cy="319088"/>
        </p:xfrm>
        <a:graphic>
          <a:graphicData uri="http://schemas.openxmlformats.org/presentationml/2006/ole">
            <p:oleObj spid="_x0000_s91139" name="Equation" r:id="rId4" imgW="10792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Binomial RV</a:t>
            </a:r>
          </a:p>
          <a:p>
            <a:pPr lvl="1"/>
            <a:r>
              <a:rPr lang="en-US" dirty="0" smtClean="0"/>
              <a:t>Perform </a:t>
            </a:r>
            <a:r>
              <a:rPr lang="en-US" i="1" dirty="0" smtClean="0"/>
              <a:t>n</a:t>
            </a:r>
            <a:r>
              <a:rPr lang="en-US" dirty="0" smtClean="0"/>
              <a:t> independent trials, each of which results in a “success” with probability </a:t>
            </a:r>
            <a:r>
              <a:rPr lang="en-US" i="1" dirty="0" smtClean="0"/>
              <a:t>p</a:t>
            </a:r>
            <a:r>
              <a:rPr lang="en-US" dirty="0" smtClean="0"/>
              <a:t>. Define the RV Y as the total number of successes that occur in the </a:t>
            </a:r>
            <a:r>
              <a:rPr lang="en-US" i="1" dirty="0" smtClean="0"/>
              <a:t>n</a:t>
            </a:r>
            <a:r>
              <a:rPr lang="en-US" dirty="0" smtClean="0"/>
              <a:t> trials. Then Y is a binomial RV. </a:t>
            </a:r>
          </a:p>
          <a:p>
            <a:pPr lvl="1"/>
            <a:r>
              <a:rPr lang="en-US" dirty="0" smtClean="0"/>
              <a:t>PMF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summation of PMF</a:t>
            </a:r>
          </a:p>
          <a:p>
            <a:pPr lvl="2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1905000" y="2590800"/>
          <a:ext cx="1962150" cy="339725"/>
        </p:xfrm>
        <a:graphic>
          <a:graphicData uri="http://schemas.openxmlformats.org/presentationml/2006/ole">
            <p:oleObj spid="_x0000_s92162" name="Equation" r:id="rId3" imgW="1244520" imgH="215640" progId="Equation.3">
              <p:embed/>
            </p:oleObj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2286000" y="4800600"/>
          <a:ext cx="1120775" cy="679450"/>
        </p:xfrm>
        <a:graphic>
          <a:graphicData uri="http://schemas.openxmlformats.org/presentationml/2006/ole">
            <p:oleObj spid="_x0000_s92163" name="Equation" r:id="rId4" imgW="711000" imgH="431640" progId="Equation.3">
              <p:embed/>
            </p:oleObj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3962400" y="2438400"/>
          <a:ext cx="1336675" cy="622300"/>
        </p:xfrm>
        <a:graphic>
          <a:graphicData uri="http://schemas.openxmlformats.org/presentationml/2006/ole">
            <p:oleObj spid="_x0000_s92164" name="Equation" r:id="rId5" imgW="990360" imgH="457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Bernoulli RV and Binomial RV</a:t>
            </a:r>
          </a:p>
          <a:p>
            <a:pPr lvl="1"/>
            <a:r>
              <a:rPr lang="en-US" dirty="0" smtClean="0"/>
              <a:t>Consider an experiment, whose outcome can be classified as either a “success” or as a “failure”. The probability of success is </a:t>
            </a:r>
            <a:r>
              <a:rPr lang="en-US" i="1" dirty="0" smtClean="0"/>
              <a:t>p</a:t>
            </a:r>
            <a:r>
              <a:rPr lang="en-US" dirty="0" smtClean="0"/>
              <a:t>. The Bernoulli RV, X, is defined as</a:t>
            </a:r>
          </a:p>
          <a:p>
            <a:pPr lvl="2"/>
            <a:r>
              <a:rPr lang="en-US" dirty="0" smtClean="0"/>
              <a:t>Success </a:t>
            </a:r>
            <a:r>
              <a:rPr lang="en-US" dirty="0" smtClean="0">
                <a:sym typeface="Wingdings" pitchFamily="2" charset="2"/>
              </a:rPr>
              <a:t> X = 1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Failure  X = 0.</a:t>
            </a:r>
          </a:p>
          <a:p>
            <a:pPr lvl="2">
              <a:buNone/>
            </a:pPr>
            <a:endParaRPr lang="en-US" dirty="0" smtClean="0">
              <a:sym typeface="Wingdings" pitchFamily="2" charset="2"/>
            </a:endParaRP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Perform </a:t>
            </a:r>
            <a:r>
              <a:rPr lang="en-US" i="1" dirty="0" smtClean="0"/>
              <a:t>n</a:t>
            </a:r>
            <a:r>
              <a:rPr lang="en-US" dirty="0" smtClean="0"/>
              <a:t> independent trials, each of which results in a “success” with probability </a:t>
            </a:r>
            <a:r>
              <a:rPr lang="en-US" i="1" dirty="0" smtClean="0"/>
              <a:t>p</a:t>
            </a:r>
            <a:r>
              <a:rPr lang="en-US" dirty="0" smtClean="0"/>
              <a:t>. Define the RV Y as the total number of successes that occur in the </a:t>
            </a:r>
            <a:r>
              <a:rPr lang="en-US" i="1" dirty="0" smtClean="0"/>
              <a:t>n</a:t>
            </a:r>
            <a:r>
              <a:rPr lang="en-US" dirty="0" smtClean="0"/>
              <a:t> trials. Then Y is a binomial RV. </a:t>
            </a:r>
          </a:p>
          <a:p>
            <a:pPr lvl="2"/>
            <a:r>
              <a:rPr lang="en-US" dirty="0" smtClean="0"/>
              <a:t>Each trial results in a Bernoulli RV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relationship between the Bernoulli RV       , and the Binomial RV </a:t>
            </a:r>
            <a:r>
              <a:rPr lang="en-US" i="1" dirty="0" smtClean="0"/>
              <a:t>Y</a:t>
            </a:r>
            <a:r>
              <a:rPr lang="en-US" dirty="0" smtClean="0"/>
              <a:t>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5410200" y="5029200"/>
          <a:ext cx="320675" cy="358775"/>
        </p:xfrm>
        <a:graphic>
          <a:graphicData uri="http://schemas.openxmlformats.org/presentationml/2006/ole">
            <p:oleObj spid="_x0000_s93186" name="Equation" r:id="rId3" imgW="203040" imgH="228600" progId="Equation.3">
              <p:embed/>
            </p:oleObj>
          </a:graphicData>
        </a:graphic>
      </p:graphicFrame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5257800" y="4038600"/>
          <a:ext cx="320675" cy="358775"/>
        </p:xfrm>
        <a:graphic>
          <a:graphicData uri="http://schemas.openxmlformats.org/presentationml/2006/ole">
            <p:oleObj spid="_x0000_s93187" name="Equation" r:id="rId4" imgW="203040" imgH="228600" progId="Equation.3">
              <p:embed/>
            </p:oleObj>
          </a:graphicData>
        </a:graphic>
      </p:graphicFrame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3886200" y="5638800"/>
          <a:ext cx="1022350" cy="677863"/>
        </p:xfrm>
        <a:graphic>
          <a:graphicData uri="http://schemas.openxmlformats.org/presentationml/2006/ole">
            <p:oleObj spid="_x0000_s93188" name="Equation" r:id="rId5" imgW="647640" imgH="431640" progId="Equation.3">
              <p:embed/>
            </p:oleObj>
          </a:graphicData>
        </a:graphic>
      </p:graphicFrame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3429000" y="2895600"/>
          <a:ext cx="1763713" cy="319088"/>
        </p:xfrm>
        <a:graphic>
          <a:graphicData uri="http://schemas.openxmlformats.org/presentationml/2006/ole">
            <p:oleObj spid="_x0000_s93189" name="Equation" r:id="rId6" imgW="1117440" imgH="203040" progId="Equation.3">
              <p:embed/>
            </p:oleObj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438400" y="4648200"/>
          <a:ext cx="1803400" cy="358775"/>
        </p:xfrm>
        <a:graphic>
          <a:graphicData uri="http://schemas.openxmlformats.org/presentationml/2006/ole">
            <p:oleObj spid="_x0000_s93190" name="Equation" r:id="rId7" imgW="1143000" imgH="228600" progId="Equation.3">
              <p:embed/>
            </p:oleObj>
          </a:graphicData>
        </a:graphic>
      </p:graphicFrame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4979988" y="4667250"/>
          <a:ext cx="1903412" cy="319088"/>
        </p:xfrm>
        <a:graphic>
          <a:graphicData uri="http://schemas.openxmlformats.org/presentationml/2006/ole">
            <p:oleObj spid="_x0000_s93192" name="Equation" r:id="rId8" imgW="120636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It is known that any item produced by a certain machine will be defective with probability 0.1, independently of any other item. What is the probability that in a sample of 3 items, at most one will be defective?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Binomial RV</a:t>
            </a:r>
          </a:p>
          <a:p>
            <a:pPr lvl="1"/>
            <a:r>
              <a:rPr lang="en-US" dirty="0" smtClean="0"/>
              <a:t>On a multiple-choice exam with 4 possible answers for each of the 5 questions. What is the probability that a student would get 4 or more correct answers just by guessing?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Geometric RV</a:t>
            </a:r>
          </a:p>
          <a:p>
            <a:pPr lvl="1"/>
            <a:r>
              <a:rPr lang="en-US" dirty="0" smtClean="0"/>
              <a:t>Suppose that independent trials, each having probability </a:t>
            </a:r>
            <a:r>
              <a:rPr lang="en-US" i="1" dirty="0" smtClean="0"/>
              <a:t>p</a:t>
            </a:r>
            <a:r>
              <a:rPr lang="en-US" dirty="0" smtClean="0"/>
              <a:t> of being success. The experiment is performed until a success occurs. Define </a:t>
            </a:r>
            <a:r>
              <a:rPr lang="en-US" i="1" dirty="0" smtClean="0"/>
              <a:t>X</a:t>
            </a:r>
            <a:r>
              <a:rPr lang="en-US" dirty="0" smtClean="0"/>
              <a:t> as the number of trials required until the first success. Then X is said to be a geometric RV.</a:t>
            </a:r>
          </a:p>
          <a:p>
            <a:pPr lvl="1"/>
            <a:r>
              <a:rPr lang="en-US" dirty="0" smtClean="0"/>
              <a:t>PMF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sum of Geometric PMF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1905000" y="2895600"/>
          <a:ext cx="2062162" cy="339725"/>
        </p:xfrm>
        <a:graphic>
          <a:graphicData uri="http://schemas.openxmlformats.org/presentationml/2006/ole">
            <p:oleObj spid="_x0000_s94210" name="Equation" r:id="rId3" imgW="1307880" imgH="215640" progId="Equation.3">
              <p:embed/>
            </p:oleObj>
          </a:graphicData>
        </a:graphic>
      </p:graphicFrame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4038600" y="2895600"/>
          <a:ext cx="925512" cy="311150"/>
        </p:xfrm>
        <a:graphic>
          <a:graphicData uri="http://schemas.openxmlformats.org/presentationml/2006/ole">
            <p:oleObj spid="_x0000_s94211" name="Equation" r:id="rId4" imgW="685800" imgH="228600" progId="Equation.3">
              <p:embed/>
            </p:oleObj>
          </a:graphicData>
        </a:graphic>
      </p:graphicFrame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1955800" y="3868738"/>
          <a:ext cx="1501775" cy="679450"/>
        </p:xfrm>
        <a:graphic>
          <a:graphicData uri="http://schemas.openxmlformats.org/presentationml/2006/ole">
            <p:oleObj spid="_x0000_s94212" name="Equation" r:id="rId5" imgW="95220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1333500"/>
          </a:xfrm>
        </p:spPr>
        <p:txBody>
          <a:bodyPr/>
          <a:lstStyle/>
          <a:p>
            <a:r>
              <a:rPr lang="en-US" dirty="0" smtClean="0"/>
              <a:t>Poisson RV</a:t>
            </a:r>
          </a:p>
          <a:p>
            <a:pPr lvl="1"/>
            <a:r>
              <a:rPr lang="en-US" dirty="0" smtClean="0"/>
              <a:t>A random variable X, taking on the values 0, 1, 2, ……, is said to be a Poisson random variable with parameter     &gt; 0, if the PMF can be written 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110594" name="Object 2"/>
          <p:cNvGraphicFramePr>
            <a:graphicFrameLocks noChangeAspect="1"/>
          </p:cNvGraphicFramePr>
          <p:nvPr/>
        </p:nvGraphicFramePr>
        <p:xfrm>
          <a:off x="5181600" y="1524000"/>
          <a:ext cx="219075" cy="280988"/>
        </p:xfrm>
        <a:graphic>
          <a:graphicData uri="http://schemas.openxmlformats.org/presentationml/2006/ole">
            <p:oleObj spid="_x0000_s110594" name="Equation" r:id="rId3" imgW="139680" imgH="177480" progId="Equation.3">
              <p:embed/>
            </p:oleObj>
          </a:graphicData>
        </a:graphic>
      </p:graphicFrame>
      <p:graphicFrame>
        <p:nvGraphicFramePr>
          <p:cNvPr id="110595" name="Object 3"/>
          <p:cNvGraphicFramePr>
            <a:graphicFrameLocks noChangeAspect="1"/>
          </p:cNvGraphicFramePr>
          <p:nvPr/>
        </p:nvGraphicFramePr>
        <p:xfrm>
          <a:off x="3394075" y="2057400"/>
          <a:ext cx="1673225" cy="612775"/>
        </p:xfrm>
        <a:graphic>
          <a:graphicData uri="http://schemas.openxmlformats.org/presentationml/2006/ole">
            <p:oleObj spid="_x0000_s110595" name="Equation" r:id="rId4" imgW="1155600" imgH="419040" progId="Equation.3">
              <p:embed/>
            </p:oleObj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609600" y="3657600"/>
            <a:ext cx="77724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Sum of Poisson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PMF</a:t>
            </a: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110596" name="Object 4"/>
          <p:cNvGraphicFramePr>
            <a:graphicFrameLocks noChangeAspect="1"/>
          </p:cNvGraphicFramePr>
          <p:nvPr/>
        </p:nvGraphicFramePr>
        <p:xfrm>
          <a:off x="4038600" y="5486400"/>
          <a:ext cx="1012825" cy="650875"/>
        </p:xfrm>
        <a:graphic>
          <a:graphicData uri="http://schemas.openxmlformats.org/presentationml/2006/ole">
            <p:oleObj spid="_x0000_s110596" name="Equation" r:id="rId5" imgW="698400" imgH="444240" progId="Equation.3">
              <p:embed/>
            </p:oleObj>
          </a:graphicData>
        </a:graphic>
      </p:graphicFrame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1674813" y="4097338"/>
          <a:ext cx="1065212" cy="649287"/>
        </p:xfrm>
        <a:graphic>
          <a:graphicData uri="http://schemas.openxmlformats.org/presentationml/2006/ole">
            <p:oleObj spid="_x0000_s110597" name="Equation" r:id="rId6" imgW="73656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If the number of accidents occurring on a highway each day is a Poisson RV with parameter            . What is the probability that at least 1 accident occur  today?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111618" name="Object 2"/>
          <p:cNvGraphicFramePr>
            <a:graphicFrameLocks noChangeAspect="1"/>
          </p:cNvGraphicFramePr>
          <p:nvPr/>
        </p:nvGraphicFramePr>
        <p:xfrm>
          <a:off x="3200400" y="1600200"/>
          <a:ext cx="681038" cy="258763"/>
        </p:xfrm>
        <a:graphic>
          <a:graphicData uri="http://schemas.openxmlformats.org/presentationml/2006/ole">
            <p:oleObj spid="_x0000_s111618" name="Equation" r:id="rId3" imgW="46980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RV: 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Bernoulli RV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Binomial RV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Geometric RV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Poisson RV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148483" name="Object 3"/>
          <p:cNvGraphicFramePr>
            <a:graphicFrameLocks noChangeAspect="1"/>
          </p:cNvGraphicFramePr>
          <p:nvPr/>
        </p:nvGraphicFramePr>
        <p:xfrm>
          <a:off x="2743200" y="4572000"/>
          <a:ext cx="1673225" cy="612775"/>
        </p:xfrm>
        <a:graphic>
          <a:graphicData uri="http://schemas.openxmlformats.org/presentationml/2006/ole">
            <p:oleObj spid="_x0000_s148483" name="Equation" r:id="rId3" imgW="1155600" imgH="419040" progId="Equation.3">
              <p:embed/>
            </p:oleObj>
          </a:graphicData>
        </a:graphic>
      </p:graphicFrame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2667000" y="3733800"/>
          <a:ext cx="2241550" cy="360363"/>
        </p:xfrm>
        <a:graphic>
          <a:graphicData uri="http://schemas.openxmlformats.org/presentationml/2006/ole">
            <p:oleObj spid="_x0000_s148484" name="Equation" r:id="rId4" imgW="1422360" imgH="228600" progId="Equation.3">
              <p:embed/>
            </p:oleObj>
          </a:graphicData>
        </a:graphic>
      </p:graphicFrame>
      <p:graphicFrame>
        <p:nvGraphicFramePr>
          <p:cNvPr id="148486" name="Object 6"/>
          <p:cNvGraphicFramePr>
            <a:graphicFrameLocks noChangeAspect="1"/>
          </p:cNvGraphicFramePr>
          <p:nvPr/>
        </p:nvGraphicFramePr>
        <p:xfrm>
          <a:off x="2667000" y="2362200"/>
          <a:ext cx="2312987" cy="622300"/>
        </p:xfrm>
        <a:graphic>
          <a:graphicData uri="http://schemas.openxmlformats.org/presentationml/2006/ole">
            <p:oleObj spid="_x0000_s148486" name="Equation" r:id="rId5" imgW="1714320" imgH="457200" progId="Equation.3">
              <p:embed/>
            </p:oleObj>
          </a:graphicData>
        </a:graphic>
      </p:graphicFrame>
      <p:graphicFrame>
        <p:nvGraphicFramePr>
          <p:cNvPr id="148487" name="Object 7"/>
          <p:cNvGraphicFramePr>
            <a:graphicFrameLocks noChangeAspect="1"/>
          </p:cNvGraphicFramePr>
          <p:nvPr/>
        </p:nvGraphicFramePr>
        <p:xfrm>
          <a:off x="2514600" y="1524000"/>
          <a:ext cx="1322388" cy="319088"/>
        </p:xfrm>
        <a:graphic>
          <a:graphicData uri="http://schemas.openxmlformats.org/presentationml/2006/ole">
            <p:oleObj spid="_x0000_s148487" name="Equation" r:id="rId6" imgW="838080" imgH="203040" progId="Equation.3">
              <p:embed/>
            </p:oleObj>
          </a:graphicData>
        </a:graphic>
      </p:graphicFrame>
      <p:graphicFrame>
        <p:nvGraphicFramePr>
          <p:cNvPr id="148488" name="Object 8"/>
          <p:cNvGraphicFramePr>
            <a:graphicFrameLocks noChangeAspect="1"/>
          </p:cNvGraphicFramePr>
          <p:nvPr/>
        </p:nvGraphicFramePr>
        <p:xfrm>
          <a:off x="4267200" y="1524000"/>
          <a:ext cx="1643062" cy="319088"/>
        </p:xfrm>
        <a:graphic>
          <a:graphicData uri="http://schemas.openxmlformats.org/presentationml/2006/ole">
            <p:oleObj spid="_x0000_s148488" name="Equation" r:id="rId7" imgW="104112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Discrete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</a:p>
          <a:p>
            <a:pPr lvl="1"/>
            <a:r>
              <a:rPr lang="en-US" dirty="0" smtClean="0"/>
              <a:t>If a random variable can take an unaccountable number of values, then the random variable is a continuous random variable. </a:t>
            </a:r>
          </a:p>
          <a:p>
            <a:pPr lvl="1"/>
            <a:r>
              <a:rPr lang="en-US" dirty="0" smtClean="0"/>
              <a:t>Examples of continuous RV</a:t>
            </a:r>
          </a:p>
          <a:p>
            <a:pPr lvl="2"/>
            <a:r>
              <a:rPr lang="en-US" dirty="0" smtClean="0"/>
              <a:t>The daily average temperature </a:t>
            </a:r>
          </a:p>
          <a:p>
            <a:pPr lvl="2"/>
            <a:r>
              <a:rPr lang="en-US" dirty="0" smtClean="0"/>
              <a:t>The expected lifetime of a computer</a:t>
            </a:r>
          </a:p>
          <a:p>
            <a:pPr lvl="2"/>
            <a:r>
              <a:rPr lang="en-US" dirty="0" smtClean="0"/>
              <a:t>The amplitude of noise in an electronic component</a:t>
            </a:r>
          </a:p>
          <a:p>
            <a:pPr lvl="2"/>
            <a:r>
              <a:rPr lang="en-US" dirty="0" smtClean="0"/>
              <a:t>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2400300"/>
          </a:xfrm>
        </p:spPr>
        <p:txBody>
          <a:bodyPr/>
          <a:lstStyle/>
          <a:p>
            <a:r>
              <a:rPr lang="en-US" dirty="0" smtClean="0"/>
              <a:t>Cumulative distribution function (distribution function)</a:t>
            </a:r>
          </a:p>
          <a:p>
            <a:pPr lvl="1"/>
            <a:r>
              <a:rPr lang="en-US" dirty="0" smtClean="0"/>
              <a:t>The cumulative distribution function (CDF) of a continuous RV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probability that the RV </a:t>
            </a:r>
            <a:r>
              <a:rPr lang="en-US" i="1" dirty="0" smtClean="0"/>
              <a:t>X</a:t>
            </a:r>
            <a:r>
              <a:rPr lang="en-US" dirty="0" smtClean="0"/>
              <a:t> is smaller than or equal to </a:t>
            </a:r>
            <a:r>
              <a:rPr lang="en-US" i="1" dirty="0" smtClean="0"/>
              <a:t>x</a:t>
            </a:r>
          </a:p>
          <a:p>
            <a:pPr lvl="1"/>
            <a:r>
              <a:rPr lang="en-US" dirty="0" smtClean="0"/>
              <a:t>Recall: the CDF of a discrete RV </a:t>
            </a:r>
            <a:r>
              <a:rPr lang="en-US" i="1" dirty="0" smtClean="0"/>
              <a:t>Y</a:t>
            </a:r>
            <a:r>
              <a:rPr lang="en-US" dirty="0" smtClean="0"/>
              <a:t> is</a:t>
            </a:r>
          </a:p>
          <a:p>
            <a:pPr lvl="1"/>
            <a:r>
              <a:rPr lang="en-US" dirty="0" smtClean="0"/>
              <a:t>Properties of CDF </a:t>
            </a:r>
          </a:p>
          <a:p>
            <a:pPr lvl="1"/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112642" name="Object 2"/>
          <p:cNvGraphicFramePr>
            <a:graphicFrameLocks noChangeAspect="1"/>
          </p:cNvGraphicFramePr>
          <p:nvPr/>
        </p:nvGraphicFramePr>
        <p:xfrm>
          <a:off x="2971800" y="1676400"/>
          <a:ext cx="1843088" cy="339725"/>
        </p:xfrm>
        <a:graphic>
          <a:graphicData uri="http://schemas.openxmlformats.org/presentationml/2006/ole">
            <p:oleObj spid="_x0000_s112642" name="Equation" r:id="rId3" imgW="1168200" imgH="215640" progId="Equation.3">
              <p:embed/>
            </p:oleObj>
          </a:graphicData>
        </a:graphic>
      </p:graphicFrame>
      <p:graphicFrame>
        <p:nvGraphicFramePr>
          <p:cNvPr id="112643" name="Object 3"/>
          <p:cNvGraphicFramePr>
            <a:graphicFrameLocks noChangeAspect="1"/>
          </p:cNvGraphicFramePr>
          <p:nvPr/>
        </p:nvGraphicFramePr>
        <p:xfrm>
          <a:off x="4953000" y="2590800"/>
          <a:ext cx="1782762" cy="339725"/>
        </p:xfrm>
        <a:graphic>
          <a:graphicData uri="http://schemas.openxmlformats.org/presentationml/2006/ole">
            <p:oleObj spid="_x0000_s112643" name="Equation" r:id="rId4" imgW="1130040" imgH="215640" progId="Equation.3">
              <p:embed/>
            </p:oleObj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2438400" y="3505200"/>
          <a:ext cx="1322387" cy="339725"/>
        </p:xfrm>
        <a:graphic>
          <a:graphicData uri="http://schemas.openxmlformats.org/presentationml/2006/ole">
            <p:oleObj spid="_x0000_s112644" name="Equation" r:id="rId5" imgW="838080" imgH="215640" progId="Equation.3">
              <p:embed/>
            </p:oleObj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2438400" y="3962400"/>
          <a:ext cx="1201738" cy="339725"/>
        </p:xfrm>
        <a:graphic>
          <a:graphicData uri="http://schemas.openxmlformats.org/presentationml/2006/ole">
            <p:oleObj spid="_x0000_s112645" name="Equation" r:id="rId6" imgW="761760" imgH="215640" progId="Equation.3">
              <p:embed/>
            </p:oleObj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2438400" y="4419600"/>
          <a:ext cx="1022350" cy="339725"/>
        </p:xfrm>
        <a:graphic>
          <a:graphicData uri="http://schemas.openxmlformats.org/presentationml/2006/ole">
            <p:oleObj spid="_x0000_s112646" name="Equation" r:id="rId7" imgW="647640" imgH="215640" progId="Equation.3">
              <p:embed/>
            </p:oleObj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438400" y="5486400"/>
          <a:ext cx="660400" cy="339725"/>
        </p:xfrm>
        <a:graphic>
          <a:graphicData uri="http://schemas.openxmlformats.org/presentationml/2006/ole">
            <p:oleObj spid="_x0000_s112647" name="Equation" r:id="rId8" imgW="419040" imgH="215640" progId="Equation.3">
              <p:embed/>
            </p:oleObj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2438400" y="4953000"/>
          <a:ext cx="3302000" cy="339725"/>
        </p:xfrm>
        <a:graphic>
          <a:graphicData uri="http://schemas.openxmlformats.org/presentationml/2006/ole">
            <p:oleObj spid="_x0000_s112648" name="Equation" r:id="rId9" imgW="2095200" imgH="215640" progId="Equation.3">
              <p:embed/>
            </p:oleObj>
          </a:graphicData>
        </a:graphic>
      </p:graphicFrame>
      <p:sp>
        <p:nvSpPr>
          <p:cNvPr id="13" name="Content Placeholder 2"/>
          <p:cNvSpPr txBox="1">
            <a:spLocks/>
          </p:cNvSpPr>
          <p:nvPr/>
        </p:nvSpPr>
        <p:spPr>
          <a:xfrm>
            <a:off x="2590800" y="5410200"/>
            <a:ext cx="3733800" cy="533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is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 non-decreasing function of </a:t>
            </a:r>
            <a:r>
              <a:rPr kumimoji="0" lang="en-US" sz="18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endParaRPr kumimoji="0" lang="en-US" sz="18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particular random variable has a probability distribution function given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What is the probability that </a:t>
            </a:r>
          </a:p>
          <a:p>
            <a:pPr lvl="2"/>
            <a:r>
              <a:rPr lang="en-US" dirty="0" smtClean="0"/>
              <a:t>What is the probability that </a:t>
            </a:r>
          </a:p>
          <a:p>
            <a:pPr lvl="2"/>
            <a:r>
              <a:rPr lang="en-US" dirty="0" smtClean="0"/>
              <a:t>What is the probability that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113666" name="Object 2"/>
          <p:cNvGraphicFramePr>
            <a:graphicFrameLocks noChangeAspect="1"/>
          </p:cNvGraphicFramePr>
          <p:nvPr/>
        </p:nvGraphicFramePr>
        <p:xfrm>
          <a:off x="2514600" y="1828800"/>
          <a:ext cx="2133600" cy="667885"/>
        </p:xfrm>
        <a:graphic>
          <a:graphicData uri="http://schemas.openxmlformats.org/presentationml/2006/ole">
            <p:oleObj spid="_x0000_s113666" name="Equation" r:id="rId3" imgW="1536480" imgH="482400" progId="Equation.3">
              <p:embed/>
            </p:oleObj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4460875" y="2590800"/>
          <a:ext cx="811213" cy="246063"/>
        </p:xfrm>
        <a:graphic>
          <a:graphicData uri="http://schemas.openxmlformats.org/presentationml/2006/ole">
            <p:oleObj spid="_x0000_s113667" name="Equation" r:id="rId4" imgW="583920" imgH="177480" progId="Equation.3">
              <p:embed/>
            </p:oleObj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4460875" y="2895600"/>
          <a:ext cx="725488" cy="246063"/>
        </p:xfrm>
        <a:graphic>
          <a:graphicData uri="http://schemas.openxmlformats.org/presentationml/2006/ole">
            <p:oleObj spid="_x0000_s113668" name="Equation" r:id="rId5" imgW="520560" imgH="177480" progId="Equation.3">
              <p:embed/>
            </p:oleObj>
          </a:graphicData>
        </a:graphic>
      </p:graphicFrame>
      <p:graphicFrame>
        <p:nvGraphicFramePr>
          <p:cNvPr id="113669" name="Object 5"/>
          <p:cNvGraphicFramePr>
            <a:graphicFrameLocks noChangeAspect="1"/>
          </p:cNvGraphicFramePr>
          <p:nvPr/>
        </p:nvGraphicFramePr>
        <p:xfrm>
          <a:off x="4572000" y="3200400"/>
          <a:ext cx="1292225" cy="246063"/>
        </p:xfrm>
        <a:graphic>
          <a:graphicData uri="http://schemas.openxmlformats.org/presentationml/2006/ole">
            <p:oleObj spid="_x0000_s113669" name="Equation" r:id="rId6" imgW="92700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Probability density function (</a:t>
            </a:r>
            <a:r>
              <a:rPr lang="en-US" dirty="0" err="1" smtClean="0"/>
              <a:t>pdf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421063" y="1295400"/>
          <a:ext cx="1201737" cy="534988"/>
        </p:xfrm>
        <a:graphic>
          <a:graphicData uri="http://schemas.openxmlformats.org/presentationml/2006/ole">
            <p:oleObj spid="_x0000_s114690" name="Equation" r:id="rId3" imgW="888840" imgH="393480" progId="Equation.3">
              <p:embed/>
            </p:oleObj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14375" y="1849437"/>
            <a:ext cx="7772400" cy="81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>
                <a:latin typeface="Times New Roman" pitchFamily="18" charset="0"/>
                <a:cs typeface="Times New Roman" pitchFamily="18" charset="0"/>
              </a:rPr>
              <a:t>The “density” of probability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Review: differentiation</a:t>
            </a: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24262" name="Object 6"/>
          <p:cNvGraphicFramePr>
            <a:graphicFrameLocks noChangeAspect="1"/>
          </p:cNvGraphicFramePr>
          <p:nvPr/>
        </p:nvGraphicFramePr>
        <p:xfrm>
          <a:off x="2743200" y="2667000"/>
          <a:ext cx="2454275" cy="534988"/>
        </p:xfrm>
        <a:graphic>
          <a:graphicData uri="http://schemas.openxmlformats.org/presentationml/2006/ole">
            <p:oleObj spid="_x0000_s114692" name="Equation" r:id="rId4" imgW="1815840" imgH="393480" progId="Equation.3">
              <p:embed/>
            </p:oleObj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895600" y="4343400"/>
          <a:ext cx="2197100" cy="276225"/>
        </p:xfrm>
        <a:graphic>
          <a:graphicData uri="http://schemas.openxmlformats.org/presentationml/2006/ole">
            <p:oleObj spid="_x0000_s114693" name="Equation" r:id="rId5" imgW="1625400" imgH="203040" progId="Equation.3">
              <p:embed/>
            </p:oleObj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819400" y="3657600"/>
          <a:ext cx="2095500" cy="534987"/>
        </p:xfrm>
        <a:graphic>
          <a:graphicData uri="http://schemas.openxmlformats.org/presentationml/2006/ole">
            <p:oleObj spid="_x0000_s114694" name="Equation" r:id="rId6" imgW="1549080" imgH="393480" progId="Equation.3">
              <p:embed/>
            </p:oleObj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62000" y="3276601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1800" b="0" dirty="0" smtClean="0">
                <a:latin typeface="Times New Roman" pitchFamily="18" charset="0"/>
                <a:cs typeface="Times New Roman" pitchFamily="18" charset="0"/>
              </a:rPr>
              <a:t>Interpretation:</a:t>
            </a:r>
            <a:endParaRPr lang="en-US" b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469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791200" y="3810000"/>
            <a:ext cx="31051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</a:t>
            </a:r>
            <a:r>
              <a:rPr lang="en-US" dirty="0" err="1" smtClean="0"/>
              <a:t>pdf</a:t>
            </a:r>
            <a:r>
              <a:rPr lang="en-US" dirty="0" smtClean="0"/>
              <a:t> and CDF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Review: integration</a:t>
            </a:r>
          </a:p>
          <a:p>
            <a:pPr lvl="2"/>
            <a:r>
              <a:rPr lang="en-US" dirty="0" smtClean="0"/>
              <a:t> finding the area under the integrand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115714" name="Object 4"/>
          <p:cNvGraphicFramePr>
            <a:graphicFrameLocks noChangeAspect="1"/>
          </p:cNvGraphicFramePr>
          <p:nvPr/>
        </p:nvGraphicFramePr>
        <p:xfrm>
          <a:off x="1905000" y="1295400"/>
          <a:ext cx="1390650" cy="534988"/>
        </p:xfrm>
        <a:graphic>
          <a:graphicData uri="http://schemas.openxmlformats.org/presentationml/2006/ole">
            <p:oleObj spid="_x0000_s115714" name="Equation" r:id="rId3" imgW="1028520" imgH="393480" progId="Equation.3">
              <p:embed/>
            </p:oleObj>
          </a:graphicData>
        </a:graphic>
      </p:graphicFrame>
      <p:graphicFrame>
        <p:nvGraphicFramePr>
          <p:cNvPr id="115715" name="Object 4"/>
          <p:cNvGraphicFramePr>
            <a:graphicFrameLocks noChangeAspect="1"/>
          </p:cNvGraphicFramePr>
          <p:nvPr/>
        </p:nvGraphicFramePr>
        <p:xfrm>
          <a:off x="4495800" y="1371600"/>
          <a:ext cx="1731962" cy="447675"/>
        </p:xfrm>
        <a:graphic>
          <a:graphicData uri="http://schemas.openxmlformats.org/presentationml/2006/ole">
            <p:oleObj spid="_x0000_s115715" name="Equation" r:id="rId4" imgW="1282680" imgH="330120" progId="Equation.3">
              <p:embed/>
            </p:oleObj>
          </a:graphicData>
        </a:graphic>
      </p:graphicFrame>
      <p:graphicFrame>
        <p:nvGraphicFramePr>
          <p:cNvPr id="115716" name="Object 4"/>
          <p:cNvGraphicFramePr>
            <a:graphicFrameLocks noChangeAspect="1"/>
          </p:cNvGraphicFramePr>
          <p:nvPr/>
        </p:nvGraphicFramePr>
        <p:xfrm>
          <a:off x="1447800" y="2286000"/>
          <a:ext cx="2743200" cy="447675"/>
        </p:xfrm>
        <a:graphic>
          <a:graphicData uri="http://schemas.openxmlformats.org/presentationml/2006/ole">
            <p:oleObj spid="_x0000_s115716" name="Equation" r:id="rId5" imgW="2031840" imgH="330120" progId="Equation.3">
              <p:embed/>
            </p:oleObj>
          </a:graphicData>
        </a:graphic>
      </p:graphicFrame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1455738" y="2895600"/>
          <a:ext cx="2727325" cy="447675"/>
        </p:xfrm>
        <a:graphic>
          <a:graphicData uri="http://schemas.openxmlformats.org/presentationml/2006/ole">
            <p:oleObj spid="_x0000_s115717" name="Equation" r:id="rId6" imgW="2019240" imgH="330120" progId="Equation.3">
              <p:embed/>
            </p:oleObj>
          </a:graphicData>
        </a:graphic>
      </p:graphicFrame>
      <p:graphicFrame>
        <p:nvGraphicFramePr>
          <p:cNvPr id="115718" name="Object 6"/>
          <p:cNvGraphicFramePr>
            <a:graphicFrameLocks noChangeAspect="1"/>
          </p:cNvGraphicFramePr>
          <p:nvPr/>
        </p:nvGraphicFramePr>
        <p:xfrm>
          <a:off x="1828800" y="3581400"/>
          <a:ext cx="3654425" cy="447675"/>
        </p:xfrm>
        <a:graphic>
          <a:graphicData uri="http://schemas.openxmlformats.org/presentationml/2006/ole">
            <p:oleObj spid="_x0000_s115718" name="Equation" r:id="rId7" imgW="2705040" imgH="330120" progId="Equation.3">
              <p:embed/>
            </p:oleObj>
          </a:graphicData>
        </a:graphic>
      </p:graphicFrame>
      <p:pic>
        <p:nvPicPr>
          <p:cNvPr id="115719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86400" y="4267200"/>
            <a:ext cx="31623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5720" name="Object 8"/>
          <p:cNvGraphicFramePr>
            <a:graphicFrameLocks noChangeAspect="1"/>
          </p:cNvGraphicFramePr>
          <p:nvPr/>
        </p:nvGraphicFramePr>
        <p:xfrm>
          <a:off x="2133600" y="5486400"/>
          <a:ext cx="2092325" cy="638175"/>
        </p:xfrm>
        <a:graphic>
          <a:graphicData uri="http://schemas.openxmlformats.org/presentationml/2006/ole">
            <p:oleObj spid="_x0000_s115720" name="Equation" r:id="rId9" imgW="154908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Properties of </a:t>
            </a:r>
            <a:r>
              <a:rPr lang="en-US" dirty="0" err="1" smtClean="0"/>
              <a:t>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graphicFrame>
        <p:nvGraphicFramePr>
          <p:cNvPr id="224264" name="Object 8"/>
          <p:cNvGraphicFramePr>
            <a:graphicFrameLocks noChangeAspect="1"/>
          </p:cNvGraphicFramePr>
          <p:nvPr/>
        </p:nvGraphicFramePr>
        <p:xfrm>
          <a:off x="2362200" y="1981200"/>
          <a:ext cx="2128837" cy="449263"/>
        </p:xfrm>
        <a:graphic>
          <a:graphicData uri="http://schemas.openxmlformats.org/presentationml/2006/ole">
            <p:oleObj spid="_x0000_s116738" name="Equation" r:id="rId3" imgW="1574640" imgH="330120" progId="Equation.3">
              <p:embed/>
            </p:oleObj>
          </a:graphicData>
        </a:graphic>
      </p:graphicFrame>
      <p:graphicFrame>
        <p:nvGraphicFramePr>
          <p:cNvPr id="224265" name="Object 9"/>
          <p:cNvGraphicFramePr>
            <a:graphicFrameLocks noChangeAspect="1"/>
          </p:cNvGraphicFramePr>
          <p:nvPr/>
        </p:nvGraphicFramePr>
        <p:xfrm>
          <a:off x="2362200" y="2819400"/>
          <a:ext cx="1527175" cy="449263"/>
        </p:xfrm>
        <a:graphic>
          <a:graphicData uri="http://schemas.openxmlformats.org/presentationml/2006/ole">
            <p:oleObj spid="_x0000_s116739" name="Equation" r:id="rId4" imgW="1130040" imgH="330120" progId="Equation.3">
              <p:embed/>
            </p:oleObj>
          </a:graphicData>
        </a:graphic>
      </p:graphicFrame>
      <p:graphicFrame>
        <p:nvGraphicFramePr>
          <p:cNvPr id="224266" name="Object 10"/>
          <p:cNvGraphicFramePr>
            <a:graphicFrameLocks noChangeAspect="1"/>
          </p:cNvGraphicFramePr>
          <p:nvPr/>
        </p:nvGraphicFramePr>
        <p:xfrm>
          <a:off x="2362200" y="3429000"/>
          <a:ext cx="1184275" cy="449263"/>
        </p:xfrm>
        <a:graphic>
          <a:graphicData uri="http://schemas.openxmlformats.org/presentationml/2006/ole">
            <p:oleObj spid="_x0000_s116740" name="Equation" r:id="rId5" imgW="876240" imgH="330120" progId="Equation.3">
              <p:embed/>
            </p:oleObj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2362200" y="1447801"/>
          <a:ext cx="838200" cy="306400"/>
        </p:xfrm>
        <a:graphic>
          <a:graphicData uri="http://schemas.openxmlformats.org/presentationml/2006/ole">
            <p:oleObj spid="_x0000_s116741" name="Equation" r:id="rId6" imgW="55872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a RV X has the form</a:t>
            </a:r>
          </a:p>
          <a:p>
            <a:pPr lvl="2"/>
            <a:r>
              <a:rPr lang="en-US" dirty="0" smtClean="0"/>
              <a:t>The value of </a:t>
            </a:r>
            <a:r>
              <a:rPr lang="en-US" i="1" dirty="0" smtClean="0"/>
              <a:t>a</a:t>
            </a:r>
          </a:p>
          <a:p>
            <a:pPr lvl="2"/>
            <a:r>
              <a:rPr lang="en-US" dirty="0" smtClean="0"/>
              <a:t> the probability that </a:t>
            </a:r>
          </a:p>
          <a:p>
            <a:pPr lvl="2"/>
            <a:r>
              <a:rPr lang="en-US" dirty="0" smtClean="0"/>
              <a:t>The probability that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224266" name="Object 2"/>
          <p:cNvGraphicFramePr>
            <a:graphicFrameLocks noChangeAspect="1"/>
          </p:cNvGraphicFramePr>
          <p:nvPr/>
        </p:nvGraphicFramePr>
        <p:xfrm>
          <a:off x="4419600" y="1295400"/>
          <a:ext cx="1581150" cy="344488"/>
        </p:xfrm>
        <a:graphic>
          <a:graphicData uri="http://schemas.openxmlformats.org/presentationml/2006/ole">
            <p:oleObj spid="_x0000_s117762" name="Equation" r:id="rId3" imgW="1054080" imgH="228600" progId="Equation.3">
              <p:embed/>
            </p:oleObj>
          </a:graphicData>
        </a:graphic>
      </p:graphicFrame>
      <p:graphicFrame>
        <p:nvGraphicFramePr>
          <p:cNvPr id="117764" name="Object 4"/>
          <p:cNvGraphicFramePr>
            <a:graphicFrameLocks noChangeAspect="1"/>
          </p:cNvGraphicFramePr>
          <p:nvPr/>
        </p:nvGraphicFramePr>
        <p:xfrm>
          <a:off x="3810000" y="2286000"/>
          <a:ext cx="806450" cy="223838"/>
        </p:xfrm>
        <a:graphic>
          <a:graphicData uri="http://schemas.openxmlformats.org/presentationml/2006/ole">
            <p:oleObj spid="_x0000_s117764" name="Equation" r:id="rId4" imgW="596880" imgH="164880" progId="Equation.3">
              <p:embed/>
            </p:oleObj>
          </a:graphicData>
        </a:graphic>
      </p:graphicFrame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4038600" y="1981200"/>
          <a:ext cx="549275" cy="223838"/>
        </p:xfrm>
        <a:graphic>
          <a:graphicData uri="http://schemas.openxmlformats.org/presentationml/2006/ole">
            <p:oleObj spid="_x0000_s117765" name="Equation" r:id="rId5" imgW="406080" imgH="1648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Uniform distribution</a:t>
            </a:r>
          </a:p>
          <a:p>
            <a:pPr lvl="1"/>
            <a:r>
              <a:rPr lang="en-US" dirty="0" smtClean="0"/>
              <a:t>A random variable </a:t>
            </a:r>
            <a:r>
              <a:rPr lang="en-US" i="1" dirty="0" smtClean="0"/>
              <a:t>X</a:t>
            </a:r>
            <a:r>
              <a:rPr lang="en-US" dirty="0" smtClean="0"/>
              <a:t> is said to be uniformly distributed over the interval (</a:t>
            </a:r>
            <a:r>
              <a:rPr lang="en-US" i="1" dirty="0" smtClean="0"/>
              <a:t>a, b</a:t>
            </a:r>
            <a:r>
              <a:rPr lang="en-US" dirty="0" smtClean="0"/>
              <a:t>) if its </a:t>
            </a:r>
            <a:r>
              <a:rPr lang="en-US" dirty="0" err="1" smtClean="0"/>
              <a:t>pdf</a:t>
            </a:r>
            <a:r>
              <a:rPr lang="en-US" dirty="0" smtClean="0"/>
              <a:t> is given by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The RV has equal probability of being any number inside (</a:t>
            </a:r>
            <a:r>
              <a:rPr lang="en-US" i="1" dirty="0" smtClean="0"/>
              <a:t>a, 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224266" name="Object 2"/>
          <p:cNvGraphicFramePr>
            <a:graphicFrameLocks noChangeAspect="1"/>
          </p:cNvGraphicFramePr>
          <p:nvPr/>
        </p:nvGraphicFramePr>
        <p:xfrm>
          <a:off x="2743200" y="2057400"/>
          <a:ext cx="2609850" cy="919162"/>
        </p:xfrm>
        <a:graphic>
          <a:graphicData uri="http://schemas.openxmlformats.org/presentationml/2006/ole">
            <p:oleObj spid="_x0000_s118786" name="Equation" r:id="rId3" imgW="1739880" imgH="609480" progId="Equation.3">
              <p:embed/>
            </p:oleObj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2819400" y="5029200"/>
            <a:ext cx="3810000" cy="1588"/>
          </a:xfrm>
          <a:prstGeom prst="line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038600" y="4495800"/>
            <a:ext cx="9906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3771900" y="4762500"/>
            <a:ext cx="53340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4763294" y="4761706"/>
            <a:ext cx="53340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8787" name="Object 3"/>
          <p:cNvGraphicFramePr>
            <a:graphicFrameLocks noChangeAspect="1"/>
          </p:cNvGraphicFramePr>
          <p:nvPr/>
        </p:nvGraphicFramePr>
        <p:xfrm>
          <a:off x="4276725" y="3883025"/>
          <a:ext cx="481013" cy="534988"/>
        </p:xfrm>
        <a:graphic>
          <a:graphicData uri="http://schemas.openxmlformats.org/presentationml/2006/ole">
            <p:oleObj spid="_x0000_s118787" name="Equation" r:id="rId4" imgW="355320" imgH="393480" progId="Equation.3">
              <p:embed/>
            </p:oleObj>
          </a:graphicData>
        </a:graphic>
      </p:graphicFrame>
      <p:graphicFrame>
        <p:nvGraphicFramePr>
          <p:cNvPr id="118788" name="Object 4"/>
          <p:cNvGraphicFramePr>
            <a:graphicFrameLocks noChangeAspect="1"/>
          </p:cNvGraphicFramePr>
          <p:nvPr/>
        </p:nvGraphicFramePr>
        <p:xfrm>
          <a:off x="3962400" y="5105400"/>
          <a:ext cx="173037" cy="190500"/>
        </p:xfrm>
        <a:graphic>
          <a:graphicData uri="http://schemas.openxmlformats.org/presentationml/2006/ole">
            <p:oleObj spid="_x0000_s118788" name="Equation" r:id="rId5" imgW="126720" imgH="139680" progId="Equation.3">
              <p:embed/>
            </p:oleObj>
          </a:graphicData>
        </a:graphic>
      </p:graphicFrame>
      <p:graphicFrame>
        <p:nvGraphicFramePr>
          <p:cNvPr id="118789" name="Object 5"/>
          <p:cNvGraphicFramePr>
            <a:graphicFrameLocks noChangeAspect="1"/>
          </p:cNvGraphicFramePr>
          <p:nvPr/>
        </p:nvGraphicFramePr>
        <p:xfrm>
          <a:off x="4953000" y="5080000"/>
          <a:ext cx="173038" cy="242888"/>
        </p:xfrm>
        <a:graphic>
          <a:graphicData uri="http://schemas.openxmlformats.org/presentationml/2006/ole">
            <p:oleObj spid="_x0000_s118789" name="Equation" r:id="rId6" imgW="126720" imgH="177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Uniform distribution</a:t>
            </a:r>
          </a:p>
          <a:p>
            <a:pPr lvl="1"/>
            <a:r>
              <a:rPr lang="en-US" dirty="0" smtClean="0"/>
              <a:t>CDF of a uniform RV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676400"/>
            <a:ext cx="2286000" cy="1076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continuous RV </a:t>
            </a:r>
            <a:r>
              <a:rPr lang="en-US" i="1" dirty="0" smtClean="0"/>
              <a:t>X</a:t>
            </a:r>
            <a:r>
              <a:rPr lang="en-US" dirty="0" smtClean="0"/>
              <a:t> is uniformly distributed between (3, 8). Find the following probability</a:t>
            </a:r>
          </a:p>
          <a:p>
            <a:pPr lvl="2"/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224266" name="Object 2"/>
          <p:cNvGraphicFramePr>
            <a:graphicFrameLocks noChangeAspect="1"/>
          </p:cNvGraphicFramePr>
          <p:nvPr/>
        </p:nvGraphicFramePr>
        <p:xfrm>
          <a:off x="1905000" y="1828800"/>
          <a:ext cx="1295400" cy="307975"/>
        </p:xfrm>
        <a:graphic>
          <a:graphicData uri="http://schemas.openxmlformats.org/presentationml/2006/ole">
            <p:oleObj spid="_x0000_s120834" name="Equation" r:id="rId3" imgW="863280" imgH="203040" progId="Equation.3">
              <p:embed/>
            </p:oleObj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905000" y="2133600"/>
          <a:ext cx="1295400" cy="307975"/>
        </p:xfrm>
        <a:graphic>
          <a:graphicData uri="http://schemas.openxmlformats.org/presentationml/2006/ole">
            <p:oleObj spid="_x0000_s120835" name="Equation" r:id="rId4" imgW="863280" imgH="203040" progId="Equation.3">
              <p:embed/>
            </p:oleObj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905000" y="2514600"/>
          <a:ext cx="1295400" cy="307975"/>
        </p:xfrm>
        <a:graphic>
          <a:graphicData uri="http://schemas.openxmlformats.org/presentationml/2006/ole">
            <p:oleObj spid="_x0000_s120836" name="Equation" r:id="rId5" imgW="86328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Exponential RV</a:t>
            </a:r>
          </a:p>
          <a:p>
            <a:pPr lvl="1"/>
            <a:r>
              <a:rPr lang="en-US" dirty="0" smtClean="0"/>
              <a:t>The </a:t>
            </a:r>
            <a:r>
              <a:rPr lang="en-US" dirty="0" err="1" smtClean="0"/>
              <a:t>pdf</a:t>
            </a:r>
            <a:r>
              <a:rPr lang="en-US" dirty="0" smtClean="0"/>
              <a:t> of an exponential RV with parameter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The CDF of an exponential RV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graphicFrame>
        <p:nvGraphicFramePr>
          <p:cNvPr id="121858" name="Object 4"/>
          <p:cNvGraphicFramePr>
            <a:graphicFrameLocks noChangeAspect="1"/>
          </p:cNvGraphicFramePr>
          <p:nvPr/>
        </p:nvGraphicFramePr>
        <p:xfrm>
          <a:off x="3124200" y="1752600"/>
          <a:ext cx="1852613" cy="655637"/>
        </p:xfrm>
        <a:graphic>
          <a:graphicData uri="http://schemas.openxmlformats.org/presentationml/2006/ole">
            <p:oleObj spid="_x0000_s121858" name="Equation" r:id="rId3" imgW="1371600" imgH="482400" progId="Equation.3">
              <p:embed/>
            </p:oleObj>
          </a:graphicData>
        </a:graphic>
      </p:graphicFrame>
      <p:graphicFrame>
        <p:nvGraphicFramePr>
          <p:cNvPr id="121859" name="Object 4"/>
          <p:cNvGraphicFramePr>
            <a:graphicFrameLocks noChangeAspect="1"/>
          </p:cNvGraphicFramePr>
          <p:nvPr/>
        </p:nvGraphicFramePr>
        <p:xfrm>
          <a:off x="5715000" y="1295400"/>
          <a:ext cx="498475" cy="241300"/>
        </p:xfrm>
        <a:graphic>
          <a:graphicData uri="http://schemas.openxmlformats.org/presentationml/2006/ole">
            <p:oleObj spid="_x0000_s121859" name="Equation" r:id="rId4" imgW="368280" imgH="177480" progId="Equation.3">
              <p:embed/>
            </p:oleObj>
          </a:graphicData>
        </a:graphic>
      </p:graphicFrame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43600" y="1600200"/>
            <a:ext cx="2743200" cy="1911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43600" y="4038600"/>
            <a:ext cx="2819400" cy="1963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7772400" cy="13589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Normal RV (Gaussian RV)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 Gaussian RV X with parameters           and  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438400" y="1981200"/>
          <a:ext cx="2989262" cy="728663"/>
        </p:xfrm>
        <a:graphic>
          <a:graphicData uri="http://schemas.openxmlformats.org/presentationml/2006/ole">
            <p:oleObj spid="_x0000_s123906" name="Equation" r:id="rId3" imgW="1993680" imgH="482400" progId="Equation.3">
              <p:embed/>
            </p:oleObj>
          </a:graphicData>
        </a:graphic>
      </p:graphicFrame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1775" y="885825"/>
            <a:ext cx="25622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38400" y="4038600"/>
            <a:ext cx="5239395" cy="2674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3907" name="Object 3"/>
          <p:cNvGraphicFramePr>
            <a:graphicFrameLocks noChangeAspect="1"/>
          </p:cNvGraphicFramePr>
          <p:nvPr/>
        </p:nvGraphicFramePr>
        <p:xfrm>
          <a:off x="4800600" y="1371600"/>
          <a:ext cx="230187" cy="196850"/>
        </p:xfrm>
        <a:graphic>
          <a:graphicData uri="http://schemas.openxmlformats.org/presentationml/2006/ole">
            <p:oleObj spid="_x0000_s123907" name="Equation" r:id="rId6" imgW="164880" imgH="139680" progId="Equation.3">
              <p:embed/>
            </p:oleObj>
          </a:graphicData>
        </a:graphic>
      </p:graphicFrame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5762625" y="1277938"/>
          <a:ext cx="285750" cy="285750"/>
        </p:xfrm>
        <a:graphic>
          <a:graphicData uri="http://schemas.openxmlformats.org/presentationml/2006/ole">
            <p:oleObj spid="_x0000_s123908" name="Equation" r:id="rId7" imgW="20304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</a:t>
            </a: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Discrete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expected value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FF0000"/>
                </a:solidFill>
              </a:rPr>
              <a:t>mean</a:t>
            </a:r>
            <a:r>
              <a:rPr lang="en-US" dirty="0" smtClean="0"/>
              <a:t>, of a discrete RV, </a:t>
            </a:r>
            <a:r>
              <a:rPr lang="en-US" i="1" dirty="0" smtClean="0"/>
              <a:t>X</a:t>
            </a:r>
            <a:r>
              <a:rPr lang="en-US" dirty="0" smtClean="0"/>
              <a:t>,  is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The summation is performed over all the possible values of </a:t>
            </a:r>
            <a:r>
              <a:rPr lang="en-US" i="1" dirty="0" smtClean="0"/>
              <a:t>X.</a:t>
            </a:r>
          </a:p>
          <a:p>
            <a:pPr lvl="1"/>
            <a:r>
              <a:rPr lang="en-US" dirty="0" smtClean="0"/>
              <a:t>Expected value, mean, average, first moment</a:t>
            </a:r>
          </a:p>
          <a:p>
            <a:pPr lvl="1"/>
            <a:r>
              <a:rPr lang="en-US" dirty="0" smtClean="0"/>
              <a:t>Interpretation</a:t>
            </a:r>
          </a:p>
          <a:p>
            <a:pPr lvl="2"/>
            <a:r>
              <a:rPr lang="en-US" dirty="0" smtClean="0"/>
              <a:t>The </a:t>
            </a:r>
            <a:r>
              <a:rPr lang="en-US" i="1" dirty="0" smtClean="0"/>
              <a:t>weighted average </a:t>
            </a:r>
            <a:r>
              <a:rPr lang="en-US" dirty="0" smtClean="0"/>
              <a:t>of the random variable</a:t>
            </a:r>
          </a:p>
          <a:p>
            <a:pPr lvl="2"/>
            <a:r>
              <a:rPr lang="en-US" dirty="0" smtClean="0"/>
              <a:t>If the random variable takes all the values with equal probability, that is,                                                   , then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Given more weight to more probable values, and vice versa</a:t>
            </a:r>
          </a:p>
          <a:p>
            <a:pPr lvl="1"/>
            <a:r>
              <a:rPr lang="en-US" dirty="0" smtClean="0"/>
              <a:t>Also denoted as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graphicFrame>
        <p:nvGraphicFramePr>
          <p:cNvPr id="125954" name="Object 4"/>
          <p:cNvGraphicFramePr>
            <a:graphicFrameLocks noChangeAspect="1"/>
          </p:cNvGraphicFramePr>
          <p:nvPr/>
        </p:nvGraphicFramePr>
        <p:xfrm>
          <a:off x="3152775" y="1371600"/>
          <a:ext cx="1884363" cy="555625"/>
        </p:xfrm>
        <a:graphic>
          <a:graphicData uri="http://schemas.openxmlformats.org/presentationml/2006/ole">
            <p:oleObj spid="_x0000_s125954" name="Equation" r:id="rId3" imgW="1257120" imgH="368280" progId="Equation.3">
              <p:embed/>
            </p:oleObj>
          </a:graphicData>
        </a:graphic>
      </p:graphicFrame>
      <p:graphicFrame>
        <p:nvGraphicFramePr>
          <p:cNvPr id="125955" name="Object 4"/>
          <p:cNvGraphicFramePr>
            <a:graphicFrameLocks noChangeAspect="1"/>
          </p:cNvGraphicFramePr>
          <p:nvPr/>
        </p:nvGraphicFramePr>
        <p:xfrm>
          <a:off x="2209800" y="3505200"/>
          <a:ext cx="2743200" cy="480767"/>
        </p:xfrm>
        <a:graphic>
          <a:graphicData uri="http://schemas.openxmlformats.org/presentationml/2006/ole">
            <p:oleObj spid="_x0000_s125955" name="Equation" r:id="rId4" imgW="2260440" imgH="393480" progId="Equation.3">
              <p:embed/>
            </p:oleObj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429000" y="3962400"/>
          <a:ext cx="1233488" cy="527050"/>
        </p:xfrm>
        <a:graphic>
          <a:graphicData uri="http://schemas.openxmlformats.org/presentationml/2006/ole">
            <p:oleObj spid="_x0000_s125956" name="Equation" r:id="rId5" imgW="1015920" imgH="431640" progId="Equation.3">
              <p:embed/>
            </p:oleObj>
          </a:graphicData>
        </a:graphic>
      </p:graphicFrame>
      <p:graphicFrame>
        <p:nvGraphicFramePr>
          <p:cNvPr id="125957" name="Object 4"/>
          <p:cNvGraphicFramePr>
            <a:graphicFrameLocks noChangeAspect="1"/>
          </p:cNvGraphicFramePr>
          <p:nvPr/>
        </p:nvGraphicFramePr>
        <p:xfrm>
          <a:off x="2790825" y="5334000"/>
          <a:ext cx="1524000" cy="344488"/>
        </p:xfrm>
        <a:graphic>
          <a:graphicData uri="http://schemas.openxmlformats.org/presentationml/2006/ole">
            <p:oleObj spid="_x0000_s125957" name="Equation" r:id="rId6" imgW="101592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an unfair coin with Pr(H) = 0.3. Define the RV X, such that X = 0 if H, and X = 1 if T. Find the mean of X. (Bernoulli RV)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Find the mean of a geometric RV with parameter </a:t>
            </a:r>
            <a:r>
              <a:rPr lang="en-US" i="1" dirty="0" smtClean="0"/>
              <a:t>p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mean of a binomial RV with parameters </a:t>
            </a:r>
            <a:r>
              <a:rPr lang="en-US" i="1" dirty="0" smtClean="0"/>
              <a:t>n, k</a:t>
            </a:r>
            <a:r>
              <a:rPr lang="en-US" dirty="0" smtClean="0"/>
              <a:t>, and </a:t>
            </a:r>
            <a:r>
              <a:rPr lang="en-US" i="1" dirty="0" smtClean="0"/>
              <a:t>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mean of the Poisson RV with the parameter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6400800" y="1295400"/>
          <a:ext cx="228600" cy="292694"/>
        </p:xfrm>
        <a:graphic>
          <a:graphicData uri="http://schemas.openxmlformats.org/presentationml/2006/ole">
            <p:oleObj spid="_x0000_s126978" name="Equation" r:id="rId3" imgW="1396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value of any function of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i="1" dirty="0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): the expectation operator</a:t>
            </a:r>
          </a:p>
          <a:p>
            <a:pPr lvl="1"/>
            <a:r>
              <a:rPr lang="en-US" dirty="0" smtClean="0"/>
              <a:t>The variable of the expectation operator must be a random variable</a:t>
            </a:r>
          </a:p>
          <a:p>
            <a:pPr lvl="2"/>
            <a:r>
              <a:rPr lang="en-US" dirty="0" smtClean="0"/>
              <a:t>X is an RV</a:t>
            </a:r>
          </a:p>
          <a:p>
            <a:pPr lvl="2"/>
            <a:r>
              <a:rPr lang="en-US" dirty="0" smtClean="0"/>
              <a:t>g(X) is an RV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denoted 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41</a:t>
            </a:fld>
            <a:endParaRPr lang="en-US" altLang="zh-CN" dirty="0" smtClean="0"/>
          </a:p>
        </p:txBody>
      </p:sp>
      <p:graphicFrame>
        <p:nvGraphicFramePr>
          <p:cNvPr id="128002" name="Object 4"/>
          <p:cNvGraphicFramePr>
            <a:graphicFrameLocks noChangeAspect="1"/>
          </p:cNvGraphicFramePr>
          <p:nvPr/>
        </p:nvGraphicFramePr>
        <p:xfrm>
          <a:off x="2895600" y="1371600"/>
          <a:ext cx="2474913" cy="555625"/>
        </p:xfrm>
        <a:graphic>
          <a:graphicData uri="http://schemas.openxmlformats.org/presentationml/2006/ole">
            <p:oleObj spid="_x0000_s128002" name="Equation" r:id="rId3" imgW="1650960" imgH="368280" progId="Equation.3">
              <p:embed/>
            </p:oleObj>
          </a:graphicData>
        </a:graphic>
      </p:graphicFrame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3352800" y="3962400"/>
          <a:ext cx="1600200" cy="306388"/>
        </p:xfrm>
        <a:graphic>
          <a:graphicData uri="http://schemas.openxmlformats.org/presentationml/2006/ole">
            <p:oleObj spid="_x0000_s128004" name="Equation" r:id="rId4" imgW="1066680" imgH="203040" progId="Equation.3">
              <p:embed/>
            </p:oleObj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4419600" y="3962400"/>
            <a:ext cx="4572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gambling game of throwing 3 fair coins. Let X be the RV denoting the number of heads. The payoff is        , e.g. the Casino pays $0 for 0 H, $1 for 1H, $4 for 2H, and $9 for 3H. If the Casino charges $3.5 per play, will you play the game?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42</a:t>
            </a:fld>
            <a:endParaRPr lang="en-US" altLang="zh-CN" dirty="0" smtClean="0"/>
          </a:p>
        </p:txBody>
      </p:sp>
      <p:graphicFrame>
        <p:nvGraphicFramePr>
          <p:cNvPr id="129026" name="Object 2"/>
          <p:cNvGraphicFramePr>
            <a:graphicFrameLocks noChangeAspect="1"/>
          </p:cNvGraphicFramePr>
          <p:nvPr/>
        </p:nvGraphicFramePr>
        <p:xfrm>
          <a:off x="5562600" y="1524000"/>
          <a:ext cx="342900" cy="287338"/>
        </p:xfrm>
        <a:graphic>
          <a:graphicData uri="http://schemas.openxmlformats.org/presentationml/2006/ole">
            <p:oleObj spid="_x0000_s129026" name="Equation" r:id="rId4" imgW="228600" imgH="190440" progId="Equation.3">
              <p:embed/>
            </p:oleObj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Variance</a:t>
            </a:r>
          </a:p>
          <a:p>
            <a:pPr lvl="1"/>
            <a:r>
              <a:rPr lang="en-US" dirty="0" smtClean="0"/>
              <a:t>The variance of a discrete RV X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called: the 2</a:t>
            </a:r>
            <a:r>
              <a:rPr lang="en-US" baseline="30000" dirty="0" smtClean="0"/>
              <a:t>nd</a:t>
            </a:r>
            <a:r>
              <a:rPr lang="en-US" dirty="0" smtClean="0"/>
              <a:t> central moment of </a:t>
            </a:r>
            <a:r>
              <a:rPr lang="en-US" i="1" dirty="0" smtClean="0"/>
              <a:t>X</a:t>
            </a:r>
          </a:p>
          <a:p>
            <a:pPr lvl="1"/>
            <a:r>
              <a:rPr lang="en-US" dirty="0" smtClean="0"/>
              <a:t>Standard deviation: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Property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Physical interpretation</a:t>
            </a:r>
          </a:p>
          <a:p>
            <a:pPr lvl="2"/>
            <a:r>
              <a:rPr lang="en-US" dirty="0" smtClean="0"/>
              <a:t>How far away the random variable is from its expected value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43</a:t>
            </a:fld>
            <a:endParaRPr lang="en-US" altLang="zh-CN" dirty="0" smtClean="0"/>
          </a:p>
        </p:txBody>
      </p:sp>
      <p:graphicFrame>
        <p:nvGraphicFramePr>
          <p:cNvPr id="130050" name="Object 6"/>
          <p:cNvGraphicFramePr>
            <a:graphicFrameLocks noChangeAspect="1"/>
          </p:cNvGraphicFramePr>
          <p:nvPr/>
        </p:nvGraphicFramePr>
        <p:xfrm>
          <a:off x="1644650" y="1600200"/>
          <a:ext cx="4822825" cy="719138"/>
        </p:xfrm>
        <a:graphic>
          <a:graphicData uri="http://schemas.openxmlformats.org/presentationml/2006/ole">
            <p:oleObj spid="_x0000_s130050" name="Equation" r:id="rId3" imgW="3174840" imgH="469800" progId="Equation.3">
              <p:embed/>
            </p:oleObj>
          </a:graphicData>
        </a:graphic>
      </p:graphicFrame>
      <p:graphicFrame>
        <p:nvGraphicFramePr>
          <p:cNvPr id="130051" name="Object 6"/>
          <p:cNvGraphicFramePr>
            <a:graphicFrameLocks noChangeAspect="1"/>
          </p:cNvGraphicFramePr>
          <p:nvPr/>
        </p:nvGraphicFramePr>
        <p:xfrm>
          <a:off x="2895600" y="3276600"/>
          <a:ext cx="3067050" cy="776288"/>
        </p:xfrm>
        <a:graphic>
          <a:graphicData uri="http://schemas.openxmlformats.org/presentationml/2006/ole">
            <p:oleObj spid="_x0000_s130051" name="Equation" r:id="rId4" imgW="2019240" imgH="507960" progId="Equation.3">
              <p:embed/>
            </p:oleObj>
          </a:graphicData>
        </a:graphic>
      </p:graphicFrame>
      <p:graphicFrame>
        <p:nvGraphicFramePr>
          <p:cNvPr id="130052" name="Object 6"/>
          <p:cNvGraphicFramePr>
            <a:graphicFrameLocks noChangeAspect="1"/>
          </p:cNvGraphicFramePr>
          <p:nvPr/>
        </p:nvGraphicFramePr>
        <p:xfrm>
          <a:off x="2971800" y="4419600"/>
          <a:ext cx="1679575" cy="350838"/>
        </p:xfrm>
        <a:graphic>
          <a:graphicData uri="http://schemas.openxmlformats.org/presentationml/2006/ole">
            <p:oleObj spid="_x0000_s130052" name="Equation" r:id="rId5" imgW="1104840" imgH="228600" progId="Equation.3">
              <p:embed/>
            </p:oleObj>
          </a:graphicData>
        </a:graphic>
      </p:graphicFrame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2971800" y="5105400"/>
          <a:ext cx="1274762" cy="311150"/>
        </p:xfrm>
        <a:graphic>
          <a:graphicData uri="http://schemas.openxmlformats.org/presentationml/2006/ole">
            <p:oleObj spid="_x0000_s130053" name="Equation" r:id="rId6" imgW="838080" imgH="203040" progId="Equation.3">
              <p:embed/>
            </p:oleObj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variance of the Bernoulli RV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Consider a deterministic variable x = 3. What is the mean and variance?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44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smtClean="0"/>
              <a:t>n</a:t>
            </a:r>
            <a:r>
              <a:rPr lang="en-US" dirty="0" smtClean="0"/>
              <a:t>-</a:t>
            </a:r>
            <a:r>
              <a:rPr lang="en-US" dirty="0" err="1" smtClean="0"/>
              <a:t>th</a:t>
            </a:r>
            <a:r>
              <a:rPr lang="en-US" dirty="0" smtClean="0"/>
              <a:t>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moment:                 mean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moment: </a:t>
            </a:r>
          </a:p>
          <a:p>
            <a:endParaRPr lang="en-US" dirty="0" smtClean="0"/>
          </a:p>
          <a:p>
            <a:r>
              <a:rPr lang="en-US" dirty="0" smtClean="0"/>
              <a:t>The n-</a:t>
            </a:r>
            <a:r>
              <a:rPr lang="en-US" dirty="0" err="1" smtClean="0"/>
              <a:t>th</a:t>
            </a:r>
            <a:r>
              <a:rPr lang="en-US" dirty="0" smtClean="0"/>
              <a:t> central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central moment: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central moment:                                     variance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combination of all the moments, n = 1, 2, …., gives a complete description of the random variable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45</a:t>
            </a:fld>
            <a:endParaRPr lang="en-US" altLang="zh-CN" dirty="0" smtClean="0"/>
          </a:p>
        </p:txBody>
      </p:sp>
      <p:graphicFrame>
        <p:nvGraphicFramePr>
          <p:cNvPr id="131074" name="Object 4"/>
          <p:cNvGraphicFramePr>
            <a:graphicFrameLocks noChangeAspect="1"/>
          </p:cNvGraphicFramePr>
          <p:nvPr/>
        </p:nvGraphicFramePr>
        <p:xfrm>
          <a:off x="3048000" y="1371600"/>
          <a:ext cx="2000250" cy="555625"/>
        </p:xfrm>
        <a:graphic>
          <a:graphicData uri="http://schemas.openxmlformats.org/presentationml/2006/ole">
            <p:oleObj spid="_x0000_s131074" name="Equation" r:id="rId3" imgW="1333440" imgH="368280" progId="Equation.3">
              <p:embed/>
            </p:oleObj>
          </a:graphicData>
        </a:graphic>
      </p:graphicFrame>
      <p:graphicFrame>
        <p:nvGraphicFramePr>
          <p:cNvPr id="131075" name="Object 4"/>
          <p:cNvGraphicFramePr>
            <a:graphicFrameLocks noChangeAspect="1"/>
          </p:cNvGraphicFramePr>
          <p:nvPr/>
        </p:nvGraphicFramePr>
        <p:xfrm>
          <a:off x="2743200" y="1981200"/>
          <a:ext cx="571500" cy="306388"/>
        </p:xfrm>
        <a:graphic>
          <a:graphicData uri="http://schemas.openxmlformats.org/presentationml/2006/ole">
            <p:oleObj spid="_x0000_s131075" name="Equation" r:id="rId4" imgW="380880" imgH="203040" progId="Equation.3">
              <p:embed/>
            </p:oleObj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2667000" y="2286000"/>
          <a:ext cx="666750" cy="344488"/>
        </p:xfrm>
        <a:graphic>
          <a:graphicData uri="http://schemas.openxmlformats.org/presentationml/2006/ole">
            <p:oleObj spid="_x0000_s131076" name="Equation" r:id="rId5" imgW="444240" imgH="228600" progId="Equation.3">
              <p:embed/>
            </p:oleObj>
          </a:graphicData>
        </a:graphic>
      </p:graphicFrame>
      <p:graphicFrame>
        <p:nvGraphicFramePr>
          <p:cNvPr id="131077" name="Object 4"/>
          <p:cNvGraphicFramePr>
            <a:graphicFrameLocks noChangeAspect="1"/>
          </p:cNvGraphicFramePr>
          <p:nvPr/>
        </p:nvGraphicFramePr>
        <p:xfrm>
          <a:off x="2286000" y="3429000"/>
          <a:ext cx="3390900" cy="555625"/>
        </p:xfrm>
        <a:graphic>
          <a:graphicData uri="http://schemas.openxmlformats.org/presentationml/2006/ole">
            <p:oleObj spid="_x0000_s131077" name="Equation" r:id="rId6" imgW="2260440" imgH="368280" progId="Equation.3">
              <p:embed/>
            </p:oleObj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3581400" y="4114800"/>
          <a:ext cx="1238250" cy="325438"/>
        </p:xfrm>
        <a:graphic>
          <a:graphicData uri="http://schemas.openxmlformats.org/presentationml/2006/ole">
            <p:oleObj spid="_x0000_s131078" name="Equation" r:id="rId7" imgW="825480" imgH="215640" progId="Equation.3">
              <p:embed/>
            </p:oleObj>
          </a:graphicData>
        </a:graphic>
      </p:graphicFrame>
      <p:graphicFrame>
        <p:nvGraphicFramePr>
          <p:cNvPr id="131079" name="Object 7"/>
          <p:cNvGraphicFramePr>
            <a:graphicFrameLocks noChangeAspect="1"/>
          </p:cNvGraphicFramePr>
          <p:nvPr/>
        </p:nvGraphicFramePr>
        <p:xfrm>
          <a:off x="3505200" y="4495800"/>
          <a:ext cx="1752600" cy="363538"/>
        </p:xfrm>
        <a:graphic>
          <a:graphicData uri="http://schemas.openxmlformats.org/presentationml/2006/ole">
            <p:oleObj spid="_x0000_s131079" name="Equation" r:id="rId8" imgW="1168200" imgH="24120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46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Discrete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expected value</a:t>
            </a:r>
            <a:r>
              <a:rPr lang="en-US" dirty="0" smtClean="0"/>
              <a:t>, or </a:t>
            </a:r>
            <a:r>
              <a:rPr lang="en-US" dirty="0" smtClean="0">
                <a:solidFill>
                  <a:srgbClr val="FF0000"/>
                </a:solidFill>
              </a:rPr>
              <a:t>mean</a:t>
            </a:r>
            <a:r>
              <a:rPr lang="en-US" dirty="0" smtClean="0"/>
              <a:t>, of a continuous RV, </a:t>
            </a:r>
            <a:r>
              <a:rPr lang="en-US" i="1" dirty="0" smtClean="0"/>
              <a:t>X</a:t>
            </a:r>
            <a:r>
              <a:rPr lang="en-US" dirty="0" smtClean="0"/>
              <a:t>,  is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Recall: discrete RV </a:t>
            </a:r>
            <a:endParaRPr lang="en-US" i="1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Expected value, mean, average, first moment</a:t>
            </a:r>
          </a:p>
          <a:p>
            <a:pPr lvl="1"/>
            <a:r>
              <a:rPr lang="en-US" dirty="0" smtClean="0"/>
              <a:t>Interpretation</a:t>
            </a:r>
          </a:p>
          <a:p>
            <a:pPr lvl="2"/>
            <a:r>
              <a:rPr lang="en-US" dirty="0" smtClean="0"/>
              <a:t>The </a:t>
            </a:r>
            <a:r>
              <a:rPr lang="en-US" i="1" dirty="0" smtClean="0"/>
              <a:t>weighted average </a:t>
            </a:r>
            <a:r>
              <a:rPr lang="en-US" dirty="0" smtClean="0"/>
              <a:t>of the random variable</a:t>
            </a:r>
          </a:p>
          <a:p>
            <a:pPr lvl="2"/>
            <a:r>
              <a:rPr lang="en-US" dirty="0" smtClean="0"/>
              <a:t>Recall: integration is an extreme case of summation.</a:t>
            </a:r>
          </a:p>
          <a:p>
            <a:pPr lvl="1"/>
            <a:r>
              <a:rPr lang="en-US" dirty="0" smtClean="0"/>
              <a:t>Also denoted as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47</a:t>
            </a:fld>
            <a:endParaRPr lang="en-US" altLang="zh-CN" dirty="0" smtClean="0"/>
          </a:p>
        </p:txBody>
      </p:sp>
      <p:graphicFrame>
        <p:nvGraphicFramePr>
          <p:cNvPr id="125954" name="Object 4"/>
          <p:cNvGraphicFramePr>
            <a:graphicFrameLocks noChangeAspect="1"/>
          </p:cNvGraphicFramePr>
          <p:nvPr/>
        </p:nvGraphicFramePr>
        <p:xfrm>
          <a:off x="3048000" y="1295400"/>
          <a:ext cx="1922463" cy="496888"/>
        </p:xfrm>
        <a:graphic>
          <a:graphicData uri="http://schemas.openxmlformats.org/presentationml/2006/ole">
            <p:oleObj spid="_x0000_s132098" name="Equation" r:id="rId3" imgW="1282680" imgH="330120" progId="Equation.3">
              <p:embed/>
            </p:oleObj>
          </a:graphicData>
        </a:graphic>
      </p:graphicFrame>
      <p:graphicFrame>
        <p:nvGraphicFramePr>
          <p:cNvPr id="125957" name="Object 4"/>
          <p:cNvGraphicFramePr>
            <a:graphicFrameLocks noChangeAspect="1"/>
          </p:cNvGraphicFramePr>
          <p:nvPr/>
        </p:nvGraphicFramePr>
        <p:xfrm>
          <a:off x="3124200" y="4419600"/>
          <a:ext cx="1524000" cy="344488"/>
        </p:xfrm>
        <a:graphic>
          <a:graphicData uri="http://schemas.openxmlformats.org/presentationml/2006/ole">
            <p:oleObj spid="_x0000_s132101" name="Equation" r:id="rId4" imgW="1015920" imgH="228600" progId="Equation.3">
              <p:embed/>
            </p:oleObj>
          </a:graphicData>
        </a:graphic>
      </p:graphicFrame>
      <p:graphicFrame>
        <p:nvGraphicFramePr>
          <p:cNvPr id="132102" name="Object 4"/>
          <p:cNvGraphicFramePr>
            <a:graphicFrameLocks noChangeAspect="1"/>
          </p:cNvGraphicFramePr>
          <p:nvPr/>
        </p:nvGraphicFramePr>
        <p:xfrm>
          <a:off x="3505200" y="1981200"/>
          <a:ext cx="1884363" cy="555625"/>
        </p:xfrm>
        <a:graphic>
          <a:graphicData uri="http://schemas.openxmlformats.org/presentationml/2006/ole">
            <p:oleObj spid="_x0000_s132102" name="Equation" r:id="rId5" imgW="125712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mean of an RV X uniformly distributed in (a, 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48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The mean of an exponential RV with parameter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49</a:t>
            </a:fld>
            <a:endParaRPr lang="en-US" altLang="zh-CN" dirty="0" smtClean="0"/>
          </a:p>
        </p:txBody>
      </p:sp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5943600" y="1295400"/>
          <a:ext cx="228600" cy="292100"/>
        </p:xfrm>
        <a:graphic>
          <a:graphicData uri="http://schemas.openxmlformats.org/presentationml/2006/ole">
            <p:oleObj spid="_x0000_s133122" name="Equation" r:id="rId3" imgW="13968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value of any function of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Recall: discrete RV</a:t>
            </a:r>
          </a:p>
          <a:p>
            <a:pPr lvl="1"/>
            <a:r>
              <a:rPr lang="en-US" i="1" dirty="0" smtClean="0"/>
              <a:t>E</a:t>
            </a:r>
            <a:r>
              <a:rPr lang="en-US" dirty="0" smtClean="0"/>
              <a:t>(</a:t>
            </a:r>
            <a:r>
              <a:rPr lang="en-US" i="1" dirty="0" smtClean="0"/>
              <a:t>X</a:t>
            </a:r>
            <a:r>
              <a:rPr lang="en-US" dirty="0" smtClean="0"/>
              <a:t>): the expectation operator</a:t>
            </a:r>
          </a:p>
          <a:p>
            <a:pPr lvl="1"/>
            <a:r>
              <a:rPr lang="en-US" dirty="0" smtClean="0"/>
              <a:t>The variable of the expectation operator must be a random variable</a:t>
            </a:r>
          </a:p>
          <a:p>
            <a:pPr lvl="2"/>
            <a:r>
              <a:rPr lang="en-US" dirty="0" smtClean="0"/>
              <a:t>X is an RV</a:t>
            </a:r>
          </a:p>
          <a:p>
            <a:pPr lvl="2"/>
            <a:r>
              <a:rPr lang="en-US" dirty="0" smtClean="0"/>
              <a:t>g(X) is an RV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Also denoted 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50</a:t>
            </a:fld>
            <a:endParaRPr lang="en-US" altLang="zh-CN" dirty="0" smtClean="0"/>
          </a:p>
        </p:txBody>
      </p:sp>
      <p:graphicFrame>
        <p:nvGraphicFramePr>
          <p:cNvPr id="128002" name="Object 4"/>
          <p:cNvGraphicFramePr>
            <a:graphicFrameLocks noChangeAspect="1"/>
          </p:cNvGraphicFramePr>
          <p:nvPr/>
        </p:nvGraphicFramePr>
        <p:xfrm>
          <a:off x="3733800" y="1905000"/>
          <a:ext cx="2474913" cy="555625"/>
        </p:xfrm>
        <a:graphic>
          <a:graphicData uri="http://schemas.openxmlformats.org/presentationml/2006/ole">
            <p:oleObj spid="_x0000_s134146" name="Equation" r:id="rId3" imgW="1650960" imgH="368280" progId="Equation.3">
              <p:embed/>
            </p:oleObj>
          </a:graphicData>
        </a:graphic>
      </p:graphicFrame>
      <p:graphicFrame>
        <p:nvGraphicFramePr>
          <p:cNvPr id="128004" name="Object 4"/>
          <p:cNvGraphicFramePr>
            <a:graphicFrameLocks noChangeAspect="1"/>
          </p:cNvGraphicFramePr>
          <p:nvPr/>
        </p:nvGraphicFramePr>
        <p:xfrm>
          <a:off x="2743200" y="5410200"/>
          <a:ext cx="1600200" cy="306388"/>
        </p:xfrm>
        <a:graphic>
          <a:graphicData uri="http://schemas.openxmlformats.org/presentationml/2006/ole">
            <p:oleObj spid="_x0000_s134148" name="Equation" r:id="rId4" imgW="1066680" imgH="203040" progId="Equation.3">
              <p:embed/>
            </p:oleObj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3810000" y="5410200"/>
            <a:ext cx="4572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4149" name="Object 4"/>
          <p:cNvGraphicFramePr>
            <a:graphicFrameLocks noChangeAspect="1"/>
          </p:cNvGraphicFramePr>
          <p:nvPr/>
        </p:nvGraphicFramePr>
        <p:xfrm>
          <a:off x="3074988" y="1323975"/>
          <a:ext cx="2571750" cy="498475"/>
        </p:xfrm>
        <a:graphic>
          <a:graphicData uri="http://schemas.openxmlformats.org/presentationml/2006/ole">
            <p:oleObj spid="_x0000_s134149" name="Equation" r:id="rId5" imgW="1714320" imgH="330120" progId="Equation.3">
              <p:embed/>
            </p:oleObj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Variance</a:t>
            </a:r>
          </a:p>
          <a:p>
            <a:pPr lvl="1"/>
            <a:r>
              <a:rPr lang="en-US" dirty="0" smtClean="0"/>
              <a:t>The variance of a continuous RV X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Recall: discrete RV </a:t>
            </a:r>
          </a:p>
          <a:p>
            <a:pPr lvl="1"/>
            <a:r>
              <a:rPr lang="en-US" dirty="0" smtClean="0"/>
              <a:t>Also called: the 2</a:t>
            </a:r>
            <a:r>
              <a:rPr lang="en-US" baseline="30000" dirty="0" smtClean="0"/>
              <a:t>nd</a:t>
            </a:r>
            <a:r>
              <a:rPr lang="en-US" dirty="0" smtClean="0"/>
              <a:t> central moment of </a:t>
            </a:r>
            <a:r>
              <a:rPr lang="en-US" i="1" dirty="0" smtClean="0"/>
              <a:t>X</a:t>
            </a:r>
            <a:endParaRPr lang="en-US" dirty="0" smtClean="0"/>
          </a:p>
          <a:p>
            <a:pPr lvl="1"/>
            <a:r>
              <a:rPr lang="en-US" dirty="0" smtClean="0"/>
              <a:t>Standard deviation: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Property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Physical interpretation</a:t>
            </a:r>
          </a:p>
          <a:p>
            <a:pPr lvl="2"/>
            <a:r>
              <a:rPr lang="en-US" dirty="0" smtClean="0"/>
              <a:t>How far away the random variable is from its expected value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51</a:t>
            </a:fld>
            <a:endParaRPr lang="en-US" altLang="zh-CN" dirty="0" smtClean="0"/>
          </a:p>
        </p:txBody>
      </p:sp>
      <p:graphicFrame>
        <p:nvGraphicFramePr>
          <p:cNvPr id="130050" name="Object 6"/>
          <p:cNvGraphicFramePr>
            <a:graphicFrameLocks noChangeAspect="1"/>
          </p:cNvGraphicFramePr>
          <p:nvPr/>
        </p:nvGraphicFramePr>
        <p:xfrm>
          <a:off x="1752600" y="1676400"/>
          <a:ext cx="4957762" cy="506412"/>
        </p:xfrm>
        <a:graphic>
          <a:graphicData uri="http://schemas.openxmlformats.org/presentationml/2006/ole">
            <p:oleObj spid="_x0000_s135170" name="Equation" r:id="rId3" imgW="3263760" imgH="330120" progId="Equation.3">
              <p:embed/>
            </p:oleObj>
          </a:graphicData>
        </a:graphic>
      </p:graphicFrame>
      <p:graphicFrame>
        <p:nvGraphicFramePr>
          <p:cNvPr id="130052" name="Object 6"/>
          <p:cNvGraphicFramePr>
            <a:graphicFrameLocks noChangeAspect="1"/>
          </p:cNvGraphicFramePr>
          <p:nvPr/>
        </p:nvGraphicFramePr>
        <p:xfrm>
          <a:off x="2971800" y="4191000"/>
          <a:ext cx="1679575" cy="350838"/>
        </p:xfrm>
        <a:graphic>
          <a:graphicData uri="http://schemas.openxmlformats.org/presentationml/2006/ole">
            <p:oleObj spid="_x0000_s135172" name="Equation" r:id="rId4" imgW="1104840" imgH="228600" progId="Equation.3">
              <p:embed/>
            </p:oleObj>
          </a:graphicData>
        </a:graphic>
      </p:graphicFrame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2971800" y="4800600"/>
          <a:ext cx="1274762" cy="311150"/>
        </p:xfrm>
        <a:graphic>
          <a:graphicData uri="http://schemas.openxmlformats.org/presentationml/2006/ole">
            <p:oleObj spid="_x0000_s135173" name="Equation" r:id="rId5" imgW="838080" imgH="203040" progId="Equation.3">
              <p:embed/>
            </p:oleObj>
          </a:graphicData>
        </a:graphic>
      </p:graphicFrame>
      <p:graphicFrame>
        <p:nvGraphicFramePr>
          <p:cNvPr id="135174" name="Object 6"/>
          <p:cNvGraphicFramePr>
            <a:graphicFrameLocks noChangeAspect="1"/>
          </p:cNvGraphicFramePr>
          <p:nvPr/>
        </p:nvGraphicFramePr>
        <p:xfrm>
          <a:off x="3429000" y="3276600"/>
          <a:ext cx="347662" cy="330200"/>
        </p:xfrm>
        <a:graphic>
          <a:graphicData uri="http://schemas.openxmlformats.org/presentationml/2006/ole">
            <p:oleObj spid="_x0000_s135174" name="Equation" r:id="rId6" imgW="228600" imgH="215640" progId="Equation.3">
              <p:embed/>
            </p:oleObj>
          </a:graphicData>
        </a:graphic>
      </p:graphicFrame>
      <p:graphicFrame>
        <p:nvGraphicFramePr>
          <p:cNvPr id="135175" name="Object 6"/>
          <p:cNvGraphicFramePr>
            <a:graphicFrameLocks noChangeAspect="1"/>
          </p:cNvGraphicFramePr>
          <p:nvPr/>
        </p:nvGraphicFramePr>
        <p:xfrm>
          <a:off x="3657600" y="2362200"/>
          <a:ext cx="2411412" cy="719138"/>
        </p:xfrm>
        <a:graphic>
          <a:graphicData uri="http://schemas.openxmlformats.org/presentationml/2006/ole">
            <p:oleObj spid="_x0000_s135175" name="Equation" r:id="rId7" imgW="1587240" imgH="469800" progId="Equation.3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DISCRETE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i="1" dirty="0" smtClean="0"/>
              <a:t>n</a:t>
            </a:r>
            <a:r>
              <a:rPr lang="en-US" dirty="0" smtClean="0"/>
              <a:t>-</a:t>
            </a:r>
            <a:r>
              <a:rPr lang="en-US" dirty="0" err="1" smtClean="0"/>
              <a:t>th</a:t>
            </a:r>
            <a:r>
              <a:rPr lang="en-US" dirty="0" smtClean="0"/>
              <a:t>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moment:                 mean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moment: </a:t>
            </a:r>
          </a:p>
          <a:p>
            <a:endParaRPr lang="en-US" dirty="0" smtClean="0"/>
          </a:p>
          <a:p>
            <a:r>
              <a:rPr lang="en-US" dirty="0" smtClean="0"/>
              <a:t>The n-</a:t>
            </a:r>
            <a:r>
              <a:rPr lang="en-US" dirty="0" err="1" smtClean="0"/>
              <a:t>th</a:t>
            </a:r>
            <a:r>
              <a:rPr lang="en-US" dirty="0" smtClean="0"/>
              <a:t> central moment of the random variable X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central moment:</a:t>
            </a:r>
          </a:p>
          <a:p>
            <a:pPr lvl="1"/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central moment:                                     variance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The combination of all the moments, n = 1, 2, …., gives a complete description of the random variable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52</a:t>
            </a:fld>
            <a:endParaRPr lang="en-US" altLang="zh-CN" dirty="0" smtClean="0"/>
          </a:p>
        </p:txBody>
      </p:sp>
      <p:graphicFrame>
        <p:nvGraphicFramePr>
          <p:cNvPr id="131074" name="Object 4"/>
          <p:cNvGraphicFramePr>
            <a:graphicFrameLocks noChangeAspect="1"/>
          </p:cNvGraphicFramePr>
          <p:nvPr/>
        </p:nvGraphicFramePr>
        <p:xfrm>
          <a:off x="2971800" y="1295400"/>
          <a:ext cx="2152650" cy="496888"/>
        </p:xfrm>
        <a:graphic>
          <a:graphicData uri="http://schemas.openxmlformats.org/presentationml/2006/ole">
            <p:oleObj spid="_x0000_s136194" name="Equation" r:id="rId3" imgW="1434960" imgH="330120" progId="Equation.3">
              <p:embed/>
            </p:oleObj>
          </a:graphicData>
        </a:graphic>
      </p:graphicFrame>
      <p:graphicFrame>
        <p:nvGraphicFramePr>
          <p:cNvPr id="131075" name="Object 4"/>
          <p:cNvGraphicFramePr>
            <a:graphicFrameLocks noChangeAspect="1"/>
          </p:cNvGraphicFramePr>
          <p:nvPr/>
        </p:nvGraphicFramePr>
        <p:xfrm>
          <a:off x="2743200" y="1981200"/>
          <a:ext cx="571500" cy="306388"/>
        </p:xfrm>
        <a:graphic>
          <a:graphicData uri="http://schemas.openxmlformats.org/presentationml/2006/ole">
            <p:oleObj spid="_x0000_s136195" name="Equation" r:id="rId4" imgW="380880" imgH="203040" progId="Equation.3">
              <p:embed/>
            </p:oleObj>
          </a:graphicData>
        </a:graphic>
      </p:graphicFrame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2667000" y="2286000"/>
          <a:ext cx="666750" cy="344488"/>
        </p:xfrm>
        <a:graphic>
          <a:graphicData uri="http://schemas.openxmlformats.org/presentationml/2006/ole">
            <p:oleObj spid="_x0000_s136196" name="Equation" r:id="rId5" imgW="444240" imgH="228600" progId="Equation.3">
              <p:embed/>
            </p:oleObj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3581400" y="4114800"/>
          <a:ext cx="1238250" cy="325438"/>
        </p:xfrm>
        <a:graphic>
          <a:graphicData uri="http://schemas.openxmlformats.org/presentationml/2006/ole">
            <p:oleObj spid="_x0000_s136198" name="Equation" r:id="rId6" imgW="825480" imgH="215640" progId="Equation.3">
              <p:embed/>
            </p:oleObj>
          </a:graphicData>
        </a:graphic>
      </p:graphicFrame>
      <p:graphicFrame>
        <p:nvGraphicFramePr>
          <p:cNvPr id="131079" name="Object 7"/>
          <p:cNvGraphicFramePr>
            <a:graphicFrameLocks noChangeAspect="1"/>
          </p:cNvGraphicFramePr>
          <p:nvPr/>
        </p:nvGraphicFramePr>
        <p:xfrm>
          <a:off x="3505200" y="4495800"/>
          <a:ext cx="1752600" cy="363538"/>
        </p:xfrm>
        <a:graphic>
          <a:graphicData uri="http://schemas.openxmlformats.org/presentationml/2006/ole">
            <p:oleObj spid="_x0000_s136199" name="Equation" r:id="rId7" imgW="1168200" imgH="241200" progId="Equation.3">
              <p:embed/>
            </p:oleObj>
          </a:graphicData>
        </a:graphic>
      </p:graphicFrame>
      <p:graphicFrame>
        <p:nvGraphicFramePr>
          <p:cNvPr id="136200" name="Object 4"/>
          <p:cNvGraphicFramePr>
            <a:graphicFrameLocks noChangeAspect="1"/>
          </p:cNvGraphicFramePr>
          <p:nvPr/>
        </p:nvGraphicFramePr>
        <p:xfrm>
          <a:off x="2552700" y="3429000"/>
          <a:ext cx="2838450" cy="496888"/>
        </p:xfrm>
        <a:graphic>
          <a:graphicData uri="http://schemas.openxmlformats.org/presentationml/2006/ole">
            <p:oleObj spid="_x0000_s136200" name="Equation" r:id="rId8" imgW="1892160" imgH="330120" progId="Equation.3">
              <p:embed/>
            </p:oleObj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variance of an RV X uniformly distributed on (a, b)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53</a:t>
            </a:fld>
            <a:endParaRPr lang="en-US" altLang="zh-CN" dirty="0" smtClean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random variable                                  , where A, f are constants, and       is uniformly distributed in              . Find the expected value of </a:t>
            </a:r>
            <a:r>
              <a:rPr lang="en-US" i="1" dirty="0" smtClean="0"/>
              <a:t>Y</a:t>
            </a:r>
            <a:r>
              <a:rPr lang="en-US" dirty="0" smtClean="0"/>
              <a:t>.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54</a:t>
            </a:fld>
            <a:endParaRPr lang="en-US" altLang="zh-CN" dirty="0" smtClean="0"/>
          </a:p>
        </p:txBody>
      </p:sp>
      <p:graphicFrame>
        <p:nvGraphicFramePr>
          <p:cNvPr id="137218" name="Object 4"/>
          <p:cNvGraphicFramePr>
            <a:graphicFrameLocks noChangeAspect="1"/>
          </p:cNvGraphicFramePr>
          <p:nvPr/>
        </p:nvGraphicFramePr>
        <p:xfrm>
          <a:off x="4114800" y="1295400"/>
          <a:ext cx="1790700" cy="306388"/>
        </p:xfrm>
        <a:graphic>
          <a:graphicData uri="http://schemas.openxmlformats.org/presentationml/2006/ole">
            <p:oleObj spid="_x0000_s137218" name="Equation" r:id="rId3" imgW="1193760" imgH="203040" progId="Equation.3">
              <p:embed/>
            </p:oleObj>
          </a:graphicData>
        </a:graphic>
      </p:graphicFrame>
      <p:graphicFrame>
        <p:nvGraphicFramePr>
          <p:cNvPr id="137219" name="Object 4"/>
          <p:cNvGraphicFramePr>
            <a:graphicFrameLocks noChangeAspect="1"/>
          </p:cNvGraphicFramePr>
          <p:nvPr/>
        </p:nvGraphicFramePr>
        <p:xfrm>
          <a:off x="2819400" y="1600200"/>
          <a:ext cx="247650" cy="268288"/>
        </p:xfrm>
        <a:graphic>
          <a:graphicData uri="http://schemas.openxmlformats.org/presentationml/2006/ole">
            <p:oleObj spid="_x0000_s137219" name="Equation" r:id="rId4" imgW="164880" imgH="177480" progId="Equation.3">
              <p:embed/>
            </p:oleObj>
          </a:graphicData>
        </a:graphic>
      </p:graphicFrame>
      <p:graphicFrame>
        <p:nvGraphicFramePr>
          <p:cNvPr id="137220" name="Object 4"/>
          <p:cNvGraphicFramePr>
            <a:graphicFrameLocks noChangeAspect="1"/>
          </p:cNvGraphicFramePr>
          <p:nvPr/>
        </p:nvGraphicFramePr>
        <p:xfrm>
          <a:off x="5638800" y="1600200"/>
          <a:ext cx="628650" cy="306388"/>
        </p:xfrm>
        <a:graphic>
          <a:graphicData uri="http://schemas.openxmlformats.org/presentationml/2006/ole">
            <p:oleObj spid="_x0000_s137220" name="Equation" r:id="rId5" imgW="41904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CONTINUOUS RV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55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7772400" cy="13589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Normal RV (Gaussian RV)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b="1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2000" b="1" dirty="0" smtClean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spcBef>
                <a:spcPct val="20000"/>
              </a:spcBef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057400" y="1295400"/>
          <a:ext cx="2989262" cy="728663"/>
        </p:xfrm>
        <a:graphic>
          <a:graphicData uri="http://schemas.openxmlformats.org/presentationml/2006/ole">
            <p:oleObj spid="_x0000_s138242" name="Equation" r:id="rId3" imgW="1993680" imgH="482400" progId="Equation.3">
              <p:embed/>
            </p:oleObj>
          </a:graphicData>
        </a:graphic>
      </p:graphicFrame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81775" y="885825"/>
            <a:ext cx="256222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33400" y="2133600"/>
            <a:ext cx="7772400" cy="381000"/>
          </a:xfrm>
        </p:spPr>
        <p:txBody>
          <a:bodyPr/>
          <a:lstStyle/>
          <a:p>
            <a:pPr lvl="1"/>
            <a:r>
              <a:rPr lang="en-US" dirty="0" smtClean="0"/>
              <a:t>Find the mean and variance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762000" y="5562600"/>
            <a:ext cx="7772400" cy="838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Gaussian RV is completely determined by its first 2 moments.</a:t>
            </a:r>
          </a:p>
          <a:p>
            <a:pPr marL="1200150" lvl="2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 true for other RVs.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MOMENTS: CONTINUOUS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Gaussian RV</a:t>
            </a:r>
          </a:p>
          <a:p>
            <a:pPr lvl="1"/>
            <a:r>
              <a:rPr lang="en-US" dirty="0" smtClean="0"/>
              <a:t>Define: Q function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For a Gaussian RV X with mean </a:t>
            </a:r>
            <a:r>
              <a:rPr lang="en-US" i="1" dirty="0" smtClean="0"/>
              <a:t>m</a:t>
            </a:r>
            <a:r>
              <a:rPr lang="en-US" dirty="0" smtClean="0"/>
              <a:t> and variance        . What is the probability that X &lt; m -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56</a:t>
            </a:fld>
            <a:endParaRPr lang="en-US" altLang="zh-CN" dirty="0" smtClean="0"/>
          </a:p>
        </p:txBody>
      </p:sp>
      <p:graphicFrame>
        <p:nvGraphicFramePr>
          <p:cNvPr id="139266" name="Object 4"/>
          <p:cNvGraphicFramePr>
            <a:graphicFrameLocks noChangeAspect="1"/>
          </p:cNvGraphicFramePr>
          <p:nvPr/>
        </p:nvGraphicFramePr>
        <p:xfrm>
          <a:off x="2286000" y="1752600"/>
          <a:ext cx="2665413" cy="728663"/>
        </p:xfrm>
        <a:graphic>
          <a:graphicData uri="http://schemas.openxmlformats.org/presentationml/2006/ole">
            <p:oleObj spid="_x0000_s139266" name="Equation" r:id="rId3" imgW="1777680" imgH="482400" progId="Equation.3">
              <p:embed/>
            </p:oleObj>
          </a:graphicData>
        </a:graphic>
      </p:graphicFrame>
      <p:graphicFrame>
        <p:nvGraphicFramePr>
          <p:cNvPr id="139267" name="Object 4"/>
          <p:cNvGraphicFramePr>
            <a:graphicFrameLocks noChangeAspect="1"/>
          </p:cNvGraphicFramePr>
          <p:nvPr/>
        </p:nvGraphicFramePr>
        <p:xfrm>
          <a:off x="5943600" y="2590800"/>
          <a:ext cx="304800" cy="306387"/>
        </p:xfrm>
        <a:graphic>
          <a:graphicData uri="http://schemas.openxmlformats.org/presentationml/2006/ole">
            <p:oleObj spid="_x0000_s139267" name="Equation" r:id="rId4" imgW="203040" imgH="203040" progId="Equation.3">
              <p:embed/>
            </p:oleObj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3657600" y="2895600"/>
          <a:ext cx="228600" cy="211138"/>
        </p:xfrm>
        <a:graphic>
          <a:graphicData uri="http://schemas.openxmlformats.org/presentationml/2006/ole">
            <p:oleObj spid="_x0000_s139268" name="Equation" r:id="rId5" imgW="152280" imgH="1396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Discrete Random Variable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Random Variable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baseline="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Discrete RV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Moments of Continuous RV</a:t>
            </a:r>
            <a:endParaRPr lang="en-US" altLang="zh-CN" b="1" baseline="0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Functions of one RV</a:t>
            </a: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ONE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X is an RV with </a:t>
            </a:r>
            <a:r>
              <a:rPr lang="en-US" dirty="0" err="1" smtClean="0"/>
              <a:t>pdf</a:t>
            </a:r>
            <a:r>
              <a:rPr lang="en-US" dirty="0" smtClean="0"/>
              <a:t>              . Let Y = a X + b, where a and b are constants. What is the </a:t>
            </a:r>
            <a:r>
              <a:rPr lang="en-US" dirty="0" err="1" smtClean="0"/>
              <a:t>pdf</a:t>
            </a:r>
            <a:r>
              <a:rPr lang="en-US" dirty="0" smtClean="0"/>
              <a:t> of Y?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If X is a Gaussian RV with mean 0 and variance 1. Find the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58</a:t>
            </a:fld>
            <a:endParaRPr lang="en-US" altLang="zh-CN" dirty="0" smtClean="0"/>
          </a:p>
        </p:txBody>
      </p:sp>
      <p:graphicFrame>
        <p:nvGraphicFramePr>
          <p:cNvPr id="160770" name="Object 4"/>
          <p:cNvGraphicFramePr>
            <a:graphicFrameLocks noChangeAspect="1"/>
          </p:cNvGraphicFramePr>
          <p:nvPr/>
        </p:nvGraphicFramePr>
        <p:xfrm>
          <a:off x="3429000" y="1219200"/>
          <a:ext cx="609600" cy="325437"/>
        </p:xfrm>
        <a:graphic>
          <a:graphicData uri="http://schemas.openxmlformats.org/presentationml/2006/ole">
            <p:oleObj spid="_x0000_s160770" name="Equation" r:id="rId3" imgW="406080" imgH="215640" progId="Equation.3">
              <p:embed/>
            </p:oleObj>
          </a:graphicData>
        </a:graphic>
      </p:graphicFrame>
      <p:graphicFrame>
        <p:nvGraphicFramePr>
          <p:cNvPr id="160772" name="Object 4"/>
          <p:cNvGraphicFramePr>
            <a:graphicFrameLocks noChangeAspect="1"/>
          </p:cNvGraphicFramePr>
          <p:nvPr/>
        </p:nvGraphicFramePr>
        <p:xfrm>
          <a:off x="1495425" y="4278313"/>
          <a:ext cx="1104900" cy="266700"/>
        </p:xfrm>
        <a:graphic>
          <a:graphicData uri="http://schemas.openxmlformats.org/presentationml/2006/ole">
            <p:oleObj spid="_x0000_s160772" name="Equation" r:id="rId4" imgW="73656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ONE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If X is a Gaussian RV with mean 0 and variance 1.  Find the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59</a:t>
            </a:fld>
            <a:endParaRPr lang="en-US" altLang="zh-CN" dirty="0" smtClean="0"/>
          </a:p>
        </p:txBody>
      </p:sp>
      <p:graphicFrame>
        <p:nvGraphicFramePr>
          <p:cNvPr id="162819" name="Object 3"/>
          <p:cNvGraphicFramePr>
            <a:graphicFrameLocks noChangeAspect="1"/>
          </p:cNvGraphicFramePr>
          <p:nvPr/>
        </p:nvGraphicFramePr>
        <p:xfrm>
          <a:off x="7848600" y="1295400"/>
          <a:ext cx="723900" cy="287338"/>
        </p:xfrm>
        <a:graphic>
          <a:graphicData uri="http://schemas.openxmlformats.org/presentationml/2006/ole">
            <p:oleObj spid="_x0000_s162819" name="Equation" r:id="rId3" imgW="482400" imgH="1904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ONE RV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Let X be an exponential RV with parameter            . Find the </a:t>
            </a:r>
            <a:r>
              <a:rPr lang="en-US" dirty="0" err="1" smtClean="0"/>
              <a:t>pdf</a:t>
            </a:r>
            <a:r>
              <a:rPr lang="en-US" dirty="0" smtClean="0"/>
              <a:t> of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60</a:t>
            </a:fld>
            <a:endParaRPr lang="en-US" altLang="zh-CN" dirty="0" smtClean="0"/>
          </a:p>
        </p:txBody>
      </p:sp>
      <p:graphicFrame>
        <p:nvGraphicFramePr>
          <p:cNvPr id="163842" name="Object 2"/>
          <p:cNvGraphicFramePr>
            <a:graphicFrameLocks noChangeAspect="1"/>
          </p:cNvGraphicFramePr>
          <p:nvPr/>
        </p:nvGraphicFramePr>
        <p:xfrm>
          <a:off x="5514975" y="1314450"/>
          <a:ext cx="552450" cy="268288"/>
        </p:xfrm>
        <a:graphic>
          <a:graphicData uri="http://schemas.openxmlformats.org/presentationml/2006/ole">
            <p:oleObj spid="_x0000_s163842" name="Equation" r:id="rId3" imgW="368280" imgH="177480" progId="Equation.3">
              <p:embed/>
            </p:oleObj>
          </a:graphicData>
        </a:graphic>
      </p:graphicFrame>
      <p:graphicFrame>
        <p:nvGraphicFramePr>
          <p:cNvPr id="163843" name="Object 3"/>
          <p:cNvGraphicFramePr>
            <a:graphicFrameLocks noChangeAspect="1"/>
          </p:cNvGraphicFramePr>
          <p:nvPr/>
        </p:nvGraphicFramePr>
        <p:xfrm>
          <a:off x="7696200" y="1219200"/>
          <a:ext cx="723900" cy="287338"/>
        </p:xfrm>
        <a:graphic>
          <a:graphicData uri="http://schemas.openxmlformats.org/presentationml/2006/ole">
            <p:oleObj spid="_x0000_s163843" name="Equation" r:id="rId4" imgW="482400" imgH="1904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2533</Words>
  <Application>Microsoft Office PowerPoint</Application>
  <PresentationFormat>On-screen Show (4:3)</PresentationFormat>
  <Paragraphs>575</Paragraphs>
  <Slides>60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2" baseType="lpstr">
      <vt:lpstr>Office Theme</vt:lpstr>
      <vt:lpstr>Equation</vt:lpstr>
      <vt:lpstr>ELEG 3143 Probability &amp; Stochastic Process Ch. 2 Random Variables</vt:lpstr>
      <vt:lpstr>OUTLINE</vt:lpstr>
      <vt:lpstr>RANDOM VARIABLE</vt:lpstr>
      <vt:lpstr>RANDOM VARIABLE</vt:lpstr>
      <vt:lpstr>RANDOM VARIABLE</vt:lpstr>
      <vt:lpstr>RANDOM VARIABLE</vt:lpstr>
      <vt:lpstr>OUTLINE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</vt:lpstr>
      <vt:lpstr>DISCRETE RV </vt:lpstr>
      <vt:lpstr>DISCRETE RV: SUMMARY </vt:lpstr>
      <vt:lpstr>OUTLINE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CONTINUOUS RV</vt:lpstr>
      <vt:lpstr>OUTLINE</vt:lpstr>
      <vt:lpstr>MOMENTS: DISCRETE RV</vt:lpstr>
      <vt:lpstr>MOMENTS: DISCRETE RV</vt:lpstr>
      <vt:lpstr>MOMENTS: DISCRETE RV</vt:lpstr>
      <vt:lpstr>MOMENTS: DISCRETE RV</vt:lpstr>
      <vt:lpstr>MOMENTS: DISCRETE RV</vt:lpstr>
      <vt:lpstr>MOMENTS: DISCRETE RV</vt:lpstr>
      <vt:lpstr>MOMENTS: DISCRETE RV</vt:lpstr>
      <vt:lpstr>MOMENTS: DISCRETE RV</vt:lpstr>
      <vt:lpstr>MOMENTS: DISCRETE RV</vt:lpstr>
      <vt:lpstr>OUTLINE</vt:lpstr>
      <vt:lpstr>MOMENTS: DISCRETE RV</vt:lpstr>
      <vt:lpstr>MOMENTS: CONTINOUS RV</vt:lpstr>
      <vt:lpstr>MOMENTS: CONTINOUS RV</vt:lpstr>
      <vt:lpstr>MOMENTS: CONTINUOUS RV</vt:lpstr>
      <vt:lpstr>MOMENTS: CONTINUOUS RV</vt:lpstr>
      <vt:lpstr>MOMENTS: DISCRETE RV</vt:lpstr>
      <vt:lpstr>MOMENTS: CONTINUOUS RV</vt:lpstr>
      <vt:lpstr>MOMENTS</vt:lpstr>
      <vt:lpstr>CONTINUOUS RV</vt:lpstr>
      <vt:lpstr>MOMENTS: CONTINUOUS RV</vt:lpstr>
      <vt:lpstr>OUTLINE</vt:lpstr>
      <vt:lpstr>FUNCTIONS OF ONE RV</vt:lpstr>
      <vt:lpstr>FUNCTIONS OF ONE RV</vt:lpstr>
      <vt:lpstr>FUNCTIONS OF ONE RV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567</cp:revision>
  <dcterms:created xsi:type="dcterms:W3CDTF">2006-08-16T00:00:00Z</dcterms:created>
  <dcterms:modified xsi:type="dcterms:W3CDTF">2011-03-08T13:55:04Z</dcterms:modified>
</cp:coreProperties>
</file>