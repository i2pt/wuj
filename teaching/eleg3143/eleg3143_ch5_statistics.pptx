
<file path=[Content_Types].xml><?xml version="1.0" encoding="utf-8"?>
<Types xmlns="http://schemas.openxmlformats.org/package/2006/content-types">
  <Default Extension="png" ContentType="image/png"/>
  <Default Extension="bin" ContentType="application/vnd.openxmlformats-officedocument.oleObject"/>
  <Default Extension="wmf" ContentType="image/x-w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32"/>
  </p:notesMasterIdLst>
  <p:sldIdLst>
    <p:sldId id="256" r:id="rId2"/>
    <p:sldId id="360" r:id="rId3"/>
    <p:sldId id="332" r:id="rId4"/>
    <p:sldId id="366" r:id="rId5"/>
    <p:sldId id="367" r:id="rId6"/>
    <p:sldId id="333" r:id="rId7"/>
    <p:sldId id="368" r:id="rId8"/>
    <p:sldId id="369" r:id="rId9"/>
    <p:sldId id="370" r:id="rId10"/>
    <p:sldId id="371" r:id="rId11"/>
    <p:sldId id="379" r:id="rId12"/>
    <p:sldId id="372" r:id="rId13"/>
    <p:sldId id="373" r:id="rId14"/>
    <p:sldId id="375" r:id="rId15"/>
    <p:sldId id="376" r:id="rId16"/>
    <p:sldId id="377" r:id="rId17"/>
    <p:sldId id="380" r:id="rId18"/>
    <p:sldId id="378" r:id="rId19"/>
    <p:sldId id="391" r:id="rId20"/>
    <p:sldId id="381" r:id="rId21"/>
    <p:sldId id="382" r:id="rId22"/>
    <p:sldId id="383" r:id="rId23"/>
    <p:sldId id="384" r:id="rId24"/>
    <p:sldId id="388" r:id="rId25"/>
    <p:sldId id="389" r:id="rId26"/>
    <p:sldId id="385" r:id="rId27"/>
    <p:sldId id="386" r:id="rId28"/>
    <p:sldId id="387" r:id="rId29"/>
    <p:sldId id="390" r:id="rId30"/>
    <p:sldId id="392" r:id="rId3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99"/>
    <a:srgbClr val="0000CC"/>
    <a:srgbClr val="0033CC"/>
    <a:srgbClr val="3333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8491" autoAdjust="0"/>
    <p:restoredTop sz="88016" autoAdjust="0"/>
  </p:normalViewPr>
  <p:slideViewPr>
    <p:cSldViewPr>
      <p:cViewPr>
        <p:scale>
          <a:sx n="90" d="100"/>
          <a:sy n="90" d="100"/>
        </p:scale>
        <p:origin x="870" y="-78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image" Target="../media/image5.wmf"/><Relationship Id="rId1" Type="http://schemas.openxmlformats.org/officeDocument/2006/relationships/image" Target="../media/image4.wmf"/><Relationship Id="rId6" Type="http://schemas.openxmlformats.org/officeDocument/2006/relationships/image" Target="../media/image9.wmf"/><Relationship Id="rId5" Type="http://schemas.openxmlformats.org/officeDocument/2006/relationships/image" Target="../media/image8.wmf"/><Relationship Id="rId4" Type="http://schemas.openxmlformats.org/officeDocument/2006/relationships/image" Target="../media/image7.w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image" Target="../media/image11.wmf"/><Relationship Id="rId1" Type="http://schemas.openxmlformats.org/officeDocument/2006/relationships/image" Target="../media/image10.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2.w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15.wmf"/><Relationship Id="rId2" Type="http://schemas.openxmlformats.org/officeDocument/2006/relationships/image" Target="../media/image14.wmf"/><Relationship Id="rId1" Type="http://schemas.openxmlformats.org/officeDocument/2006/relationships/image" Target="../media/image13.wmf"/><Relationship Id="rId6" Type="http://schemas.openxmlformats.org/officeDocument/2006/relationships/image" Target="../media/image18.wmf"/><Relationship Id="rId5" Type="http://schemas.openxmlformats.org/officeDocument/2006/relationships/image" Target="../media/image17.wmf"/><Relationship Id="rId4" Type="http://schemas.openxmlformats.org/officeDocument/2006/relationships/image" Target="../media/image16.wmf"/></Relationships>
</file>

<file path=ppt/drawings/_rels/vmlDrawing5.vml.rels><?xml version="1.0" encoding="UTF-8" standalone="yes"?>
<Relationships xmlns="http://schemas.openxmlformats.org/package/2006/relationships"><Relationship Id="rId3" Type="http://schemas.openxmlformats.org/officeDocument/2006/relationships/image" Target="../media/image21.wmf"/><Relationship Id="rId2" Type="http://schemas.openxmlformats.org/officeDocument/2006/relationships/image" Target="../media/image20.wmf"/><Relationship Id="rId1" Type="http://schemas.openxmlformats.org/officeDocument/2006/relationships/image" Target="../media/image19.wmf"/><Relationship Id="rId6" Type="http://schemas.openxmlformats.org/officeDocument/2006/relationships/image" Target="../media/image23.wmf"/><Relationship Id="rId5" Type="http://schemas.openxmlformats.org/officeDocument/2006/relationships/image" Target="../media/image22.wmf"/><Relationship Id="rId4" Type="http://schemas.openxmlformats.org/officeDocument/2006/relationships/image" Target="../media/image4.wmf"/></Relationships>
</file>

<file path=ppt/drawings/_rels/vmlDrawing6.vml.rels><?xml version="1.0" encoding="UTF-8" standalone="yes"?>
<Relationships xmlns="http://schemas.openxmlformats.org/package/2006/relationships"><Relationship Id="rId3" Type="http://schemas.openxmlformats.org/officeDocument/2006/relationships/image" Target="../media/image26.wmf"/><Relationship Id="rId2" Type="http://schemas.openxmlformats.org/officeDocument/2006/relationships/image" Target="../media/image25.wmf"/><Relationship Id="rId1" Type="http://schemas.openxmlformats.org/officeDocument/2006/relationships/image" Target="../media/image24.wmf"/><Relationship Id="rId6" Type="http://schemas.openxmlformats.org/officeDocument/2006/relationships/image" Target="../media/image4.wmf"/><Relationship Id="rId5" Type="http://schemas.openxmlformats.org/officeDocument/2006/relationships/image" Target="../media/image28.wmf"/><Relationship Id="rId4" Type="http://schemas.openxmlformats.org/officeDocument/2006/relationships/image" Target="../media/image27.wmf"/></Relationships>
</file>

<file path=ppt/drawings/_rels/vmlDrawing7.vml.rels><?xml version="1.0" encoding="UTF-8" standalone="yes"?>
<Relationships xmlns="http://schemas.openxmlformats.org/package/2006/relationships"><Relationship Id="rId3" Type="http://schemas.openxmlformats.org/officeDocument/2006/relationships/image" Target="../media/image30.wmf"/><Relationship Id="rId2" Type="http://schemas.openxmlformats.org/officeDocument/2006/relationships/image" Target="../media/image29.wmf"/><Relationship Id="rId1" Type="http://schemas.openxmlformats.org/officeDocument/2006/relationships/image" Target="../media/image4.wmf"/><Relationship Id="rId4" Type="http://schemas.openxmlformats.org/officeDocument/2006/relationships/image" Target="../media/image31.wmf"/></Relationships>
</file>

<file path=ppt/drawings/_rels/vmlDrawing8.vml.rels><?xml version="1.0" encoding="UTF-8" standalone="yes"?>
<Relationships xmlns="http://schemas.openxmlformats.org/package/2006/relationships"><Relationship Id="rId8" Type="http://schemas.openxmlformats.org/officeDocument/2006/relationships/image" Target="../media/image39.wmf"/><Relationship Id="rId3" Type="http://schemas.openxmlformats.org/officeDocument/2006/relationships/image" Target="../media/image34.wmf"/><Relationship Id="rId7" Type="http://schemas.openxmlformats.org/officeDocument/2006/relationships/image" Target="../media/image38.wmf"/><Relationship Id="rId2" Type="http://schemas.openxmlformats.org/officeDocument/2006/relationships/image" Target="../media/image33.wmf"/><Relationship Id="rId1" Type="http://schemas.openxmlformats.org/officeDocument/2006/relationships/image" Target="../media/image32.wmf"/><Relationship Id="rId6" Type="http://schemas.openxmlformats.org/officeDocument/2006/relationships/image" Target="../media/image37.wmf"/><Relationship Id="rId5" Type="http://schemas.openxmlformats.org/officeDocument/2006/relationships/image" Target="../media/image36.wmf"/><Relationship Id="rId4" Type="http://schemas.openxmlformats.org/officeDocument/2006/relationships/image" Target="../media/image35.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39.wmf"/></Relationships>
</file>

<file path=ppt/drawings/_rels/vmlDrawing10.vml.rels><?xml version="1.0" encoding="UTF-8" standalone="yes"?>
<Relationships xmlns="http://schemas.openxmlformats.org/package/2006/relationships"><Relationship Id="rId2" Type="http://schemas.openxmlformats.org/officeDocument/2006/relationships/image" Target="../media/image46.wmf"/><Relationship Id="rId1" Type="http://schemas.openxmlformats.org/officeDocument/2006/relationships/image" Target="../media/image45.wmf"/></Relationships>
</file>

<file path=ppt/drawings/_rels/vmlDrawing11.vml.rels><?xml version="1.0" encoding="UTF-8" standalone="yes"?>
<Relationships xmlns="http://schemas.openxmlformats.org/package/2006/relationships"><Relationship Id="rId2" Type="http://schemas.openxmlformats.org/officeDocument/2006/relationships/image" Target="../media/image45.wmf"/><Relationship Id="rId1" Type="http://schemas.openxmlformats.org/officeDocument/2006/relationships/image" Target="../media/image47.wmf"/></Relationships>
</file>

<file path=ppt/drawings/_rels/vmlDrawing12.vml.rels><?xml version="1.0" encoding="UTF-8" standalone="yes"?>
<Relationships xmlns="http://schemas.openxmlformats.org/package/2006/relationships"><Relationship Id="rId3" Type="http://schemas.openxmlformats.org/officeDocument/2006/relationships/image" Target="../media/image39.wmf"/><Relationship Id="rId2" Type="http://schemas.openxmlformats.org/officeDocument/2006/relationships/image" Target="../media/image49.wmf"/><Relationship Id="rId1" Type="http://schemas.openxmlformats.org/officeDocument/2006/relationships/image" Target="../media/image48.wmf"/><Relationship Id="rId5" Type="http://schemas.openxmlformats.org/officeDocument/2006/relationships/image" Target="../media/image51.wmf"/><Relationship Id="rId4" Type="http://schemas.openxmlformats.org/officeDocument/2006/relationships/image" Target="../media/image50.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ACA95B8-4588-46D8-8F50-86C1DF9AFA24}" type="datetimeFigureOut">
              <a:rPr lang="en-US" smtClean="0"/>
              <a:pPr/>
              <a:t>4/3/2018</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17B99F5-9ED3-44CF-A144-70EBB5FD5410}" type="slidenum">
              <a:rPr lang="en-US" smtClean="0"/>
              <a:pPr/>
              <a:t>‹#›</a:t>
            </a:fld>
            <a:endParaRPr lang="en-US"/>
          </a:p>
        </p:txBody>
      </p:sp>
    </p:spTree>
    <p:extLst>
      <p:ext uri="{BB962C8B-B14F-4D97-AF65-F5344CB8AC3E}">
        <p14:creationId xmlns:p14="http://schemas.microsoft.com/office/powerpoint/2010/main" val="7964945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Demo </a:t>
            </a:r>
            <a:r>
              <a:rPr lang="en-US" dirty="0" err="1" smtClean="0"/>
              <a:t>sample_mean_Gaussian</a:t>
            </a:r>
            <a:endParaRPr lang="en-US" dirty="0" smtClean="0"/>
          </a:p>
          <a:p>
            <a:r>
              <a:rPr lang="en-US" dirty="0" smtClean="0"/>
              <a:t>Demo</a:t>
            </a:r>
            <a:r>
              <a:rPr lang="en-US" baseline="0" dirty="0" smtClean="0"/>
              <a:t> </a:t>
            </a:r>
            <a:r>
              <a:rPr lang="en-US" baseline="0" dirty="0" err="1" smtClean="0"/>
              <a:t>sample_mean_Bernoulli</a:t>
            </a:r>
            <a:endParaRPr lang="en-US" dirty="0"/>
          </a:p>
        </p:txBody>
      </p:sp>
      <p:sp>
        <p:nvSpPr>
          <p:cNvPr id="4" name="Slide Number Placeholder 3"/>
          <p:cNvSpPr>
            <a:spLocks noGrp="1"/>
          </p:cNvSpPr>
          <p:nvPr>
            <p:ph type="sldNum" sz="quarter" idx="10"/>
          </p:nvPr>
        </p:nvSpPr>
        <p:spPr/>
        <p:txBody>
          <a:bodyPr/>
          <a:lstStyle/>
          <a:p>
            <a:fld id="{317B99F5-9ED3-44CF-A144-70EBB5FD5410}" type="slidenum">
              <a:rPr lang="en-US" smtClean="0"/>
              <a:pPr/>
              <a:t>9</a:t>
            </a:fld>
            <a:endParaRPr lang="en-US"/>
          </a:p>
        </p:txBody>
      </p:sp>
    </p:spTree>
    <p:extLst>
      <p:ext uri="{BB962C8B-B14F-4D97-AF65-F5344CB8AC3E}">
        <p14:creationId xmlns:p14="http://schemas.microsoft.com/office/powerpoint/2010/main" val="12571462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E[(</a:t>
            </a:r>
            <a:r>
              <a:rPr lang="en-US" dirty="0" err="1" smtClean="0"/>
              <a:t>X_i</a:t>
            </a:r>
            <a:r>
              <a:rPr lang="en-US" dirty="0" smtClean="0"/>
              <a:t>-m)</a:t>
            </a:r>
            <a:r>
              <a:rPr lang="en-US" baseline="0" dirty="0" smtClean="0"/>
              <a:t> – 1/n \sum_{k=1}^n (</a:t>
            </a:r>
            <a:r>
              <a:rPr lang="en-US" baseline="0" dirty="0" err="1" smtClean="0"/>
              <a:t>X_k</a:t>
            </a:r>
            <a:r>
              <a:rPr lang="en-US" baseline="0" dirty="0" smtClean="0"/>
              <a:t>-m)]^2 = E(</a:t>
            </a:r>
            <a:r>
              <a:rPr lang="en-US" baseline="0" dirty="0" err="1" smtClean="0"/>
              <a:t>X_i</a:t>
            </a:r>
            <a:r>
              <a:rPr lang="en-US" baseline="0" dirty="0" smtClean="0"/>
              <a:t>-m)^2 + 1/n^2 \sum </a:t>
            </a:r>
            <a:r>
              <a:rPr lang="en-US" baseline="0" dirty="0" smtClean="0"/>
              <a:t>sigma^2 + 2/n E(</a:t>
            </a:r>
            <a:r>
              <a:rPr lang="en-US" baseline="0" dirty="0" err="1" smtClean="0"/>
              <a:t>X_i</a:t>
            </a:r>
            <a:r>
              <a:rPr lang="en-US" baseline="0" dirty="0" smtClean="0"/>
              <a:t>-m)^2 = (n-1)/n sigma^2</a:t>
            </a:r>
            <a:endParaRPr lang="en-US" dirty="0"/>
          </a:p>
        </p:txBody>
      </p:sp>
      <p:sp>
        <p:nvSpPr>
          <p:cNvPr id="4" name="Slide Number Placeholder 3"/>
          <p:cNvSpPr>
            <a:spLocks noGrp="1"/>
          </p:cNvSpPr>
          <p:nvPr>
            <p:ph type="sldNum" sz="quarter" idx="10"/>
          </p:nvPr>
        </p:nvSpPr>
        <p:spPr/>
        <p:txBody>
          <a:bodyPr/>
          <a:lstStyle/>
          <a:p>
            <a:fld id="{317B99F5-9ED3-44CF-A144-70EBB5FD5410}" type="slidenum">
              <a:rPr lang="en-US" smtClean="0"/>
              <a:pPr/>
              <a:t>12</a:t>
            </a:fld>
            <a:endParaRPr lang="en-US"/>
          </a:p>
        </p:txBody>
      </p:sp>
    </p:spTree>
    <p:extLst>
      <p:ext uri="{BB962C8B-B14F-4D97-AF65-F5344CB8AC3E}">
        <p14:creationId xmlns:p14="http://schemas.microsoft.com/office/powerpoint/2010/main" val="419592646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P(</a:t>
            </a:r>
            <a:endParaRPr lang="en-US" dirty="0"/>
          </a:p>
        </p:txBody>
      </p:sp>
      <p:sp>
        <p:nvSpPr>
          <p:cNvPr id="4" name="Slide Number Placeholder 3"/>
          <p:cNvSpPr>
            <a:spLocks noGrp="1"/>
          </p:cNvSpPr>
          <p:nvPr>
            <p:ph type="sldNum" sz="quarter" idx="10"/>
          </p:nvPr>
        </p:nvSpPr>
        <p:spPr/>
        <p:txBody>
          <a:bodyPr/>
          <a:lstStyle/>
          <a:p>
            <a:fld id="{317B99F5-9ED3-44CF-A144-70EBB5FD5410}" type="slidenum">
              <a:rPr lang="en-US" smtClean="0"/>
              <a:pPr/>
              <a:t>20</a:t>
            </a:fld>
            <a:endParaRPr lang="en-US"/>
          </a:p>
        </p:txBody>
      </p:sp>
    </p:spTree>
    <p:extLst>
      <p:ext uri="{BB962C8B-B14F-4D97-AF65-F5344CB8AC3E}">
        <p14:creationId xmlns:p14="http://schemas.microsoft.com/office/powerpoint/2010/main" val="193253694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A*</a:t>
            </a:r>
            <a:r>
              <a:rPr lang="en-US" dirty="0" err="1" smtClean="0"/>
              <a:t>sqrt</a:t>
            </a:r>
            <a:r>
              <a:rPr lang="en-US" dirty="0" smtClean="0"/>
              <a:t>(100)/0.5 = 1.96 </a:t>
            </a:r>
            <a:r>
              <a:rPr lang="en-US" dirty="0" smtClean="0">
                <a:sym typeface="Wingdings" pitchFamily="2" charset="2"/>
              </a:rPr>
              <a:t> a = 0.10 -&gt; [0.40, 0.60]</a:t>
            </a:r>
            <a:endParaRPr lang="en-US" dirty="0"/>
          </a:p>
        </p:txBody>
      </p:sp>
      <p:sp>
        <p:nvSpPr>
          <p:cNvPr id="4" name="Slide Number Placeholder 3"/>
          <p:cNvSpPr>
            <a:spLocks noGrp="1"/>
          </p:cNvSpPr>
          <p:nvPr>
            <p:ph type="sldNum" sz="quarter" idx="10"/>
          </p:nvPr>
        </p:nvSpPr>
        <p:spPr/>
        <p:txBody>
          <a:bodyPr/>
          <a:lstStyle/>
          <a:p>
            <a:fld id="{317B99F5-9ED3-44CF-A144-70EBB5FD5410}" type="slidenum">
              <a:rPr lang="en-US" smtClean="0"/>
              <a:pPr/>
              <a:t>27</a:t>
            </a:fld>
            <a:endParaRPr lang="en-US"/>
          </a:p>
        </p:txBody>
      </p:sp>
    </p:spTree>
    <p:extLst>
      <p:ext uri="{BB962C8B-B14F-4D97-AF65-F5344CB8AC3E}">
        <p14:creationId xmlns:p14="http://schemas.microsoft.com/office/powerpoint/2010/main" val="334630044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7" name="Line 9"/>
          <p:cNvSpPr>
            <a:spLocks noChangeShapeType="1"/>
          </p:cNvSpPr>
          <p:nvPr userDrawn="1"/>
        </p:nvSpPr>
        <p:spPr bwMode="auto">
          <a:xfrm>
            <a:off x="457200" y="3429000"/>
            <a:ext cx="8153400" cy="0"/>
          </a:xfrm>
          <a:prstGeom prst="line">
            <a:avLst/>
          </a:prstGeom>
          <a:noFill/>
          <a:ln w="9525">
            <a:solidFill>
              <a:schemeClr val="tx1"/>
            </a:solidFill>
            <a:round/>
            <a:headEnd/>
            <a:tailEnd/>
          </a:ln>
          <a:effectLst/>
        </p:spPr>
        <p:txBody>
          <a:bodyPr/>
          <a:lstStyle/>
          <a:p>
            <a:pPr>
              <a:defRPr/>
            </a:pPr>
            <a:endParaRPr lang="en-US"/>
          </a:p>
        </p:txBody>
      </p:sp>
      <p:sp>
        <p:nvSpPr>
          <p:cNvPr id="8" name="Text Box 12"/>
          <p:cNvSpPr txBox="1">
            <a:spLocks noChangeArrowheads="1"/>
          </p:cNvSpPr>
          <p:nvPr userDrawn="1"/>
        </p:nvSpPr>
        <p:spPr bwMode="auto">
          <a:xfrm>
            <a:off x="2846479" y="1346200"/>
            <a:ext cx="3897221" cy="615553"/>
          </a:xfrm>
          <a:prstGeom prst="rect">
            <a:avLst/>
          </a:prstGeom>
          <a:noFill/>
          <a:ln w="9525">
            <a:noFill/>
            <a:miter lim="800000"/>
            <a:headEnd/>
            <a:tailEnd/>
          </a:ln>
          <a:effectLst/>
        </p:spPr>
        <p:txBody>
          <a:bodyPr wrap="none">
            <a:spAutoFit/>
          </a:bodyPr>
          <a:lstStyle/>
          <a:p>
            <a:pPr algn="r">
              <a:defRPr/>
            </a:pPr>
            <a:r>
              <a:rPr lang="en-US" altLang="zh-CN" sz="1800" b="1" dirty="0">
                <a:latin typeface="Times New Roman" pitchFamily="18" charset="0"/>
                <a:ea typeface="宋体" pitchFamily="2" charset="-122"/>
                <a:cs typeface="Times New Roman" pitchFamily="18" charset="0"/>
              </a:rPr>
              <a:t>Department of Electrical Engineering</a:t>
            </a:r>
          </a:p>
          <a:p>
            <a:pPr algn="r">
              <a:defRPr/>
            </a:pPr>
            <a:r>
              <a:rPr lang="en-US" altLang="zh-CN" sz="1600" b="1" dirty="0">
                <a:latin typeface="Times New Roman" pitchFamily="18" charset="0"/>
                <a:ea typeface="宋体" pitchFamily="2" charset="-122"/>
                <a:cs typeface="Times New Roman" pitchFamily="18" charset="0"/>
              </a:rPr>
              <a:t>University of Arkansas</a:t>
            </a:r>
          </a:p>
        </p:txBody>
      </p:sp>
      <p:sp>
        <p:nvSpPr>
          <p:cNvPr id="10" name="Rectangle 2"/>
          <p:cNvSpPr>
            <a:spLocks noGrp="1" noChangeArrowheads="1"/>
          </p:cNvSpPr>
          <p:nvPr>
            <p:ph type="ctrTitle"/>
          </p:nvPr>
        </p:nvSpPr>
        <p:spPr>
          <a:xfrm>
            <a:off x="685800" y="2286000"/>
            <a:ext cx="7772400" cy="1143000"/>
          </a:xfrm>
          <a:prstGeom prst="rect">
            <a:avLst/>
          </a:prstGeom>
        </p:spPr>
        <p:txBody>
          <a:bodyPr/>
          <a:lstStyle>
            <a:lvl1pPr algn="r">
              <a:defRPr sz="3200">
                <a:latin typeface="Arial Black" pitchFamily="34" charset="0"/>
              </a:defRPr>
            </a:lvl1pPr>
          </a:lstStyle>
          <a:p>
            <a:r>
              <a:rPr lang="en-US" altLang="zh-CN" dirty="0"/>
              <a:t>Click to edit Master title style</a:t>
            </a:r>
          </a:p>
        </p:txBody>
      </p:sp>
      <p:sp>
        <p:nvSpPr>
          <p:cNvPr id="11" name="Rectangle 3"/>
          <p:cNvSpPr>
            <a:spLocks noGrp="1" noChangeArrowheads="1"/>
          </p:cNvSpPr>
          <p:nvPr>
            <p:ph type="subTitle" idx="1"/>
          </p:nvPr>
        </p:nvSpPr>
        <p:spPr>
          <a:xfrm>
            <a:off x="2057400" y="3581400"/>
            <a:ext cx="6400800" cy="762000"/>
          </a:xfrm>
          <a:prstGeom prst="rect">
            <a:avLst/>
          </a:prstGeom>
        </p:spPr>
        <p:txBody>
          <a:bodyPr>
            <a:normAutofit/>
          </a:bodyPr>
          <a:lstStyle>
            <a:lvl1pPr marL="0" indent="0" algn="r">
              <a:buFontTx/>
              <a:buNone/>
              <a:defRPr sz="2200" b="0">
                <a:solidFill>
                  <a:srgbClr val="000099"/>
                </a:solidFill>
                <a:latin typeface="Arial Black" pitchFamily="34" charset="0"/>
              </a:defRPr>
            </a:lvl1pPr>
          </a:lstStyle>
          <a:p>
            <a:r>
              <a:rPr lang="en-US" altLang="zh-CN" dirty="0"/>
              <a:t>Click to edit Master subtitle style</a:t>
            </a:r>
          </a:p>
        </p:txBody>
      </p:sp>
      <p:pic>
        <p:nvPicPr>
          <p:cNvPr id="12" name="Picture 16"/>
          <p:cNvPicPr>
            <a:picLocks noChangeAspect="1" noChangeArrowheads="1"/>
          </p:cNvPicPr>
          <p:nvPr userDrawn="1"/>
        </p:nvPicPr>
        <p:blipFill>
          <a:blip r:embed="rId2" cstate="print"/>
          <a:srcRect/>
          <a:stretch>
            <a:fillRect/>
          </a:stretch>
        </p:blipFill>
        <p:spPr bwMode="auto">
          <a:xfrm>
            <a:off x="6781800" y="1447800"/>
            <a:ext cx="1638300" cy="400050"/>
          </a:xfrm>
          <a:prstGeom prst="rect">
            <a:avLst/>
          </a:prstGeom>
          <a:noFill/>
          <a:ln w="9525">
            <a:noFill/>
            <a:miter lim="800000"/>
            <a:headEnd/>
            <a:tailEnd/>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7" name="Line 9"/>
          <p:cNvSpPr>
            <a:spLocks noChangeShapeType="1"/>
          </p:cNvSpPr>
          <p:nvPr userDrawn="1"/>
        </p:nvSpPr>
        <p:spPr bwMode="auto">
          <a:xfrm>
            <a:off x="152400" y="762000"/>
            <a:ext cx="8763000" cy="0"/>
          </a:xfrm>
          <a:prstGeom prst="line">
            <a:avLst/>
          </a:prstGeom>
          <a:noFill/>
          <a:ln w="9525">
            <a:solidFill>
              <a:schemeClr val="tx1"/>
            </a:solidFill>
            <a:round/>
            <a:headEnd/>
            <a:tailEnd/>
          </a:ln>
          <a:effectLst/>
        </p:spPr>
        <p:txBody>
          <a:bodyPr/>
          <a:lstStyle/>
          <a:p>
            <a:pPr>
              <a:defRPr/>
            </a:pPr>
            <a:endParaRPr lang="en-US"/>
          </a:p>
        </p:txBody>
      </p:sp>
      <p:sp>
        <p:nvSpPr>
          <p:cNvPr id="8" name="Title 1"/>
          <p:cNvSpPr>
            <a:spLocks noGrp="1"/>
          </p:cNvSpPr>
          <p:nvPr>
            <p:ph type="title"/>
          </p:nvPr>
        </p:nvSpPr>
        <p:spPr>
          <a:xfrm>
            <a:off x="228600" y="304800"/>
            <a:ext cx="7772400" cy="762000"/>
          </a:xfrm>
          <a:prstGeom prst="rect">
            <a:avLst/>
          </a:prstGeom>
        </p:spPr>
        <p:txBody>
          <a:bodyPr>
            <a:normAutofit/>
          </a:bodyPr>
          <a:lstStyle>
            <a:lvl1pPr algn="l">
              <a:defRPr sz="2400">
                <a:latin typeface="Arial Black" pitchFamily="34" charset="0"/>
              </a:defRPr>
            </a:lvl1pPr>
          </a:lstStyle>
          <a:p>
            <a:r>
              <a:rPr lang="en-US" dirty="0" smtClean="0"/>
              <a:t>Click to edit Master title style</a:t>
            </a:r>
            <a:endParaRPr lang="en-US" dirty="0"/>
          </a:p>
        </p:txBody>
      </p:sp>
      <p:sp>
        <p:nvSpPr>
          <p:cNvPr id="9" name="Content Placeholder 2"/>
          <p:cNvSpPr>
            <a:spLocks noGrp="1"/>
          </p:cNvSpPr>
          <p:nvPr>
            <p:ph idx="1"/>
          </p:nvPr>
        </p:nvSpPr>
        <p:spPr>
          <a:xfrm>
            <a:off x="609600" y="876300"/>
            <a:ext cx="7772400" cy="5600700"/>
          </a:xfrm>
          <a:prstGeom prst="rect">
            <a:avLst/>
          </a:prstGeom>
        </p:spPr>
        <p:txBody>
          <a:bodyPr>
            <a:normAutofit/>
          </a:bodyPr>
          <a:lstStyle>
            <a:lvl1pPr>
              <a:defRPr sz="2000" b="1">
                <a:solidFill>
                  <a:srgbClr val="000099"/>
                </a:solidFill>
                <a:latin typeface="Times New Roman" pitchFamily="18" charset="0"/>
                <a:cs typeface="Times New Roman" pitchFamily="18" charset="0"/>
              </a:defRPr>
            </a:lvl1pPr>
            <a:lvl2pPr>
              <a:defRPr sz="1800">
                <a:latin typeface="Times New Roman" pitchFamily="18" charset="0"/>
                <a:cs typeface="Times New Roman" pitchFamily="18" charset="0"/>
              </a:defRPr>
            </a:lvl2pPr>
            <a:lvl3pPr>
              <a:defRPr sz="1800">
                <a:latin typeface="Times New Roman" pitchFamily="18" charset="0"/>
                <a:cs typeface="Times New Roman" pitchFamily="18" charset="0"/>
              </a:defRPr>
            </a:lvl3pPr>
            <a:lvl4pPr>
              <a:defRPr sz="1800">
                <a:latin typeface="Times New Roman" pitchFamily="18" charset="0"/>
                <a:cs typeface="Times New Roman" pitchFamily="18" charset="0"/>
              </a:defRPr>
            </a:lvl4pPr>
            <a:lvl5pPr>
              <a:defRPr sz="1800">
                <a:latin typeface="Times New Roman" pitchFamily="18" charset="0"/>
                <a:cs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pic>
        <p:nvPicPr>
          <p:cNvPr id="10" name="Picture 9"/>
          <p:cNvPicPr>
            <a:picLocks noChangeAspect="1" noChangeArrowheads="1"/>
          </p:cNvPicPr>
          <p:nvPr userDrawn="1"/>
        </p:nvPicPr>
        <p:blipFill>
          <a:blip r:embed="rId2" cstate="print"/>
          <a:srcRect/>
          <a:stretch>
            <a:fillRect/>
          </a:stretch>
        </p:blipFill>
        <p:spPr bwMode="auto">
          <a:xfrm>
            <a:off x="152400" y="6248400"/>
            <a:ext cx="1781175" cy="476250"/>
          </a:xfrm>
          <a:prstGeom prst="rect">
            <a:avLst/>
          </a:prstGeom>
          <a:noFill/>
          <a:ln w="9525">
            <a:noFill/>
            <a:miter lim="800000"/>
            <a:headEnd/>
            <a:tailEnd/>
          </a:ln>
        </p:spPr>
      </p:pic>
      <p:sp>
        <p:nvSpPr>
          <p:cNvPr id="11" name="Slide Number Placeholder 3"/>
          <p:cNvSpPr>
            <a:spLocks noGrp="1"/>
          </p:cNvSpPr>
          <p:nvPr userDrawn="1">
            <p:ph type="sldNum" sz="quarter" idx="10"/>
          </p:nvPr>
        </p:nvSpPr>
        <p:spPr>
          <a:xfrm>
            <a:off x="7239000" y="0"/>
            <a:ext cx="1905000" cy="457200"/>
          </a:xfrm>
          <a:prstGeom prst="rect">
            <a:avLst/>
          </a:prstGeom>
          <a:noFill/>
        </p:spPr>
        <p:txBody>
          <a:bodyPr/>
          <a:lstStyle>
            <a:lvl1pPr algn="r">
              <a:defRPr b="1">
                <a:latin typeface="Times New Roman" pitchFamily="18" charset="0"/>
                <a:cs typeface="Times New Roman" pitchFamily="18" charset="0"/>
              </a:defRPr>
            </a:lvl1pPr>
          </a:lstStyle>
          <a:p>
            <a:fld id="{7A65BF99-0365-4788-A7C5-586C0382C80B}" type="slidenum">
              <a:rPr lang="zh-CN" altLang="en-US" smtClean="0"/>
              <a:pPr/>
              <a:t>‹#›</a:t>
            </a:fld>
            <a:endParaRPr lang="en-US" altLang="zh-CN" dirty="0" smtClean="0"/>
          </a:p>
        </p:txBody>
      </p:sp>
    </p:spTree>
  </p:cSld>
  <p:clrMapOvr>
    <a:masterClrMapping/>
  </p:clrMapOvr>
  <p:hf hdr="0" ftr="0" dt="0"/>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8" Type="http://schemas.openxmlformats.org/officeDocument/2006/relationships/image" Target="../media/image6.wmf"/><Relationship Id="rId13" Type="http://schemas.openxmlformats.org/officeDocument/2006/relationships/oleObject" Target="../embeddings/oleObject6.bin"/><Relationship Id="rId3" Type="http://schemas.openxmlformats.org/officeDocument/2006/relationships/oleObject" Target="../embeddings/oleObject1.bin"/><Relationship Id="rId7" Type="http://schemas.openxmlformats.org/officeDocument/2006/relationships/oleObject" Target="../embeddings/oleObject3.bin"/><Relationship Id="rId12" Type="http://schemas.openxmlformats.org/officeDocument/2006/relationships/image" Target="../media/image8.wmf"/><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image" Target="../media/image5.wmf"/><Relationship Id="rId11" Type="http://schemas.openxmlformats.org/officeDocument/2006/relationships/oleObject" Target="../embeddings/oleObject5.bin"/><Relationship Id="rId5" Type="http://schemas.openxmlformats.org/officeDocument/2006/relationships/oleObject" Target="../embeddings/oleObject2.bin"/><Relationship Id="rId15" Type="http://schemas.openxmlformats.org/officeDocument/2006/relationships/image" Target="../media/image3.png"/><Relationship Id="rId10" Type="http://schemas.openxmlformats.org/officeDocument/2006/relationships/image" Target="../media/image7.wmf"/><Relationship Id="rId4" Type="http://schemas.openxmlformats.org/officeDocument/2006/relationships/image" Target="../media/image4.wmf"/><Relationship Id="rId9" Type="http://schemas.openxmlformats.org/officeDocument/2006/relationships/oleObject" Target="../embeddings/oleObject4.bin"/><Relationship Id="rId14" Type="http://schemas.openxmlformats.org/officeDocument/2006/relationships/image" Target="../media/image9.wmf"/></Relationships>
</file>

<file path=ppt/slides/_rels/slide9.xml.rels><?xml version="1.0" encoding="UTF-8" standalone="yes"?>
<Relationships xmlns="http://schemas.openxmlformats.org/package/2006/relationships"><Relationship Id="rId8" Type="http://schemas.openxmlformats.org/officeDocument/2006/relationships/oleObject" Target="../embeddings/oleObject9.bin"/><Relationship Id="rId3" Type="http://schemas.openxmlformats.org/officeDocument/2006/relationships/notesSlide" Target="../notesSlides/notesSlide1.xml"/><Relationship Id="rId7" Type="http://schemas.openxmlformats.org/officeDocument/2006/relationships/image" Target="../media/image11.wmf"/><Relationship Id="rId2" Type="http://schemas.openxmlformats.org/officeDocument/2006/relationships/slideLayout" Target="../slideLayouts/slideLayout2.xml"/><Relationship Id="rId1" Type="http://schemas.openxmlformats.org/officeDocument/2006/relationships/vmlDrawing" Target="../drawings/vmlDrawing2.vml"/><Relationship Id="rId6" Type="http://schemas.openxmlformats.org/officeDocument/2006/relationships/oleObject" Target="../embeddings/oleObject8.bin"/><Relationship Id="rId5" Type="http://schemas.openxmlformats.org/officeDocument/2006/relationships/image" Target="../media/image10.wmf"/><Relationship Id="rId4" Type="http://schemas.openxmlformats.org/officeDocument/2006/relationships/oleObject" Target="../embeddings/oleObject7.bin"/><Relationship Id="rId9" Type="http://schemas.openxmlformats.org/officeDocument/2006/relationships/image" Target="../media/image7.wmf"/></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Layout" Target="../slideLayouts/slideLayout2.xml"/><Relationship Id="rId1" Type="http://schemas.openxmlformats.org/officeDocument/2006/relationships/vmlDrawing" Target="../drawings/vmlDrawing3.vml"/><Relationship Id="rId4" Type="http://schemas.openxmlformats.org/officeDocument/2006/relationships/image" Target="../media/image12.wmf"/></Relationships>
</file>

<file path=ppt/slides/_rels/slide12.xml.rels><?xml version="1.0" encoding="UTF-8" standalone="yes"?>
<Relationships xmlns="http://schemas.openxmlformats.org/package/2006/relationships"><Relationship Id="rId8" Type="http://schemas.openxmlformats.org/officeDocument/2006/relationships/oleObject" Target="../embeddings/oleObject13.bin"/><Relationship Id="rId13" Type="http://schemas.openxmlformats.org/officeDocument/2006/relationships/oleObject" Target="../embeddings/oleObject16.bin"/><Relationship Id="rId3" Type="http://schemas.openxmlformats.org/officeDocument/2006/relationships/notesSlide" Target="../notesSlides/notesSlide2.xml"/><Relationship Id="rId7" Type="http://schemas.openxmlformats.org/officeDocument/2006/relationships/image" Target="../media/image14.wmf"/><Relationship Id="rId12" Type="http://schemas.openxmlformats.org/officeDocument/2006/relationships/oleObject" Target="../embeddings/oleObject15.bin"/><Relationship Id="rId17" Type="http://schemas.openxmlformats.org/officeDocument/2006/relationships/image" Target="../media/image3.png"/><Relationship Id="rId2" Type="http://schemas.openxmlformats.org/officeDocument/2006/relationships/slideLayout" Target="../slideLayouts/slideLayout2.xml"/><Relationship Id="rId16" Type="http://schemas.openxmlformats.org/officeDocument/2006/relationships/image" Target="../media/image18.wmf"/><Relationship Id="rId1" Type="http://schemas.openxmlformats.org/officeDocument/2006/relationships/vmlDrawing" Target="../drawings/vmlDrawing4.vml"/><Relationship Id="rId6" Type="http://schemas.openxmlformats.org/officeDocument/2006/relationships/oleObject" Target="../embeddings/oleObject12.bin"/><Relationship Id="rId11" Type="http://schemas.openxmlformats.org/officeDocument/2006/relationships/image" Target="../media/image16.wmf"/><Relationship Id="rId5" Type="http://schemas.openxmlformats.org/officeDocument/2006/relationships/image" Target="../media/image13.wmf"/><Relationship Id="rId15" Type="http://schemas.openxmlformats.org/officeDocument/2006/relationships/oleObject" Target="../embeddings/oleObject17.bin"/><Relationship Id="rId10" Type="http://schemas.openxmlformats.org/officeDocument/2006/relationships/oleObject" Target="../embeddings/oleObject14.bin"/><Relationship Id="rId4" Type="http://schemas.openxmlformats.org/officeDocument/2006/relationships/oleObject" Target="../embeddings/oleObject11.bin"/><Relationship Id="rId9" Type="http://schemas.openxmlformats.org/officeDocument/2006/relationships/image" Target="../media/image15.wmf"/><Relationship Id="rId14" Type="http://schemas.openxmlformats.org/officeDocument/2006/relationships/image" Target="../media/image17.wmf"/></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8" Type="http://schemas.openxmlformats.org/officeDocument/2006/relationships/image" Target="../media/image21.wmf"/><Relationship Id="rId13" Type="http://schemas.openxmlformats.org/officeDocument/2006/relationships/image" Target="../media/image22.wmf"/><Relationship Id="rId3" Type="http://schemas.openxmlformats.org/officeDocument/2006/relationships/oleObject" Target="../embeddings/oleObject18.bin"/><Relationship Id="rId7" Type="http://schemas.openxmlformats.org/officeDocument/2006/relationships/oleObject" Target="../embeddings/oleObject20.bin"/><Relationship Id="rId12" Type="http://schemas.openxmlformats.org/officeDocument/2006/relationships/oleObject" Target="../embeddings/oleObject23.bin"/><Relationship Id="rId17" Type="http://schemas.openxmlformats.org/officeDocument/2006/relationships/image" Target="../media/image3.png"/><Relationship Id="rId2" Type="http://schemas.openxmlformats.org/officeDocument/2006/relationships/slideLayout" Target="../slideLayouts/slideLayout2.xml"/><Relationship Id="rId16" Type="http://schemas.openxmlformats.org/officeDocument/2006/relationships/oleObject" Target="../embeddings/oleObject25.bin"/><Relationship Id="rId1" Type="http://schemas.openxmlformats.org/officeDocument/2006/relationships/vmlDrawing" Target="../drawings/vmlDrawing5.vml"/><Relationship Id="rId6" Type="http://schemas.openxmlformats.org/officeDocument/2006/relationships/image" Target="../media/image20.wmf"/><Relationship Id="rId11" Type="http://schemas.openxmlformats.org/officeDocument/2006/relationships/oleObject" Target="../embeddings/oleObject22.bin"/><Relationship Id="rId5" Type="http://schemas.openxmlformats.org/officeDocument/2006/relationships/oleObject" Target="../embeddings/oleObject19.bin"/><Relationship Id="rId15" Type="http://schemas.openxmlformats.org/officeDocument/2006/relationships/image" Target="../media/image23.wmf"/><Relationship Id="rId10" Type="http://schemas.openxmlformats.org/officeDocument/2006/relationships/image" Target="../media/image4.wmf"/><Relationship Id="rId4" Type="http://schemas.openxmlformats.org/officeDocument/2006/relationships/image" Target="../media/image19.wmf"/><Relationship Id="rId9" Type="http://schemas.openxmlformats.org/officeDocument/2006/relationships/oleObject" Target="../embeddings/oleObject21.bin"/><Relationship Id="rId14" Type="http://schemas.openxmlformats.org/officeDocument/2006/relationships/oleObject" Target="../embeddings/oleObject24.bin"/></Relationships>
</file>

<file path=ppt/slides/_rels/slide18.xml.rels><?xml version="1.0" encoding="UTF-8" standalone="yes"?>
<Relationships xmlns="http://schemas.openxmlformats.org/package/2006/relationships"><Relationship Id="rId8" Type="http://schemas.openxmlformats.org/officeDocument/2006/relationships/image" Target="../media/image26.wmf"/><Relationship Id="rId13" Type="http://schemas.openxmlformats.org/officeDocument/2006/relationships/oleObject" Target="../embeddings/oleObject31.bin"/><Relationship Id="rId3" Type="http://schemas.openxmlformats.org/officeDocument/2006/relationships/oleObject" Target="../embeddings/oleObject26.bin"/><Relationship Id="rId7" Type="http://schemas.openxmlformats.org/officeDocument/2006/relationships/oleObject" Target="../embeddings/oleObject28.bin"/><Relationship Id="rId12" Type="http://schemas.openxmlformats.org/officeDocument/2006/relationships/image" Target="../media/image28.wmf"/><Relationship Id="rId2" Type="http://schemas.openxmlformats.org/officeDocument/2006/relationships/slideLayout" Target="../slideLayouts/slideLayout2.xml"/><Relationship Id="rId1" Type="http://schemas.openxmlformats.org/officeDocument/2006/relationships/vmlDrawing" Target="../drawings/vmlDrawing6.vml"/><Relationship Id="rId6" Type="http://schemas.openxmlformats.org/officeDocument/2006/relationships/image" Target="../media/image25.wmf"/><Relationship Id="rId11" Type="http://schemas.openxmlformats.org/officeDocument/2006/relationships/oleObject" Target="../embeddings/oleObject30.bin"/><Relationship Id="rId5" Type="http://schemas.openxmlformats.org/officeDocument/2006/relationships/oleObject" Target="../embeddings/oleObject27.bin"/><Relationship Id="rId15" Type="http://schemas.openxmlformats.org/officeDocument/2006/relationships/image" Target="../media/image4.wmf"/><Relationship Id="rId10" Type="http://schemas.openxmlformats.org/officeDocument/2006/relationships/image" Target="../media/image27.wmf"/><Relationship Id="rId4" Type="http://schemas.openxmlformats.org/officeDocument/2006/relationships/image" Target="../media/image24.wmf"/><Relationship Id="rId9" Type="http://schemas.openxmlformats.org/officeDocument/2006/relationships/oleObject" Target="../embeddings/oleObject29.bin"/><Relationship Id="rId14" Type="http://schemas.openxmlformats.org/officeDocument/2006/relationships/oleObject" Target="../embeddings/oleObject32.bin"/></Relationships>
</file>

<file path=ppt/slides/_rels/slide19.xml.rels><?xml version="1.0" encoding="UTF-8" standalone="yes"?>
<Relationships xmlns="http://schemas.openxmlformats.org/package/2006/relationships"><Relationship Id="rId8" Type="http://schemas.openxmlformats.org/officeDocument/2006/relationships/image" Target="../media/image30.wmf"/><Relationship Id="rId3" Type="http://schemas.openxmlformats.org/officeDocument/2006/relationships/oleObject" Target="../embeddings/oleObject33.bin"/><Relationship Id="rId7" Type="http://schemas.openxmlformats.org/officeDocument/2006/relationships/oleObject" Target="../embeddings/oleObject35.bin"/><Relationship Id="rId2" Type="http://schemas.openxmlformats.org/officeDocument/2006/relationships/slideLayout" Target="../slideLayouts/slideLayout2.xml"/><Relationship Id="rId1" Type="http://schemas.openxmlformats.org/officeDocument/2006/relationships/vmlDrawing" Target="../drawings/vmlDrawing7.vml"/><Relationship Id="rId6" Type="http://schemas.openxmlformats.org/officeDocument/2006/relationships/image" Target="../media/image29.wmf"/><Relationship Id="rId5" Type="http://schemas.openxmlformats.org/officeDocument/2006/relationships/oleObject" Target="../embeddings/oleObject34.bin"/><Relationship Id="rId10" Type="http://schemas.openxmlformats.org/officeDocument/2006/relationships/image" Target="../media/image31.wmf"/><Relationship Id="rId4" Type="http://schemas.openxmlformats.org/officeDocument/2006/relationships/image" Target="../media/image4.wmf"/><Relationship Id="rId9" Type="http://schemas.openxmlformats.org/officeDocument/2006/relationships/oleObject" Target="../embeddings/oleObject36.bin"/></Relationships>
</file>

<file path=ppt/slides/_rels/slide20.xml.rels><?xml version="1.0" encoding="UTF-8" standalone="yes"?>
<Relationships xmlns="http://schemas.openxmlformats.org/package/2006/relationships"><Relationship Id="rId8" Type="http://schemas.openxmlformats.org/officeDocument/2006/relationships/oleObject" Target="../embeddings/oleObject39.bin"/><Relationship Id="rId13" Type="http://schemas.openxmlformats.org/officeDocument/2006/relationships/image" Target="../media/image36.wmf"/><Relationship Id="rId18" Type="http://schemas.openxmlformats.org/officeDocument/2006/relationships/oleObject" Target="../embeddings/oleObject44.bin"/><Relationship Id="rId3" Type="http://schemas.openxmlformats.org/officeDocument/2006/relationships/notesSlide" Target="../notesSlides/notesSlide3.xml"/><Relationship Id="rId7" Type="http://schemas.openxmlformats.org/officeDocument/2006/relationships/image" Target="../media/image33.wmf"/><Relationship Id="rId12" Type="http://schemas.openxmlformats.org/officeDocument/2006/relationships/oleObject" Target="../embeddings/oleObject41.bin"/><Relationship Id="rId17" Type="http://schemas.openxmlformats.org/officeDocument/2006/relationships/image" Target="../media/image38.wmf"/><Relationship Id="rId2" Type="http://schemas.openxmlformats.org/officeDocument/2006/relationships/slideLayout" Target="../slideLayouts/slideLayout2.xml"/><Relationship Id="rId16" Type="http://schemas.openxmlformats.org/officeDocument/2006/relationships/oleObject" Target="../embeddings/oleObject43.bin"/><Relationship Id="rId1" Type="http://schemas.openxmlformats.org/officeDocument/2006/relationships/vmlDrawing" Target="../drawings/vmlDrawing8.vml"/><Relationship Id="rId6" Type="http://schemas.openxmlformats.org/officeDocument/2006/relationships/oleObject" Target="../embeddings/oleObject38.bin"/><Relationship Id="rId11" Type="http://schemas.openxmlformats.org/officeDocument/2006/relationships/image" Target="../media/image35.wmf"/><Relationship Id="rId5" Type="http://schemas.openxmlformats.org/officeDocument/2006/relationships/image" Target="../media/image32.wmf"/><Relationship Id="rId15" Type="http://schemas.openxmlformats.org/officeDocument/2006/relationships/image" Target="../media/image37.wmf"/><Relationship Id="rId10" Type="http://schemas.openxmlformats.org/officeDocument/2006/relationships/oleObject" Target="../embeddings/oleObject40.bin"/><Relationship Id="rId19" Type="http://schemas.openxmlformats.org/officeDocument/2006/relationships/image" Target="../media/image39.wmf"/><Relationship Id="rId4" Type="http://schemas.openxmlformats.org/officeDocument/2006/relationships/oleObject" Target="../embeddings/oleObject37.bin"/><Relationship Id="rId9" Type="http://schemas.openxmlformats.org/officeDocument/2006/relationships/image" Target="../media/image34.wmf"/><Relationship Id="rId14" Type="http://schemas.openxmlformats.org/officeDocument/2006/relationships/oleObject" Target="../embeddings/oleObject42.bin"/></Relationships>
</file>

<file path=ppt/slides/_rels/slide21.xml.rels><?xml version="1.0" encoding="UTF-8" standalone="yes"?>
<Relationships xmlns="http://schemas.openxmlformats.org/package/2006/relationships"><Relationship Id="rId3" Type="http://schemas.openxmlformats.org/officeDocument/2006/relationships/oleObject" Target="../embeddings/oleObject45.bin"/><Relationship Id="rId2" Type="http://schemas.openxmlformats.org/officeDocument/2006/relationships/slideLayout" Target="../slideLayouts/slideLayout2.xml"/><Relationship Id="rId1" Type="http://schemas.openxmlformats.org/officeDocument/2006/relationships/vmlDrawing" Target="../drawings/vmlDrawing9.vml"/><Relationship Id="rId4" Type="http://schemas.openxmlformats.org/officeDocument/2006/relationships/image" Target="../media/image39.wmf"/></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2.xml"/><Relationship Id="rId6" Type="http://schemas.openxmlformats.org/officeDocument/2006/relationships/image" Target="../media/image44.png"/><Relationship Id="rId5" Type="http://schemas.openxmlformats.org/officeDocument/2006/relationships/image" Target="../media/image43.png"/><Relationship Id="rId4" Type="http://schemas.openxmlformats.org/officeDocument/2006/relationships/image" Target="../media/image42.png"/></Relationships>
</file>

<file path=ppt/slides/_rels/slide25.xml.rels><?xml version="1.0" encoding="UTF-8" standalone="yes"?>
<Relationships xmlns="http://schemas.openxmlformats.org/package/2006/relationships"><Relationship Id="rId8" Type="http://schemas.openxmlformats.org/officeDocument/2006/relationships/oleObject" Target="../embeddings/oleObject49.bin"/><Relationship Id="rId3" Type="http://schemas.openxmlformats.org/officeDocument/2006/relationships/oleObject" Target="../embeddings/oleObject46.bin"/><Relationship Id="rId7" Type="http://schemas.openxmlformats.org/officeDocument/2006/relationships/oleObject" Target="../embeddings/oleObject48.bin"/><Relationship Id="rId2" Type="http://schemas.openxmlformats.org/officeDocument/2006/relationships/slideLayout" Target="../slideLayouts/slideLayout2.xml"/><Relationship Id="rId1" Type="http://schemas.openxmlformats.org/officeDocument/2006/relationships/vmlDrawing" Target="../drawings/vmlDrawing10.vml"/><Relationship Id="rId6" Type="http://schemas.openxmlformats.org/officeDocument/2006/relationships/image" Target="../media/image46.wmf"/><Relationship Id="rId5" Type="http://schemas.openxmlformats.org/officeDocument/2006/relationships/oleObject" Target="../embeddings/oleObject47.bin"/><Relationship Id="rId4" Type="http://schemas.openxmlformats.org/officeDocument/2006/relationships/image" Target="../media/image45.wmf"/></Relationships>
</file>

<file path=ppt/slides/_rels/slide26.xml.rels><?xml version="1.0" encoding="UTF-8" standalone="yes"?>
<Relationships xmlns="http://schemas.openxmlformats.org/package/2006/relationships"><Relationship Id="rId3" Type="http://schemas.openxmlformats.org/officeDocument/2006/relationships/oleObject" Target="../embeddings/oleObject50.bin"/><Relationship Id="rId7" Type="http://schemas.openxmlformats.org/officeDocument/2006/relationships/image" Target="../media/image3.png"/><Relationship Id="rId2" Type="http://schemas.openxmlformats.org/officeDocument/2006/relationships/slideLayout" Target="../slideLayouts/slideLayout2.xml"/><Relationship Id="rId1" Type="http://schemas.openxmlformats.org/officeDocument/2006/relationships/vmlDrawing" Target="../drawings/vmlDrawing11.vml"/><Relationship Id="rId6" Type="http://schemas.openxmlformats.org/officeDocument/2006/relationships/image" Target="../media/image45.wmf"/><Relationship Id="rId5" Type="http://schemas.openxmlformats.org/officeDocument/2006/relationships/oleObject" Target="../embeddings/oleObject51.bin"/><Relationship Id="rId4" Type="http://schemas.openxmlformats.org/officeDocument/2006/relationships/image" Target="../media/image47.wmf"/></Relationships>
</file>

<file path=ppt/slides/_rels/slide27.xml.rels><?xml version="1.0" encoding="UTF-8" standalone="yes"?>
<Relationships xmlns="http://schemas.openxmlformats.org/package/2006/relationships"><Relationship Id="rId8" Type="http://schemas.openxmlformats.org/officeDocument/2006/relationships/oleObject" Target="../embeddings/oleObject54.bin"/><Relationship Id="rId13" Type="http://schemas.openxmlformats.org/officeDocument/2006/relationships/image" Target="../media/image51.wmf"/><Relationship Id="rId3" Type="http://schemas.openxmlformats.org/officeDocument/2006/relationships/notesSlide" Target="../notesSlides/notesSlide4.xml"/><Relationship Id="rId7" Type="http://schemas.openxmlformats.org/officeDocument/2006/relationships/image" Target="../media/image49.wmf"/><Relationship Id="rId12" Type="http://schemas.openxmlformats.org/officeDocument/2006/relationships/oleObject" Target="../embeddings/oleObject56.bin"/><Relationship Id="rId2" Type="http://schemas.openxmlformats.org/officeDocument/2006/relationships/slideLayout" Target="../slideLayouts/slideLayout2.xml"/><Relationship Id="rId1" Type="http://schemas.openxmlformats.org/officeDocument/2006/relationships/vmlDrawing" Target="../drawings/vmlDrawing12.vml"/><Relationship Id="rId6" Type="http://schemas.openxmlformats.org/officeDocument/2006/relationships/oleObject" Target="../embeddings/oleObject53.bin"/><Relationship Id="rId11" Type="http://schemas.openxmlformats.org/officeDocument/2006/relationships/image" Target="../media/image50.wmf"/><Relationship Id="rId5" Type="http://schemas.openxmlformats.org/officeDocument/2006/relationships/image" Target="../media/image48.wmf"/><Relationship Id="rId10" Type="http://schemas.openxmlformats.org/officeDocument/2006/relationships/oleObject" Target="../embeddings/oleObject55.bin"/><Relationship Id="rId4" Type="http://schemas.openxmlformats.org/officeDocument/2006/relationships/oleObject" Target="../embeddings/oleObject52.bin"/><Relationship Id="rId9" Type="http://schemas.openxmlformats.org/officeDocument/2006/relationships/image" Target="../media/image39.wmf"/><Relationship Id="rId14" Type="http://schemas.openxmlformats.org/officeDocument/2006/relationships/oleObject" Target="../embeddings/oleObject57.bin"/></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2362200"/>
            <a:ext cx="7772400" cy="990600"/>
          </a:xfrm>
        </p:spPr>
        <p:txBody>
          <a:bodyPr/>
          <a:lstStyle/>
          <a:p>
            <a:r>
              <a:rPr lang="en-US" sz="2400" dirty="0" smtClean="0"/>
              <a:t>ELEG 3143 Probability &amp; Stochastic Process</a:t>
            </a:r>
            <a:br>
              <a:rPr lang="en-US" sz="2400" dirty="0" smtClean="0"/>
            </a:br>
            <a:r>
              <a:rPr lang="en-US" dirty="0" smtClean="0"/>
              <a:t>Ch. 5 Elements of Statistics</a:t>
            </a:r>
            <a:endParaRPr lang="en-US" dirty="0"/>
          </a:p>
        </p:txBody>
      </p:sp>
      <p:sp>
        <p:nvSpPr>
          <p:cNvPr id="3" name="Subtitle 2"/>
          <p:cNvSpPr>
            <a:spLocks noGrp="1"/>
          </p:cNvSpPr>
          <p:nvPr>
            <p:ph type="subTitle" idx="4294967295"/>
          </p:nvPr>
        </p:nvSpPr>
        <p:spPr>
          <a:xfrm>
            <a:off x="2743200" y="3810000"/>
            <a:ext cx="5791200" cy="1752600"/>
          </a:xfrm>
          <a:prstGeom prst="rect">
            <a:avLst/>
          </a:prstGeom>
        </p:spPr>
        <p:txBody>
          <a:bodyPr/>
          <a:lstStyle/>
          <a:p>
            <a:pPr algn="r">
              <a:buNone/>
            </a:pPr>
            <a:r>
              <a:rPr lang="en-US" sz="2200" dirty="0" smtClean="0">
                <a:solidFill>
                  <a:srgbClr val="000099"/>
                </a:solidFill>
                <a:latin typeface="Arial Black" pitchFamily="34" charset="0"/>
              </a:rPr>
              <a:t>Dr. Jingxian Wu</a:t>
            </a:r>
          </a:p>
          <a:p>
            <a:pPr algn="r">
              <a:buNone/>
            </a:pPr>
            <a:r>
              <a:rPr lang="en-US" sz="2200" dirty="0" smtClean="0">
                <a:solidFill>
                  <a:srgbClr val="000099"/>
                </a:solidFill>
                <a:latin typeface="Arial Black" pitchFamily="34" charset="0"/>
              </a:rPr>
              <a:t>wuj@uark.edu</a:t>
            </a:r>
            <a:endParaRPr lang="en-US" sz="2200" dirty="0">
              <a:solidFill>
                <a:srgbClr val="000099"/>
              </a:solidFill>
              <a:latin typeface="Arial Black"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OUTLINE</a:t>
            </a:r>
            <a:endParaRPr lang="en-US" dirty="0"/>
          </a:p>
        </p:txBody>
      </p:sp>
      <p:sp>
        <p:nvSpPr>
          <p:cNvPr id="4" name="Slide Number Placeholder 3"/>
          <p:cNvSpPr>
            <a:spLocks noGrp="1"/>
          </p:cNvSpPr>
          <p:nvPr>
            <p:ph type="sldNum" sz="quarter" idx="10"/>
          </p:nvPr>
        </p:nvSpPr>
        <p:spPr/>
        <p:txBody>
          <a:bodyPr/>
          <a:lstStyle/>
          <a:p>
            <a:fld id="{7A65BF99-0365-4788-A7C5-586C0382C80B}" type="slidenum">
              <a:rPr lang="zh-CN" altLang="en-US" smtClean="0"/>
              <a:pPr/>
              <a:t>2</a:t>
            </a:fld>
            <a:endParaRPr lang="en-US" altLang="zh-CN" dirty="0" smtClean="0"/>
          </a:p>
        </p:txBody>
      </p:sp>
      <p:sp>
        <p:nvSpPr>
          <p:cNvPr id="5" name="Rectangle 3"/>
          <p:cNvSpPr txBox="1">
            <a:spLocks noChangeArrowheads="1"/>
          </p:cNvSpPr>
          <p:nvPr/>
        </p:nvSpPr>
        <p:spPr>
          <a:xfrm>
            <a:off x="533400" y="914400"/>
            <a:ext cx="7772400" cy="5600700"/>
          </a:xfrm>
          <a:prstGeom prst="rect">
            <a:avLst/>
          </a:prstGeom>
        </p:spPr>
        <p:txBody>
          <a:bodyPr>
            <a:norm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altLang="zh-CN" b="1" i="0" u="none" strike="noStrike" kern="1200" cap="none" spc="0" normalizeH="0" baseline="0" noProof="0" dirty="0" smtClean="0">
                <a:ln>
                  <a:noFill/>
                </a:ln>
                <a:solidFill>
                  <a:srgbClr val="000099"/>
                </a:solidFill>
                <a:effectLst/>
                <a:uLnTx/>
                <a:uFillTx/>
                <a:latin typeface="Times New Roman" pitchFamily="18" charset="0"/>
                <a:ea typeface="宋体" pitchFamily="2" charset="-122"/>
                <a:cs typeface="Times New Roman" pitchFamily="18" charset="0"/>
              </a:rPr>
              <a:t>Introduction:</a:t>
            </a:r>
            <a:r>
              <a:rPr kumimoji="0" lang="en-US" altLang="zh-CN" b="1" i="0" u="none" strike="noStrike" kern="1200" cap="none" spc="0" normalizeH="0" noProof="0" dirty="0" smtClean="0">
                <a:ln>
                  <a:noFill/>
                </a:ln>
                <a:solidFill>
                  <a:srgbClr val="000099"/>
                </a:solidFill>
                <a:effectLst/>
                <a:uLnTx/>
                <a:uFillTx/>
                <a:latin typeface="Times New Roman" pitchFamily="18" charset="0"/>
                <a:ea typeface="宋体" pitchFamily="2" charset="-122"/>
                <a:cs typeface="Times New Roman" pitchFamily="18" charset="0"/>
              </a:rPr>
              <a:t> what is statistics?</a:t>
            </a:r>
            <a:endParaRPr kumimoji="0" lang="en-US" altLang="zh-CN" b="1" i="0" u="none" strike="noStrike" kern="1200" cap="none" spc="0" normalizeH="0" baseline="0" noProof="0" dirty="0" smtClean="0">
              <a:ln>
                <a:noFill/>
              </a:ln>
              <a:solidFill>
                <a:srgbClr val="000099"/>
              </a:solidFill>
              <a:effectLst/>
              <a:uLnTx/>
              <a:uFillTx/>
              <a:latin typeface="Times New Roman" pitchFamily="18" charset="0"/>
              <a:ea typeface="宋体" pitchFamily="2" charset="-122"/>
              <a:cs typeface="Times New Roman" pitchFamily="18" charset="0"/>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altLang="zh-CN" b="1" i="0" u="none" strike="noStrike" kern="1200" cap="none" spc="0" normalizeH="0" baseline="0" noProof="0" dirty="0" smtClean="0">
              <a:ln>
                <a:noFill/>
              </a:ln>
              <a:solidFill>
                <a:srgbClr val="000099"/>
              </a:solidFill>
              <a:effectLst/>
              <a:uLnTx/>
              <a:uFillTx/>
              <a:latin typeface="Times New Roman" pitchFamily="18" charset="0"/>
              <a:ea typeface="宋体" pitchFamily="2" charset="-122"/>
              <a:cs typeface="Times New Roman" pitchFamily="18" charset="0"/>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altLang="zh-CN" b="1" i="0" u="none" strike="noStrike" kern="1200" cap="none" spc="0" normalizeH="0" baseline="0" noProof="0" dirty="0" smtClean="0">
                <a:ln>
                  <a:noFill/>
                </a:ln>
                <a:solidFill>
                  <a:srgbClr val="000099"/>
                </a:solidFill>
                <a:effectLst/>
                <a:uLnTx/>
                <a:uFillTx/>
                <a:latin typeface="Times New Roman" pitchFamily="18" charset="0"/>
                <a:ea typeface="宋体" pitchFamily="2" charset="-122"/>
                <a:cs typeface="Times New Roman" pitchFamily="18" charset="0"/>
              </a:rPr>
              <a:t>Sample</a:t>
            </a:r>
            <a:r>
              <a:rPr kumimoji="0" lang="en-US" altLang="zh-CN" b="1" i="0" u="none" strike="noStrike" kern="1200" cap="none" spc="0" normalizeH="0" noProof="0" dirty="0" smtClean="0">
                <a:ln>
                  <a:noFill/>
                </a:ln>
                <a:solidFill>
                  <a:srgbClr val="000099"/>
                </a:solidFill>
                <a:effectLst/>
                <a:uLnTx/>
                <a:uFillTx/>
                <a:latin typeface="Times New Roman" pitchFamily="18" charset="0"/>
                <a:ea typeface="宋体" pitchFamily="2" charset="-122"/>
                <a:cs typeface="Times New Roman" pitchFamily="18" charset="0"/>
              </a:rPr>
              <a:t> mean and sample variance</a:t>
            </a:r>
            <a:endParaRPr kumimoji="0" lang="en-US" altLang="zh-CN" b="1" i="0" u="none" strike="noStrike" kern="1200" cap="none" spc="0" normalizeH="0" baseline="0" noProof="0" dirty="0" smtClean="0">
              <a:ln>
                <a:noFill/>
              </a:ln>
              <a:solidFill>
                <a:srgbClr val="000099"/>
              </a:solidFill>
              <a:effectLst/>
              <a:uLnTx/>
              <a:uFillTx/>
              <a:latin typeface="Times New Roman" pitchFamily="18" charset="0"/>
              <a:ea typeface="宋体" pitchFamily="2" charset="-122"/>
              <a:cs typeface="Times New Roman" pitchFamily="18" charset="0"/>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lang="en-US" altLang="zh-CN" b="1" dirty="0" smtClean="0">
              <a:solidFill>
                <a:srgbClr val="000099"/>
              </a:solidFill>
              <a:latin typeface="Times New Roman" pitchFamily="18" charset="0"/>
              <a:ea typeface="宋体" pitchFamily="2" charset="-122"/>
              <a:cs typeface="Times New Roman" pitchFamily="18" charset="0"/>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altLang="zh-CN" b="1" i="0" u="none" strike="noStrike" kern="1200" cap="none" spc="0" normalizeH="0" baseline="0" noProof="0" dirty="0" smtClean="0">
                <a:ln>
                  <a:noFill/>
                </a:ln>
                <a:solidFill>
                  <a:srgbClr val="000099"/>
                </a:solidFill>
                <a:effectLst/>
                <a:uLnTx/>
                <a:uFillTx/>
                <a:latin typeface="Times New Roman" pitchFamily="18" charset="0"/>
                <a:ea typeface="宋体" pitchFamily="2" charset="-122"/>
                <a:cs typeface="Times New Roman" pitchFamily="18" charset="0"/>
              </a:rPr>
              <a:t>C</a:t>
            </a:r>
            <a:r>
              <a:rPr kumimoji="0" lang="en-US" altLang="zh-CN" b="1" i="0" u="none" strike="noStrike" kern="1200" cap="none" spc="0" normalizeH="0" noProof="0" dirty="0" smtClean="0">
                <a:ln>
                  <a:noFill/>
                </a:ln>
                <a:solidFill>
                  <a:srgbClr val="000099"/>
                </a:solidFill>
                <a:effectLst/>
                <a:uLnTx/>
                <a:uFillTx/>
                <a:latin typeface="Times New Roman" pitchFamily="18" charset="0"/>
                <a:ea typeface="宋体" pitchFamily="2" charset="-122"/>
                <a:cs typeface="Times New Roman" pitchFamily="18" charset="0"/>
              </a:rPr>
              <a:t>onfidence intervals</a:t>
            </a:r>
            <a:endParaRPr kumimoji="0" lang="en-US" altLang="zh-CN" b="1" i="0" u="none" strike="noStrike" kern="1200" cap="none" spc="0" normalizeH="0" baseline="0" noProof="0" dirty="0" smtClean="0">
              <a:ln>
                <a:noFill/>
              </a:ln>
              <a:solidFill>
                <a:srgbClr val="000099"/>
              </a:solidFill>
              <a:effectLst/>
              <a:uLnTx/>
              <a:uFillTx/>
              <a:latin typeface="Times New Roman" pitchFamily="18" charset="0"/>
              <a:ea typeface="宋体" pitchFamily="2" charset="-122"/>
              <a:cs typeface="Times New Roman" pitchFamily="18" charset="0"/>
            </a:endParaRPr>
          </a:p>
          <a:p>
            <a:pPr marL="342900" marR="0" lvl="0" indent="-342900" algn="l" defTabSz="914400" rtl="0" eaLnBrk="1" fontAlgn="auto" latinLnBrk="0" hangingPunct="1">
              <a:lnSpc>
                <a:spcPct val="100000"/>
              </a:lnSpc>
              <a:spcBef>
                <a:spcPct val="20000"/>
              </a:spcBef>
              <a:spcAft>
                <a:spcPts val="0"/>
              </a:spcAft>
              <a:buClrTx/>
              <a:buSzTx/>
              <a:tabLst/>
              <a:defRPr/>
            </a:pPr>
            <a:endParaRPr lang="en-US" altLang="zh-CN" b="1" dirty="0" smtClean="0">
              <a:solidFill>
                <a:srgbClr val="000099"/>
              </a:solidFill>
              <a:latin typeface="Times New Roman" pitchFamily="18" charset="0"/>
              <a:ea typeface="宋体" pitchFamily="2" charset="-122"/>
              <a:cs typeface="Times New Roman" pitchFamily="18" charset="0"/>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altLang="zh-CN" b="1" dirty="0" smtClean="0">
                <a:solidFill>
                  <a:srgbClr val="000099"/>
                </a:solidFill>
                <a:latin typeface="Times New Roman" pitchFamily="18" charset="0"/>
                <a:ea typeface="宋体" pitchFamily="2" charset="-122"/>
                <a:cs typeface="Times New Roman" pitchFamily="18" charset="0"/>
              </a:rPr>
              <a:t>Hypothesis testing</a:t>
            </a:r>
          </a:p>
          <a:p>
            <a:pPr marL="342900" marR="0" lvl="0" indent="-342900" algn="l" defTabSz="914400" rtl="0" eaLnBrk="1" fontAlgn="auto" latinLnBrk="0" hangingPunct="1">
              <a:lnSpc>
                <a:spcPct val="100000"/>
              </a:lnSpc>
              <a:spcBef>
                <a:spcPct val="20000"/>
              </a:spcBef>
              <a:spcAft>
                <a:spcPts val="0"/>
              </a:spcAft>
              <a:buClrTx/>
              <a:buSzTx/>
              <a:tabLst/>
              <a:defRPr/>
            </a:pPr>
            <a:endParaRPr lang="en-US" altLang="zh-CN" b="1" baseline="0" dirty="0" smtClean="0">
              <a:solidFill>
                <a:srgbClr val="000099"/>
              </a:solidFill>
              <a:latin typeface="Times New Roman" pitchFamily="18" charset="0"/>
              <a:ea typeface="宋体" pitchFamily="2" charset="-122"/>
              <a:cs typeface="Times New Roman" pitchFamily="18" charset="0"/>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INTRODUCTION</a:t>
            </a:r>
            <a:endParaRPr lang="en-US" dirty="0"/>
          </a:p>
        </p:txBody>
      </p:sp>
      <p:sp>
        <p:nvSpPr>
          <p:cNvPr id="3" name="Content Placeholder 2"/>
          <p:cNvSpPr>
            <a:spLocks noGrp="1"/>
          </p:cNvSpPr>
          <p:nvPr>
            <p:ph idx="1"/>
          </p:nvPr>
        </p:nvSpPr>
        <p:spPr>
          <a:xfrm>
            <a:off x="609600" y="876300"/>
            <a:ext cx="8229600" cy="5600700"/>
          </a:xfrm>
        </p:spPr>
        <p:txBody>
          <a:bodyPr/>
          <a:lstStyle/>
          <a:p>
            <a:r>
              <a:rPr lang="en-US" dirty="0" smtClean="0"/>
              <a:t>Statistics</a:t>
            </a:r>
          </a:p>
          <a:p>
            <a:pPr lvl="1"/>
            <a:r>
              <a:rPr lang="en-US" dirty="0" smtClean="0"/>
              <a:t>A bridge between the probability theory and the real world</a:t>
            </a:r>
          </a:p>
          <a:p>
            <a:pPr lvl="1"/>
            <a:r>
              <a:rPr lang="en-US" dirty="0" smtClean="0"/>
              <a:t>The science of </a:t>
            </a:r>
            <a:r>
              <a:rPr lang="en-US" dirty="0" smtClean="0">
                <a:solidFill>
                  <a:srgbClr val="FF0000"/>
                </a:solidFill>
              </a:rPr>
              <a:t>gathering and analyzing data</a:t>
            </a:r>
            <a:r>
              <a:rPr lang="en-US" dirty="0" smtClean="0"/>
              <a:t>, and with </a:t>
            </a:r>
            <a:r>
              <a:rPr lang="en-US" dirty="0" smtClean="0">
                <a:solidFill>
                  <a:srgbClr val="FF0000"/>
                </a:solidFill>
              </a:rPr>
              <a:t>the drawing of conclusions or inferences</a:t>
            </a:r>
            <a:r>
              <a:rPr lang="en-US" dirty="0" smtClean="0"/>
              <a:t> from the data.</a:t>
            </a:r>
          </a:p>
          <a:p>
            <a:pPr lvl="2"/>
            <a:r>
              <a:rPr lang="en-US" dirty="0" smtClean="0"/>
              <a:t>Example</a:t>
            </a:r>
          </a:p>
          <a:p>
            <a:pPr lvl="3"/>
            <a:r>
              <a:rPr lang="en-US" dirty="0" smtClean="0"/>
              <a:t>1. collect data about the life span of all females in US</a:t>
            </a:r>
          </a:p>
          <a:p>
            <a:pPr lvl="3"/>
            <a:r>
              <a:rPr lang="en-US" dirty="0" smtClean="0"/>
              <a:t>2. analyze the data to find out: </a:t>
            </a:r>
          </a:p>
          <a:p>
            <a:pPr lvl="4"/>
            <a:r>
              <a:rPr lang="en-US" dirty="0" smtClean="0"/>
              <a:t>What is the average (mean) female life span in US?</a:t>
            </a:r>
          </a:p>
          <a:p>
            <a:pPr lvl="4"/>
            <a:r>
              <a:rPr lang="en-US" dirty="0" smtClean="0"/>
              <a:t>What is the variance of the female life span?</a:t>
            </a:r>
          </a:p>
          <a:p>
            <a:pPr lvl="4"/>
            <a:r>
              <a:rPr lang="en-US" dirty="0" smtClean="0"/>
              <a:t>What is the distribution of the female life span?</a:t>
            </a:r>
          </a:p>
          <a:p>
            <a:pPr lvl="3"/>
            <a:endParaRPr lang="en-US" dirty="0" smtClean="0"/>
          </a:p>
          <a:p>
            <a:pPr lvl="2"/>
            <a:r>
              <a:rPr lang="en-US" dirty="0" smtClean="0"/>
              <a:t>Example</a:t>
            </a:r>
          </a:p>
          <a:p>
            <a:pPr lvl="3"/>
            <a:r>
              <a:rPr lang="en-US" dirty="0" smtClean="0"/>
              <a:t>1. consider a communication system transmitting -1 and 1</a:t>
            </a:r>
          </a:p>
          <a:p>
            <a:pPr lvl="3"/>
            <a:r>
              <a:rPr lang="en-US" dirty="0" smtClean="0"/>
              <a:t>2. received signal is distorted by noise (e.g., </a:t>
            </a:r>
            <a:r>
              <a:rPr lang="en-US" dirty="0" err="1" smtClean="0"/>
              <a:t>Tx</a:t>
            </a:r>
            <a:r>
              <a:rPr lang="en-US" dirty="0" smtClean="0"/>
              <a:t> a 1, Rx a 0.2)</a:t>
            </a:r>
          </a:p>
          <a:p>
            <a:pPr lvl="3"/>
            <a:r>
              <a:rPr lang="en-US" dirty="0" smtClean="0"/>
              <a:t>3. Based on the noisy received information, find out what was transmitted (1 or -1)</a:t>
            </a:r>
          </a:p>
          <a:p>
            <a:pPr lvl="1"/>
            <a:endParaRPr lang="en-US" dirty="0" smtClean="0"/>
          </a:p>
        </p:txBody>
      </p:sp>
      <p:sp>
        <p:nvSpPr>
          <p:cNvPr id="4" name="Slide Number Placeholder 3"/>
          <p:cNvSpPr>
            <a:spLocks noGrp="1"/>
          </p:cNvSpPr>
          <p:nvPr>
            <p:ph type="sldNum" sz="quarter" idx="10"/>
          </p:nvPr>
        </p:nvSpPr>
        <p:spPr/>
        <p:txBody>
          <a:bodyPr/>
          <a:lstStyle/>
          <a:p>
            <a:fld id="{7A65BF99-0365-4788-A7C5-586C0382C80B}" type="slidenum">
              <a:rPr lang="zh-CN" altLang="en-US" smtClean="0"/>
              <a:pPr/>
              <a:t>3</a:t>
            </a:fld>
            <a:endParaRPr lang="en-US" altLang="zh-CN" dirty="0" smtClean="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INTRODUCTION</a:t>
            </a:r>
            <a:endParaRPr lang="en-US" dirty="0"/>
          </a:p>
        </p:txBody>
      </p:sp>
      <p:sp>
        <p:nvSpPr>
          <p:cNvPr id="3" name="Content Placeholder 2"/>
          <p:cNvSpPr>
            <a:spLocks noGrp="1"/>
          </p:cNvSpPr>
          <p:nvPr>
            <p:ph idx="1"/>
          </p:nvPr>
        </p:nvSpPr>
        <p:spPr/>
        <p:txBody>
          <a:bodyPr/>
          <a:lstStyle/>
          <a:p>
            <a:r>
              <a:rPr lang="en-US" dirty="0" smtClean="0"/>
              <a:t>Classifications of statistics</a:t>
            </a:r>
          </a:p>
          <a:p>
            <a:pPr lvl="1"/>
            <a:r>
              <a:rPr lang="en-US" dirty="0" smtClean="0"/>
              <a:t>Sampling theory: </a:t>
            </a:r>
          </a:p>
          <a:p>
            <a:pPr lvl="2"/>
            <a:r>
              <a:rPr lang="en-US" dirty="0" smtClean="0"/>
              <a:t>How to select samples from some collection of data that is too large to be examined completely.</a:t>
            </a:r>
          </a:p>
          <a:p>
            <a:pPr lvl="1"/>
            <a:endParaRPr lang="en-US" dirty="0" smtClean="0"/>
          </a:p>
          <a:p>
            <a:pPr lvl="1"/>
            <a:r>
              <a:rPr lang="en-US" dirty="0" smtClean="0"/>
              <a:t>Estimation theory:</a:t>
            </a:r>
          </a:p>
          <a:p>
            <a:pPr lvl="2"/>
            <a:r>
              <a:rPr lang="en-US" dirty="0" smtClean="0"/>
              <a:t>Make some estimation or prediction based on the data that are available (e.g. estimate the average life span)</a:t>
            </a:r>
          </a:p>
          <a:p>
            <a:pPr lvl="1"/>
            <a:endParaRPr lang="en-US" dirty="0" smtClean="0"/>
          </a:p>
          <a:p>
            <a:pPr lvl="1"/>
            <a:r>
              <a:rPr lang="en-US" dirty="0" smtClean="0"/>
              <a:t>Hypothesis testing</a:t>
            </a:r>
          </a:p>
          <a:p>
            <a:pPr lvl="2"/>
            <a:r>
              <a:rPr lang="en-US" dirty="0" smtClean="0"/>
              <a:t>Attempts to decide which of two or more hypotheses about the data are true (e.g. find out whether a 1 or -1 are transmitted in a communication system)</a:t>
            </a:r>
          </a:p>
        </p:txBody>
      </p:sp>
      <p:sp>
        <p:nvSpPr>
          <p:cNvPr id="4" name="Slide Number Placeholder 3"/>
          <p:cNvSpPr>
            <a:spLocks noGrp="1"/>
          </p:cNvSpPr>
          <p:nvPr>
            <p:ph type="sldNum" sz="quarter" idx="10"/>
          </p:nvPr>
        </p:nvSpPr>
        <p:spPr/>
        <p:txBody>
          <a:bodyPr/>
          <a:lstStyle/>
          <a:p>
            <a:fld id="{7A65BF99-0365-4788-A7C5-586C0382C80B}" type="slidenum">
              <a:rPr lang="zh-CN" altLang="en-US" smtClean="0"/>
              <a:pPr/>
              <a:t>4</a:t>
            </a:fld>
            <a:endParaRPr lang="en-US" altLang="zh-CN" dirty="0" smtClean="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OUTLINE</a:t>
            </a:r>
            <a:endParaRPr lang="en-US" dirty="0"/>
          </a:p>
        </p:txBody>
      </p:sp>
      <p:sp>
        <p:nvSpPr>
          <p:cNvPr id="4" name="Slide Number Placeholder 3"/>
          <p:cNvSpPr>
            <a:spLocks noGrp="1"/>
          </p:cNvSpPr>
          <p:nvPr>
            <p:ph type="sldNum" sz="quarter" idx="10"/>
          </p:nvPr>
        </p:nvSpPr>
        <p:spPr/>
        <p:txBody>
          <a:bodyPr/>
          <a:lstStyle/>
          <a:p>
            <a:fld id="{7A65BF99-0365-4788-A7C5-586C0382C80B}" type="slidenum">
              <a:rPr lang="zh-CN" altLang="en-US" smtClean="0"/>
              <a:pPr/>
              <a:t>5</a:t>
            </a:fld>
            <a:endParaRPr lang="en-US" altLang="zh-CN" dirty="0" smtClean="0"/>
          </a:p>
        </p:txBody>
      </p:sp>
      <p:sp>
        <p:nvSpPr>
          <p:cNvPr id="5" name="Rectangle 3"/>
          <p:cNvSpPr txBox="1">
            <a:spLocks noChangeArrowheads="1"/>
          </p:cNvSpPr>
          <p:nvPr/>
        </p:nvSpPr>
        <p:spPr>
          <a:xfrm>
            <a:off x="533400" y="914400"/>
            <a:ext cx="7772400" cy="5600700"/>
          </a:xfrm>
          <a:prstGeom prst="rect">
            <a:avLst/>
          </a:prstGeom>
        </p:spPr>
        <p:txBody>
          <a:bodyPr>
            <a:norm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altLang="zh-CN" b="1" i="0" u="none" strike="noStrike" kern="1200" cap="none" spc="0" normalizeH="0" baseline="0" noProof="0" dirty="0" smtClean="0">
                <a:ln>
                  <a:noFill/>
                </a:ln>
                <a:solidFill>
                  <a:schemeClr val="bg1">
                    <a:lumMod val="50000"/>
                  </a:schemeClr>
                </a:solidFill>
                <a:effectLst/>
                <a:uLnTx/>
                <a:uFillTx/>
                <a:latin typeface="Times New Roman" pitchFamily="18" charset="0"/>
                <a:ea typeface="宋体" pitchFamily="2" charset="-122"/>
                <a:cs typeface="Times New Roman" pitchFamily="18" charset="0"/>
              </a:rPr>
              <a:t>Introduction:</a:t>
            </a:r>
            <a:r>
              <a:rPr kumimoji="0" lang="en-US" altLang="zh-CN" b="1" i="0" u="none" strike="noStrike" kern="1200" cap="none" spc="0" normalizeH="0" noProof="0" dirty="0" smtClean="0">
                <a:ln>
                  <a:noFill/>
                </a:ln>
                <a:solidFill>
                  <a:schemeClr val="bg1">
                    <a:lumMod val="50000"/>
                  </a:schemeClr>
                </a:solidFill>
                <a:effectLst/>
                <a:uLnTx/>
                <a:uFillTx/>
                <a:latin typeface="Times New Roman" pitchFamily="18" charset="0"/>
                <a:ea typeface="宋体" pitchFamily="2" charset="-122"/>
                <a:cs typeface="Times New Roman" pitchFamily="18" charset="0"/>
              </a:rPr>
              <a:t> what is statistics?</a:t>
            </a:r>
            <a:endParaRPr kumimoji="0" lang="en-US" altLang="zh-CN" b="1" i="0" u="none" strike="noStrike" kern="1200" cap="none" spc="0" normalizeH="0" baseline="0" noProof="0" dirty="0" smtClean="0">
              <a:ln>
                <a:noFill/>
              </a:ln>
              <a:solidFill>
                <a:schemeClr val="bg1">
                  <a:lumMod val="50000"/>
                </a:schemeClr>
              </a:solidFill>
              <a:effectLst/>
              <a:uLnTx/>
              <a:uFillTx/>
              <a:latin typeface="Times New Roman" pitchFamily="18" charset="0"/>
              <a:ea typeface="宋体" pitchFamily="2" charset="-122"/>
              <a:cs typeface="Times New Roman" pitchFamily="18" charset="0"/>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altLang="zh-CN" b="1" i="0" u="none" strike="noStrike" kern="1200" cap="none" spc="0" normalizeH="0" baseline="0" noProof="0" dirty="0" smtClean="0">
              <a:ln>
                <a:noFill/>
              </a:ln>
              <a:solidFill>
                <a:schemeClr val="bg1">
                  <a:lumMod val="50000"/>
                </a:schemeClr>
              </a:solidFill>
              <a:effectLst/>
              <a:uLnTx/>
              <a:uFillTx/>
              <a:latin typeface="Times New Roman" pitchFamily="18" charset="0"/>
              <a:ea typeface="宋体" pitchFamily="2" charset="-122"/>
              <a:cs typeface="Times New Roman" pitchFamily="18" charset="0"/>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altLang="zh-CN" b="1" i="0" u="none" strike="noStrike" kern="1200" cap="none" spc="0" normalizeH="0" baseline="0" noProof="0" dirty="0" smtClean="0">
                <a:ln>
                  <a:noFill/>
                </a:ln>
                <a:solidFill>
                  <a:srgbClr val="000099"/>
                </a:solidFill>
                <a:effectLst/>
                <a:uLnTx/>
                <a:uFillTx/>
                <a:latin typeface="Times New Roman" pitchFamily="18" charset="0"/>
                <a:ea typeface="宋体" pitchFamily="2" charset="-122"/>
                <a:cs typeface="Times New Roman" pitchFamily="18" charset="0"/>
              </a:rPr>
              <a:t>Sample</a:t>
            </a:r>
            <a:r>
              <a:rPr kumimoji="0" lang="en-US" altLang="zh-CN" b="1" i="0" u="none" strike="noStrike" kern="1200" cap="none" spc="0" normalizeH="0" noProof="0" dirty="0" smtClean="0">
                <a:ln>
                  <a:noFill/>
                </a:ln>
                <a:solidFill>
                  <a:srgbClr val="000099"/>
                </a:solidFill>
                <a:effectLst/>
                <a:uLnTx/>
                <a:uFillTx/>
                <a:latin typeface="Times New Roman" pitchFamily="18" charset="0"/>
                <a:ea typeface="宋体" pitchFamily="2" charset="-122"/>
                <a:cs typeface="Times New Roman" pitchFamily="18" charset="0"/>
              </a:rPr>
              <a:t> mean and sample variance</a:t>
            </a:r>
            <a:endParaRPr kumimoji="0" lang="en-US" altLang="zh-CN" b="1" i="0" u="none" strike="noStrike" kern="1200" cap="none" spc="0" normalizeH="0" baseline="0" noProof="0" dirty="0" smtClean="0">
              <a:ln>
                <a:noFill/>
              </a:ln>
              <a:solidFill>
                <a:srgbClr val="000099"/>
              </a:solidFill>
              <a:effectLst/>
              <a:uLnTx/>
              <a:uFillTx/>
              <a:latin typeface="Times New Roman" pitchFamily="18" charset="0"/>
              <a:ea typeface="宋体" pitchFamily="2" charset="-122"/>
              <a:cs typeface="Times New Roman" pitchFamily="18" charset="0"/>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lang="en-US" altLang="zh-CN" b="1" dirty="0" smtClean="0">
              <a:solidFill>
                <a:schemeClr val="bg1">
                  <a:lumMod val="50000"/>
                </a:schemeClr>
              </a:solidFill>
              <a:latin typeface="Times New Roman" pitchFamily="18" charset="0"/>
              <a:ea typeface="宋体" pitchFamily="2" charset="-122"/>
              <a:cs typeface="Times New Roman" pitchFamily="18" charset="0"/>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altLang="zh-CN" b="1" i="0" u="none" strike="noStrike" kern="1200" cap="none" spc="0" normalizeH="0" baseline="0" noProof="0" dirty="0" smtClean="0">
                <a:ln>
                  <a:noFill/>
                </a:ln>
                <a:solidFill>
                  <a:schemeClr val="bg1">
                    <a:lumMod val="50000"/>
                  </a:schemeClr>
                </a:solidFill>
                <a:effectLst/>
                <a:uLnTx/>
                <a:uFillTx/>
                <a:latin typeface="Times New Roman" pitchFamily="18" charset="0"/>
                <a:ea typeface="宋体" pitchFamily="2" charset="-122"/>
                <a:cs typeface="Times New Roman" pitchFamily="18" charset="0"/>
              </a:rPr>
              <a:t>C</a:t>
            </a:r>
            <a:r>
              <a:rPr kumimoji="0" lang="en-US" altLang="zh-CN" b="1" i="0" u="none" strike="noStrike" kern="1200" cap="none" spc="0" normalizeH="0" noProof="0" dirty="0" smtClean="0">
                <a:ln>
                  <a:noFill/>
                </a:ln>
                <a:solidFill>
                  <a:schemeClr val="bg1">
                    <a:lumMod val="50000"/>
                  </a:schemeClr>
                </a:solidFill>
                <a:effectLst/>
                <a:uLnTx/>
                <a:uFillTx/>
                <a:latin typeface="Times New Roman" pitchFamily="18" charset="0"/>
                <a:ea typeface="宋体" pitchFamily="2" charset="-122"/>
                <a:cs typeface="Times New Roman" pitchFamily="18" charset="0"/>
              </a:rPr>
              <a:t>onfidence interval</a:t>
            </a:r>
            <a:endParaRPr kumimoji="0" lang="en-US" altLang="zh-CN" b="1" i="0" u="none" strike="noStrike" kern="1200" cap="none" spc="0" normalizeH="0" baseline="0" noProof="0" dirty="0" smtClean="0">
              <a:ln>
                <a:noFill/>
              </a:ln>
              <a:solidFill>
                <a:schemeClr val="bg1">
                  <a:lumMod val="50000"/>
                </a:schemeClr>
              </a:solidFill>
              <a:effectLst/>
              <a:uLnTx/>
              <a:uFillTx/>
              <a:latin typeface="Times New Roman" pitchFamily="18" charset="0"/>
              <a:ea typeface="宋体" pitchFamily="2" charset="-122"/>
              <a:cs typeface="Times New Roman" pitchFamily="18" charset="0"/>
            </a:endParaRPr>
          </a:p>
          <a:p>
            <a:pPr marL="342900" marR="0" lvl="0" indent="-342900" algn="l" defTabSz="914400" rtl="0" eaLnBrk="1" fontAlgn="auto" latinLnBrk="0" hangingPunct="1">
              <a:lnSpc>
                <a:spcPct val="100000"/>
              </a:lnSpc>
              <a:spcBef>
                <a:spcPct val="20000"/>
              </a:spcBef>
              <a:spcAft>
                <a:spcPts val="0"/>
              </a:spcAft>
              <a:buClrTx/>
              <a:buSzTx/>
              <a:tabLst/>
              <a:defRPr/>
            </a:pPr>
            <a:endParaRPr lang="en-US" altLang="zh-CN" b="1" dirty="0" smtClean="0">
              <a:solidFill>
                <a:schemeClr val="bg1">
                  <a:lumMod val="50000"/>
                </a:schemeClr>
              </a:solidFill>
              <a:latin typeface="Times New Roman" pitchFamily="18" charset="0"/>
              <a:ea typeface="宋体" pitchFamily="2" charset="-122"/>
              <a:cs typeface="Times New Roman" pitchFamily="18" charset="0"/>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altLang="zh-CN" b="1" dirty="0" smtClean="0">
                <a:solidFill>
                  <a:schemeClr val="bg1">
                    <a:lumMod val="50000"/>
                  </a:schemeClr>
                </a:solidFill>
                <a:latin typeface="Times New Roman" pitchFamily="18" charset="0"/>
                <a:ea typeface="宋体" pitchFamily="2" charset="-122"/>
                <a:cs typeface="Times New Roman" pitchFamily="18" charset="0"/>
              </a:rPr>
              <a:t>Hypothesis testing</a:t>
            </a:r>
          </a:p>
          <a:p>
            <a:pPr marL="342900" marR="0" lvl="0" indent="-342900" algn="l" defTabSz="914400" rtl="0" eaLnBrk="1" fontAlgn="auto" latinLnBrk="0" hangingPunct="1">
              <a:lnSpc>
                <a:spcPct val="100000"/>
              </a:lnSpc>
              <a:spcBef>
                <a:spcPct val="20000"/>
              </a:spcBef>
              <a:spcAft>
                <a:spcPts val="0"/>
              </a:spcAft>
              <a:buClrTx/>
              <a:buSzTx/>
              <a:tabLst/>
              <a:defRPr/>
            </a:pPr>
            <a:endParaRPr lang="en-US" altLang="zh-CN" b="1" baseline="0" dirty="0" smtClean="0">
              <a:solidFill>
                <a:schemeClr val="bg1">
                  <a:lumMod val="50000"/>
                </a:schemeClr>
              </a:solidFill>
              <a:latin typeface="Times New Roman" pitchFamily="18" charset="0"/>
              <a:ea typeface="宋体" pitchFamily="2" charset="-122"/>
              <a:cs typeface="Times New Roman" pitchFamily="18" charset="0"/>
            </a:endParaRPr>
          </a:p>
          <a:p>
            <a:pPr marL="342900" marR="0" lvl="0" indent="-342900" algn="l" defTabSz="914400" rtl="0" eaLnBrk="1" fontAlgn="auto" latinLnBrk="0" hangingPunct="1">
              <a:lnSpc>
                <a:spcPct val="100000"/>
              </a:lnSpc>
              <a:spcBef>
                <a:spcPct val="20000"/>
              </a:spcBef>
              <a:spcAft>
                <a:spcPts val="0"/>
              </a:spcAft>
              <a:buClrTx/>
              <a:buSzTx/>
              <a:tabLst/>
              <a:defRPr/>
            </a:pPr>
            <a:endParaRPr kumimoji="0" lang="en-US" altLang="zh-CN" b="1" i="0" u="none" strike="noStrike" kern="1200" cap="none" spc="0" normalizeH="0" noProof="0" dirty="0" smtClean="0">
              <a:ln>
                <a:noFill/>
              </a:ln>
              <a:solidFill>
                <a:srgbClr val="000099"/>
              </a:solidFill>
              <a:effectLst/>
              <a:uLnTx/>
              <a:uFillTx/>
              <a:latin typeface="Times New Roman" pitchFamily="18" charset="0"/>
              <a:ea typeface="宋体" pitchFamily="2" charset="-122"/>
              <a:cs typeface="Times New Roman" pitchFamily="18" charset="0"/>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SAMPLE MEAN AND VARIANCE</a:t>
            </a:r>
            <a:endParaRPr lang="en-US" dirty="0"/>
          </a:p>
        </p:txBody>
      </p:sp>
      <p:sp>
        <p:nvSpPr>
          <p:cNvPr id="3" name="Content Placeholder 2"/>
          <p:cNvSpPr>
            <a:spLocks noGrp="1"/>
          </p:cNvSpPr>
          <p:nvPr>
            <p:ph idx="1"/>
          </p:nvPr>
        </p:nvSpPr>
        <p:spPr/>
        <p:txBody>
          <a:bodyPr>
            <a:normAutofit/>
          </a:bodyPr>
          <a:lstStyle/>
          <a:p>
            <a:r>
              <a:rPr lang="en-US" dirty="0" smtClean="0"/>
              <a:t>Definition: </a:t>
            </a:r>
            <a:r>
              <a:rPr lang="en-US" dirty="0" smtClean="0">
                <a:solidFill>
                  <a:srgbClr val="FF0000"/>
                </a:solidFill>
              </a:rPr>
              <a:t>population</a:t>
            </a:r>
          </a:p>
          <a:p>
            <a:pPr lvl="1"/>
            <a:r>
              <a:rPr lang="en-US" dirty="0" smtClean="0"/>
              <a:t>the collection of </a:t>
            </a:r>
            <a:r>
              <a:rPr lang="en-US" dirty="0" smtClean="0">
                <a:solidFill>
                  <a:srgbClr val="FF0000"/>
                </a:solidFill>
              </a:rPr>
              <a:t>ALL</a:t>
            </a:r>
            <a:r>
              <a:rPr lang="en-US" dirty="0" smtClean="0"/>
              <a:t> objects or elements under study.</a:t>
            </a:r>
          </a:p>
          <a:p>
            <a:pPr lvl="1"/>
            <a:r>
              <a:rPr lang="en-US" dirty="0" smtClean="0"/>
              <a:t>E.g. measure the female life span in US</a:t>
            </a:r>
          </a:p>
          <a:p>
            <a:pPr lvl="2"/>
            <a:r>
              <a:rPr lang="en-US" dirty="0" smtClean="0"/>
              <a:t>member: the life span of one female in US (can be modeled as an RV: X)</a:t>
            </a:r>
          </a:p>
          <a:p>
            <a:pPr lvl="2"/>
            <a:r>
              <a:rPr lang="en-US" dirty="0" smtClean="0"/>
              <a:t>Population: the life spans of ALL the females in US</a:t>
            </a:r>
          </a:p>
          <a:p>
            <a:pPr lvl="1"/>
            <a:r>
              <a:rPr lang="en-US" dirty="0" smtClean="0"/>
              <a:t>Most of the time, it is extremely difficult and expensive, if not impossible, to get the data for the entire population.</a:t>
            </a:r>
          </a:p>
          <a:p>
            <a:pPr lvl="1"/>
            <a:r>
              <a:rPr lang="en-US" dirty="0" smtClean="0"/>
              <a:t>We take a limited number of samples to represent the population</a:t>
            </a:r>
          </a:p>
          <a:p>
            <a:r>
              <a:rPr lang="en-US" dirty="0" smtClean="0"/>
              <a:t>Definition: </a:t>
            </a:r>
            <a:r>
              <a:rPr lang="en-US" dirty="0" smtClean="0">
                <a:solidFill>
                  <a:srgbClr val="FF0000"/>
                </a:solidFill>
              </a:rPr>
              <a:t>random sample</a:t>
            </a:r>
            <a:r>
              <a:rPr lang="en-US" dirty="0" smtClean="0"/>
              <a:t> (or, sample)</a:t>
            </a:r>
          </a:p>
          <a:p>
            <a:pPr lvl="1"/>
            <a:r>
              <a:rPr lang="en-US" dirty="0" smtClean="0"/>
              <a:t>A random sample is part of the population that has been selected at random. </a:t>
            </a:r>
          </a:p>
          <a:p>
            <a:pPr lvl="2"/>
            <a:r>
              <a:rPr lang="en-US" dirty="0" smtClean="0"/>
              <a:t>E.g. Consider a population with </a:t>
            </a:r>
            <a:r>
              <a:rPr lang="en-US" i="1" dirty="0" smtClean="0"/>
              <a:t>N</a:t>
            </a:r>
            <a:r>
              <a:rPr lang="en-US" dirty="0" smtClean="0"/>
              <a:t> members. We can randomly pick </a:t>
            </a:r>
          </a:p>
          <a:p>
            <a:pPr lvl="2">
              <a:buNone/>
            </a:pPr>
            <a:r>
              <a:rPr lang="en-US" dirty="0" smtClean="0"/>
              <a:t>	</a:t>
            </a:r>
            <a:r>
              <a:rPr lang="en-US" i="1" dirty="0" smtClean="0"/>
              <a:t>n</a:t>
            </a:r>
            <a:r>
              <a:rPr lang="en-US" dirty="0" smtClean="0"/>
              <a:t> &lt;&lt; </a:t>
            </a:r>
            <a:r>
              <a:rPr lang="en-US" i="1" dirty="0" smtClean="0"/>
              <a:t>N</a:t>
            </a:r>
            <a:r>
              <a:rPr lang="en-US" dirty="0" smtClean="0"/>
              <a:t> members. The </a:t>
            </a:r>
            <a:r>
              <a:rPr lang="en-US" i="1" dirty="0" smtClean="0"/>
              <a:t>n</a:t>
            </a:r>
            <a:r>
              <a:rPr lang="en-US" dirty="0" smtClean="0"/>
              <a:t> members form a sample of the population.</a:t>
            </a:r>
          </a:p>
          <a:p>
            <a:pPr lvl="2"/>
            <a:r>
              <a:rPr lang="en-US" dirty="0" smtClean="0"/>
              <a:t>All members of the population are equally likely  being picked.</a:t>
            </a:r>
          </a:p>
          <a:p>
            <a:pPr lvl="2"/>
            <a:r>
              <a:rPr lang="en-US" dirty="0" smtClean="0"/>
              <a:t>The picks are independent of each others. </a:t>
            </a:r>
          </a:p>
          <a:p>
            <a:endParaRPr lang="en-US" dirty="0" smtClean="0"/>
          </a:p>
          <a:p>
            <a:pPr lvl="1"/>
            <a:endParaRPr lang="en-US" dirty="0" smtClean="0"/>
          </a:p>
          <a:p>
            <a:pPr lvl="1"/>
            <a:endParaRPr lang="en-US" dirty="0"/>
          </a:p>
        </p:txBody>
      </p:sp>
      <p:sp>
        <p:nvSpPr>
          <p:cNvPr id="4" name="Slide Number Placeholder 3"/>
          <p:cNvSpPr>
            <a:spLocks noGrp="1"/>
          </p:cNvSpPr>
          <p:nvPr>
            <p:ph type="sldNum" sz="quarter" idx="10"/>
          </p:nvPr>
        </p:nvSpPr>
        <p:spPr/>
        <p:txBody>
          <a:bodyPr/>
          <a:lstStyle/>
          <a:p>
            <a:fld id="{7A65BF99-0365-4788-A7C5-586C0382C80B}" type="slidenum">
              <a:rPr lang="zh-CN" altLang="en-US" smtClean="0"/>
              <a:pPr/>
              <a:t>6</a:t>
            </a:fld>
            <a:endParaRPr lang="en-US" altLang="zh-CN" dirty="0" smtClean="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SAMPLE MEAN AND VARIANCE</a:t>
            </a:r>
            <a:endParaRPr lang="en-US" dirty="0"/>
          </a:p>
        </p:txBody>
      </p:sp>
      <p:sp>
        <p:nvSpPr>
          <p:cNvPr id="3" name="Content Placeholder 2"/>
          <p:cNvSpPr>
            <a:spLocks noGrp="1"/>
          </p:cNvSpPr>
          <p:nvPr>
            <p:ph idx="1"/>
          </p:nvPr>
        </p:nvSpPr>
        <p:spPr/>
        <p:txBody>
          <a:bodyPr/>
          <a:lstStyle/>
          <a:p>
            <a:r>
              <a:rPr lang="en-US" dirty="0" smtClean="0"/>
              <a:t>Random sample</a:t>
            </a:r>
          </a:p>
          <a:p>
            <a:pPr lvl="1"/>
            <a:r>
              <a:rPr lang="en-US" dirty="0" smtClean="0"/>
              <a:t>Consider a random sample with </a:t>
            </a:r>
            <a:r>
              <a:rPr lang="en-US" i="1" dirty="0" smtClean="0"/>
              <a:t>n</a:t>
            </a:r>
            <a:r>
              <a:rPr lang="en-US" dirty="0" smtClean="0"/>
              <a:t> members</a:t>
            </a:r>
          </a:p>
          <a:p>
            <a:pPr lvl="1"/>
            <a:endParaRPr lang="en-US" dirty="0" smtClean="0"/>
          </a:p>
          <a:p>
            <a:pPr lvl="1"/>
            <a:r>
              <a:rPr lang="en-US" dirty="0" smtClean="0"/>
              <a:t>Each member is a random variable</a:t>
            </a:r>
          </a:p>
          <a:p>
            <a:pPr lvl="1"/>
            <a:r>
              <a:rPr lang="en-US" dirty="0" smtClean="0"/>
              <a:t>The </a:t>
            </a:r>
            <a:r>
              <a:rPr lang="en-US" i="1" dirty="0" smtClean="0"/>
              <a:t>n</a:t>
            </a:r>
            <a:r>
              <a:rPr lang="en-US" dirty="0" smtClean="0"/>
              <a:t> random variables are mutually independent</a:t>
            </a:r>
          </a:p>
          <a:p>
            <a:pPr lvl="1"/>
            <a:r>
              <a:rPr lang="en-US" dirty="0" smtClean="0"/>
              <a:t>The </a:t>
            </a:r>
            <a:r>
              <a:rPr lang="en-US" i="1" dirty="0" smtClean="0"/>
              <a:t>n</a:t>
            </a:r>
            <a:r>
              <a:rPr lang="en-US" dirty="0" smtClean="0"/>
              <a:t> random variables are identically distributed</a:t>
            </a:r>
          </a:p>
          <a:p>
            <a:pPr lvl="1"/>
            <a:r>
              <a:rPr lang="en-US" dirty="0" smtClean="0"/>
              <a:t>With the random sample, we can infer (estimate) the properties of the population with </a:t>
            </a:r>
            <a:r>
              <a:rPr lang="en-US" i="1" dirty="0" smtClean="0"/>
              <a:t>N &gt;&gt; n</a:t>
            </a:r>
            <a:r>
              <a:rPr lang="en-US" dirty="0" smtClean="0"/>
              <a:t> members</a:t>
            </a:r>
          </a:p>
          <a:p>
            <a:pPr lvl="2"/>
            <a:r>
              <a:rPr lang="en-US" dirty="0" smtClean="0"/>
              <a:t>E.g. mean, variance, distribution, etc.</a:t>
            </a:r>
          </a:p>
          <a:p>
            <a:pPr lvl="1"/>
            <a:endParaRPr lang="en-US" dirty="0" smtClean="0"/>
          </a:p>
          <a:p>
            <a:pPr lvl="1"/>
            <a:r>
              <a:rPr lang="en-US" dirty="0" smtClean="0"/>
              <a:t>Intuitively, the larger the value of </a:t>
            </a:r>
            <a:r>
              <a:rPr lang="en-US" i="1" dirty="0" smtClean="0"/>
              <a:t>n</a:t>
            </a:r>
            <a:r>
              <a:rPr lang="en-US" dirty="0" smtClean="0"/>
              <a:t>, the better the estimation. </a:t>
            </a:r>
          </a:p>
          <a:p>
            <a:pPr lvl="2"/>
            <a:r>
              <a:rPr lang="en-US" dirty="0" smtClean="0"/>
              <a:t>We will prove this intuition.</a:t>
            </a:r>
          </a:p>
          <a:p>
            <a:endParaRPr lang="en-US" dirty="0" smtClean="0"/>
          </a:p>
        </p:txBody>
      </p:sp>
      <p:sp>
        <p:nvSpPr>
          <p:cNvPr id="4" name="Slide Number Placeholder 3"/>
          <p:cNvSpPr>
            <a:spLocks noGrp="1"/>
          </p:cNvSpPr>
          <p:nvPr>
            <p:ph type="sldNum" sz="quarter" idx="10"/>
          </p:nvPr>
        </p:nvSpPr>
        <p:spPr/>
        <p:txBody>
          <a:bodyPr/>
          <a:lstStyle/>
          <a:p>
            <a:fld id="{7A65BF99-0365-4788-A7C5-586C0382C80B}" type="slidenum">
              <a:rPr lang="zh-CN" altLang="en-US" smtClean="0"/>
              <a:pPr/>
              <a:t>7</a:t>
            </a:fld>
            <a:endParaRPr lang="en-US" altLang="zh-CN" dirty="0" smtClean="0"/>
          </a:p>
        </p:txBody>
      </p:sp>
      <p:pic>
        <p:nvPicPr>
          <p:cNvPr id="6" name="Picture 5"/>
          <p:cNvPicPr>
            <a:picLocks noChangeAspect="1"/>
          </p:cNvPicPr>
          <p:nvPr/>
        </p:nvPicPr>
        <p:blipFill>
          <a:blip r:embed="rId2"/>
          <a:stretch>
            <a:fillRect/>
          </a:stretch>
        </p:blipFill>
        <p:spPr>
          <a:xfrm>
            <a:off x="2971800" y="1524000"/>
            <a:ext cx="1905000" cy="41743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SAMPLE MEAN AND VARIANCE</a:t>
            </a:r>
            <a:endParaRPr lang="en-US" dirty="0"/>
          </a:p>
        </p:txBody>
      </p:sp>
      <p:sp>
        <p:nvSpPr>
          <p:cNvPr id="3" name="Content Placeholder 2"/>
          <p:cNvSpPr>
            <a:spLocks noGrp="1"/>
          </p:cNvSpPr>
          <p:nvPr>
            <p:ph idx="1"/>
          </p:nvPr>
        </p:nvSpPr>
        <p:spPr/>
        <p:txBody>
          <a:bodyPr/>
          <a:lstStyle/>
          <a:p>
            <a:r>
              <a:rPr lang="en-US" dirty="0" smtClean="0"/>
              <a:t>Sample mean</a:t>
            </a:r>
          </a:p>
          <a:p>
            <a:pPr lvl="1"/>
            <a:r>
              <a:rPr lang="en-US" dirty="0" smtClean="0"/>
              <a:t>The </a:t>
            </a:r>
            <a:r>
              <a:rPr lang="en-US" dirty="0" smtClean="0">
                <a:solidFill>
                  <a:srgbClr val="FF0000"/>
                </a:solidFill>
              </a:rPr>
              <a:t>sample mean </a:t>
            </a:r>
            <a:r>
              <a:rPr lang="en-US" dirty="0" smtClean="0"/>
              <a:t>of                             is</a:t>
            </a:r>
          </a:p>
          <a:p>
            <a:pPr lvl="1"/>
            <a:endParaRPr lang="en-US" dirty="0" smtClean="0"/>
          </a:p>
          <a:p>
            <a:pPr lvl="1"/>
            <a:endParaRPr lang="en-US" dirty="0" smtClean="0"/>
          </a:p>
          <a:p>
            <a:pPr lvl="1"/>
            <a:r>
              <a:rPr lang="en-US" dirty="0" smtClean="0"/>
              <a:t>It is an estimation of the actual mean of the population </a:t>
            </a:r>
          </a:p>
          <a:p>
            <a:pPr lvl="1"/>
            <a:r>
              <a:rPr lang="en-US" dirty="0" smtClean="0"/>
              <a:t>     is a random variable, because it is a function of </a:t>
            </a:r>
            <a:r>
              <a:rPr lang="en-US" i="1" dirty="0" smtClean="0"/>
              <a:t>n</a:t>
            </a:r>
            <a:r>
              <a:rPr lang="en-US" dirty="0" smtClean="0"/>
              <a:t> RVs</a:t>
            </a:r>
          </a:p>
          <a:p>
            <a:endParaRPr lang="en-US" dirty="0" smtClean="0"/>
          </a:p>
          <a:p>
            <a:r>
              <a:rPr lang="en-US" dirty="0" smtClean="0"/>
              <a:t>The first moment of the sample mean</a:t>
            </a:r>
          </a:p>
          <a:p>
            <a:pPr lvl="1"/>
            <a:r>
              <a:rPr lang="en-US" dirty="0" smtClean="0"/>
              <a:t> </a:t>
            </a:r>
          </a:p>
          <a:p>
            <a:pPr lvl="1"/>
            <a:endParaRPr lang="en-US" dirty="0" smtClean="0"/>
          </a:p>
          <a:p>
            <a:pPr marL="457200" lvl="1" indent="0">
              <a:buNone/>
            </a:pPr>
            <a:endParaRPr lang="en-US" dirty="0" smtClean="0"/>
          </a:p>
          <a:p>
            <a:pPr lvl="1"/>
            <a:endParaRPr lang="en-US" dirty="0" smtClean="0"/>
          </a:p>
          <a:p>
            <a:r>
              <a:rPr lang="en-US" dirty="0" smtClean="0"/>
              <a:t>Definition: </a:t>
            </a:r>
            <a:r>
              <a:rPr lang="en-US" dirty="0" smtClean="0">
                <a:solidFill>
                  <a:srgbClr val="FF0000"/>
                </a:solidFill>
              </a:rPr>
              <a:t>unbiased estimator</a:t>
            </a:r>
          </a:p>
          <a:p>
            <a:pPr lvl="1"/>
            <a:r>
              <a:rPr lang="en-US" dirty="0" smtClean="0"/>
              <a:t>The mean of the estimation is the same as its true value</a:t>
            </a:r>
          </a:p>
          <a:p>
            <a:pPr lvl="1"/>
            <a:r>
              <a:rPr lang="en-US" dirty="0" smtClean="0"/>
              <a:t>The sample mean is an unbiased estimation of the mean</a:t>
            </a:r>
          </a:p>
          <a:p>
            <a:pPr lvl="1"/>
            <a:endParaRPr lang="en-US" dirty="0"/>
          </a:p>
        </p:txBody>
      </p:sp>
      <p:sp>
        <p:nvSpPr>
          <p:cNvPr id="4" name="Slide Number Placeholder 3"/>
          <p:cNvSpPr>
            <a:spLocks noGrp="1"/>
          </p:cNvSpPr>
          <p:nvPr>
            <p:ph type="sldNum" sz="quarter" idx="10"/>
          </p:nvPr>
        </p:nvSpPr>
        <p:spPr/>
        <p:txBody>
          <a:bodyPr/>
          <a:lstStyle/>
          <a:p>
            <a:fld id="{7A65BF99-0365-4788-A7C5-586C0382C80B}" type="slidenum">
              <a:rPr lang="zh-CN" altLang="en-US" smtClean="0"/>
              <a:pPr/>
              <a:t>8</a:t>
            </a:fld>
            <a:endParaRPr lang="en-US" altLang="zh-CN" dirty="0" smtClean="0"/>
          </a:p>
        </p:txBody>
      </p:sp>
      <p:graphicFrame>
        <p:nvGraphicFramePr>
          <p:cNvPr id="2051" name="Object 3"/>
          <p:cNvGraphicFramePr>
            <a:graphicFrameLocks noChangeAspect="1"/>
          </p:cNvGraphicFramePr>
          <p:nvPr/>
        </p:nvGraphicFramePr>
        <p:xfrm>
          <a:off x="3149600" y="1676400"/>
          <a:ext cx="1168400" cy="576263"/>
        </p:xfrm>
        <a:graphic>
          <a:graphicData uri="http://schemas.openxmlformats.org/presentationml/2006/ole">
            <mc:AlternateContent xmlns:mc="http://schemas.openxmlformats.org/markup-compatibility/2006">
              <mc:Choice xmlns:v="urn:schemas-microsoft-com:vml" Requires="v">
                <p:oleObj spid="_x0000_s2269" name="Equation" r:id="rId3" imgW="876240" imgH="431640" progId="Equation.3">
                  <p:embed/>
                </p:oleObj>
              </mc:Choice>
              <mc:Fallback>
                <p:oleObj name="Equation" r:id="rId3" imgW="876240" imgH="431640" progId="Equation.3">
                  <p:embed/>
                  <p:pic>
                    <p:nvPicPr>
                      <p:cNvPr id="0"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49600" y="1676400"/>
                        <a:ext cx="1168400" cy="5762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052" name="Object 4"/>
          <p:cNvGraphicFramePr>
            <a:graphicFrameLocks noChangeAspect="1"/>
          </p:cNvGraphicFramePr>
          <p:nvPr/>
        </p:nvGraphicFramePr>
        <p:xfrm>
          <a:off x="6629400" y="2286000"/>
          <a:ext cx="998538" cy="287337"/>
        </p:xfrm>
        <a:graphic>
          <a:graphicData uri="http://schemas.openxmlformats.org/presentationml/2006/ole">
            <mc:AlternateContent xmlns:mc="http://schemas.openxmlformats.org/markup-compatibility/2006">
              <mc:Choice xmlns:v="urn:schemas-microsoft-com:vml" Requires="v">
                <p:oleObj spid="_x0000_s2270" name="Equation" r:id="rId5" imgW="749160" imgH="215640" progId="Equation.3">
                  <p:embed/>
                </p:oleObj>
              </mc:Choice>
              <mc:Fallback>
                <p:oleObj name="Equation" r:id="rId5" imgW="749160" imgH="215640" progId="Equation.3">
                  <p:embed/>
                  <p:pic>
                    <p:nvPicPr>
                      <p:cNvPr id="0" name="Picture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629400" y="2286000"/>
                        <a:ext cx="998538" cy="2873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054" name="Object 6"/>
          <p:cNvGraphicFramePr>
            <a:graphicFrameLocks noChangeAspect="1"/>
          </p:cNvGraphicFramePr>
          <p:nvPr/>
        </p:nvGraphicFramePr>
        <p:xfrm>
          <a:off x="1330325" y="2598738"/>
          <a:ext cx="322263" cy="288925"/>
        </p:xfrm>
        <a:graphic>
          <a:graphicData uri="http://schemas.openxmlformats.org/presentationml/2006/ole">
            <mc:AlternateContent xmlns:mc="http://schemas.openxmlformats.org/markup-compatibility/2006">
              <mc:Choice xmlns:v="urn:schemas-microsoft-com:vml" Requires="v">
                <p:oleObj spid="_x0000_s2271" name="Equation" r:id="rId7" imgW="241200" imgH="215640" progId="Equation.3">
                  <p:embed/>
                </p:oleObj>
              </mc:Choice>
              <mc:Fallback>
                <p:oleObj name="Equation" r:id="rId7" imgW="241200" imgH="215640" progId="Equation.3">
                  <p:embed/>
                  <p:pic>
                    <p:nvPicPr>
                      <p:cNvPr id="0" name="Picture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330325" y="2598738"/>
                        <a:ext cx="322263" cy="2889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056" name="Object 8"/>
          <p:cNvGraphicFramePr>
            <a:graphicFrameLocks noChangeAspect="1"/>
          </p:cNvGraphicFramePr>
          <p:nvPr>
            <p:extLst>
              <p:ext uri="{D42A27DB-BD31-4B8C-83A1-F6EECF244321}">
                <p14:modId xmlns:p14="http://schemas.microsoft.com/office/powerpoint/2010/main" val="3151014533"/>
              </p:ext>
            </p:extLst>
          </p:nvPr>
        </p:nvGraphicFramePr>
        <p:xfrm>
          <a:off x="5181600" y="3340894"/>
          <a:ext cx="322263" cy="287337"/>
        </p:xfrm>
        <a:graphic>
          <a:graphicData uri="http://schemas.openxmlformats.org/presentationml/2006/ole">
            <mc:AlternateContent xmlns:mc="http://schemas.openxmlformats.org/markup-compatibility/2006">
              <mc:Choice xmlns:v="urn:schemas-microsoft-com:vml" Requires="v">
                <p:oleObj spid="_x0000_s2272" name="Equation" r:id="rId9" imgW="241200" imgH="215640" progId="Equation.3">
                  <p:embed/>
                </p:oleObj>
              </mc:Choice>
              <mc:Fallback>
                <p:oleObj name="Equation" r:id="rId9" imgW="241200" imgH="215640" progId="Equation.3">
                  <p:embed/>
                  <p:pic>
                    <p:nvPicPr>
                      <p:cNvPr id="0" name="Picture 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181600" y="3340894"/>
                        <a:ext cx="322263" cy="2873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057" name="Object 9"/>
          <p:cNvGraphicFramePr>
            <a:graphicFrameLocks noChangeAspect="1"/>
          </p:cNvGraphicFramePr>
          <p:nvPr>
            <p:extLst>
              <p:ext uri="{D42A27DB-BD31-4B8C-83A1-F6EECF244321}">
                <p14:modId xmlns:p14="http://schemas.microsoft.com/office/powerpoint/2010/main" val="4285304201"/>
              </p:ext>
            </p:extLst>
          </p:nvPr>
        </p:nvGraphicFramePr>
        <p:xfrm>
          <a:off x="1371600" y="3676650"/>
          <a:ext cx="765175" cy="287337"/>
        </p:xfrm>
        <a:graphic>
          <a:graphicData uri="http://schemas.openxmlformats.org/presentationml/2006/ole">
            <mc:AlternateContent xmlns:mc="http://schemas.openxmlformats.org/markup-compatibility/2006">
              <mc:Choice xmlns:v="urn:schemas-microsoft-com:vml" Requires="v">
                <p:oleObj spid="_x0000_s2273" name="Equation" r:id="rId11" imgW="571320" imgH="215640" progId="Equation.3">
                  <p:embed/>
                </p:oleObj>
              </mc:Choice>
              <mc:Fallback>
                <p:oleObj name="Equation" r:id="rId11" imgW="571320" imgH="215640" progId="Equation.3">
                  <p:embed/>
                  <p:pic>
                    <p:nvPicPr>
                      <p:cNvPr id="0" name="Picture 9"/>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371600" y="3676650"/>
                        <a:ext cx="765175" cy="2873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058" name="Object 10"/>
          <p:cNvGraphicFramePr>
            <a:graphicFrameLocks noChangeAspect="1"/>
          </p:cNvGraphicFramePr>
          <p:nvPr>
            <p:extLst>
              <p:ext uri="{D42A27DB-BD31-4B8C-83A1-F6EECF244321}">
                <p14:modId xmlns:p14="http://schemas.microsoft.com/office/powerpoint/2010/main" val="824950826"/>
              </p:ext>
            </p:extLst>
          </p:nvPr>
        </p:nvGraphicFramePr>
        <p:xfrm>
          <a:off x="6781800" y="5638800"/>
          <a:ext cx="1399810" cy="381000"/>
        </p:xfrm>
        <a:graphic>
          <a:graphicData uri="http://schemas.openxmlformats.org/presentationml/2006/ole">
            <mc:AlternateContent xmlns:mc="http://schemas.openxmlformats.org/markup-compatibility/2006">
              <mc:Choice xmlns:v="urn:schemas-microsoft-com:vml" Requires="v">
                <p:oleObj spid="_x0000_s2274" name="Equation" r:id="rId13" imgW="787320" imgH="215640" progId="Equation.3">
                  <p:embed/>
                </p:oleObj>
              </mc:Choice>
              <mc:Fallback>
                <p:oleObj name="Equation" r:id="rId13" imgW="787320" imgH="215640" progId="Equation.3">
                  <p:embed/>
                  <p:pic>
                    <p:nvPicPr>
                      <p:cNvPr id="0" name="Picture 10"/>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6781800" y="5638800"/>
                        <a:ext cx="1399810" cy="381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13" name="Picture 12"/>
          <p:cNvPicPr>
            <a:picLocks noChangeAspect="1"/>
          </p:cNvPicPr>
          <p:nvPr/>
        </p:nvPicPr>
        <p:blipFill>
          <a:blip r:embed="rId15"/>
          <a:stretch>
            <a:fillRect/>
          </a:stretch>
        </p:blipFill>
        <p:spPr>
          <a:xfrm>
            <a:off x="3352800" y="1259621"/>
            <a:ext cx="1524000" cy="333944"/>
          </a:xfrm>
          <a:prstGeom prst="rect">
            <a:avLst/>
          </a:prstGeom>
        </p:spPr>
      </p:pic>
      <p:pic>
        <p:nvPicPr>
          <p:cNvPr id="14" name="Picture 13"/>
          <p:cNvPicPr>
            <a:picLocks noChangeAspect="1"/>
          </p:cNvPicPr>
          <p:nvPr/>
        </p:nvPicPr>
        <p:blipFill>
          <a:blip r:embed="rId15"/>
          <a:stretch>
            <a:fillRect/>
          </a:stretch>
        </p:blipFill>
        <p:spPr>
          <a:xfrm>
            <a:off x="6781800" y="2584959"/>
            <a:ext cx="1524000" cy="333944"/>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SAMPLE MEAN AND VARIANCE</a:t>
            </a:r>
            <a:endParaRPr lang="en-US" dirty="0"/>
          </a:p>
        </p:txBody>
      </p:sp>
      <p:sp>
        <p:nvSpPr>
          <p:cNvPr id="3" name="Content Placeholder 2"/>
          <p:cNvSpPr>
            <a:spLocks noGrp="1"/>
          </p:cNvSpPr>
          <p:nvPr>
            <p:ph idx="1"/>
          </p:nvPr>
        </p:nvSpPr>
        <p:spPr/>
        <p:txBody>
          <a:bodyPr/>
          <a:lstStyle/>
          <a:p>
            <a:r>
              <a:rPr lang="en-US" dirty="0" smtClean="0"/>
              <a:t>The 2</a:t>
            </a:r>
            <a:r>
              <a:rPr lang="en-US" baseline="30000" dirty="0" smtClean="0"/>
              <a:t>nd</a:t>
            </a:r>
            <a:r>
              <a:rPr lang="en-US" dirty="0" smtClean="0"/>
              <a:t> central moment (variance) of the sample mean</a:t>
            </a:r>
          </a:p>
          <a:p>
            <a:pPr lvl="1"/>
            <a:r>
              <a:rPr lang="en-US" dirty="0" smtClean="0"/>
              <a:t>  </a:t>
            </a:r>
          </a:p>
          <a:p>
            <a:pPr lvl="1"/>
            <a:endParaRPr lang="en-US" dirty="0" smtClean="0"/>
          </a:p>
          <a:p>
            <a:pPr lvl="1"/>
            <a:endParaRPr lang="en-US" dirty="0" smtClean="0"/>
          </a:p>
          <a:p>
            <a:pPr lvl="1"/>
            <a:endParaRPr lang="en-US" dirty="0" smtClean="0"/>
          </a:p>
          <a:p>
            <a:pPr lvl="1"/>
            <a:endParaRPr lang="en-US" dirty="0" smtClean="0"/>
          </a:p>
          <a:p>
            <a:pPr lvl="1"/>
            <a:endParaRPr lang="en-US" dirty="0" smtClean="0"/>
          </a:p>
          <a:p>
            <a:pPr lvl="1"/>
            <a:endParaRPr lang="en-US" dirty="0" smtClean="0"/>
          </a:p>
          <a:p>
            <a:pPr lvl="1"/>
            <a:endParaRPr lang="en-US" dirty="0" smtClean="0"/>
          </a:p>
          <a:p>
            <a:pPr lvl="1"/>
            <a:endParaRPr lang="en-US" dirty="0" smtClean="0"/>
          </a:p>
          <a:p>
            <a:pPr lvl="1"/>
            <a:r>
              <a:rPr lang="en-US" dirty="0" smtClean="0"/>
              <a:t>Recall: variance measures the deviation from the mean</a:t>
            </a:r>
          </a:p>
          <a:p>
            <a:pPr lvl="2"/>
            <a:r>
              <a:rPr lang="en-US" dirty="0" smtClean="0"/>
              <a:t>The smaller the variance, the less the randomness</a:t>
            </a:r>
          </a:p>
          <a:p>
            <a:pPr lvl="2"/>
            <a:r>
              <a:rPr lang="en-US" dirty="0" smtClean="0"/>
              <a:t>If variance is 0, then the RV is a constant</a:t>
            </a:r>
          </a:p>
          <a:p>
            <a:pPr lvl="1"/>
            <a:r>
              <a:rPr lang="en-US" dirty="0" smtClean="0"/>
              <a:t>The larger the sample size </a:t>
            </a:r>
            <a:r>
              <a:rPr lang="en-US" i="1" dirty="0" smtClean="0"/>
              <a:t>n</a:t>
            </a:r>
            <a:r>
              <a:rPr lang="en-US" dirty="0" smtClean="0"/>
              <a:t>, the more accurate the estimation. </a:t>
            </a:r>
            <a:endParaRPr lang="en-US" i="1" dirty="0" smtClean="0"/>
          </a:p>
          <a:p>
            <a:pPr lvl="1"/>
            <a:endParaRPr lang="en-US" dirty="0"/>
          </a:p>
        </p:txBody>
      </p:sp>
      <p:sp>
        <p:nvSpPr>
          <p:cNvPr id="4" name="Slide Number Placeholder 3"/>
          <p:cNvSpPr>
            <a:spLocks noGrp="1"/>
          </p:cNvSpPr>
          <p:nvPr>
            <p:ph type="sldNum" sz="quarter" idx="10"/>
          </p:nvPr>
        </p:nvSpPr>
        <p:spPr/>
        <p:txBody>
          <a:bodyPr/>
          <a:lstStyle/>
          <a:p>
            <a:fld id="{7A65BF99-0365-4788-A7C5-586C0382C80B}" type="slidenum">
              <a:rPr lang="zh-CN" altLang="en-US" smtClean="0"/>
              <a:pPr/>
              <a:t>9</a:t>
            </a:fld>
            <a:endParaRPr lang="en-US" altLang="zh-CN" dirty="0" smtClean="0"/>
          </a:p>
        </p:txBody>
      </p:sp>
      <p:graphicFrame>
        <p:nvGraphicFramePr>
          <p:cNvPr id="3075" name="Object 3"/>
          <p:cNvGraphicFramePr>
            <a:graphicFrameLocks noChangeAspect="1"/>
          </p:cNvGraphicFramePr>
          <p:nvPr/>
        </p:nvGraphicFramePr>
        <p:xfrm>
          <a:off x="1568450" y="1295400"/>
          <a:ext cx="3689350" cy="322262"/>
        </p:xfrm>
        <a:graphic>
          <a:graphicData uri="http://schemas.openxmlformats.org/presentationml/2006/ole">
            <mc:AlternateContent xmlns:mc="http://schemas.openxmlformats.org/markup-compatibility/2006">
              <mc:Choice xmlns:v="urn:schemas-microsoft-com:vml" Requires="v">
                <p:oleObj spid="_x0000_s3177" name="Equation" r:id="rId4" imgW="2755800" imgH="241200" progId="Equation.3">
                  <p:embed/>
                </p:oleObj>
              </mc:Choice>
              <mc:Fallback>
                <p:oleObj name="Equation" r:id="rId4" imgW="2755800" imgH="241200" progId="Equation.3">
                  <p:embed/>
                  <p:pic>
                    <p:nvPicPr>
                      <p:cNvPr id="0"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68450" y="1295400"/>
                        <a:ext cx="3689350" cy="3222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076" name="Object 4"/>
          <p:cNvGraphicFramePr>
            <a:graphicFrameLocks noChangeAspect="1"/>
          </p:cNvGraphicFramePr>
          <p:nvPr/>
        </p:nvGraphicFramePr>
        <p:xfrm>
          <a:off x="3149600" y="3581400"/>
          <a:ext cx="1276350" cy="558800"/>
        </p:xfrm>
        <a:graphic>
          <a:graphicData uri="http://schemas.openxmlformats.org/presentationml/2006/ole">
            <mc:AlternateContent xmlns:mc="http://schemas.openxmlformats.org/markup-compatibility/2006">
              <mc:Choice xmlns:v="urn:schemas-microsoft-com:vml" Requires="v">
                <p:oleObj spid="_x0000_s3178" name="Equation" r:id="rId6" imgW="952200" imgH="419040" progId="Equation.3">
                  <p:embed/>
                </p:oleObj>
              </mc:Choice>
              <mc:Fallback>
                <p:oleObj name="Equation" r:id="rId6" imgW="952200" imgH="419040" progId="Equation.3">
                  <p:embed/>
                  <p:pic>
                    <p:nvPicPr>
                      <p:cNvPr id="0" name="Picture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149600" y="3581400"/>
                        <a:ext cx="1276350" cy="558800"/>
                      </a:xfrm>
                      <a:prstGeom prst="rect">
                        <a:avLst/>
                      </a:prstGeom>
                      <a:solidFill>
                        <a:srgbClr val="FFFF99"/>
                      </a:solidFill>
                    </p:spPr>
                  </p:pic>
                </p:oleObj>
              </mc:Fallback>
            </mc:AlternateContent>
          </a:graphicData>
        </a:graphic>
      </p:graphicFrame>
      <p:graphicFrame>
        <p:nvGraphicFramePr>
          <p:cNvPr id="3077" name="Object 5"/>
          <p:cNvGraphicFramePr>
            <a:graphicFrameLocks noChangeAspect="1"/>
          </p:cNvGraphicFramePr>
          <p:nvPr/>
        </p:nvGraphicFramePr>
        <p:xfrm>
          <a:off x="7010400" y="914400"/>
          <a:ext cx="322263" cy="287337"/>
        </p:xfrm>
        <a:graphic>
          <a:graphicData uri="http://schemas.openxmlformats.org/presentationml/2006/ole">
            <mc:AlternateContent xmlns:mc="http://schemas.openxmlformats.org/markup-compatibility/2006">
              <mc:Choice xmlns:v="urn:schemas-microsoft-com:vml" Requires="v">
                <p:oleObj spid="_x0000_s3179" name="Equation" r:id="rId8" imgW="241200" imgH="215640" progId="Equation.3">
                  <p:embed/>
                </p:oleObj>
              </mc:Choice>
              <mc:Fallback>
                <p:oleObj name="Equation" r:id="rId8" imgW="241200" imgH="215640" progId="Equation.3">
                  <p:embed/>
                  <p:pic>
                    <p:nvPicPr>
                      <p:cNvPr id="0" name="Picture 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010400" y="914400"/>
                        <a:ext cx="322263" cy="2873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076"/>
                                        </p:tgtEl>
                                        <p:attrNameLst>
                                          <p:attrName>style.visibility</p:attrName>
                                        </p:attrNameLst>
                                      </p:cBhvr>
                                      <p:to>
                                        <p:strVal val="visible"/>
                                      </p:to>
                                    </p:set>
                                    <p:anim calcmode="lin" valueType="num">
                                      <p:cBhvr additive="base">
                                        <p:cTn id="7" dur="500" fill="hold"/>
                                        <p:tgtEl>
                                          <p:spTgt spid="3076"/>
                                        </p:tgtEl>
                                        <p:attrNameLst>
                                          <p:attrName>ppt_x</p:attrName>
                                        </p:attrNameLst>
                                      </p:cBhvr>
                                      <p:tavLst>
                                        <p:tav tm="0">
                                          <p:val>
                                            <p:strVal val="#ppt_x"/>
                                          </p:val>
                                        </p:tav>
                                        <p:tav tm="100000">
                                          <p:val>
                                            <p:strVal val="#ppt_x"/>
                                          </p:val>
                                        </p:tav>
                                      </p:tavLst>
                                    </p:anim>
                                    <p:anim calcmode="lin" valueType="num">
                                      <p:cBhvr additive="base">
                                        <p:cTn id="8" dur="500" fill="hold"/>
                                        <p:tgtEl>
                                          <p:spTgt spid="307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SAMPLE MEAN AND VARIANCE</a:t>
            </a:r>
            <a:endParaRPr lang="en-US" dirty="0"/>
          </a:p>
        </p:txBody>
      </p:sp>
      <p:sp>
        <p:nvSpPr>
          <p:cNvPr id="3" name="Content Placeholder 2"/>
          <p:cNvSpPr>
            <a:spLocks noGrp="1"/>
          </p:cNvSpPr>
          <p:nvPr>
            <p:ph idx="1"/>
          </p:nvPr>
        </p:nvSpPr>
        <p:spPr/>
        <p:txBody>
          <a:bodyPr/>
          <a:lstStyle/>
          <a:p>
            <a:r>
              <a:rPr lang="en-US" dirty="0" smtClean="0"/>
              <a:t>Example</a:t>
            </a:r>
          </a:p>
          <a:p>
            <a:pPr lvl="1"/>
            <a:r>
              <a:rPr lang="en-US" dirty="0" smtClean="0"/>
              <a:t>A population of 10 resistors is to be tested. The true standard deviation is 5 Ohm, and the true mean is 100 Ohm. </a:t>
            </a:r>
          </a:p>
          <a:p>
            <a:pPr lvl="2"/>
            <a:r>
              <a:rPr lang="en-US" dirty="0" smtClean="0"/>
              <a:t>How large must be the sample size, if we want to obtain a sample mean, whose standard deviation is 2% of the true population mean?</a:t>
            </a:r>
          </a:p>
          <a:p>
            <a:pPr lvl="2"/>
            <a:r>
              <a:rPr lang="en-US" dirty="0" smtClean="0"/>
              <a:t>If the sample size is 8, what is the standard deviation of the sample mean?</a:t>
            </a:r>
          </a:p>
        </p:txBody>
      </p:sp>
      <p:sp>
        <p:nvSpPr>
          <p:cNvPr id="4" name="Slide Number Placeholder 3"/>
          <p:cNvSpPr>
            <a:spLocks noGrp="1"/>
          </p:cNvSpPr>
          <p:nvPr>
            <p:ph type="sldNum" sz="quarter" idx="10"/>
          </p:nvPr>
        </p:nvSpPr>
        <p:spPr/>
        <p:txBody>
          <a:bodyPr/>
          <a:lstStyle/>
          <a:p>
            <a:fld id="{7A65BF99-0365-4788-A7C5-586C0382C80B}" type="slidenum">
              <a:rPr lang="zh-CN" altLang="en-US" smtClean="0"/>
              <a:pPr/>
              <a:t>10</a:t>
            </a:fld>
            <a:endParaRPr lang="en-US" altLang="zh-CN" dirty="0" smtClean="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SAMPLE MEAN AND VARIANCE</a:t>
            </a:r>
            <a:endParaRPr lang="en-US" dirty="0"/>
          </a:p>
        </p:txBody>
      </p:sp>
      <p:sp>
        <p:nvSpPr>
          <p:cNvPr id="3" name="Content Placeholder 2"/>
          <p:cNvSpPr>
            <a:spLocks noGrp="1"/>
          </p:cNvSpPr>
          <p:nvPr>
            <p:ph idx="1"/>
          </p:nvPr>
        </p:nvSpPr>
        <p:spPr/>
        <p:txBody>
          <a:bodyPr/>
          <a:lstStyle/>
          <a:p>
            <a:r>
              <a:rPr lang="en-US" dirty="0" smtClean="0"/>
              <a:t>Example</a:t>
            </a:r>
          </a:p>
          <a:p>
            <a:pPr lvl="1"/>
            <a:r>
              <a:rPr lang="en-US" dirty="0" smtClean="0"/>
              <a:t>The sample of a random time function  follows a </a:t>
            </a:r>
            <a:r>
              <a:rPr lang="en-US" dirty="0" err="1" smtClean="0"/>
              <a:t>pdf</a:t>
            </a:r>
            <a:r>
              <a:rPr lang="en-US" dirty="0" smtClean="0"/>
              <a:t>  given as follows: </a:t>
            </a:r>
          </a:p>
          <a:p>
            <a:pPr lvl="1">
              <a:buNone/>
            </a:pPr>
            <a:endParaRPr lang="en-US" dirty="0" smtClean="0"/>
          </a:p>
          <a:p>
            <a:pPr lvl="1">
              <a:buNone/>
            </a:pPr>
            <a:endParaRPr lang="en-US" dirty="0" smtClean="0"/>
          </a:p>
          <a:p>
            <a:pPr lvl="1">
              <a:buNone/>
            </a:pPr>
            <a:r>
              <a:rPr lang="en-US" dirty="0" smtClean="0"/>
              <a:t>	The function is sampled so as to obtain independent sample values. How many sample values are required to obtain a sample mean, whose standard deviation is 1% from the true mean?</a:t>
            </a:r>
            <a:endParaRPr lang="en-US" dirty="0"/>
          </a:p>
        </p:txBody>
      </p:sp>
      <p:sp>
        <p:nvSpPr>
          <p:cNvPr id="4" name="Slide Number Placeholder 3"/>
          <p:cNvSpPr>
            <a:spLocks noGrp="1"/>
          </p:cNvSpPr>
          <p:nvPr>
            <p:ph type="sldNum" sz="quarter" idx="10"/>
          </p:nvPr>
        </p:nvSpPr>
        <p:spPr/>
        <p:txBody>
          <a:bodyPr/>
          <a:lstStyle/>
          <a:p>
            <a:fld id="{7A65BF99-0365-4788-A7C5-586C0382C80B}" type="slidenum">
              <a:rPr lang="zh-CN" altLang="en-US" smtClean="0"/>
              <a:pPr/>
              <a:t>11</a:t>
            </a:fld>
            <a:endParaRPr lang="en-US" altLang="zh-CN" dirty="0" smtClean="0"/>
          </a:p>
        </p:txBody>
      </p:sp>
      <p:graphicFrame>
        <p:nvGraphicFramePr>
          <p:cNvPr id="16386" name="Object 2"/>
          <p:cNvGraphicFramePr>
            <a:graphicFrameLocks noChangeAspect="1"/>
          </p:cNvGraphicFramePr>
          <p:nvPr/>
        </p:nvGraphicFramePr>
        <p:xfrm>
          <a:off x="2627313" y="1592263"/>
          <a:ext cx="2549525" cy="644525"/>
        </p:xfrm>
        <a:graphic>
          <a:graphicData uri="http://schemas.openxmlformats.org/presentationml/2006/ole">
            <mc:AlternateContent xmlns:mc="http://schemas.openxmlformats.org/markup-compatibility/2006">
              <mc:Choice xmlns:v="urn:schemas-microsoft-com:vml" Requires="v">
                <p:oleObj spid="_x0000_s16420" name="Equation" r:id="rId3" imgW="1904760" imgH="482400" progId="Equation.3">
                  <p:embed/>
                </p:oleObj>
              </mc:Choice>
              <mc:Fallback>
                <p:oleObj name="Equation" r:id="rId3" imgW="1904760" imgH="482400" progId="Equation.3">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27313" y="1592263"/>
                        <a:ext cx="2549525" cy="6445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SAMPLE MEAN AND VARIANCE</a:t>
            </a:r>
            <a:endParaRPr lang="en-US" dirty="0"/>
          </a:p>
        </p:txBody>
      </p:sp>
      <p:sp>
        <p:nvSpPr>
          <p:cNvPr id="3" name="Content Placeholder 2"/>
          <p:cNvSpPr>
            <a:spLocks noGrp="1"/>
          </p:cNvSpPr>
          <p:nvPr>
            <p:ph idx="1"/>
          </p:nvPr>
        </p:nvSpPr>
        <p:spPr/>
        <p:txBody>
          <a:bodyPr/>
          <a:lstStyle/>
          <a:p>
            <a:r>
              <a:rPr lang="en-US" dirty="0" smtClean="0"/>
              <a:t>Sample variance</a:t>
            </a:r>
          </a:p>
          <a:p>
            <a:pPr lvl="1"/>
            <a:r>
              <a:rPr lang="en-US" dirty="0" smtClean="0"/>
              <a:t>The </a:t>
            </a:r>
            <a:r>
              <a:rPr lang="en-US" dirty="0" smtClean="0">
                <a:solidFill>
                  <a:srgbClr val="FF0000"/>
                </a:solidFill>
              </a:rPr>
              <a:t>sample variance</a:t>
            </a:r>
            <a:r>
              <a:rPr lang="en-US" dirty="0" smtClean="0"/>
              <a:t> of                              is defined as</a:t>
            </a:r>
          </a:p>
          <a:p>
            <a:pPr lvl="1"/>
            <a:endParaRPr lang="en-US" dirty="0" smtClean="0"/>
          </a:p>
          <a:p>
            <a:pPr lvl="1"/>
            <a:endParaRPr lang="en-US" dirty="0" smtClean="0"/>
          </a:p>
          <a:p>
            <a:pPr lvl="1"/>
            <a:endParaRPr lang="en-US" dirty="0" smtClean="0"/>
          </a:p>
          <a:p>
            <a:pPr lvl="1"/>
            <a:r>
              <a:rPr lang="en-US" dirty="0" smtClean="0"/>
              <a:t>The          is used to make       an unbiased estimator .</a:t>
            </a:r>
          </a:p>
          <a:p>
            <a:pPr lvl="1"/>
            <a:r>
              <a:rPr lang="en-US" dirty="0" smtClean="0"/>
              <a:t>     is a random variable.</a:t>
            </a:r>
          </a:p>
          <a:p>
            <a:r>
              <a:rPr lang="en-US" dirty="0" smtClean="0"/>
              <a:t>First moment of the sample variance </a:t>
            </a:r>
          </a:p>
          <a:p>
            <a:endParaRPr lang="en-US" dirty="0" smtClean="0"/>
          </a:p>
          <a:p>
            <a:endParaRPr lang="en-US" dirty="0" smtClean="0"/>
          </a:p>
          <a:p>
            <a:pPr lvl="1"/>
            <a:r>
              <a:rPr lang="en-US" dirty="0" smtClean="0"/>
              <a:t>The sample variance is an unbiased estimation of</a:t>
            </a:r>
          </a:p>
          <a:p>
            <a:pPr lvl="1"/>
            <a:endParaRPr lang="en-US" dirty="0" smtClean="0"/>
          </a:p>
          <a:p>
            <a:pPr lvl="1">
              <a:buNone/>
            </a:pPr>
            <a:endParaRPr lang="en-US" dirty="0"/>
          </a:p>
        </p:txBody>
      </p:sp>
      <p:sp>
        <p:nvSpPr>
          <p:cNvPr id="4" name="Slide Number Placeholder 3"/>
          <p:cNvSpPr>
            <a:spLocks noGrp="1"/>
          </p:cNvSpPr>
          <p:nvPr>
            <p:ph type="sldNum" sz="quarter" idx="10"/>
          </p:nvPr>
        </p:nvSpPr>
        <p:spPr/>
        <p:txBody>
          <a:bodyPr/>
          <a:lstStyle/>
          <a:p>
            <a:fld id="{7A65BF99-0365-4788-A7C5-586C0382C80B}" type="slidenum">
              <a:rPr lang="zh-CN" altLang="en-US" smtClean="0"/>
              <a:pPr/>
              <a:t>12</a:t>
            </a:fld>
            <a:endParaRPr lang="en-US" altLang="zh-CN" dirty="0" smtClean="0"/>
          </a:p>
        </p:txBody>
      </p:sp>
      <p:graphicFrame>
        <p:nvGraphicFramePr>
          <p:cNvPr id="4100" name="Object 4"/>
          <p:cNvGraphicFramePr>
            <a:graphicFrameLocks noChangeAspect="1"/>
          </p:cNvGraphicFramePr>
          <p:nvPr/>
        </p:nvGraphicFramePr>
        <p:xfrm>
          <a:off x="2692400" y="1752600"/>
          <a:ext cx="2049463" cy="574675"/>
        </p:xfrm>
        <a:graphic>
          <a:graphicData uri="http://schemas.openxmlformats.org/presentationml/2006/ole">
            <mc:AlternateContent xmlns:mc="http://schemas.openxmlformats.org/markup-compatibility/2006">
              <mc:Choice xmlns:v="urn:schemas-microsoft-com:vml" Requires="v">
                <p:oleObj spid="_x0000_s4346" name="Equation" r:id="rId4" imgW="1536480" imgH="431640" progId="Equation.3">
                  <p:embed/>
                </p:oleObj>
              </mc:Choice>
              <mc:Fallback>
                <p:oleObj name="Equation" r:id="rId4" imgW="1536480" imgH="431640" progId="Equation.3">
                  <p:embed/>
                  <p:pic>
                    <p:nvPicPr>
                      <p:cNvPr id="0"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692400" y="1752600"/>
                        <a:ext cx="2049463" cy="574675"/>
                      </a:xfrm>
                      <a:prstGeom prst="rect">
                        <a:avLst/>
                      </a:prstGeom>
                      <a:solidFill>
                        <a:srgbClr val="FFFF99"/>
                      </a:solidFill>
                    </p:spPr>
                  </p:pic>
                </p:oleObj>
              </mc:Fallback>
            </mc:AlternateContent>
          </a:graphicData>
        </a:graphic>
      </p:graphicFrame>
      <p:graphicFrame>
        <p:nvGraphicFramePr>
          <p:cNvPr id="4101" name="Object 5"/>
          <p:cNvGraphicFramePr>
            <a:graphicFrameLocks noChangeAspect="1"/>
          </p:cNvGraphicFramePr>
          <p:nvPr/>
        </p:nvGraphicFramePr>
        <p:xfrm>
          <a:off x="1905000" y="2438400"/>
          <a:ext cx="441325" cy="523875"/>
        </p:xfrm>
        <a:graphic>
          <a:graphicData uri="http://schemas.openxmlformats.org/presentationml/2006/ole">
            <mc:AlternateContent xmlns:mc="http://schemas.openxmlformats.org/markup-compatibility/2006">
              <mc:Choice xmlns:v="urn:schemas-microsoft-com:vml" Requires="v">
                <p:oleObj spid="_x0000_s4347" name="Equation" r:id="rId6" imgW="330120" imgH="393480" progId="Equation.3">
                  <p:embed/>
                </p:oleObj>
              </mc:Choice>
              <mc:Fallback>
                <p:oleObj name="Equation" r:id="rId6" imgW="330120" imgH="393480" progId="Equation.3">
                  <p:embed/>
                  <p:pic>
                    <p:nvPicPr>
                      <p:cNvPr id="0" name="Picture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905000" y="2438400"/>
                        <a:ext cx="441325" cy="5238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102" name="Object 6"/>
          <p:cNvGraphicFramePr>
            <a:graphicFrameLocks noChangeAspect="1"/>
          </p:cNvGraphicFramePr>
          <p:nvPr/>
        </p:nvGraphicFramePr>
        <p:xfrm>
          <a:off x="3886200" y="2590800"/>
          <a:ext cx="269875" cy="287338"/>
        </p:xfrm>
        <a:graphic>
          <a:graphicData uri="http://schemas.openxmlformats.org/presentationml/2006/ole">
            <mc:AlternateContent xmlns:mc="http://schemas.openxmlformats.org/markup-compatibility/2006">
              <mc:Choice xmlns:v="urn:schemas-microsoft-com:vml" Requires="v">
                <p:oleObj spid="_x0000_s4348" name="Equation" r:id="rId8" imgW="203040" imgH="215640" progId="Equation.3">
                  <p:embed/>
                </p:oleObj>
              </mc:Choice>
              <mc:Fallback>
                <p:oleObj name="Equation" r:id="rId8" imgW="203040" imgH="215640" progId="Equation.3">
                  <p:embed/>
                  <p:pic>
                    <p:nvPicPr>
                      <p:cNvPr id="0" name="Picture 6"/>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886200" y="2590800"/>
                        <a:ext cx="269875" cy="287338"/>
                      </a:xfrm>
                      <a:prstGeom prst="rect">
                        <a:avLst/>
                      </a:prstGeom>
                      <a:noFill/>
                      <a:extLst>
                        <a:ext uri="{909E8E84-426E-40DD-AFC4-6F175D3DCCD1}">
                          <a14:hiddenFill xmlns:a14="http://schemas.microsoft.com/office/drawing/2010/main">
                            <a:solidFill>
                              <a:srgbClr val="FFFF99"/>
                            </a:solidFill>
                          </a14:hiddenFill>
                        </a:ext>
                      </a:extLst>
                    </p:spPr>
                  </p:pic>
                </p:oleObj>
              </mc:Fallback>
            </mc:AlternateContent>
          </a:graphicData>
        </a:graphic>
      </p:graphicFrame>
      <p:graphicFrame>
        <p:nvGraphicFramePr>
          <p:cNvPr id="4103" name="Object 7"/>
          <p:cNvGraphicFramePr>
            <a:graphicFrameLocks noChangeAspect="1"/>
          </p:cNvGraphicFramePr>
          <p:nvPr>
            <p:extLst>
              <p:ext uri="{D42A27DB-BD31-4B8C-83A1-F6EECF244321}">
                <p14:modId xmlns:p14="http://schemas.microsoft.com/office/powerpoint/2010/main" val="4092989002"/>
              </p:ext>
            </p:extLst>
          </p:nvPr>
        </p:nvGraphicFramePr>
        <p:xfrm>
          <a:off x="1444625" y="2915208"/>
          <a:ext cx="269875" cy="287338"/>
        </p:xfrm>
        <a:graphic>
          <a:graphicData uri="http://schemas.openxmlformats.org/presentationml/2006/ole">
            <mc:AlternateContent xmlns:mc="http://schemas.openxmlformats.org/markup-compatibility/2006">
              <mc:Choice xmlns:v="urn:schemas-microsoft-com:vml" Requires="v">
                <p:oleObj spid="_x0000_s4349" name="Equation" r:id="rId10" imgW="203040" imgH="215640" progId="Equation.3">
                  <p:embed/>
                </p:oleObj>
              </mc:Choice>
              <mc:Fallback>
                <p:oleObj name="Equation" r:id="rId10" imgW="203040" imgH="215640" progId="Equation.3">
                  <p:embed/>
                  <p:pic>
                    <p:nvPicPr>
                      <p:cNvPr id="0" name="Picture 7"/>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444625" y="2915208"/>
                        <a:ext cx="269875" cy="287338"/>
                      </a:xfrm>
                      <a:prstGeom prst="rect">
                        <a:avLst/>
                      </a:prstGeom>
                      <a:noFill/>
                      <a:extLst>
                        <a:ext uri="{909E8E84-426E-40DD-AFC4-6F175D3DCCD1}">
                          <a14:hiddenFill xmlns:a14="http://schemas.microsoft.com/office/drawing/2010/main">
                            <a:solidFill>
                              <a:srgbClr val="FFFF99"/>
                            </a:solidFill>
                          </a14:hiddenFill>
                        </a:ext>
                      </a:extLst>
                    </p:spPr>
                  </p:pic>
                </p:oleObj>
              </mc:Fallback>
            </mc:AlternateContent>
          </a:graphicData>
        </a:graphic>
      </p:graphicFrame>
      <p:graphicFrame>
        <p:nvGraphicFramePr>
          <p:cNvPr id="4104" name="Object 8"/>
          <p:cNvGraphicFramePr>
            <a:graphicFrameLocks noChangeAspect="1"/>
          </p:cNvGraphicFramePr>
          <p:nvPr/>
        </p:nvGraphicFramePr>
        <p:xfrm>
          <a:off x="5105400" y="3276600"/>
          <a:ext cx="269875" cy="287338"/>
        </p:xfrm>
        <a:graphic>
          <a:graphicData uri="http://schemas.openxmlformats.org/presentationml/2006/ole">
            <mc:AlternateContent xmlns:mc="http://schemas.openxmlformats.org/markup-compatibility/2006">
              <mc:Choice xmlns:v="urn:schemas-microsoft-com:vml" Requires="v">
                <p:oleObj spid="_x0000_s4350" name="Equation" r:id="rId12" imgW="203040" imgH="215640" progId="Equation.3">
                  <p:embed/>
                </p:oleObj>
              </mc:Choice>
              <mc:Fallback>
                <p:oleObj name="Equation" r:id="rId12" imgW="203040" imgH="215640" progId="Equation.3">
                  <p:embed/>
                  <p:pic>
                    <p:nvPicPr>
                      <p:cNvPr id="0" name="Picture 8"/>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105400" y="3276600"/>
                        <a:ext cx="269875" cy="287338"/>
                      </a:xfrm>
                      <a:prstGeom prst="rect">
                        <a:avLst/>
                      </a:prstGeom>
                      <a:noFill/>
                      <a:extLst>
                        <a:ext uri="{909E8E84-426E-40DD-AFC4-6F175D3DCCD1}">
                          <a14:hiddenFill xmlns:a14="http://schemas.microsoft.com/office/drawing/2010/main">
                            <a:solidFill>
                              <a:srgbClr val="FFFF99"/>
                            </a:solidFill>
                          </a14:hiddenFill>
                        </a:ext>
                      </a:extLst>
                    </p:spPr>
                  </p:pic>
                </p:oleObj>
              </mc:Fallback>
            </mc:AlternateContent>
          </a:graphicData>
        </a:graphic>
      </p:graphicFrame>
      <p:graphicFrame>
        <p:nvGraphicFramePr>
          <p:cNvPr id="4105" name="Object 9"/>
          <p:cNvGraphicFramePr>
            <a:graphicFrameLocks noChangeAspect="1"/>
          </p:cNvGraphicFramePr>
          <p:nvPr/>
        </p:nvGraphicFramePr>
        <p:xfrm>
          <a:off x="3276600" y="3810000"/>
          <a:ext cx="1066800" cy="344239"/>
        </p:xfrm>
        <a:graphic>
          <a:graphicData uri="http://schemas.openxmlformats.org/presentationml/2006/ole">
            <mc:AlternateContent xmlns:mc="http://schemas.openxmlformats.org/markup-compatibility/2006">
              <mc:Choice xmlns:v="urn:schemas-microsoft-com:vml" Requires="v">
                <p:oleObj spid="_x0000_s4351" name="Equation" r:id="rId13" imgW="749160" imgH="241200" progId="Equation.3">
                  <p:embed/>
                </p:oleObj>
              </mc:Choice>
              <mc:Fallback>
                <p:oleObj name="Equation" r:id="rId13" imgW="749160" imgH="241200" progId="Equation.3">
                  <p:embed/>
                  <p:pic>
                    <p:nvPicPr>
                      <p:cNvPr id="0" name="Picture 9"/>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276600" y="3810000"/>
                        <a:ext cx="1066800" cy="344239"/>
                      </a:xfrm>
                      <a:prstGeom prst="rect">
                        <a:avLst/>
                      </a:prstGeom>
                      <a:solidFill>
                        <a:srgbClr val="FFFF99"/>
                      </a:solidFill>
                    </p:spPr>
                  </p:pic>
                </p:oleObj>
              </mc:Fallback>
            </mc:AlternateContent>
          </a:graphicData>
        </a:graphic>
      </p:graphicFrame>
      <p:graphicFrame>
        <p:nvGraphicFramePr>
          <p:cNvPr id="4106" name="Object 10"/>
          <p:cNvGraphicFramePr>
            <a:graphicFrameLocks noChangeAspect="1"/>
          </p:cNvGraphicFramePr>
          <p:nvPr>
            <p:extLst>
              <p:ext uri="{D42A27DB-BD31-4B8C-83A1-F6EECF244321}">
                <p14:modId xmlns:p14="http://schemas.microsoft.com/office/powerpoint/2010/main" val="2248006860"/>
              </p:ext>
            </p:extLst>
          </p:nvPr>
        </p:nvGraphicFramePr>
        <p:xfrm>
          <a:off x="6096000" y="4343400"/>
          <a:ext cx="325437" cy="325438"/>
        </p:xfrm>
        <a:graphic>
          <a:graphicData uri="http://schemas.openxmlformats.org/presentationml/2006/ole">
            <mc:AlternateContent xmlns:mc="http://schemas.openxmlformats.org/markup-compatibility/2006">
              <mc:Choice xmlns:v="urn:schemas-microsoft-com:vml" Requires="v">
                <p:oleObj spid="_x0000_s4352" name="Equation" r:id="rId15" imgW="228600" imgH="228600" progId="Equation.3">
                  <p:embed/>
                </p:oleObj>
              </mc:Choice>
              <mc:Fallback>
                <p:oleObj name="Equation" r:id="rId15" imgW="228600" imgH="228600" progId="Equation.3">
                  <p:embed/>
                  <p:pic>
                    <p:nvPicPr>
                      <p:cNvPr id="0" name="Picture 10"/>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6096000" y="4343400"/>
                        <a:ext cx="325437" cy="325438"/>
                      </a:xfrm>
                      <a:prstGeom prst="rect">
                        <a:avLst/>
                      </a:prstGeom>
                      <a:noFill/>
                      <a:extLst>
                        <a:ext uri="{909E8E84-426E-40DD-AFC4-6F175D3DCCD1}">
                          <a14:hiddenFill xmlns:a14="http://schemas.microsoft.com/office/drawing/2010/main">
                            <a:solidFill>
                              <a:srgbClr val="FFFF99"/>
                            </a:solidFill>
                          </a14:hiddenFill>
                        </a:ext>
                      </a:extLst>
                    </p:spPr>
                  </p:pic>
                </p:oleObj>
              </mc:Fallback>
            </mc:AlternateContent>
          </a:graphicData>
        </a:graphic>
      </p:graphicFrame>
      <p:pic>
        <p:nvPicPr>
          <p:cNvPr id="13" name="Picture 12"/>
          <p:cNvPicPr>
            <a:picLocks noChangeAspect="1"/>
          </p:cNvPicPr>
          <p:nvPr/>
        </p:nvPicPr>
        <p:blipFill>
          <a:blip r:embed="rId17"/>
          <a:stretch>
            <a:fillRect/>
          </a:stretch>
        </p:blipFill>
        <p:spPr>
          <a:xfrm>
            <a:off x="3701241" y="1251684"/>
            <a:ext cx="1524000" cy="333944"/>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SAMPLE MEAN AND VARIANCE</a:t>
            </a:r>
            <a:endParaRPr lang="en-US" dirty="0"/>
          </a:p>
        </p:txBody>
      </p:sp>
      <p:sp>
        <p:nvSpPr>
          <p:cNvPr id="3" name="Content Placeholder 2"/>
          <p:cNvSpPr>
            <a:spLocks noGrp="1"/>
          </p:cNvSpPr>
          <p:nvPr>
            <p:ph idx="1"/>
          </p:nvPr>
        </p:nvSpPr>
        <p:spPr/>
        <p:txBody>
          <a:bodyPr/>
          <a:lstStyle/>
          <a:p>
            <a:r>
              <a:rPr lang="en-US" dirty="0" smtClean="0"/>
              <a:t>Example</a:t>
            </a:r>
          </a:p>
          <a:p>
            <a:pPr lvl="1"/>
            <a:r>
              <a:rPr lang="en-US" dirty="0" smtClean="0"/>
              <a:t>Consider 5 random numbers: 0.3, 0.2, 0.8, 0.7, 0.9</a:t>
            </a:r>
          </a:p>
          <a:p>
            <a:pPr lvl="2"/>
            <a:r>
              <a:rPr lang="en-US" dirty="0" smtClean="0"/>
              <a:t>1. Find the sample mean and sample variance</a:t>
            </a:r>
          </a:p>
          <a:p>
            <a:pPr lvl="2"/>
            <a:r>
              <a:rPr lang="en-US" dirty="0" smtClean="0"/>
              <a:t>2. If the 5 random numbers are randomly picked from a population of random numbers that are uniformly distributed in [0, 1], find the variance of the sample mean. </a:t>
            </a:r>
          </a:p>
          <a:p>
            <a:pPr lvl="2">
              <a:buNone/>
            </a:pPr>
            <a:endParaRPr lang="en-US" dirty="0" smtClean="0"/>
          </a:p>
          <a:p>
            <a:pPr lvl="1"/>
            <a:endParaRPr lang="en-US" dirty="0"/>
          </a:p>
        </p:txBody>
      </p:sp>
      <p:sp>
        <p:nvSpPr>
          <p:cNvPr id="4" name="Slide Number Placeholder 3"/>
          <p:cNvSpPr>
            <a:spLocks noGrp="1"/>
          </p:cNvSpPr>
          <p:nvPr>
            <p:ph type="sldNum" sz="quarter" idx="10"/>
          </p:nvPr>
        </p:nvSpPr>
        <p:spPr/>
        <p:txBody>
          <a:bodyPr/>
          <a:lstStyle/>
          <a:p>
            <a:fld id="{7A65BF99-0365-4788-A7C5-586C0382C80B}" type="slidenum">
              <a:rPr lang="zh-CN" altLang="en-US" smtClean="0"/>
              <a:pPr/>
              <a:t>13</a:t>
            </a:fld>
            <a:endParaRPr lang="en-US" altLang="zh-CN" dirty="0" smtClean="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SAMPLE MEAN AND VARIANCE</a:t>
            </a:r>
            <a:endParaRPr lang="en-US" dirty="0"/>
          </a:p>
        </p:txBody>
      </p:sp>
      <p:sp>
        <p:nvSpPr>
          <p:cNvPr id="3" name="Content Placeholder 2"/>
          <p:cNvSpPr>
            <a:spLocks noGrp="1"/>
          </p:cNvSpPr>
          <p:nvPr>
            <p:ph idx="1"/>
          </p:nvPr>
        </p:nvSpPr>
        <p:spPr/>
        <p:txBody>
          <a:bodyPr>
            <a:normAutofit/>
          </a:bodyPr>
          <a:lstStyle/>
          <a:p>
            <a:r>
              <a:rPr lang="en-US" dirty="0" smtClean="0"/>
              <a:t>Example</a:t>
            </a:r>
          </a:p>
          <a:p>
            <a:pPr lvl="1"/>
            <a:r>
              <a:rPr lang="en-US" dirty="0" smtClean="0"/>
              <a:t>Write a </a:t>
            </a:r>
            <a:r>
              <a:rPr lang="en-US" dirty="0" err="1" smtClean="0"/>
              <a:t>Matlab</a:t>
            </a:r>
            <a:r>
              <a:rPr lang="en-US" dirty="0" smtClean="0"/>
              <a:t> program to generate 100 independent random numbers. The random number are samples of  uniformly distributed random variable in (0, 10). (1) Write functions to find the sample mean and sample variance. (2) What is the variance of the sample mean?</a:t>
            </a:r>
          </a:p>
          <a:p>
            <a:pPr lvl="1">
              <a:buNone/>
            </a:pPr>
            <a:r>
              <a:rPr lang="en-US" dirty="0" smtClean="0"/>
              <a:t>	%------------------------------</a:t>
            </a:r>
          </a:p>
          <a:p>
            <a:pPr lvl="1">
              <a:buNone/>
            </a:pPr>
            <a:r>
              <a:rPr lang="en-US" dirty="0" smtClean="0"/>
              <a:t>	% </a:t>
            </a:r>
            <a:r>
              <a:rPr lang="en-US" dirty="0" err="1" smtClean="0"/>
              <a:t>main.m</a:t>
            </a:r>
            <a:endParaRPr lang="en-US" dirty="0" smtClean="0"/>
          </a:p>
          <a:p>
            <a:pPr lvl="1">
              <a:buNone/>
            </a:pPr>
            <a:r>
              <a:rPr lang="en-US" dirty="0" smtClean="0"/>
              <a:t>	clear all;</a:t>
            </a:r>
          </a:p>
          <a:p>
            <a:pPr lvl="1">
              <a:buNone/>
            </a:pPr>
            <a:r>
              <a:rPr lang="en-US" dirty="0" smtClean="0"/>
              <a:t>	</a:t>
            </a:r>
            <a:r>
              <a:rPr lang="en-US" dirty="0" err="1" smtClean="0"/>
              <a:t>random_sample</a:t>
            </a:r>
            <a:r>
              <a:rPr lang="en-US" dirty="0" smtClean="0"/>
              <a:t> = 10*rand (1, 100); % generate 100 random numbers</a:t>
            </a:r>
          </a:p>
          <a:p>
            <a:pPr lvl="1">
              <a:buNone/>
            </a:pPr>
            <a:r>
              <a:rPr lang="en-US" dirty="0" smtClean="0"/>
              <a:t>	</a:t>
            </a:r>
            <a:r>
              <a:rPr lang="en-US" dirty="0" err="1" smtClean="0"/>
              <a:t>sample_mean</a:t>
            </a:r>
            <a:r>
              <a:rPr lang="en-US" dirty="0" smtClean="0"/>
              <a:t> = </a:t>
            </a:r>
            <a:r>
              <a:rPr lang="en-US" dirty="0" err="1" smtClean="0"/>
              <a:t>find_sample_mean</a:t>
            </a:r>
            <a:r>
              <a:rPr lang="en-US" dirty="0" smtClean="0"/>
              <a:t>(</a:t>
            </a:r>
            <a:r>
              <a:rPr lang="en-US" dirty="0" err="1" smtClean="0"/>
              <a:t>random_sample</a:t>
            </a:r>
            <a:r>
              <a:rPr lang="en-US" dirty="0" smtClean="0"/>
              <a:t>);</a:t>
            </a:r>
          </a:p>
          <a:p>
            <a:pPr lvl="1">
              <a:buNone/>
            </a:pPr>
            <a:r>
              <a:rPr lang="en-US" dirty="0" smtClean="0"/>
              <a:t>	</a:t>
            </a:r>
            <a:r>
              <a:rPr lang="en-US" dirty="0" err="1" smtClean="0"/>
              <a:t>sample_var</a:t>
            </a:r>
            <a:r>
              <a:rPr lang="en-US" dirty="0" smtClean="0"/>
              <a:t> = </a:t>
            </a:r>
            <a:r>
              <a:rPr lang="en-US" dirty="0" err="1" smtClean="0"/>
              <a:t>find_sample_var</a:t>
            </a:r>
            <a:r>
              <a:rPr lang="en-US" dirty="0" smtClean="0"/>
              <a:t>(</a:t>
            </a:r>
            <a:r>
              <a:rPr lang="en-US" dirty="0" err="1" smtClean="0"/>
              <a:t>random_sample</a:t>
            </a:r>
            <a:r>
              <a:rPr lang="en-US" dirty="0" smtClean="0"/>
              <a:t>);</a:t>
            </a:r>
          </a:p>
          <a:p>
            <a:pPr lvl="1">
              <a:buNone/>
            </a:pPr>
            <a:endParaRPr lang="en-US" dirty="0" smtClean="0"/>
          </a:p>
          <a:p>
            <a:pPr lvl="1">
              <a:buNone/>
            </a:pPr>
            <a:r>
              <a:rPr lang="en-US" dirty="0" smtClean="0"/>
              <a:t>	%--------------------------------</a:t>
            </a:r>
          </a:p>
          <a:p>
            <a:pPr lvl="1">
              <a:buNone/>
            </a:pPr>
            <a:r>
              <a:rPr lang="en-US" dirty="0" smtClean="0"/>
              <a:t>	% </a:t>
            </a:r>
            <a:r>
              <a:rPr lang="en-US" dirty="0" err="1" smtClean="0"/>
              <a:t>find_sample_mean.m</a:t>
            </a:r>
            <a:endParaRPr lang="en-US" dirty="0" smtClean="0"/>
          </a:p>
          <a:p>
            <a:pPr lvl="1">
              <a:buNone/>
            </a:pPr>
            <a:r>
              <a:rPr lang="en-US" dirty="0" smtClean="0"/>
              <a:t>	function	 output = </a:t>
            </a:r>
            <a:r>
              <a:rPr lang="en-US" dirty="0" err="1" smtClean="0"/>
              <a:t>find_sample_mean</a:t>
            </a:r>
            <a:r>
              <a:rPr lang="en-US" dirty="0" smtClean="0"/>
              <a:t>(input)</a:t>
            </a:r>
          </a:p>
          <a:p>
            <a:pPr lvl="1">
              <a:buNone/>
            </a:pPr>
            <a:r>
              <a:rPr lang="en-US" dirty="0" smtClean="0"/>
              <a:t>	</a:t>
            </a:r>
            <a:r>
              <a:rPr lang="en-US" dirty="0" err="1" smtClean="0"/>
              <a:t>n_sample</a:t>
            </a:r>
            <a:r>
              <a:rPr lang="en-US" dirty="0" smtClean="0"/>
              <a:t> = length(input);</a:t>
            </a:r>
          </a:p>
          <a:p>
            <a:pPr lvl="1">
              <a:buNone/>
            </a:pPr>
            <a:r>
              <a:rPr lang="en-US" dirty="0" smtClean="0"/>
              <a:t>	output = sum(input)/</a:t>
            </a:r>
            <a:r>
              <a:rPr lang="en-US" dirty="0" err="1" smtClean="0"/>
              <a:t>n_sample</a:t>
            </a:r>
            <a:r>
              <a:rPr lang="en-US" dirty="0" smtClean="0"/>
              <a:t>;</a:t>
            </a:r>
            <a:endParaRPr lang="en-US" dirty="0"/>
          </a:p>
        </p:txBody>
      </p:sp>
      <p:sp>
        <p:nvSpPr>
          <p:cNvPr id="4" name="Slide Number Placeholder 3"/>
          <p:cNvSpPr>
            <a:spLocks noGrp="1"/>
          </p:cNvSpPr>
          <p:nvPr>
            <p:ph type="sldNum" sz="quarter" idx="10"/>
          </p:nvPr>
        </p:nvSpPr>
        <p:spPr/>
        <p:txBody>
          <a:bodyPr/>
          <a:lstStyle/>
          <a:p>
            <a:fld id="{7A65BF99-0365-4788-A7C5-586C0382C80B}" type="slidenum">
              <a:rPr lang="zh-CN" altLang="en-US" smtClean="0"/>
              <a:pPr/>
              <a:t>14</a:t>
            </a:fld>
            <a:endParaRPr lang="en-US" altLang="zh-CN" dirty="0" smtClean="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SAMPLE MEAN AND VARIANCE</a:t>
            </a:r>
            <a:endParaRPr lang="en-US" dirty="0"/>
          </a:p>
        </p:txBody>
      </p:sp>
      <p:sp>
        <p:nvSpPr>
          <p:cNvPr id="3" name="Content Placeholder 2"/>
          <p:cNvSpPr>
            <a:spLocks noGrp="1"/>
          </p:cNvSpPr>
          <p:nvPr>
            <p:ph idx="1"/>
          </p:nvPr>
        </p:nvSpPr>
        <p:spPr/>
        <p:txBody>
          <a:bodyPr/>
          <a:lstStyle/>
          <a:p>
            <a:r>
              <a:rPr lang="en-US" dirty="0" smtClean="0"/>
              <a:t>Example (Cont’d)</a:t>
            </a:r>
          </a:p>
          <a:p>
            <a:pPr lvl="1">
              <a:buNone/>
            </a:pPr>
            <a:r>
              <a:rPr lang="en-US" dirty="0" smtClean="0"/>
              <a:t>	%--------------------------------</a:t>
            </a:r>
          </a:p>
          <a:p>
            <a:pPr lvl="1">
              <a:buNone/>
            </a:pPr>
            <a:r>
              <a:rPr lang="en-US" dirty="0" smtClean="0"/>
              <a:t>	% </a:t>
            </a:r>
            <a:r>
              <a:rPr lang="en-US" dirty="0" err="1" smtClean="0"/>
              <a:t>find_sample_var.m</a:t>
            </a:r>
            <a:endParaRPr lang="en-US" dirty="0" smtClean="0"/>
          </a:p>
          <a:p>
            <a:pPr lvl="1">
              <a:buNone/>
            </a:pPr>
            <a:r>
              <a:rPr lang="en-US" dirty="0" smtClean="0"/>
              <a:t>	function	 output = </a:t>
            </a:r>
            <a:r>
              <a:rPr lang="en-US" dirty="0" err="1" smtClean="0"/>
              <a:t>find_sample_var</a:t>
            </a:r>
            <a:r>
              <a:rPr lang="en-US" dirty="0" smtClean="0"/>
              <a:t>(input)</a:t>
            </a:r>
          </a:p>
          <a:p>
            <a:pPr lvl="1">
              <a:buNone/>
            </a:pPr>
            <a:endParaRPr lang="en-US" dirty="0" smtClean="0"/>
          </a:p>
          <a:p>
            <a:pPr lvl="1">
              <a:buNone/>
            </a:pPr>
            <a:r>
              <a:rPr lang="en-US" dirty="0" smtClean="0"/>
              <a:t>	% find out how many members are in the sample</a:t>
            </a:r>
          </a:p>
          <a:p>
            <a:pPr lvl="1">
              <a:buNone/>
            </a:pPr>
            <a:r>
              <a:rPr lang="en-US" dirty="0" smtClean="0"/>
              <a:t>	</a:t>
            </a:r>
            <a:r>
              <a:rPr lang="en-US" dirty="0" err="1" smtClean="0"/>
              <a:t>n_sample</a:t>
            </a:r>
            <a:r>
              <a:rPr lang="en-US" dirty="0" smtClean="0"/>
              <a:t> = length(input);</a:t>
            </a:r>
          </a:p>
          <a:p>
            <a:pPr lvl="1">
              <a:buNone/>
            </a:pPr>
            <a:endParaRPr lang="en-US" dirty="0" smtClean="0"/>
          </a:p>
          <a:p>
            <a:pPr lvl="1">
              <a:buNone/>
            </a:pPr>
            <a:r>
              <a:rPr lang="en-US" dirty="0" smtClean="0"/>
              <a:t>	% calculate the sample mean</a:t>
            </a:r>
          </a:p>
          <a:p>
            <a:pPr lvl="1">
              <a:buNone/>
            </a:pPr>
            <a:r>
              <a:rPr lang="en-US" dirty="0" smtClean="0"/>
              <a:t>	</a:t>
            </a:r>
            <a:r>
              <a:rPr lang="en-US" dirty="0" err="1" smtClean="0"/>
              <a:t>sample_mean</a:t>
            </a:r>
            <a:r>
              <a:rPr lang="en-US" dirty="0" smtClean="0"/>
              <a:t> = </a:t>
            </a:r>
            <a:r>
              <a:rPr lang="en-US" dirty="0" err="1" smtClean="0"/>
              <a:t>find_sample_mean</a:t>
            </a:r>
            <a:r>
              <a:rPr lang="en-US" dirty="0" smtClean="0"/>
              <a:t>(input);</a:t>
            </a:r>
          </a:p>
          <a:p>
            <a:pPr lvl="1">
              <a:buNone/>
            </a:pPr>
            <a:endParaRPr lang="en-US" dirty="0" smtClean="0"/>
          </a:p>
          <a:p>
            <a:pPr lvl="1">
              <a:buNone/>
            </a:pPr>
            <a:r>
              <a:rPr lang="en-US" dirty="0" smtClean="0"/>
              <a:t>	% calculate the sample variance</a:t>
            </a:r>
          </a:p>
          <a:p>
            <a:pPr lvl="1">
              <a:buNone/>
            </a:pPr>
            <a:r>
              <a:rPr lang="en-US" dirty="0" smtClean="0"/>
              <a:t>	output = sum( (input-</a:t>
            </a:r>
            <a:r>
              <a:rPr lang="en-US" dirty="0" err="1" smtClean="0"/>
              <a:t>sample_mean</a:t>
            </a:r>
            <a:r>
              <a:rPr lang="en-US" dirty="0" smtClean="0"/>
              <a:t>).^2 )/(n_sample-1);</a:t>
            </a:r>
          </a:p>
          <a:p>
            <a:pPr lvl="1"/>
            <a:endParaRPr lang="en-US" dirty="0" smtClean="0"/>
          </a:p>
          <a:p>
            <a:pPr>
              <a:buNone/>
            </a:pPr>
            <a:r>
              <a:rPr lang="en-US" dirty="0" smtClean="0"/>
              <a:t>	</a:t>
            </a:r>
          </a:p>
          <a:p>
            <a:pPr>
              <a:buNone/>
            </a:pPr>
            <a:endParaRPr lang="en-US" dirty="0"/>
          </a:p>
        </p:txBody>
      </p:sp>
      <p:sp>
        <p:nvSpPr>
          <p:cNvPr id="4" name="Slide Number Placeholder 3"/>
          <p:cNvSpPr>
            <a:spLocks noGrp="1"/>
          </p:cNvSpPr>
          <p:nvPr>
            <p:ph type="sldNum" sz="quarter" idx="10"/>
          </p:nvPr>
        </p:nvSpPr>
        <p:spPr/>
        <p:txBody>
          <a:bodyPr/>
          <a:lstStyle/>
          <a:p>
            <a:fld id="{7A65BF99-0365-4788-A7C5-586C0382C80B}" type="slidenum">
              <a:rPr lang="zh-CN" altLang="en-US" smtClean="0"/>
              <a:pPr/>
              <a:t>15</a:t>
            </a:fld>
            <a:endParaRPr lang="en-US" altLang="zh-CN" dirty="0" smtClean="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OUTLINE</a:t>
            </a:r>
            <a:endParaRPr lang="en-US" dirty="0"/>
          </a:p>
        </p:txBody>
      </p:sp>
      <p:sp>
        <p:nvSpPr>
          <p:cNvPr id="4" name="Slide Number Placeholder 3"/>
          <p:cNvSpPr>
            <a:spLocks noGrp="1"/>
          </p:cNvSpPr>
          <p:nvPr>
            <p:ph type="sldNum" sz="quarter" idx="10"/>
          </p:nvPr>
        </p:nvSpPr>
        <p:spPr/>
        <p:txBody>
          <a:bodyPr/>
          <a:lstStyle/>
          <a:p>
            <a:fld id="{7A65BF99-0365-4788-A7C5-586C0382C80B}" type="slidenum">
              <a:rPr lang="zh-CN" altLang="en-US" smtClean="0"/>
              <a:pPr/>
              <a:t>16</a:t>
            </a:fld>
            <a:endParaRPr lang="en-US" altLang="zh-CN" dirty="0" smtClean="0"/>
          </a:p>
        </p:txBody>
      </p:sp>
      <p:sp>
        <p:nvSpPr>
          <p:cNvPr id="5" name="Rectangle 3"/>
          <p:cNvSpPr txBox="1">
            <a:spLocks noChangeArrowheads="1"/>
          </p:cNvSpPr>
          <p:nvPr/>
        </p:nvSpPr>
        <p:spPr>
          <a:xfrm>
            <a:off x="533400" y="914400"/>
            <a:ext cx="7772400" cy="5600700"/>
          </a:xfrm>
          <a:prstGeom prst="rect">
            <a:avLst/>
          </a:prstGeom>
        </p:spPr>
        <p:txBody>
          <a:bodyPr>
            <a:norm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altLang="zh-CN" b="1" i="0" u="none" strike="noStrike" kern="1200" cap="none" spc="0" normalizeH="0" baseline="0" noProof="0" dirty="0" smtClean="0">
                <a:ln>
                  <a:noFill/>
                </a:ln>
                <a:solidFill>
                  <a:schemeClr val="bg1">
                    <a:lumMod val="50000"/>
                  </a:schemeClr>
                </a:solidFill>
                <a:effectLst/>
                <a:uLnTx/>
                <a:uFillTx/>
                <a:latin typeface="Times New Roman" pitchFamily="18" charset="0"/>
                <a:ea typeface="宋体" pitchFamily="2" charset="-122"/>
                <a:cs typeface="Times New Roman" pitchFamily="18" charset="0"/>
              </a:rPr>
              <a:t>Introduction:</a:t>
            </a:r>
            <a:r>
              <a:rPr kumimoji="0" lang="en-US" altLang="zh-CN" b="1" i="0" u="none" strike="noStrike" kern="1200" cap="none" spc="0" normalizeH="0" noProof="0" dirty="0" smtClean="0">
                <a:ln>
                  <a:noFill/>
                </a:ln>
                <a:solidFill>
                  <a:schemeClr val="bg1">
                    <a:lumMod val="50000"/>
                  </a:schemeClr>
                </a:solidFill>
                <a:effectLst/>
                <a:uLnTx/>
                <a:uFillTx/>
                <a:latin typeface="Times New Roman" pitchFamily="18" charset="0"/>
                <a:ea typeface="宋体" pitchFamily="2" charset="-122"/>
                <a:cs typeface="Times New Roman" pitchFamily="18" charset="0"/>
              </a:rPr>
              <a:t> what is statistics?</a:t>
            </a:r>
            <a:endParaRPr kumimoji="0" lang="en-US" altLang="zh-CN" b="1" i="0" u="none" strike="noStrike" kern="1200" cap="none" spc="0" normalizeH="0" baseline="0" noProof="0" dirty="0" smtClean="0">
              <a:ln>
                <a:noFill/>
              </a:ln>
              <a:solidFill>
                <a:schemeClr val="bg1">
                  <a:lumMod val="50000"/>
                </a:schemeClr>
              </a:solidFill>
              <a:effectLst/>
              <a:uLnTx/>
              <a:uFillTx/>
              <a:latin typeface="Times New Roman" pitchFamily="18" charset="0"/>
              <a:ea typeface="宋体" pitchFamily="2" charset="-122"/>
              <a:cs typeface="Times New Roman" pitchFamily="18" charset="0"/>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altLang="zh-CN" b="1" i="0" u="none" strike="noStrike" kern="1200" cap="none" spc="0" normalizeH="0" baseline="0" noProof="0" dirty="0" smtClean="0">
              <a:ln>
                <a:noFill/>
              </a:ln>
              <a:solidFill>
                <a:schemeClr val="bg1">
                  <a:lumMod val="50000"/>
                </a:schemeClr>
              </a:solidFill>
              <a:effectLst/>
              <a:uLnTx/>
              <a:uFillTx/>
              <a:latin typeface="Times New Roman" pitchFamily="18" charset="0"/>
              <a:ea typeface="宋体" pitchFamily="2" charset="-122"/>
              <a:cs typeface="Times New Roman" pitchFamily="18" charset="0"/>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altLang="zh-CN" b="1" i="0" u="none" strike="noStrike" kern="1200" cap="none" spc="0" normalizeH="0" baseline="0" noProof="0" dirty="0" smtClean="0">
                <a:ln>
                  <a:noFill/>
                </a:ln>
                <a:solidFill>
                  <a:schemeClr val="bg1">
                    <a:lumMod val="50000"/>
                  </a:schemeClr>
                </a:solidFill>
                <a:effectLst/>
                <a:uLnTx/>
                <a:uFillTx/>
                <a:latin typeface="Times New Roman" pitchFamily="18" charset="0"/>
                <a:ea typeface="宋体" pitchFamily="2" charset="-122"/>
                <a:cs typeface="Times New Roman" pitchFamily="18" charset="0"/>
              </a:rPr>
              <a:t>Sample</a:t>
            </a:r>
            <a:r>
              <a:rPr kumimoji="0" lang="en-US" altLang="zh-CN" b="1" i="0" u="none" strike="noStrike" kern="1200" cap="none" spc="0" normalizeH="0" noProof="0" dirty="0" smtClean="0">
                <a:ln>
                  <a:noFill/>
                </a:ln>
                <a:solidFill>
                  <a:schemeClr val="bg1">
                    <a:lumMod val="50000"/>
                  </a:schemeClr>
                </a:solidFill>
                <a:effectLst/>
                <a:uLnTx/>
                <a:uFillTx/>
                <a:latin typeface="Times New Roman" pitchFamily="18" charset="0"/>
                <a:ea typeface="宋体" pitchFamily="2" charset="-122"/>
                <a:cs typeface="Times New Roman" pitchFamily="18" charset="0"/>
              </a:rPr>
              <a:t> mean and sample variance</a:t>
            </a:r>
            <a:endParaRPr kumimoji="0" lang="en-US" altLang="zh-CN" b="1" i="0" u="none" strike="noStrike" kern="1200" cap="none" spc="0" normalizeH="0" baseline="0" noProof="0" dirty="0" smtClean="0">
              <a:ln>
                <a:noFill/>
              </a:ln>
              <a:solidFill>
                <a:schemeClr val="bg1">
                  <a:lumMod val="50000"/>
                </a:schemeClr>
              </a:solidFill>
              <a:effectLst/>
              <a:uLnTx/>
              <a:uFillTx/>
              <a:latin typeface="Times New Roman" pitchFamily="18" charset="0"/>
              <a:ea typeface="宋体" pitchFamily="2" charset="-122"/>
              <a:cs typeface="Times New Roman" pitchFamily="18" charset="0"/>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lang="en-US" altLang="zh-CN" b="1" dirty="0" smtClean="0">
              <a:solidFill>
                <a:schemeClr val="bg1">
                  <a:lumMod val="50000"/>
                </a:schemeClr>
              </a:solidFill>
              <a:latin typeface="Times New Roman" pitchFamily="18" charset="0"/>
              <a:ea typeface="宋体" pitchFamily="2" charset="-122"/>
              <a:cs typeface="Times New Roman" pitchFamily="18" charset="0"/>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altLang="zh-CN" b="1" i="0" u="none" strike="noStrike" kern="1200" cap="none" spc="0" normalizeH="0" baseline="0" noProof="0" dirty="0" smtClean="0">
                <a:ln>
                  <a:noFill/>
                </a:ln>
                <a:solidFill>
                  <a:srgbClr val="000099"/>
                </a:solidFill>
                <a:effectLst/>
                <a:uLnTx/>
                <a:uFillTx/>
                <a:latin typeface="Times New Roman" pitchFamily="18" charset="0"/>
                <a:ea typeface="宋体" pitchFamily="2" charset="-122"/>
                <a:cs typeface="Times New Roman" pitchFamily="18" charset="0"/>
              </a:rPr>
              <a:t>C</a:t>
            </a:r>
            <a:r>
              <a:rPr kumimoji="0" lang="en-US" altLang="zh-CN" b="1" i="0" u="none" strike="noStrike" kern="1200" cap="none" spc="0" normalizeH="0" noProof="0" dirty="0" smtClean="0">
                <a:ln>
                  <a:noFill/>
                </a:ln>
                <a:solidFill>
                  <a:srgbClr val="000099"/>
                </a:solidFill>
                <a:effectLst/>
                <a:uLnTx/>
                <a:uFillTx/>
                <a:latin typeface="Times New Roman" pitchFamily="18" charset="0"/>
                <a:ea typeface="宋体" pitchFamily="2" charset="-122"/>
                <a:cs typeface="Times New Roman" pitchFamily="18" charset="0"/>
              </a:rPr>
              <a:t>onfidence interval</a:t>
            </a:r>
            <a:endParaRPr kumimoji="0" lang="en-US" altLang="zh-CN" b="1" i="0" u="none" strike="noStrike" kern="1200" cap="none" spc="0" normalizeH="0" baseline="0" noProof="0" dirty="0" smtClean="0">
              <a:ln>
                <a:noFill/>
              </a:ln>
              <a:solidFill>
                <a:srgbClr val="000099"/>
              </a:solidFill>
              <a:effectLst/>
              <a:uLnTx/>
              <a:uFillTx/>
              <a:latin typeface="Times New Roman" pitchFamily="18" charset="0"/>
              <a:ea typeface="宋体" pitchFamily="2" charset="-122"/>
              <a:cs typeface="Times New Roman" pitchFamily="18" charset="0"/>
            </a:endParaRPr>
          </a:p>
          <a:p>
            <a:pPr marL="342900" marR="0" lvl="0" indent="-342900" algn="l" defTabSz="914400" rtl="0" eaLnBrk="1" fontAlgn="auto" latinLnBrk="0" hangingPunct="1">
              <a:lnSpc>
                <a:spcPct val="100000"/>
              </a:lnSpc>
              <a:spcBef>
                <a:spcPct val="20000"/>
              </a:spcBef>
              <a:spcAft>
                <a:spcPts val="0"/>
              </a:spcAft>
              <a:buClrTx/>
              <a:buSzTx/>
              <a:tabLst/>
              <a:defRPr/>
            </a:pPr>
            <a:endParaRPr lang="en-US" altLang="zh-CN" b="1" dirty="0" smtClean="0">
              <a:solidFill>
                <a:schemeClr val="bg1">
                  <a:lumMod val="50000"/>
                </a:schemeClr>
              </a:solidFill>
              <a:latin typeface="Times New Roman" pitchFamily="18" charset="0"/>
              <a:ea typeface="宋体" pitchFamily="2" charset="-122"/>
              <a:cs typeface="Times New Roman" pitchFamily="18" charset="0"/>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altLang="zh-CN" b="1" dirty="0" smtClean="0">
                <a:solidFill>
                  <a:schemeClr val="bg1">
                    <a:lumMod val="50000"/>
                  </a:schemeClr>
                </a:solidFill>
                <a:latin typeface="Times New Roman" pitchFamily="18" charset="0"/>
                <a:ea typeface="宋体" pitchFamily="2" charset="-122"/>
                <a:cs typeface="Times New Roman" pitchFamily="18" charset="0"/>
              </a:rPr>
              <a:t>Hypothesis testing</a:t>
            </a:r>
          </a:p>
          <a:p>
            <a:pPr marL="342900" marR="0" lvl="0" indent="-342900" algn="l" defTabSz="914400" rtl="0" eaLnBrk="1" fontAlgn="auto" latinLnBrk="0" hangingPunct="1">
              <a:lnSpc>
                <a:spcPct val="100000"/>
              </a:lnSpc>
              <a:spcBef>
                <a:spcPct val="20000"/>
              </a:spcBef>
              <a:spcAft>
                <a:spcPts val="0"/>
              </a:spcAft>
              <a:buClrTx/>
              <a:buSzTx/>
              <a:tabLst/>
              <a:defRPr/>
            </a:pPr>
            <a:endParaRPr lang="en-US" altLang="zh-CN" b="1" baseline="0" dirty="0" smtClean="0">
              <a:solidFill>
                <a:srgbClr val="000099"/>
              </a:solidFill>
              <a:latin typeface="Times New Roman" pitchFamily="18" charset="0"/>
              <a:ea typeface="宋体" pitchFamily="2" charset="-122"/>
              <a:cs typeface="Times New Roman" pitchFamily="18" charset="0"/>
            </a:endParaRPr>
          </a:p>
          <a:p>
            <a:pPr marL="342900" marR="0" lvl="0" indent="-342900" algn="l" defTabSz="914400" rtl="0" eaLnBrk="1" fontAlgn="auto" latinLnBrk="0" hangingPunct="1">
              <a:lnSpc>
                <a:spcPct val="100000"/>
              </a:lnSpc>
              <a:spcBef>
                <a:spcPct val="20000"/>
              </a:spcBef>
              <a:spcAft>
                <a:spcPts val="0"/>
              </a:spcAft>
              <a:buClrTx/>
              <a:buSzTx/>
              <a:tabLst/>
              <a:defRPr/>
            </a:pPr>
            <a:endParaRPr kumimoji="0" lang="en-US" altLang="zh-CN" b="1" i="0" u="none" strike="noStrike" kern="1200" cap="none" spc="0" normalizeH="0" noProof="0" dirty="0" smtClean="0">
              <a:ln>
                <a:noFill/>
              </a:ln>
              <a:solidFill>
                <a:srgbClr val="000099"/>
              </a:solidFill>
              <a:effectLst/>
              <a:uLnTx/>
              <a:uFillTx/>
              <a:latin typeface="Times New Roman" pitchFamily="18" charset="0"/>
              <a:ea typeface="宋体" pitchFamily="2" charset="-122"/>
              <a:cs typeface="Times New Roman" pitchFamily="18" charset="0"/>
            </a:endParaRP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CONFIDENCE INTERVAL</a:t>
            </a:r>
            <a:endParaRPr lang="en-US" dirty="0"/>
          </a:p>
        </p:txBody>
      </p:sp>
      <p:sp>
        <p:nvSpPr>
          <p:cNvPr id="3" name="Content Placeholder 2"/>
          <p:cNvSpPr>
            <a:spLocks noGrp="1"/>
          </p:cNvSpPr>
          <p:nvPr>
            <p:ph idx="1"/>
          </p:nvPr>
        </p:nvSpPr>
        <p:spPr/>
        <p:txBody>
          <a:bodyPr/>
          <a:lstStyle/>
          <a:p>
            <a:r>
              <a:rPr lang="en-US" dirty="0" smtClean="0"/>
              <a:t>Central Limit Theorem</a:t>
            </a:r>
          </a:p>
          <a:p>
            <a:pPr lvl="1"/>
            <a:r>
              <a:rPr lang="en-US" dirty="0" smtClean="0"/>
              <a:t>Let                               be a random sample of size </a:t>
            </a:r>
            <a:r>
              <a:rPr lang="en-US" i="1" dirty="0" smtClean="0"/>
              <a:t>n</a:t>
            </a:r>
            <a:r>
              <a:rPr lang="en-US" dirty="0" smtClean="0"/>
              <a:t>. They are independent and identically distributed with mean        and variance        . When           ,</a:t>
            </a:r>
          </a:p>
          <a:p>
            <a:pPr lvl="1">
              <a:buNone/>
            </a:pPr>
            <a:r>
              <a:rPr lang="en-US" dirty="0" smtClean="0"/>
              <a:t>	the sample mean,                      , converges in distribution to a Gaussian </a:t>
            </a:r>
          </a:p>
          <a:p>
            <a:pPr lvl="1">
              <a:buNone/>
            </a:pPr>
            <a:r>
              <a:rPr lang="en-US" dirty="0" smtClean="0"/>
              <a:t>	</a:t>
            </a:r>
          </a:p>
          <a:p>
            <a:pPr lvl="1">
              <a:buNone/>
            </a:pPr>
            <a:r>
              <a:rPr lang="en-US" dirty="0" smtClean="0"/>
              <a:t>	distribution with mean       and variance       .</a:t>
            </a:r>
          </a:p>
          <a:p>
            <a:pPr lvl="1">
              <a:buNone/>
            </a:pPr>
            <a:endParaRPr lang="en-US" dirty="0" smtClean="0"/>
          </a:p>
          <a:p>
            <a:pPr lvl="1"/>
            <a:endParaRPr lang="en-US" dirty="0" smtClean="0"/>
          </a:p>
          <a:p>
            <a:pPr lvl="1"/>
            <a:endParaRPr lang="en-US" dirty="0"/>
          </a:p>
          <a:p>
            <a:pPr lvl="1"/>
            <a:endParaRPr lang="en-US" dirty="0" smtClean="0"/>
          </a:p>
          <a:p>
            <a:pPr lvl="1"/>
            <a:r>
              <a:rPr lang="en-US" dirty="0" smtClean="0"/>
              <a:t>When </a:t>
            </a:r>
            <a:r>
              <a:rPr lang="en-US" i="1" dirty="0" smtClean="0"/>
              <a:t>n</a:t>
            </a:r>
            <a:r>
              <a:rPr lang="en-US" dirty="0" smtClean="0"/>
              <a:t> is large (</a:t>
            </a:r>
            <a:r>
              <a:rPr lang="en-US" i="1" dirty="0" smtClean="0"/>
              <a:t>n</a:t>
            </a:r>
            <a:r>
              <a:rPr lang="en-US" dirty="0" smtClean="0"/>
              <a:t> &gt; 30),         follows approximately to a Gaussian distribution, </a:t>
            </a:r>
            <a:r>
              <a:rPr lang="en-US" dirty="0" smtClean="0">
                <a:solidFill>
                  <a:srgbClr val="FF0000"/>
                </a:solidFill>
              </a:rPr>
              <a:t>regardless of the distribution of</a:t>
            </a:r>
            <a:r>
              <a:rPr lang="en-US" dirty="0" smtClean="0"/>
              <a:t> </a:t>
            </a:r>
          </a:p>
          <a:p>
            <a:pPr lvl="1">
              <a:buNone/>
            </a:pPr>
            <a:endParaRPr lang="en-US" dirty="0"/>
          </a:p>
        </p:txBody>
      </p:sp>
      <p:sp>
        <p:nvSpPr>
          <p:cNvPr id="4" name="Slide Number Placeholder 3"/>
          <p:cNvSpPr>
            <a:spLocks noGrp="1"/>
          </p:cNvSpPr>
          <p:nvPr>
            <p:ph type="sldNum" sz="quarter" idx="10"/>
          </p:nvPr>
        </p:nvSpPr>
        <p:spPr/>
        <p:txBody>
          <a:bodyPr/>
          <a:lstStyle/>
          <a:p>
            <a:fld id="{7A65BF99-0365-4788-A7C5-586C0382C80B}" type="slidenum">
              <a:rPr lang="zh-CN" altLang="en-US" smtClean="0"/>
              <a:pPr/>
              <a:t>17</a:t>
            </a:fld>
            <a:endParaRPr lang="en-US" altLang="zh-CN" dirty="0" smtClean="0"/>
          </a:p>
        </p:txBody>
      </p:sp>
      <p:graphicFrame>
        <p:nvGraphicFramePr>
          <p:cNvPr id="25603" name="Object 3"/>
          <p:cNvGraphicFramePr>
            <a:graphicFrameLocks noChangeAspect="1"/>
          </p:cNvGraphicFramePr>
          <p:nvPr/>
        </p:nvGraphicFramePr>
        <p:xfrm>
          <a:off x="4953000" y="1600200"/>
          <a:ext cx="320675" cy="287337"/>
        </p:xfrm>
        <a:graphic>
          <a:graphicData uri="http://schemas.openxmlformats.org/presentationml/2006/ole">
            <mc:AlternateContent xmlns:mc="http://schemas.openxmlformats.org/markup-compatibility/2006">
              <mc:Choice xmlns:v="urn:schemas-microsoft-com:vml" Requires="v">
                <p:oleObj spid="_x0000_s25884" name="Equation" r:id="rId3" imgW="241200" imgH="215640" progId="Equation.3">
                  <p:embed/>
                </p:oleObj>
              </mc:Choice>
              <mc:Fallback>
                <p:oleObj name="Equation" r:id="rId3" imgW="241200" imgH="215640" progId="Equation.3">
                  <p:embed/>
                  <p:pic>
                    <p:nvPicPr>
                      <p:cNvPr id="0"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53000" y="1600200"/>
                        <a:ext cx="320675" cy="2873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5604" name="Object 4"/>
          <p:cNvGraphicFramePr>
            <a:graphicFrameLocks noChangeAspect="1"/>
          </p:cNvGraphicFramePr>
          <p:nvPr/>
        </p:nvGraphicFramePr>
        <p:xfrm>
          <a:off x="5181600" y="2514600"/>
          <a:ext cx="303212" cy="304800"/>
        </p:xfrm>
        <a:graphic>
          <a:graphicData uri="http://schemas.openxmlformats.org/presentationml/2006/ole">
            <mc:AlternateContent xmlns:mc="http://schemas.openxmlformats.org/markup-compatibility/2006">
              <mc:Choice xmlns:v="urn:schemas-microsoft-com:vml" Requires="v">
                <p:oleObj spid="_x0000_s25885" name="Equation" r:id="rId5" imgW="228600" imgH="228600" progId="Equation.3">
                  <p:embed/>
                </p:oleObj>
              </mc:Choice>
              <mc:Fallback>
                <p:oleObj name="Equation" r:id="rId5" imgW="228600" imgH="228600" progId="Equation.3">
                  <p:embed/>
                  <p:pic>
                    <p:nvPicPr>
                      <p:cNvPr id="0" name="Picture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181600" y="2514600"/>
                        <a:ext cx="303212" cy="304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5606" name="Object 6"/>
          <p:cNvGraphicFramePr>
            <a:graphicFrameLocks noChangeAspect="1"/>
          </p:cNvGraphicFramePr>
          <p:nvPr>
            <p:extLst>
              <p:ext uri="{D42A27DB-BD31-4B8C-83A1-F6EECF244321}">
                <p14:modId xmlns:p14="http://schemas.microsoft.com/office/powerpoint/2010/main" val="2071649373"/>
              </p:ext>
            </p:extLst>
          </p:nvPr>
        </p:nvGraphicFramePr>
        <p:xfrm>
          <a:off x="7638164" y="1620154"/>
          <a:ext cx="590550" cy="185737"/>
        </p:xfrm>
        <a:graphic>
          <a:graphicData uri="http://schemas.openxmlformats.org/presentationml/2006/ole">
            <mc:AlternateContent xmlns:mc="http://schemas.openxmlformats.org/markup-compatibility/2006">
              <mc:Choice xmlns:v="urn:schemas-microsoft-com:vml" Requires="v">
                <p:oleObj spid="_x0000_s25886" name="Equation" r:id="rId7" imgW="444240" imgH="139680" progId="Equation.3">
                  <p:embed/>
                </p:oleObj>
              </mc:Choice>
              <mc:Fallback>
                <p:oleObj name="Equation" r:id="rId7" imgW="444240" imgH="139680" progId="Equation.3">
                  <p:embed/>
                  <p:pic>
                    <p:nvPicPr>
                      <p:cNvPr id="0" name="Picture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638164" y="1620154"/>
                        <a:ext cx="590550" cy="1857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5607" name="Object 7"/>
          <p:cNvGraphicFramePr>
            <a:graphicFrameLocks noChangeAspect="1"/>
          </p:cNvGraphicFramePr>
          <p:nvPr/>
        </p:nvGraphicFramePr>
        <p:xfrm>
          <a:off x="3124200" y="1752600"/>
          <a:ext cx="1168400" cy="576263"/>
        </p:xfrm>
        <a:graphic>
          <a:graphicData uri="http://schemas.openxmlformats.org/presentationml/2006/ole">
            <mc:AlternateContent xmlns:mc="http://schemas.openxmlformats.org/markup-compatibility/2006">
              <mc:Choice xmlns:v="urn:schemas-microsoft-com:vml" Requires="v">
                <p:oleObj spid="_x0000_s25887" name="Equation" r:id="rId9" imgW="876240" imgH="431640" progId="Equation.3">
                  <p:embed/>
                </p:oleObj>
              </mc:Choice>
              <mc:Fallback>
                <p:oleObj name="Equation" r:id="rId9" imgW="876240" imgH="431640" progId="Equation.3">
                  <p:embed/>
                  <p:pic>
                    <p:nvPicPr>
                      <p:cNvPr id="0" name="Picture 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124200" y="1752600"/>
                        <a:ext cx="1168400" cy="5762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5608" name="Object 8"/>
          <p:cNvGraphicFramePr>
            <a:graphicFrameLocks noChangeAspect="1"/>
          </p:cNvGraphicFramePr>
          <p:nvPr/>
        </p:nvGraphicFramePr>
        <p:xfrm>
          <a:off x="3581400" y="2590800"/>
          <a:ext cx="320675" cy="287338"/>
        </p:xfrm>
        <a:graphic>
          <a:graphicData uri="http://schemas.openxmlformats.org/presentationml/2006/ole">
            <mc:AlternateContent xmlns:mc="http://schemas.openxmlformats.org/markup-compatibility/2006">
              <mc:Choice xmlns:v="urn:schemas-microsoft-com:vml" Requires="v">
                <p:oleObj spid="_x0000_s25888" name="Equation" r:id="rId11" imgW="241200" imgH="215640" progId="Equation.3">
                  <p:embed/>
                </p:oleObj>
              </mc:Choice>
              <mc:Fallback>
                <p:oleObj name="Equation" r:id="rId11" imgW="241200" imgH="215640" progId="Equation.3">
                  <p:embed/>
                  <p:pic>
                    <p:nvPicPr>
                      <p:cNvPr id="0" name="Picture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81400" y="2590800"/>
                        <a:ext cx="320675" cy="2873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5609" name="Object 9"/>
          <p:cNvGraphicFramePr>
            <a:graphicFrameLocks noChangeAspect="1"/>
          </p:cNvGraphicFramePr>
          <p:nvPr>
            <p:extLst>
              <p:ext uri="{D42A27DB-BD31-4B8C-83A1-F6EECF244321}">
                <p14:modId xmlns:p14="http://schemas.microsoft.com/office/powerpoint/2010/main" val="2253795385"/>
              </p:ext>
            </p:extLst>
          </p:nvPr>
        </p:nvGraphicFramePr>
        <p:xfrm>
          <a:off x="3792537" y="4221255"/>
          <a:ext cx="322263" cy="288925"/>
        </p:xfrm>
        <a:graphic>
          <a:graphicData uri="http://schemas.openxmlformats.org/presentationml/2006/ole">
            <mc:AlternateContent xmlns:mc="http://schemas.openxmlformats.org/markup-compatibility/2006">
              <mc:Choice xmlns:v="urn:schemas-microsoft-com:vml" Requires="v">
                <p:oleObj spid="_x0000_s25889" name="Equation" r:id="rId12" imgW="241200" imgH="215640" progId="Equation.3">
                  <p:embed/>
                </p:oleObj>
              </mc:Choice>
              <mc:Fallback>
                <p:oleObj name="Equation" r:id="rId12" imgW="241200" imgH="215640" progId="Equation.3">
                  <p:embed/>
                  <p:pic>
                    <p:nvPicPr>
                      <p:cNvPr id="0" name="Picture 9"/>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792537" y="4221255"/>
                        <a:ext cx="322263" cy="2889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5610" name="Object 10"/>
          <p:cNvGraphicFramePr>
            <a:graphicFrameLocks noChangeAspect="1"/>
          </p:cNvGraphicFramePr>
          <p:nvPr>
            <p:extLst>
              <p:ext uri="{D42A27DB-BD31-4B8C-83A1-F6EECF244321}">
                <p14:modId xmlns:p14="http://schemas.microsoft.com/office/powerpoint/2010/main" val="399412313"/>
              </p:ext>
            </p:extLst>
          </p:nvPr>
        </p:nvGraphicFramePr>
        <p:xfrm>
          <a:off x="5562600" y="4516271"/>
          <a:ext cx="269875" cy="304800"/>
        </p:xfrm>
        <a:graphic>
          <a:graphicData uri="http://schemas.openxmlformats.org/presentationml/2006/ole">
            <mc:AlternateContent xmlns:mc="http://schemas.openxmlformats.org/markup-compatibility/2006">
              <mc:Choice xmlns:v="urn:schemas-microsoft-com:vml" Requires="v">
                <p:oleObj spid="_x0000_s25890" name="Equation" r:id="rId14" imgW="203040" imgH="228600" progId="Equation.3">
                  <p:embed/>
                </p:oleObj>
              </mc:Choice>
              <mc:Fallback>
                <p:oleObj name="Equation" r:id="rId14" imgW="203040" imgH="228600" progId="Equation.3">
                  <p:embed/>
                  <p:pic>
                    <p:nvPicPr>
                      <p:cNvPr id="0" name="Picture 10"/>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5562600" y="4516271"/>
                        <a:ext cx="269875" cy="304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5611" name="Object 11"/>
          <p:cNvGraphicFramePr>
            <a:graphicFrameLocks noChangeAspect="1"/>
          </p:cNvGraphicFramePr>
          <p:nvPr/>
        </p:nvGraphicFramePr>
        <p:xfrm>
          <a:off x="6553200" y="1600200"/>
          <a:ext cx="303213" cy="304800"/>
        </p:xfrm>
        <a:graphic>
          <a:graphicData uri="http://schemas.openxmlformats.org/presentationml/2006/ole">
            <mc:AlternateContent xmlns:mc="http://schemas.openxmlformats.org/markup-compatibility/2006">
              <mc:Choice xmlns:v="urn:schemas-microsoft-com:vml" Requires="v">
                <p:oleObj spid="_x0000_s25891" name="Equation" r:id="rId16" imgW="228600" imgH="228600" progId="Equation.3">
                  <p:embed/>
                </p:oleObj>
              </mc:Choice>
              <mc:Fallback>
                <p:oleObj name="Equation" r:id="rId16" imgW="228600" imgH="228600" progId="Equation.3">
                  <p:embed/>
                  <p:pic>
                    <p:nvPicPr>
                      <p:cNvPr id="0" name="Picture 1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553200" y="1600200"/>
                        <a:ext cx="303213" cy="304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14" name="Picture 13"/>
          <p:cNvPicPr>
            <a:picLocks noChangeAspect="1"/>
          </p:cNvPicPr>
          <p:nvPr/>
        </p:nvPicPr>
        <p:blipFill>
          <a:blip r:embed="rId17"/>
          <a:stretch>
            <a:fillRect/>
          </a:stretch>
        </p:blipFill>
        <p:spPr>
          <a:xfrm>
            <a:off x="1927855" y="1249003"/>
            <a:ext cx="1524000" cy="333944"/>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CONFIDENCE INTERVAL</a:t>
            </a:r>
            <a:endParaRPr lang="en-US" dirty="0"/>
          </a:p>
        </p:txBody>
      </p:sp>
      <p:sp>
        <p:nvSpPr>
          <p:cNvPr id="3" name="Content Placeholder 2"/>
          <p:cNvSpPr>
            <a:spLocks noGrp="1"/>
          </p:cNvSpPr>
          <p:nvPr>
            <p:ph idx="1"/>
          </p:nvPr>
        </p:nvSpPr>
        <p:spPr/>
        <p:txBody>
          <a:bodyPr/>
          <a:lstStyle/>
          <a:p>
            <a:r>
              <a:rPr lang="en-US" dirty="0" smtClean="0"/>
              <a:t>Confidence interval</a:t>
            </a:r>
          </a:p>
          <a:p>
            <a:pPr lvl="1"/>
            <a:r>
              <a:rPr lang="en-US" dirty="0" smtClean="0"/>
              <a:t> Example: estimate the mean,         , of a population of data.</a:t>
            </a:r>
          </a:p>
          <a:p>
            <a:pPr lvl="2"/>
            <a:r>
              <a:rPr lang="en-US" dirty="0"/>
              <a:t>The sample </a:t>
            </a:r>
            <a:r>
              <a:rPr lang="en-US" dirty="0" smtClean="0"/>
              <a:t>mean,                        , is </a:t>
            </a:r>
            <a:r>
              <a:rPr lang="en-US" dirty="0"/>
              <a:t>an </a:t>
            </a:r>
            <a:r>
              <a:rPr lang="en-US" dirty="0" smtClean="0"/>
              <a:t>RV</a:t>
            </a:r>
          </a:p>
          <a:p>
            <a:pPr lvl="2"/>
            <a:endParaRPr lang="en-US" dirty="0"/>
          </a:p>
          <a:p>
            <a:pPr lvl="2"/>
            <a:r>
              <a:rPr lang="en-US" dirty="0" smtClean="0"/>
              <a:t>thus </a:t>
            </a:r>
            <a:r>
              <a:rPr lang="en-US" dirty="0"/>
              <a:t>it could be quite different from the true mean.</a:t>
            </a:r>
          </a:p>
          <a:p>
            <a:pPr marL="457200" lvl="1" indent="0">
              <a:buNone/>
            </a:pPr>
            <a:endParaRPr lang="en-US" dirty="0"/>
          </a:p>
          <a:p>
            <a:pPr lvl="1"/>
            <a:endParaRPr lang="en-US" dirty="0" smtClean="0"/>
          </a:p>
          <a:p>
            <a:pPr lvl="1"/>
            <a:r>
              <a:rPr lang="en-US" dirty="0" smtClean="0"/>
              <a:t>Specify </a:t>
            </a:r>
            <a:r>
              <a:rPr lang="en-US" dirty="0" smtClean="0"/>
              <a:t>an interval that is highly likely to contain the true value of</a:t>
            </a:r>
          </a:p>
          <a:p>
            <a:pPr lvl="2"/>
            <a:r>
              <a:rPr lang="en-US" dirty="0" smtClean="0"/>
              <a:t>E.g. It is 99% likely that the true value of      is in the interval</a:t>
            </a:r>
          </a:p>
          <a:p>
            <a:pPr lvl="2"/>
            <a:endParaRPr lang="en-US" dirty="0" smtClean="0"/>
          </a:p>
          <a:p>
            <a:pPr lvl="2"/>
            <a:endParaRPr lang="en-US" dirty="0" smtClean="0"/>
          </a:p>
          <a:p>
            <a:pPr lvl="2"/>
            <a:r>
              <a:rPr lang="en-US" dirty="0" smtClean="0"/>
              <a:t>                           is called the 99% confidence interval of the </a:t>
            </a:r>
            <a:r>
              <a:rPr lang="en-US" dirty="0" smtClean="0"/>
              <a:t>mean</a:t>
            </a:r>
          </a:p>
          <a:p>
            <a:pPr lvl="2"/>
            <a:endParaRPr lang="en-US" dirty="0"/>
          </a:p>
          <a:p>
            <a:pPr lvl="2"/>
            <a:endParaRPr lang="en-US" dirty="0" smtClean="0"/>
          </a:p>
          <a:p>
            <a:pPr lvl="2"/>
            <a:endParaRPr lang="en-US" dirty="0" smtClean="0"/>
          </a:p>
        </p:txBody>
      </p:sp>
      <p:sp>
        <p:nvSpPr>
          <p:cNvPr id="4" name="Slide Number Placeholder 3"/>
          <p:cNvSpPr>
            <a:spLocks noGrp="1"/>
          </p:cNvSpPr>
          <p:nvPr>
            <p:ph type="sldNum" sz="quarter" idx="10"/>
          </p:nvPr>
        </p:nvSpPr>
        <p:spPr/>
        <p:txBody>
          <a:bodyPr/>
          <a:lstStyle/>
          <a:p>
            <a:fld id="{7A65BF99-0365-4788-A7C5-586C0382C80B}" type="slidenum">
              <a:rPr lang="zh-CN" altLang="en-US" smtClean="0"/>
              <a:pPr/>
              <a:t>18</a:t>
            </a:fld>
            <a:endParaRPr lang="en-US" altLang="zh-CN" dirty="0" smtClean="0"/>
          </a:p>
        </p:txBody>
      </p:sp>
      <p:graphicFrame>
        <p:nvGraphicFramePr>
          <p:cNvPr id="17411" name="Object 3"/>
          <p:cNvGraphicFramePr>
            <a:graphicFrameLocks noChangeAspect="1"/>
          </p:cNvGraphicFramePr>
          <p:nvPr/>
        </p:nvGraphicFramePr>
        <p:xfrm>
          <a:off x="4267200" y="1295400"/>
          <a:ext cx="320675" cy="287338"/>
        </p:xfrm>
        <a:graphic>
          <a:graphicData uri="http://schemas.openxmlformats.org/presentationml/2006/ole">
            <mc:AlternateContent xmlns:mc="http://schemas.openxmlformats.org/markup-compatibility/2006">
              <mc:Choice xmlns:v="urn:schemas-microsoft-com:vml" Requires="v">
                <p:oleObj spid="_x0000_s17739" name="Equation" r:id="rId3" imgW="241200" imgH="215640" progId="Equation.3">
                  <p:embed/>
                </p:oleObj>
              </mc:Choice>
              <mc:Fallback>
                <p:oleObj name="Equation" r:id="rId3" imgW="241200" imgH="215640" progId="Equation.3">
                  <p:embed/>
                  <p:pic>
                    <p:nvPicPr>
                      <p:cNvPr id="0"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67200" y="1295400"/>
                        <a:ext cx="320675" cy="287338"/>
                      </a:xfrm>
                      <a:prstGeom prst="rect">
                        <a:avLst/>
                      </a:prstGeom>
                      <a:noFill/>
                      <a:extLst>
                        <a:ext uri="{909E8E84-426E-40DD-AFC4-6F175D3DCCD1}">
                          <a14:hiddenFill xmlns:a14="http://schemas.microsoft.com/office/drawing/2010/main">
                            <a:solidFill>
                              <a:srgbClr val="FFFF99"/>
                            </a:solidFill>
                          </a14:hiddenFill>
                        </a:ext>
                      </a:extLst>
                    </p:spPr>
                  </p:pic>
                </p:oleObj>
              </mc:Fallback>
            </mc:AlternateContent>
          </a:graphicData>
        </a:graphic>
      </p:graphicFrame>
      <p:graphicFrame>
        <p:nvGraphicFramePr>
          <p:cNvPr id="17412" name="Object 4"/>
          <p:cNvGraphicFramePr>
            <a:graphicFrameLocks noChangeAspect="1"/>
          </p:cNvGraphicFramePr>
          <p:nvPr>
            <p:extLst>
              <p:ext uri="{D42A27DB-BD31-4B8C-83A1-F6EECF244321}">
                <p14:modId xmlns:p14="http://schemas.microsoft.com/office/powerpoint/2010/main" val="3032830234"/>
              </p:ext>
            </p:extLst>
          </p:nvPr>
        </p:nvGraphicFramePr>
        <p:xfrm>
          <a:off x="5638800" y="3551015"/>
          <a:ext cx="320675" cy="287338"/>
        </p:xfrm>
        <a:graphic>
          <a:graphicData uri="http://schemas.openxmlformats.org/presentationml/2006/ole">
            <mc:AlternateContent xmlns:mc="http://schemas.openxmlformats.org/markup-compatibility/2006">
              <mc:Choice xmlns:v="urn:schemas-microsoft-com:vml" Requires="v">
                <p:oleObj spid="_x0000_s17740" name="Equation" r:id="rId5" imgW="241200" imgH="215640" progId="Equation.3">
                  <p:embed/>
                </p:oleObj>
              </mc:Choice>
              <mc:Fallback>
                <p:oleObj name="Equation" r:id="rId5" imgW="241200" imgH="215640" progId="Equation.3">
                  <p:embed/>
                  <p:pic>
                    <p:nvPicPr>
                      <p:cNvPr id="0" name="Picture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638800" y="3551015"/>
                        <a:ext cx="320675" cy="287338"/>
                      </a:xfrm>
                      <a:prstGeom prst="rect">
                        <a:avLst/>
                      </a:prstGeom>
                      <a:noFill/>
                      <a:extLst>
                        <a:ext uri="{909E8E84-426E-40DD-AFC4-6F175D3DCCD1}">
                          <a14:hiddenFill xmlns:a14="http://schemas.microsoft.com/office/drawing/2010/main">
                            <a:solidFill>
                              <a:srgbClr val="FFFF99"/>
                            </a:solidFill>
                          </a14:hiddenFill>
                        </a:ext>
                      </a:extLst>
                    </p:spPr>
                  </p:pic>
                </p:oleObj>
              </mc:Fallback>
            </mc:AlternateContent>
          </a:graphicData>
        </a:graphic>
      </p:graphicFrame>
      <p:graphicFrame>
        <p:nvGraphicFramePr>
          <p:cNvPr id="17413" name="Object 5"/>
          <p:cNvGraphicFramePr>
            <a:graphicFrameLocks noChangeAspect="1"/>
          </p:cNvGraphicFramePr>
          <p:nvPr>
            <p:extLst>
              <p:ext uri="{D42A27DB-BD31-4B8C-83A1-F6EECF244321}">
                <p14:modId xmlns:p14="http://schemas.microsoft.com/office/powerpoint/2010/main" val="4171345527"/>
              </p:ext>
            </p:extLst>
          </p:nvPr>
        </p:nvGraphicFramePr>
        <p:xfrm>
          <a:off x="7666037" y="3154375"/>
          <a:ext cx="381000" cy="341392"/>
        </p:xfrm>
        <a:graphic>
          <a:graphicData uri="http://schemas.openxmlformats.org/presentationml/2006/ole">
            <mc:AlternateContent xmlns:mc="http://schemas.openxmlformats.org/markup-compatibility/2006">
              <mc:Choice xmlns:v="urn:schemas-microsoft-com:vml" Requires="v">
                <p:oleObj spid="_x0000_s17741" name="Equation" r:id="rId7" imgW="241200" imgH="215640" progId="Equation.3">
                  <p:embed/>
                </p:oleObj>
              </mc:Choice>
              <mc:Fallback>
                <p:oleObj name="Equation" r:id="rId7" imgW="241200" imgH="215640" progId="Equation.3">
                  <p:embed/>
                  <p:pic>
                    <p:nvPicPr>
                      <p:cNvPr id="0" name="Picture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666037" y="3154375"/>
                        <a:ext cx="381000" cy="341392"/>
                      </a:xfrm>
                      <a:prstGeom prst="rect">
                        <a:avLst/>
                      </a:prstGeom>
                      <a:noFill/>
                      <a:extLst>
                        <a:ext uri="{909E8E84-426E-40DD-AFC4-6F175D3DCCD1}">
                          <a14:hiddenFill xmlns:a14="http://schemas.microsoft.com/office/drawing/2010/main">
                            <a:solidFill>
                              <a:srgbClr val="FFFF99"/>
                            </a:solidFill>
                          </a14:hiddenFill>
                        </a:ext>
                      </a:extLst>
                    </p:spPr>
                  </p:pic>
                </p:oleObj>
              </mc:Fallback>
            </mc:AlternateContent>
          </a:graphicData>
        </a:graphic>
      </p:graphicFrame>
      <p:graphicFrame>
        <p:nvGraphicFramePr>
          <p:cNvPr id="17415" name="Object 7"/>
          <p:cNvGraphicFramePr>
            <a:graphicFrameLocks noChangeAspect="1"/>
          </p:cNvGraphicFramePr>
          <p:nvPr>
            <p:extLst>
              <p:ext uri="{D42A27DB-BD31-4B8C-83A1-F6EECF244321}">
                <p14:modId xmlns:p14="http://schemas.microsoft.com/office/powerpoint/2010/main" val="683324116"/>
              </p:ext>
            </p:extLst>
          </p:nvPr>
        </p:nvGraphicFramePr>
        <p:xfrm>
          <a:off x="1901236" y="4503516"/>
          <a:ext cx="1366837" cy="287337"/>
        </p:xfrm>
        <a:graphic>
          <a:graphicData uri="http://schemas.openxmlformats.org/presentationml/2006/ole">
            <mc:AlternateContent xmlns:mc="http://schemas.openxmlformats.org/markup-compatibility/2006">
              <mc:Choice xmlns:v="urn:schemas-microsoft-com:vml" Requires="v">
                <p:oleObj spid="_x0000_s17742" name="Equation" r:id="rId9" imgW="1028520" imgH="215640" progId="Equation.3">
                  <p:embed/>
                </p:oleObj>
              </mc:Choice>
              <mc:Fallback>
                <p:oleObj name="Equation" r:id="rId9" imgW="1028520" imgH="215640" progId="Equation.3">
                  <p:embed/>
                  <p:pic>
                    <p:nvPicPr>
                      <p:cNvPr id="0" name="Picture 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901236" y="4503516"/>
                        <a:ext cx="1366837" cy="287337"/>
                      </a:xfrm>
                      <a:prstGeom prst="rect">
                        <a:avLst/>
                      </a:prstGeom>
                      <a:noFill/>
                      <a:extLst>
                        <a:ext uri="{909E8E84-426E-40DD-AFC4-6F175D3DCCD1}">
                          <a14:hiddenFill xmlns:a14="http://schemas.microsoft.com/office/drawing/2010/main">
                            <a:solidFill>
                              <a:srgbClr val="FFFF99"/>
                            </a:solidFill>
                          </a14:hiddenFill>
                        </a:ext>
                      </a:extLst>
                    </p:spPr>
                  </p:pic>
                </p:oleObj>
              </mc:Fallback>
            </mc:AlternateContent>
          </a:graphicData>
        </a:graphic>
      </p:graphicFrame>
      <p:graphicFrame>
        <p:nvGraphicFramePr>
          <p:cNvPr id="17416" name="Object 8"/>
          <p:cNvGraphicFramePr>
            <a:graphicFrameLocks noChangeAspect="1"/>
          </p:cNvGraphicFramePr>
          <p:nvPr>
            <p:extLst>
              <p:ext uri="{D42A27DB-BD31-4B8C-83A1-F6EECF244321}">
                <p14:modId xmlns:p14="http://schemas.microsoft.com/office/powerpoint/2010/main" val="727420631"/>
              </p:ext>
            </p:extLst>
          </p:nvPr>
        </p:nvGraphicFramePr>
        <p:xfrm>
          <a:off x="3167479" y="4021423"/>
          <a:ext cx="3602037" cy="381000"/>
        </p:xfrm>
        <a:graphic>
          <a:graphicData uri="http://schemas.openxmlformats.org/presentationml/2006/ole">
            <mc:AlternateContent xmlns:mc="http://schemas.openxmlformats.org/markup-compatibility/2006">
              <mc:Choice xmlns:v="urn:schemas-microsoft-com:vml" Requires="v">
                <p:oleObj spid="_x0000_s17743" name="Equation" r:id="rId11" imgW="2044440" imgH="215640" progId="Equation.3">
                  <p:embed/>
                </p:oleObj>
              </mc:Choice>
              <mc:Fallback>
                <p:oleObj name="Equation" r:id="rId11" imgW="2044440" imgH="215640" progId="Equation.3">
                  <p:embed/>
                  <p:pic>
                    <p:nvPicPr>
                      <p:cNvPr id="0" name="Picture 8"/>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167479" y="4021423"/>
                        <a:ext cx="3602037" cy="381000"/>
                      </a:xfrm>
                      <a:prstGeom prst="rect">
                        <a:avLst/>
                      </a:prstGeom>
                      <a:noFill/>
                      <a:extLst>
                        <a:ext uri="{909E8E84-426E-40DD-AFC4-6F175D3DCCD1}">
                          <a14:hiddenFill xmlns:a14="http://schemas.microsoft.com/office/drawing/2010/main">
                            <a:solidFill>
                              <a:srgbClr val="FFFF99"/>
                            </a:solidFill>
                          </a14:hiddenFill>
                        </a:ext>
                      </a:extLst>
                    </p:spPr>
                  </p:pic>
                </p:oleObj>
              </mc:Fallback>
            </mc:AlternateContent>
          </a:graphicData>
        </a:graphic>
      </p:graphicFrame>
      <p:graphicFrame>
        <p:nvGraphicFramePr>
          <p:cNvPr id="17426" name="Object 18"/>
          <p:cNvGraphicFramePr>
            <a:graphicFrameLocks noChangeAspect="1"/>
          </p:cNvGraphicFramePr>
          <p:nvPr>
            <p:extLst>
              <p:ext uri="{D42A27DB-BD31-4B8C-83A1-F6EECF244321}">
                <p14:modId xmlns:p14="http://schemas.microsoft.com/office/powerpoint/2010/main" val="1019793293"/>
              </p:ext>
            </p:extLst>
          </p:nvPr>
        </p:nvGraphicFramePr>
        <p:xfrm>
          <a:off x="7530600" y="3551015"/>
          <a:ext cx="1366838" cy="287338"/>
        </p:xfrm>
        <a:graphic>
          <a:graphicData uri="http://schemas.openxmlformats.org/presentationml/2006/ole">
            <mc:AlternateContent xmlns:mc="http://schemas.openxmlformats.org/markup-compatibility/2006">
              <mc:Choice xmlns:v="urn:schemas-microsoft-com:vml" Requires="v">
                <p:oleObj spid="_x0000_s17744" name="Equation" r:id="rId13" imgW="1028520" imgH="215640" progId="Equation.3">
                  <p:embed/>
                </p:oleObj>
              </mc:Choice>
              <mc:Fallback>
                <p:oleObj name="Equation" r:id="rId13" imgW="1028520" imgH="215640" progId="Equation.3">
                  <p:embed/>
                  <p:pic>
                    <p:nvPicPr>
                      <p:cNvPr id="0" name="Picture 1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530600" y="3551015"/>
                        <a:ext cx="1366838" cy="287338"/>
                      </a:xfrm>
                      <a:prstGeom prst="rect">
                        <a:avLst/>
                      </a:prstGeom>
                      <a:noFill/>
                      <a:extLst>
                        <a:ext uri="{909E8E84-426E-40DD-AFC4-6F175D3DCCD1}">
                          <a14:hiddenFill xmlns:a14="http://schemas.microsoft.com/office/drawing/2010/main">
                            <a:solidFill>
                              <a:srgbClr val="FFFF99"/>
                            </a:solidFill>
                          </a14:hiddenFill>
                        </a:ext>
                      </a:extLst>
                    </p:spPr>
                  </p:pic>
                </p:oleObj>
              </mc:Fallback>
            </mc:AlternateContent>
          </a:graphicData>
        </a:graphic>
      </p:graphicFrame>
      <p:graphicFrame>
        <p:nvGraphicFramePr>
          <p:cNvPr id="15" name="Object 7"/>
          <p:cNvGraphicFramePr>
            <a:graphicFrameLocks noChangeAspect="1"/>
          </p:cNvGraphicFramePr>
          <p:nvPr>
            <p:extLst>
              <p:ext uri="{D42A27DB-BD31-4B8C-83A1-F6EECF244321}">
                <p14:modId xmlns:p14="http://schemas.microsoft.com/office/powerpoint/2010/main" val="2410961084"/>
              </p:ext>
            </p:extLst>
          </p:nvPr>
        </p:nvGraphicFramePr>
        <p:xfrm>
          <a:off x="3683000" y="1588182"/>
          <a:ext cx="1168400" cy="576263"/>
        </p:xfrm>
        <a:graphic>
          <a:graphicData uri="http://schemas.openxmlformats.org/presentationml/2006/ole">
            <mc:AlternateContent xmlns:mc="http://schemas.openxmlformats.org/markup-compatibility/2006">
              <mc:Choice xmlns:v="urn:schemas-microsoft-com:vml" Requires="v">
                <p:oleObj spid="_x0000_s17745" name="Equation" r:id="rId14" imgW="876240" imgH="431640" progId="Equation.3">
                  <p:embed/>
                </p:oleObj>
              </mc:Choice>
              <mc:Fallback>
                <p:oleObj name="Equation" r:id="rId14" imgW="876240" imgH="431640" progId="Equation.3">
                  <p:embed/>
                  <p:pic>
                    <p:nvPicPr>
                      <p:cNvPr id="0" name=""/>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3683000" y="1588182"/>
                        <a:ext cx="1168400" cy="5762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t>Confidence Interval</a:t>
            </a:r>
          </a:p>
          <a:p>
            <a:pPr lvl="1"/>
            <a:r>
              <a:rPr lang="en-US" dirty="0"/>
              <a:t>Confidence interval </a:t>
            </a:r>
            <a:r>
              <a:rPr lang="en-US" dirty="0" err="1"/>
              <a:t>v.s</a:t>
            </a:r>
            <a:r>
              <a:rPr lang="en-US" dirty="0"/>
              <a:t>. sample mean</a:t>
            </a:r>
          </a:p>
          <a:p>
            <a:pPr lvl="2"/>
            <a:r>
              <a:rPr lang="en-US" dirty="0"/>
              <a:t>Sample mean attempts to use </a:t>
            </a:r>
            <a:r>
              <a:rPr lang="en-US" dirty="0">
                <a:solidFill>
                  <a:srgbClr val="FF0000"/>
                </a:solidFill>
              </a:rPr>
              <a:t>a single number</a:t>
            </a:r>
            <a:r>
              <a:rPr lang="en-US" dirty="0"/>
              <a:t>,                      , to represent the sample mean</a:t>
            </a:r>
          </a:p>
          <a:p>
            <a:pPr lvl="3"/>
            <a:r>
              <a:rPr lang="en-US" dirty="0" smtClean="0"/>
              <a:t>The sample mean is an RV, thus it could be quite different from the true mean.</a:t>
            </a:r>
          </a:p>
          <a:p>
            <a:pPr lvl="3"/>
            <a:r>
              <a:rPr lang="en-US" dirty="0" smtClean="0"/>
              <a:t>How </a:t>
            </a:r>
            <a:r>
              <a:rPr lang="en-US" dirty="0"/>
              <a:t>much can we trust this single number estimation?</a:t>
            </a:r>
          </a:p>
          <a:p>
            <a:pPr lvl="2"/>
            <a:r>
              <a:rPr lang="en-US" dirty="0"/>
              <a:t>Confidence interval, instead, attempts to specify </a:t>
            </a:r>
            <a:r>
              <a:rPr lang="en-US" dirty="0">
                <a:solidFill>
                  <a:srgbClr val="FF0000"/>
                </a:solidFill>
              </a:rPr>
              <a:t>an interval </a:t>
            </a:r>
            <a:r>
              <a:rPr lang="en-US" dirty="0"/>
              <a:t>that is highly likely to contain the true value of the estimation. </a:t>
            </a:r>
          </a:p>
          <a:p>
            <a:pPr lvl="1"/>
            <a:endParaRPr lang="en-US" dirty="0" smtClean="0"/>
          </a:p>
          <a:p>
            <a:pPr lvl="1"/>
            <a:endParaRPr lang="en-US" dirty="0" smtClean="0"/>
          </a:p>
          <a:p>
            <a:pPr lvl="1"/>
            <a:r>
              <a:rPr lang="en-US" dirty="0" smtClean="0"/>
              <a:t>The                 </a:t>
            </a:r>
            <a:r>
              <a:rPr lang="en-US" dirty="0"/>
              <a:t>confidence interval for the estimation of the parameter </a:t>
            </a:r>
            <a:r>
              <a:rPr lang="en-US" i="1" dirty="0"/>
              <a:t>m</a:t>
            </a:r>
            <a:r>
              <a:rPr lang="en-US" dirty="0"/>
              <a:t> is defined as                          , such that </a:t>
            </a:r>
          </a:p>
          <a:p>
            <a:pPr lvl="1"/>
            <a:endParaRPr lang="en-US" dirty="0"/>
          </a:p>
        </p:txBody>
      </p:sp>
      <p:sp>
        <p:nvSpPr>
          <p:cNvPr id="4" name="Slide Number Placeholder 3"/>
          <p:cNvSpPr>
            <a:spLocks noGrp="1"/>
          </p:cNvSpPr>
          <p:nvPr>
            <p:ph type="sldNum" sz="quarter" idx="10"/>
          </p:nvPr>
        </p:nvSpPr>
        <p:spPr/>
        <p:txBody>
          <a:bodyPr/>
          <a:lstStyle/>
          <a:p>
            <a:fld id="{7A65BF99-0365-4788-A7C5-586C0382C80B}" type="slidenum">
              <a:rPr lang="zh-CN" altLang="en-US" smtClean="0"/>
              <a:pPr/>
              <a:t>19</a:t>
            </a:fld>
            <a:endParaRPr lang="en-US" altLang="zh-CN" dirty="0" smtClean="0"/>
          </a:p>
        </p:txBody>
      </p:sp>
      <p:graphicFrame>
        <p:nvGraphicFramePr>
          <p:cNvPr id="5" name="Object 11"/>
          <p:cNvGraphicFramePr>
            <a:graphicFrameLocks noChangeAspect="1"/>
          </p:cNvGraphicFramePr>
          <p:nvPr>
            <p:extLst>
              <p:ext uri="{D42A27DB-BD31-4B8C-83A1-F6EECF244321}">
                <p14:modId xmlns:p14="http://schemas.microsoft.com/office/powerpoint/2010/main" val="504214799"/>
              </p:ext>
            </p:extLst>
          </p:nvPr>
        </p:nvGraphicFramePr>
        <p:xfrm>
          <a:off x="6172200" y="1457547"/>
          <a:ext cx="1168400" cy="576263"/>
        </p:xfrm>
        <a:graphic>
          <a:graphicData uri="http://schemas.openxmlformats.org/presentationml/2006/ole">
            <mc:AlternateContent xmlns:mc="http://schemas.openxmlformats.org/markup-compatibility/2006">
              <mc:Choice xmlns:v="urn:schemas-microsoft-com:vml" Requires="v">
                <p:oleObj spid="_x0000_s36890" name="Equation" r:id="rId3" imgW="876240" imgH="431640" progId="Equation.3">
                  <p:embed/>
                </p:oleObj>
              </mc:Choice>
              <mc:Fallback>
                <p:oleObj name="Equation" r:id="rId3" imgW="876240" imgH="43164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72200" y="1457547"/>
                        <a:ext cx="1168400" cy="5762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 name="Object 12"/>
          <p:cNvGraphicFramePr>
            <a:graphicFrameLocks noChangeAspect="1"/>
          </p:cNvGraphicFramePr>
          <p:nvPr>
            <p:extLst>
              <p:ext uri="{D42A27DB-BD31-4B8C-83A1-F6EECF244321}">
                <p14:modId xmlns:p14="http://schemas.microsoft.com/office/powerpoint/2010/main" val="1333395447"/>
              </p:ext>
            </p:extLst>
          </p:nvPr>
        </p:nvGraphicFramePr>
        <p:xfrm>
          <a:off x="1905000" y="4403743"/>
          <a:ext cx="776288" cy="271462"/>
        </p:xfrm>
        <a:graphic>
          <a:graphicData uri="http://schemas.openxmlformats.org/presentationml/2006/ole">
            <mc:AlternateContent xmlns:mc="http://schemas.openxmlformats.org/markup-compatibility/2006">
              <mc:Choice xmlns:v="urn:schemas-microsoft-com:vml" Requires="v">
                <p:oleObj spid="_x0000_s36891" name="Equation" r:id="rId5" imgW="583920" imgH="203040" progId="Equation.3">
                  <p:embed/>
                </p:oleObj>
              </mc:Choice>
              <mc:Fallback>
                <p:oleObj name="Equation" r:id="rId5" imgW="583920" imgH="20304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05000" y="4403743"/>
                        <a:ext cx="776288" cy="271462"/>
                      </a:xfrm>
                      <a:prstGeom prst="rect">
                        <a:avLst/>
                      </a:prstGeom>
                      <a:noFill/>
                      <a:extLst>
                        <a:ext uri="{909E8E84-426E-40DD-AFC4-6F175D3DCCD1}">
                          <a14:hiddenFill xmlns:a14="http://schemas.microsoft.com/office/drawing/2010/main">
                            <a:solidFill>
                              <a:srgbClr val="FFFF99"/>
                            </a:solidFill>
                          </a14:hiddenFill>
                        </a:ext>
                      </a:extLst>
                    </p:spPr>
                  </p:pic>
                </p:oleObj>
              </mc:Fallback>
            </mc:AlternateContent>
          </a:graphicData>
        </a:graphic>
      </p:graphicFrame>
      <p:graphicFrame>
        <p:nvGraphicFramePr>
          <p:cNvPr id="7" name="Object 17"/>
          <p:cNvGraphicFramePr>
            <a:graphicFrameLocks noChangeAspect="1"/>
          </p:cNvGraphicFramePr>
          <p:nvPr>
            <p:extLst>
              <p:ext uri="{D42A27DB-BD31-4B8C-83A1-F6EECF244321}">
                <p14:modId xmlns:p14="http://schemas.microsoft.com/office/powerpoint/2010/main" val="984472386"/>
              </p:ext>
            </p:extLst>
          </p:nvPr>
        </p:nvGraphicFramePr>
        <p:xfrm>
          <a:off x="2445544" y="4684601"/>
          <a:ext cx="1366838" cy="287338"/>
        </p:xfrm>
        <a:graphic>
          <a:graphicData uri="http://schemas.openxmlformats.org/presentationml/2006/ole">
            <mc:AlternateContent xmlns:mc="http://schemas.openxmlformats.org/markup-compatibility/2006">
              <mc:Choice xmlns:v="urn:schemas-microsoft-com:vml" Requires="v">
                <p:oleObj spid="_x0000_s36892" name="Equation" r:id="rId7" imgW="1028520" imgH="215640" progId="Equation.3">
                  <p:embed/>
                </p:oleObj>
              </mc:Choice>
              <mc:Fallback>
                <p:oleObj name="Equation" r:id="rId7" imgW="1028520" imgH="215640"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445544" y="4684601"/>
                        <a:ext cx="1366838" cy="287338"/>
                      </a:xfrm>
                      <a:prstGeom prst="rect">
                        <a:avLst/>
                      </a:prstGeom>
                      <a:noFill/>
                      <a:extLst>
                        <a:ext uri="{909E8E84-426E-40DD-AFC4-6F175D3DCCD1}">
                          <a14:hiddenFill xmlns:a14="http://schemas.microsoft.com/office/drawing/2010/main">
                            <a:solidFill>
                              <a:srgbClr val="FFFF99"/>
                            </a:solidFill>
                          </a14:hiddenFill>
                        </a:ext>
                      </a:extLst>
                    </p:spPr>
                  </p:pic>
                </p:oleObj>
              </mc:Fallback>
            </mc:AlternateContent>
          </a:graphicData>
        </a:graphic>
      </p:graphicFrame>
      <p:graphicFrame>
        <p:nvGraphicFramePr>
          <p:cNvPr id="8" name="Object 16"/>
          <p:cNvGraphicFramePr>
            <a:graphicFrameLocks noChangeAspect="1"/>
          </p:cNvGraphicFramePr>
          <p:nvPr>
            <p:extLst>
              <p:ext uri="{D42A27DB-BD31-4B8C-83A1-F6EECF244321}">
                <p14:modId xmlns:p14="http://schemas.microsoft.com/office/powerpoint/2010/main" val="748704566"/>
              </p:ext>
            </p:extLst>
          </p:nvPr>
        </p:nvGraphicFramePr>
        <p:xfrm>
          <a:off x="3128963" y="5200539"/>
          <a:ext cx="3267075" cy="381000"/>
        </p:xfrm>
        <a:graphic>
          <a:graphicData uri="http://schemas.openxmlformats.org/presentationml/2006/ole">
            <mc:AlternateContent xmlns:mc="http://schemas.openxmlformats.org/markup-compatibility/2006">
              <mc:Choice xmlns:v="urn:schemas-microsoft-com:vml" Requires="v">
                <p:oleObj spid="_x0000_s36893" name="Equation" r:id="rId9" imgW="1854000" imgH="215640" progId="Equation.3">
                  <p:embed/>
                </p:oleObj>
              </mc:Choice>
              <mc:Fallback>
                <p:oleObj name="Equation" r:id="rId9" imgW="1854000" imgH="215640" progId="Equation.3">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128963" y="5200539"/>
                        <a:ext cx="3267075" cy="381000"/>
                      </a:xfrm>
                      <a:prstGeom prst="rect">
                        <a:avLst/>
                      </a:prstGeom>
                      <a:noFill/>
                      <a:extLst>
                        <a:ext uri="{909E8E84-426E-40DD-AFC4-6F175D3DCCD1}">
                          <a14:hiddenFill xmlns:a14="http://schemas.microsoft.com/office/drawing/2010/main">
                            <a:solidFill>
                              <a:srgbClr val="FFFF99"/>
                            </a:solidFill>
                          </a14:hiddenFill>
                        </a:ext>
                      </a:extLst>
                    </p:spPr>
                  </p:pic>
                </p:oleObj>
              </mc:Fallback>
            </mc:AlternateContent>
          </a:graphicData>
        </a:graphic>
      </p:graphicFrame>
    </p:spTree>
    <p:extLst>
      <p:ext uri="{BB962C8B-B14F-4D97-AF65-F5344CB8AC3E}">
        <p14:creationId xmlns:p14="http://schemas.microsoft.com/office/powerpoint/2010/main" val="238917718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CONFIDENCE INTERVAL</a:t>
            </a:r>
            <a:endParaRPr lang="en-US" dirty="0"/>
          </a:p>
        </p:txBody>
      </p:sp>
      <p:sp>
        <p:nvSpPr>
          <p:cNvPr id="3" name="Content Placeholder 2"/>
          <p:cNvSpPr>
            <a:spLocks noGrp="1"/>
          </p:cNvSpPr>
          <p:nvPr>
            <p:ph idx="1"/>
          </p:nvPr>
        </p:nvSpPr>
        <p:spPr/>
        <p:txBody>
          <a:bodyPr/>
          <a:lstStyle/>
          <a:p>
            <a:r>
              <a:rPr lang="en-US" dirty="0" smtClean="0"/>
              <a:t>Confidence Interval (Cont’d)</a:t>
            </a:r>
          </a:p>
          <a:p>
            <a:endParaRPr lang="en-US" dirty="0" smtClean="0"/>
          </a:p>
          <a:p>
            <a:endParaRPr lang="en-US" dirty="0" smtClean="0"/>
          </a:p>
          <a:p>
            <a:pPr lvl="1"/>
            <a:r>
              <a:rPr lang="en-US" dirty="0" smtClean="0"/>
              <a:t>Based on the central limit theorem,         is Gaussian distributed with mean</a:t>
            </a:r>
          </a:p>
          <a:p>
            <a:pPr lvl="1">
              <a:buNone/>
            </a:pPr>
            <a:r>
              <a:rPr lang="en-US" dirty="0" smtClean="0"/>
              <a:t>	        and variance </a:t>
            </a:r>
          </a:p>
          <a:p>
            <a:pPr lvl="1">
              <a:buNone/>
            </a:pPr>
            <a:r>
              <a:rPr lang="en-US" dirty="0" smtClean="0"/>
              <a:t>	 </a:t>
            </a:r>
            <a:endParaRPr lang="en-US" dirty="0"/>
          </a:p>
        </p:txBody>
      </p:sp>
      <p:sp>
        <p:nvSpPr>
          <p:cNvPr id="4" name="Slide Number Placeholder 3"/>
          <p:cNvSpPr>
            <a:spLocks noGrp="1"/>
          </p:cNvSpPr>
          <p:nvPr>
            <p:ph type="sldNum" sz="quarter" idx="10"/>
          </p:nvPr>
        </p:nvSpPr>
        <p:spPr/>
        <p:txBody>
          <a:bodyPr/>
          <a:lstStyle/>
          <a:p>
            <a:fld id="{7A65BF99-0365-4788-A7C5-586C0382C80B}" type="slidenum">
              <a:rPr lang="zh-CN" altLang="en-US" smtClean="0"/>
              <a:pPr/>
              <a:t>20</a:t>
            </a:fld>
            <a:endParaRPr lang="en-US" altLang="zh-CN" dirty="0" smtClean="0"/>
          </a:p>
        </p:txBody>
      </p:sp>
      <p:graphicFrame>
        <p:nvGraphicFramePr>
          <p:cNvPr id="26626" name="Object 2"/>
          <p:cNvGraphicFramePr>
            <a:graphicFrameLocks noChangeAspect="1"/>
          </p:cNvGraphicFramePr>
          <p:nvPr/>
        </p:nvGraphicFramePr>
        <p:xfrm>
          <a:off x="1143000" y="1447800"/>
          <a:ext cx="5907088" cy="381000"/>
        </p:xfrm>
        <a:graphic>
          <a:graphicData uri="http://schemas.openxmlformats.org/presentationml/2006/ole">
            <mc:AlternateContent xmlns:mc="http://schemas.openxmlformats.org/markup-compatibility/2006">
              <mc:Choice xmlns:v="urn:schemas-microsoft-com:vml" Requires="v">
                <p:oleObj spid="_x0000_s26900" name="Equation" r:id="rId4" imgW="3352680" imgH="215640" progId="Equation.3">
                  <p:embed/>
                </p:oleObj>
              </mc:Choice>
              <mc:Fallback>
                <p:oleObj name="Equation" r:id="rId4" imgW="3352680" imgH="215640" progId="Equation.3">
                  <p:embed/>
                  <p:pic>
                    <p:nvPicPr>
                      <p:cNvPr id="0"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43000" y="1447800"/>
                        <a:ext cx="5907088" cy="381000"/>
                      </a:xfrm>
                      <a:prstGeom prst="rect">
                        <a:avLst/>
                      </a:prstGeom>
                      <a:noFill/>
                      <a:extLst>
                        <a:ext uri="{909E8E84-426E-40DD-AFC4-6F175D3DCCD1}">
                          <a14:hiddenFill xmlns:a14="http://schemas.microsoft.com/office/drawing/2010/main">
                            <a:solidFill>
                              <a:srgbClr val="FFFF99"/>
                            </a:solidFill>
                          </a14:hiddenFill>
                        </a:ext>
                      </a:extLst>
                    </p:spPr>
                  </p:pic>
                </p:oleObj>
              </mc:Fallback>
            </mc:AlternateContent>
          </a:graphicData>
        </a:graphic>
      </p:graphicFrame>
      <p:graphicFrame>
        <p:nvGraphicFramePr>
          <p:cNvPr id="26627" name="Object 3"/>
          <p:cNvGraphicFramePr>
            <a:graphicFrameLocks noChangeAspect="1"/>
          </p:cNvGraphicFramePr>
          <p:nvPr/>
        </p:nvGraphicFramePr>
        <p:xfrm>
          <a:off x="7086600" y="1295400"/>
          <a:ext cx="1835150" cy="627062"/>
        </p:xfrm>
        <a:graphic>
          <a:graphicData uri="http://schemas.openxmlformats.org/presentationml/2006/ole">
            <mc:AlternateContent xmlns:mc="http://schemas.openxmlformats.org/markup-compatibility/2006">
              <mc:Choice xmlns:v="urn:schemas-microsoft-com:vml" Requires="v">
                <p:oleObj spid="_x0000_s26901" name="Equation" r:id="rId6" imgW="1041120" imgH="355320" progId="Equation.3">
                  <p:embed/>
                </p:oleObj>
              </mc:Choice>
              <mc:Fallback>
                <p:oleObj name="Equation" r:id="rId6" imgW="1041120" imgH="355320" progId="Equation.3">
                  <p:embed/>
                  <p:pic>
                    <p:nvPicPr>
                      <p:cNvPr id="0" name="Picture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086600" y="1295400"/>
                        <a:ext cx="1835150" cy="627062"/>
                      </a:xfrm>
                      <a:prstGeom prst="rect">
                        <a:avLst/>
                      </a:prstGeom>
                      <a:noFill/>
                      <a:extLst>
                        <a:ext uri="{909E8E84-426E-40DD-AFC4-6F175D3DCCD1}">
                          <a14:hiddenFill xmlns:a14="http://schemas.microsoft.com/office/drawing/2010/main">
                            <a:solidFill>
                              <a:srgbClr val="FFFF99"/>
                            </a:solidFill>
                          </a14:hiddenFill>
                        </a:ext>
                      </a:extLst>
                    </p:spPr>
                  </p:pic>
                </p:oleObj>
              </mc:Fallback>
            </mc:AlternateContent>
          </a:graphicData>
        </a:graphic>
      </p:graphicFrame>
      <p:graphicFrame>
        <p:nvGraphicFramePr>
          <p:cNvPr id="26628" name="Object 4"/>
          <p:cNvGraphicFramePr>
            <a:graphicFrameLocks noChangeAspect="1"/>
          </p:cNvGraphicFramePr>
          <p:nvPr/>
        </p:nvGraphicFramePr>
        <p:xfrm>
          <a:off x="4724400" y="1981200"/>
          <a:ext cx="425450" cy="381000"/>
        </p:xfrm>
        <a:graphic>
          <a:graphicData uri="http://schemas.openxmlformats.org/presentationml/2006/ole">
            <mc:AlternateContent xmlns:mc="http://schemas.openxmlformats.org/markup-compatibility/2006">
              <mc:Choice xmlns:v="urn:schemas-microsoft-com:vml" Requires="v">
                <p:oleObj spid="_x0000_s26902" name="Equation" r:id="rId8" imgW="241200" imgH="215640" progId="Equation.3">
                  <p:embed/>
                </p:oleObj>
              </mc:Choice>
              <mc:Fallback>
                <p:oleObj name="Equation" r:id="rId8" imgW="241200" imgH="215640" progId="Equation.3">
                  <p:embed/>
                  <p:pic>
                    <p:nvPicPr>
                      <p:cNvPr id="0" name="Picture 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724400" y="1981200"/>
                        <a:ext cx="425450" cy="381000"/>
                      </a:xfrm>
                      <a:prstGeom prst="rect">
                        <a:avLst/>
                      </a:prstGeom>
                      <a:noFill/>
                      <a:extLst>
                        <a:ext uri="{909E8E84-426E-40DD-AFC4-6F175D3DCCD1}">
                          <a14:hiddenFill xmlns:a14="http://schemas.microsoft.com/office/drawing/2010/main">
                            <a:solidFill>
                              <a:srgbClr val="FFFF99"/>
                            </a:solidFill>
                          </a14:hiddenFill>
                        </a:ext>
                      </a:extLst>
                    </p:spPr>
                  </p:pic>
                </p:oleObj>
              </mc:Fallback>
            </mc:AlternateContent>
          </a:graphicData>
        </a:graphic>
      </p:graphicFrame>
      <p:graphicFrame>
        <p:nvGraphicFramePr>
          <p:cNvPr id="26631" name="Object 7"/>
          <p:cNvGraphicFramePr>
            <a:graphicFrameLocks noChangeAspect="1"/>
          </p:cNvGraphicFramePr>
          <p:nvPr/>
        </p:nvGraphicFramePr>
        <p:xfrm>
          <a:off x="1447800" y="2286000"/>
          <a:ext cx="425450" cy="381000"/>
        </p:xfrm>
        <a:graphic>
          <a:graphicData uri="http://schemas.openxmlformats.org/presentationml/2006/ole">
            <mc:AlternateContent xmlns:mc="http://schemas.openxmlformats.org/markup-compatibility/2006">
              <mc:Choice xmlns:v="urn:schemas-microsoft-com:vml" Requires="v">
                <p:oleObj spid="_x0000_s26903" name="Equation" r:id="rId10" imgW="241200" imgH="215640" progId="Equation.3">
                  <p:embed/>
                </p:oleObj>
              </mc:Choice>
              <mc:Fallback>
                <p:oleObj name="Equation" r:id="rId10" imgW="241200" imgH="215640" progId="Equation.3">
                  <p:embed/>
                  <p:pic>
                    <p:nvPicPr>
                      <p:cNvPr id="0" name="Picture 7"/>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447800" y="2286000"/>
                        <a:ext cx="425450" cy="381000"/>
                      </a:xfrm>
                      <a:prstGeom prst="rect">
                        <a:avLst/>
                      </a:prstGeom>
                      <a:noFill/>
                      <a:extLst>
                        <a:ext uri="{909E8E84-426E-40DD-AFC4-6F175D3DCCD1}">
                          <a14:hiddenFill xmlns:a14="http://schemas.microsoft.com/office/drawing/2010/main">
                            <a:solidFill>
                              <a:srgbClr val="FFFF99"/>
                            </a:solidFill>
                          </a14:hiddenFill>
                        </a:ext>
                      </a:extLst>
                    </p:spPr>
                  </p:pic>
                </p:oleObj>
              </mc:Fallback>
            </mc:AlternateContent>
          </a:graphicData>
        </a:graphic>
      </p:graphicFrame>
      <p:graphicFrame>
        <p:nvGraphicFramePr>
          <p:cNvPr id="26632" name="Object 8"/>
          <p:cNvGraphicFramePr>
            <a:graphicFrameLocks noChangeAspect="1"/>
          </p:cNvGraphicFramePr>
          <p:nvPr/>
        </p:nvGraphicFramePr>
        <p:xfrm>
          <a:off x="3048000" y="2209800"/>
          <a:ext cx="357157" cy="560387"/>
        </p:xfrm>
        <a:graphic>
          <a:graphicData uri="http://schemas.openxmlformats.org/presentationml/2006/ole">
            <mc:AlternateContent xmlns:mc="http://schemas.openxmlformats.org/markup-compatibility/2006">
              <mc:Choice xmlns:v="urn:schemas-microsoft-com:vml" Requires="v">
                <p:oleObj spid="_x0000_s26904" name="Equation" r:id="rId12" imgW="266400" imgH="419040" progId="Equation.3">
                  <p:embed/>
                </p:oleObj>
              </mc:Choice>
              <mc:Fallback>
                <p:oleObj name="Equation" r:id="rId12" imgW="266400" imgH="419040" progId="Equation.3">
                  <p:embed/>
                  <p:pic>
                    <p:nvPicPr>
                      <p:cNvPr id="0" name="Picture 8"/>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048000" y="2209800"/>
                        <a:ext cx="357157" cy="560387"/>
                      </a:xfrm>
                      <a:prstGeom prst="rect">
                        <a:avLst/>
                      </a:prstGeom>
                      <a:noFill/>
                      <a:extLst>
                        <a:ext uri="{909E8E84-426E-40DD-AFC4-6F175D3DCCD1}">
                          <a14:hiddenFill xmlns:a14="http://schemas.microsoft.com/office/drawing/2010/main">
                            <a:solidFill>
                              <a:srgbClr val="FFFF99"/>
                            </a:solidFill>
                          </a14:hiddenFill>
                        </a:ext>
                      </a:extLst>
                    </p:spPr>
                  </p:pic>
                </p:oleObj>
              </mc:Fallback>
            </mc:AlternateContent>
          </a:graphicData>
        </a:graphic>
      </p:graphicFrame>
      <p:graphicFrame>
        <p:nvGraphicFramePr>
          <p:cNvPr id="26633" name="Object 9"/>
          <p:cNvGraphicFramePr>
            <a:graphicFrameLocks noChangeAspect="1"/>
          </p:cNvGraphicFramePr>
          <p:nvPr/>
        </p:nvGraphicFramePr>
        <p:xfrm>
          <a:off x="1905000" y="2743200"/>
          <a:ext cx="5349875" cy="990600"/>
        </p:xfrm>
        <a:graphic>
          <a:graphicData uri="http://schemas.openxmlformats.org/presentationml/2006/ole">
            <mc:AlternateContent xmlns:mc="http://schemas.openxmlformats.org/markup-compatibility/2006">
              <mc:Choice xmlns:v="urn:schemas-microsoft-com:vml" Requires="v">
                <p:oleObj spid="_x0000_s26905" name="Equation" r:id="rId14" imgW="3035160" imgH="520560" progId="Equation.3">
                  <p:embed/>
                </p:oleObj>
              </mc:Choice>
              <mc:Fallback>
                <p:oleObj name="Equation" r:id="rId14" imgW="3035160" imgH="520560" progId="Equation.3">
                  <p:embed/>
                  <p:pic>
                    <p:nvPicPr>
                      <p:cNvPr id="0" name="Picture 9"/>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905000" y="2743200"/>
                        <a:ext cx="5349875" cy="990600"/>
                      </a:xfrm>
                      <a:prstGeom prst="rect">
                        <a:avLst/>
                      </a:prstGeom>
                      <a:noFill/>
                      <a:extLst>
                        <a:ext uri="{909E8E84-426E-40DD-AFC4-6F175D3DCCD1}">
                          <a14:hiddenFill xmlns:a14="http://schemas.microsoft.com/office/drawing/2010/main">
                            <a:solidFill>
                              <a:srgbClr val="FFFF99"/>
                            </a:solidFill>
                          </a14:hiddenFill>
                        </a:ext>
                      </a:extLst>
                    </p:spPr>
                  </p:pic>
                </p:oleObj>
              </mc:Fallback>
            </mc:AlternateContent>
          </a:graphicData>
        </a:graphic>
      </p:graphicFrame>
      <p:graphicFrame>
        <p:nvGraphicFramePr>
          <p:cNvPr id="26634" name="Object 10"/>
          <p:cNvGraphicFramePr>
            <a:graphicFrameLocks noChangeAspect="1"/>
          </p:cNvGraphicFramePr>
          <p:nvPr/>
        </p:nvGraphicFramePr>
        <p:xfrm>
          <a:off x="2133600" y="4038600"/>
          <a:ext cx="4565650" cy="896938"/>
        </p:xfrm>
        <a:graphic>
          <a:graphicData uri="http://schemas.openxmlformats.org/presentationml/2006/ole">
            <mc:AlternateContent xmlns:mc="http://schemas.openxmlformats.org/markup-compatibility/2006">
              <mc:Choice xmlns:v="urn:schemas-microsoft-com:vml" Requires="v">
                <p:oleObj spid="_x0000_s26906" name="Equation" r:id="rId16" imgW="2590560" imgH="507960" progId="Equation.3">
                  <p:embed/>
                </p:oleObj>
              </mc:Choice>
              <mc:Fallback>
                <p:oleObj name="Equation" r:id="rId16" imgW="2590560" imgH="507960" progId="Equation.3">
                  <p:embed/>
                  <p:pic>
                    <p:nvPicPr>
                      <p:cNvPr id="0" name="Picture 10"/>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2133600" y="4038600"/>
                        <a:ext cx="4565650" cy="896938"/>
                      </a:xfrm>
                      <a:prstGeom prst="rect">
                        <a:avLst/>
                      </a:prstGeom>
                      <a:solidFill>
                        <a:srgbClr val="FFFF99"/>
                      </a:solidFill>
                    </p:spPr>
                  </p:pic>
                </p:oleObj>
              </mc:Fallback>
            </mc:AlternateContent>
          </a:graphicData>
        </a:graphic>
      </p:graphicFrame>
      <p:graphicFrame>
        <p:nvGraphicFramePr>
          <p:cNvPr id="26635" name="Object 11"/>
          <p:cNvGraphicFramePr>
            <a:graphicFrameLocks noChangeAspect="1"/>
          </p:cNvGraphicFramePr>
          <p:nvPr/>
        </p:nvGraphicFramePr>
        <p:xfrm>
          <a:off x="2133600" y="5181600"/>
          <a:ext cx="4565650" cy="896938"/>
        </p:xfrm>
        <a:graphic>
          <a:graphicData uri="http://schemas.openxmlformats.org/presentationml/2006/ole">
            <mc:AlternateContent xmlns:mc="http://schemas.openxmlformats.org/markup-compatibility/2006">
              <mc:Choice xmlns:v="urn:schemas-microsoft-com:vml" Requires="v">
                <p:oleObj spid="_x0000_s26907" name="Equation" r:id="rId18" imgW="2590560" imgH="507960" progId="Equation.3">
                  <p:embed/>
                </p:oleObj>
              </mc:Choice>
              <mc:Fallback>
                <p:oleObj name="Equation" r:id="rId18" imgW="2590560" imgH="507960" progId="Equation.3">
                  <p:embed/>
                  <p:pic>
                    <p:nvPicPr>
                      <p:cNvPr id="0" name="Picture 11"/>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2133600" y="5181600"/>
                        <a:ext cx="4565650" cy="896938"/>
                      </a:xfrm>
                      <a:prstGeom prst="rect">
                        <a:avLst/>
                      </a:prstGeom>
                      <a:solidFill>
                        <a:srgbClr val="FFFF99"/>
                      </a:solidFill>
                    </p:spPr>
                  </p:pic>
                </p:oleObj>
              </mc:Fallback>
            </mc:AlternateContent>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CONFIDENCE INTERVAL	</a:t>
            </a:r>
            <a:endParaRPr lang="en-US" dirty="0"/>
          </a:p>
        </p:txBody>
      </p:sp>
      <p:sp>
        <p:nvSpPr>
          <p:cNvPr id="3" name="Content Placeholder 2"/>
          <p:cNvSpPr>
            <a:spLocks noGrp="1"/>
          </p:cNvSpPr>
          <p:nvPr>
            <p:ph idx="1"/>
          </p:nvPr>
        </p:nvSpPr>
        <p:spPr/>
        <p:txBody>
          <a:bodyPr/>
          <a:lstStyle/>
          <a:p>
            <a:r>
              <a:rPr lang="en-US" dirty="0" smtClean="0"/>
              <a:t>Example</a:t>
            </a:r>
          </a:p>
          <a:p>
            <a:pPr lvl="1"/>
            <a:r>
              <a:rPr lang="en-US" dirty="0" smtClean="0"/>
              <a:t>A very large population of resistor values has a true mean of 100 Ohm and a standard deviation of 5 Ohm. Find the 95% confidence interval (confidence limits) on the sample mean if the sample size is 100. </a:t>
            </a:r>
          </a:p>
          <a:p>
            <a:pPr lvl="1">
              <a:buNone/>
            </a:pPr>
            <a:r>
              <a:rPr lang="en-US" dirty="0" smtClean="0"/>
              <a:t>	Q(1.96) = 0.025</a:t>
            </a:r>
            <a:endParaRPr lang="en-US" dirty="0"/>
          </a:p>
        </p:txBody>
      </p:sp>
      <p:sp>
        <p:nvSpPr>
          <p:cNvPr id="4" name="Slide Number Placeholder 3"/>
          <p:cNvSpPr>
            <a:spLocks noGrp="1"/>
          </p:cNvSpPr>
          <p:nvPr>
            <p:ph type="sldNum" sz="quarter" idx="10"/>
          </p:nvPr>
        </p:nvSpPr>
        <p:spPr/>
        <p:txBody>
          <a:bodyPr/>
          <a:lstStyle/>
          <a:p>
            <a:fld id="{7A65BF99-0365-4788-A7C5-586C0382C80B}" type="slidenum">
              <a:rPr lang="zh-CN" altLang="en-US" smtClean="0"/>
              <a:pPr/>
              <a:t>21</a:t>
            </a:fld>
            <a:endParaRPr lang="en-US" altLang="zh-CN" dirty="0" smtClean="0"/>
          </a:p>
        </p:txBody>
      </p:sp>
      <p:graphicFrame>
        <p:nvGraphicFramePr>
          <p:cNvPr id="34817" name="Object 1"/>
          <p:cNvGraphicFramePr>
            <a:graphicFrameLocks noChangeAspect="1"/>
          </p:cNvGraphicFramePr>
          <p:nvPr/>
        </p:nvGraphicFramePr>
        <p:xfrm>
          <a:off x="3276600" y="2209800"/>
          <a:ext cx="3810000" cy="748488"/>
        </p:xfrm>
        <a:graphic>
          <a:graphicData uri="http://schemas.openxmlformats.org/presentationml/2006/ole">
            <mc:AlternateContent xmlns:mc="http://schemas.openxmlformats.org/markup-compatibility/2006">
              <mc:Choice xmlns:v="urn:schemas-microsoft-com:vml" Requires="v">
                <p:oleObj spid="_x0000_s34851" name="Equation" r:id="rId3" imgW="2590560" imgH="507960" progId="Equation.3">
                  <p:embed/>
                </p:oleObj>
              </mc:Choice>
              <mc:Fallback>
                <p:oleObj name="Equation" r:id="rId3" imgW="2590560" imgH="507960" progId="Equation.3">
                  <p:embed/>
                  <p:pic>
                    <p:nvPicPr>
                      <p:cNvPr id="0" name="Picture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76600" y="2209800"/>
                        <a:ext cx="3810000" cy="748488"/>
                      </a:xfrm>
                      <a:prstGeom prst="rect">
                        <a:avLst/>
                      </a:prstGeom>
                      <a:noFill/>
                      <a:extLst>
                        <a:ext uri="{909E8E84-426E-40DD-AFC4-6F175D3DCCD1}">
                          <a14:hiddenFill xmlns:a14="http://schemas.microsoft.com/office/drawing/2010/main">
                            <a:solidFill>
                              <a:srgbClr val="FFFF99"/>
                            </a:solidFill>
                          </a14:hiddenFill>
                        </a:ext>
                      </a:extLst>
                    </p:spPr>
                  </p:pic>
                </p:oleObj>
              </mc:Fallback>
            </mc:AlternateContent>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OUTLINE</a:t>
            </a:r>
            <a:endParaRPr lang="en-US" dirty="0"/>
          </a:p>
        </p:txBody>
      </p:sp>
      <p:sp>
        <p:nvSpPr>
          <p:cNvPr id="4" name="Slide Number Placeholder 3"/>
          <p:cNvSpPr>
            <a:spLocks noGrp="1"/>
          </p:cNvSpPr>
          <p:nvPr>
            <p:ph type="sldNum" sz="quarter" idx="10"/>
          </p:nvPr>
        </p:nvSpPr>
        <p:spPr/>
        <p:txBody>
          <a:bodyPr/>
          <a:lstStyle/>
          <a:p>
            <a:fld id="{7A65BF99-0365-4788-A7C5-586C0382C80B}" type="slidenum">
              <a:rPr lang="zh-CN" altLang="en-US" smtClean="0"/>
              <a:pPr/>
              <a:t>22</a:t>
            </a:fld>
            <a:endParaRPr lang="en-US" altLang="zh-CN" dirty="0" smtClean="0"/>
          </a:p>
        </p:txBody>
      </p:sp>
      <p:sp>
        <p:nvSpPr>
          <p:cNvPr id="5" name="Rectangle 3"/>
          <p:cNvSpPr txBox="1">
            <a:spLocks noChangeArrowheads="1"/>
          </p:cNvSpPr>
          <p:nvPr/>
        </p:nvSpPr>
        <p:spPr>
          <a:xfrm>
            <a:off x="533400" y="914400"/>
            <a:ext cx="7772400" cy="5600700"/>
          </a:xfrm>
          <a:prstGeom prst="rect">
            <a:avLst/>
          </a:prstGeom>
        </p:spPr>
        <p:txBody>
          <a:bodyPr>
            <a:norm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altLang="zh-CN" b="1" i="0" u="none" strike="noStrike" kern="1200" cap="none" spc="0" normalizeH="0" baseline="0" noProof="0" dirty="0" smtClean="0">
                <a:ln>
                  <a:noFill/>
                </a:ln>
                <a:solidFill>
                  <a:schemeClr val="bg1">
                    <a:lumMod val="50000"/>
                  </a:schemeClr>
                </a:solidFill>
                <a:effectLst/>
                <a:uLnTx/>
                <a:uFillTx/>
                <a:latin typeface="Times New Roman" pitchFamily="18" charset="0"/>
                <a:ea typeface="宋体" pitchFamily="2" charset="-122"/>
                <a:cs typeface="Times New Roman" pitchFamily="18" charset="0"/>
              </a:rPr>
              <a:t>Introduction:</a:t>
            </a:r>
            <a:r>
              <a:rPr kumimoji="0" lang="en-US" altLang="zh-CN" b="1" i="0" u="none" strike="noStrike" kern="1200" cap="none" spc="0" normalizeH="0" noProof="0" dirty="0" smtClean="0">
                <a:ln>
                  <a:noFill/>
                </a:ln>
                <a:solidFill>
                  <a:schemeClr val="bg1">
                    <a:lumMod val="50000"/>
                  </a:schemeClr>
                </a:solidFill>
                <a:effectLst/>
                <a:uLnTx/>
                <a:uFillTx/>
                <a:latin typeface="Times New Roman" pitchFamily="18" charset="0"/>
                <a:ea typeface="宋体" pitchFamily="2" charset="-122"/>
                <a:cs typeface="Times New Roman" pitchFamily="18" charset="0"/>
              </a:rPr>
              <a:t> what is statistics?</a:t>
            </a:r>
            <a:endParaRPr kumimoji="0" lang="en-US" altLang="zh-CN" b="1" i="0" u="none" strike="noStrike" kern="1200" cap="none" spc="0" normalizeH="0" baseline="0" noProof="0" dirty="0" smtClean="0">
              <a:ln>
                <a:noFill/>
              </a:ln>
              <a:solidFill>
                <a:schemeClr val="bg1">
                  <a:lumMod val="50000"/>
                </a:schemeClr>
              </a:solidFill>
              <a:effectLst/>
              <a:uLnTx/>
              <a:uFillTx/>
              <a:latin typeface="Times New Roman" pitchFamily="18" charset="0"/>
              <a:ea typeface="宋体" pitchFamily="2" charset="-122"/>
              <a:cs typeface="Times New Roman" pitchFamily="18" charset="0"/>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altLang="zh-CN" b="1" i="0" u="none" strike="noStrike" kern="1200" cap="none" spc="0" normalizeH="0" baseline="0" noProof="0" dirty="0" smtClean="0">
              <a:ln>
                <a:noFill/>
              </a:ln>
              <a:solidFill>
                <a:schemeClr val="bg1">
                  <a:lumMod val="50000"/>
                </a:schemeClr>
              </a:solidFill>
              <a:effectLst/>
              <a:uLnTx/>
              <a:uFillTx/>
              <a:latin typeface="Times New Roman" pitchFamily="18" charset="0"/>
              <a:ea typeface="宋体" pitchFamily="2" charset="-122"/>
              <a:cs typeface="Times New Roman" pitchFamily="18" charset="0"/>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altLang="zh-CN" b="1" i="0" u="none" strike="noStrike" kern="1200" cap="none" spc="0" normalizeH="0" baseline="0" noProof="0" dirty="0" smtClean="0">
                <a:ln>
                  <a:noFill/>
                </a:ln>
                <a:solidFill>
                  <a:schemeClr val="bg1">
                    <a:lumMod val="50000"/>
                  </a:schemeClr>
                </a:solidFill>
                <a:effectLst/>
                <a:uLnTx/>
                <a:uFillTx/>
                <a:latin typeface="Times New Roman" pitchFamily="18" charset="0"/>
                <a:ea typeface="宋体" pitchFamily="2" charset="-122"/>
                <a:cs typeface="Times New Roman" pitchFamily="18" charset="0"/>
              </a:rPr>
              <a:t>Sample</a:t>
            </a:r>
            <a:r>
              <a:rPr kumimoji="0" lang="en-US" altLang="zh-CN" b="1" i="0" u="none" strike="noStrike" kern="1200" cap="none" spc="0" normalizeH="0" noProof="0" dirty="0" smtClean="0">
                <a:ln>
                  <a:noFill/>
                </a:ln>
                <a:solidFill>
                  <a:schemeClr val="bg1">
                    <a:lumMod val="50000"/>
                  </a:schemeClr>
                </a:solidFill>
                <a:effectLst/>
                <a:uLnTx/>
                <a:uFillTx/>
                <a:latin typeface="Times New Roman" pitchFamily="18" charset="0"/>
                <a:ea typeface="宋体" pitchFamily="2" charset="-122"/>
                <a:cs typeface="Times New Roman" pitchFamily="18" charset="0"/>
              </a:rPr>
              <a:t> mean and sample variance</a:t>
            </a:r>
            <a:endParaRPr kumimoji="0" lang="en-US" altLang="zh-CN" b="1" i="0" u="none" strike="noStrike" kern="1200" cap="none" spc="0" normalizeH="0" baseline="0" noProof="0" dirty="0" smtClean="0">
              <a:ln>
                <a:noFill/>
              </a:ln>
              <a:solidFill>
                <a:schemeClr val="bg1">
                  <a:lumMod val="50000"/>
                </a:schemeClr>
              </a:solidFill>
              <a:effectLst/>
              <a:uLnTx/>
              <a:uFillTx/>
              <a:latin typeface="Times New Roman" pitchFamily="18" charset="0"/>
              <a:ea typeface="宋体" pitchFamily="2" charset="-122"/>
              <a:cs typeface="Times New Roman" pitchFamily="18" charset="0"/>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lang="en-US" altLang="zh-CN" b="1" dirty="0" smtClean="0">
              <a:solidFill>
                <a:schemeClr val="bg1">
                  <a:lumMod val="50000"/>
                </a:schemeClr>
              </a:solidFill>
              <a:latin typeface="Times New Roman" pitchFamily="18" charset="0"/>
              <a:ea typeface="宋体" pitchFamily="2" charset="-122"/>
              <a:cs typeface="Times New Roman" pitchFamily="18" charset="0"/>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altLang="zh-CN" b="1" i="0" u="none" strike="noStrike" kern="1200" cap="none" spc="0" normalizeH="0" baseline="0" noProof="0" dirty="0" smtClean="0">
                <a:ln>
                  <a:noFill/>
                </a:ln>
                <a:solidFill>
                  <a:schemeClr val="bg1">
                    <a:lumMod val="50000"/>
                  </a:schemeClr>
                </a:solidFill>
                <a:effectLst/>
                <a:uLnTx/>
                <a:uFillTx/>
                <a:latin typeface="Times New Roman" pitchFamily="18" charset="0"/>
                <a:ea typeface="宋体" pitchFamily="2" charset="-122"/>
                <a:cs typeface="Times New Roman" pitchFamily="18" charset="0"/>
              </a:rPr>
              <a:t>C</a:t>
            </a:r>
            <a:r>
              <a:rPr kumimoji="0" lang="en-US" altLang="zh-CN" b="1" i="0" u="none" strike="noStrike" kern="1200" cap="none" spc="0" normalizeH="0" noProof="0" dirty="0" smtClean="0">
                <a:ln>
                  <a:noFill/>
                </a:ln>
                <a:solidFill>
                  <a:schemeClr val="bg1">
                    <a:lumMod val="50000"/>
                  </a:schemeClr>
                </a:solidFill>
                <a:effectLst/>
                <a:uLnTx/>
                <a:uFillTx/>
                <a:latin typeface="Times New Roman" pitchFamily="18" charset="0"/>
                <a:ea typeface="宋体" pitchFamily="2" charset="-122"/>
                <a:cs typeface="Times New Roman" pitchFamily="18" charset="0"/>
              </a:rPr>
              <a:t>onfidence interval</a:t>
            </a:r>
            <a:endParaRPr kumimoji="0" lang="en-US" altLang="zh-CN" b="1" i="0" u="none" strike="noStrike" kern="1200" cap="none" spc="0" normalizeH="0" baseline="0" noProof="0" dirty="0" smtClean="0">
              <a:ln>
                <a:noFill/>
              </a:ln>
              <a:solidFill>
                <a:schemeClr val="bg1">
                  <a:lumMod val="50000"/>
                </a:schemeClr>
              </a:solidFill>
              <a:effectLst/>
              <a:uLnTx/>
              <a:uFillTx/>
              <a:latin typeface="Times New Roman" pitchFamily="18" charset="0"/>
              <a:ea typeface="宋体" pitchFamily="2" charset="-122"/>
              <a:cs typeface="Times New Roman" pitchFamily="18" charset="0"/>
            </a:endParaRPr>
          </a:p>
          <a:p>
            <a:pPr marL="342900" marR="0" lvl="0" indent="-342900" algn="l" defTabSz="914400" rtl="0" eaLnBrk="1" fontAlgn="auto" latinLnBrk="0" hangingPunct="1">
              <a:lnSpc>
                <a:spcPct val="100000"/>
              </a:lnSpc>
              <a:spcBef>
                <a:spcPct val="20000"/>
              </a:spcBef>
              <a:spcAft>
                <a:spcPts val="0"/>
              </a:spcAft>
              <a:buClrTx/>
              <a:buSzTx/>
              <a:tabLst/>
              <a:defRPr/>
            </a:pPr>
            <a:endParaRPr lang="en-US" altLang="zh-CN" b="1" dirty="0" smtClean="0">
              <a:solidFill>
                <a:srgbClr val="000099"/>
              </a:solidFill>
              <a:latin typeface="Times New Roman" pitchFamily="18" charset="0"/>
              <a:ea typeface="宋体" pitchFamily="2" charset="-122"/>
              <a:cs typeface="Times New Roman" pitchFamily="18" charset="0"/>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altLang="zh-CN" b="1" dirty="0" smtClean="0">
                <a:solidFill>
                  <a:srgbClr val="000099"/>
                </a:solidFill>
                <a:latin typeface="Times New Roman" pitchFamily="18" charset="0"/>
                <a:ea typeface="宋体" pitchFamily="2" charset="-122"/>
                <a:cs typeface="Times New Roman" pitchFamily="18" charset="0"/>
              </a:rPr>
              <a:t>Hypothesis testing</a:t>
            </a:r>
          </a:p>
          <a:p>
            <a:pPr marL="342900" marR="0" lvl="0" indent="-342900" algn="l" defTabSz="914400" rtl="0" eaLnBrk="1" fontAlgn="auto" latinLnBrk="0" hangingPunct="1">
              <a:lnSpc>
                <a:spcPct val="100000"/>
              </a:lnSpc>
              <a:spcBef>
                <a:spcPct val="20000"/>
              </a:spcBef>
              <a:spcAft>
                <a:spcPts val="0"/>
              </a:spcAft>
              <a:buClrTx/>
              <a:buSzTx/>
              <a:tabLst/>
              <a:defRPr/>
            </a:pPr>
            <a:endParaRPr lang="en-US" altLang="zh-CN" b="1" baseline="0" dirty="0" smtClean="0">
              <a:solidFill>
                <a:srgbClr val="000099"/>
              </a:solidFill>
              <a:latin typeface="Times New Roman" pitchFamily="18" charset="0"/>
              <a:ea typeface="宋体" pitchFamily="2" charset="-122"/>
              <a:cs typeface="Times New Roman" pitchFamily="18" charset="0"/>
            </a:endParaRPr>
          </a:p>
          <a:p>
            <a:pPr marL="342900" marR="0" lvl="0" indent="-342900" algn="l" defTabSz="914400" rtl="0" eaLnBrk="1" fontAlgn="auto" latinLnBrk="0" hangingPunct="1">
              <a:lnSpc>
                <a:spcPct val="100000"/>
              </a:lnSpc>
              <a:spcBef>
                <a:spcPct val="20000"/>
              </a:spcBef>
              <a:spcAft>
                <a:spcPts val="0"/>
              </a:spcAft>
              <a:buClrTx/>
              <a:buSzTx/>
              <a:tabLst/>
              <a:defRPr/>
            </a:pPr>
            <a:endParaRPr kumimoji="0" lang="en-US" altLang="zh-CN" b="1" i="0" u="none" strike="noStrike" kern="1200" cap="none" spc="0" normalizeH="0" noProof="0" dirty="0" smtClean="0">
              <a:ln>
                <a:noFill/>
              </a:ln>
              <a:solidFill>
                <a:srgbClr val="000099"/>
              </a:solidFill>
              <a:effectLst/>
              <a:uLnTx/>
              <a:uFillTx/>
              <a:latin typeface="Times New Roman" pitchFamily="18" charset="0"/>
              <a:ea typeface="宋体" pitchFamily="2" charset="-122"/>
              <a:cs typeface="Times New Roman" pitchFamily="18" charset="0"/>
            </a:endParaRP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HYPOTHESIS TESTING</a:t>
            </a:r>
            <a:endParaRPr lang="en-US" dirty="0"/>
          </a:p>
        </p:txBody>
      </p:sp>
      <p:sp>
        <p:nvSpPr>
          <p:cNvPr id="3" name="Content Placeholder 2"/>
          <p:cNvSpPr>
            <a:spLocks noGrp="1"/>
          </p:cNvSpPr>
          <p:nvPr>
            <p:ph idx="1"/>
          </p:nvPr>
        </p:nvSpPr>
        <p:spPr>
          <a:xfrm>
            <a:off x="609600" y="876300"/>
            <a:ext cx="8305800" cy="5600700"/>
          </a:xfrm>
        </p:spPr>
        <p:txBody>
          <a:bodyPr/>
          <a:lstStyle/>
          <a:p>
            <a:r>
              <a:rPr lang="en-US" dirty="0" smtClean="0"/>
              <a:t>Hypothesis testing</a:t>
            </a:r>
          </a:p>
          <a:p>
            <a:pPr lvl="1"/>
            <a:r>
              <a:rPr lang="en-US" dirty="0" smtClean="0"/>
              <a:t>Testing an assertion about a population based on a random sample. </a:t>
            </a:r>
          </a:p>
          <a:p>
            <a:pPr lvl="1"/>
            <a:r>
              <a:rPr lang="en-US" dirty="0" smtClean="0"/>
              <a:t>Example:</a:t>
            </a:r>
          </a:p>
          <a:p>
            <a:pPr lvl="2"/>
            <a:r>
              <a:rPr lang="en-US" dirty="0" smtClean="0"/>
              <a:t>Hypothesis: a given coin is fair</a:t>
            </a:r>
          </a:p>
          <a:p>
            <a:pPr lvl="2"/>
            <a:r>
              <a:rPr lang="en-US" dirty="0" smtClean="0"/>
              <a:t>Test: flip the coin 100 times, count the number of heads</a:t>
            </a:r>
          </a:p>
          <a:p>
            <a:pPr lvl="3"/>
            <a:r>
              <a:rPr lang="en-US" dirty="0" smtClean="0"/>
              <a:t>If the coin is fair, we expect approximately 50 heads.</a:t>
            </a:r>
          </a:p>
          <a:p>
            <a:pPr lvl="3"/>
            <a:r>
              <a:rPr lang="en-US" dirty="0" smtClean="0"/>
              <a:t>E.g. if the number of heads is in [47, 53], the hypothesis is true. The hypothesis is false otherwise. </a:t>
            </a:r>
          </a:p>
          <a:p>
            <a:pPr lvl="3"/>
            <a:r>
              <a:rPr lang="en-US" dirty="0" smtClean="0"/>
              <a:t>The interval [47, 53] is chosen arbitrarily. How to systematically choose the interval?</a:t>
            </a:r>
          </a:p>
          <a:p>
            <a:pPr lvl="1"/>
            <a:r>
              <a:rPr lang="en-US" dirty="0" smtClean="0"/>
              <a:t>Example:</a:t>
            </a:r>
          </a:p>
          <a:p>
            <a:pPr lvl="2"/>
            <a:r>
              <a:rPr lang="en-US" dirty="0" smtClean="0"/>
              <a:t>Hypothesis: the light bulb from a certain manufacture can last 1000 hrs.</a:t>
            </a:r>
          </a:p>
          <a:p>
            <a:pPr lvl="2"/>
            <a:r>
              <a:rPr lang="en-US" dirty="0" smtClean="0"/>
              <a:t>Test: take 50 light bulbs, measure their life, and find the sample mean</a:t>
            </a:r>
          </a:p>
          <a:p>
            <a:pPr lvl="3"/>
            <a:r>
              <a:rPr lang="en-US" dirty="0" smtClean="0"/>
              <a:t>If the sample mean is greater than t hrs, the hypothesis is true.</a:t>
            </a:r>
          </a:p>
          <a:p>
            <a:pPr lvl="3"/>
            <a:r>
              <a:rPr lang="en-US" dirty="0" smtClean="0"/>
              <a:t>How do we determine the value t? 900 hrs? 950 hrs? 999 hrs?</a:t>
            </a:r>
          </a:p>
          <a:p>
            <a:pPr lvl="3">
              <a:buNone/>
            </a:pPr>
            <a:endParaRPr lang="en-US" dirty="0" smtClean="0"/>
          </a:p>
        </p:txBody>
      </p:sp>
      <p:sp>
        <p:nvSpPr>
          <p:cNvPr id="4" name="Slide Number Placeholder 3"/>
          <p:cNvSpPr>
            <a:spLocks noGrp="1"/>
          </p:cNvSpPr>
          <p:nvPr>
            <p:ph type="sldNum" sz="quarter" idx="10"/>
          </p:nvPr>
        </p:nvSpPr>
        <p:spPr/>
        <p:txBody>
          <a:bodyPr/>
          <a:lstStyle/>
          <a:p>
            <a:fld id="{7A65BF99-0365-4788-A7C5-586C0382C80B}" type="slidenum">
              <a:rPr lang="zh-CN" altLang="en-US" smtClean="0"/>
              <a:pPr/>
              <a:t>23</a:t>
            </a:fld>
            <a:endParaRPr lang="en-US" altLang="zh-CN" dirty="0" smtClean="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HYPOTHESIS TESTING</a:t>
            </a:r>
            <a:endParaRPr lang="en-US" dirty="0"/>
          </a:p>
        </p:txBody>
      </p:sp>
      <p:sp>
        <p:nvSpPr>
          <p:cNvPr id="3" name="Content Placeholder 2"/>
          <p:cNvSpPr>
            <a:spLocks noGrp="1"/>
          </p:cNvSpPr>
          <p:nvPr>
            <p:ph idx="1"/>
          </p:nvPr>
        </p:nvSpPr>
        <p:spPr/>
        <p:txBody>
          <a:bodyPr/>
          <a:lstStyle/>
          <a:p>
            <a:r>
              <a:rPr lang="en-US" dirty="0" smtClean="0"/>
              <a:t>Hypothesis testing:</a:t>
            </a:r>
          </a:p>
          <a:p>
            <a:pPr lvl="1"/>
            <a:r>
              <a:rPr lang="en-US" dirty="0" smtClean="0"/>
              <a:t>Null hypothesis</a:t>
            </a:r>
          </a:p>
          <a:p>
            <a:pPr lvl="2"/>
            <a:r>
              <a:rPr lang="en-US" dirty="0" smtClean="0"/>
              <a:t>The hypothesis to be tested</a:t>
            </a:r>
          </a:p>
          <a:p>
            <a:pPr lvl="1"/>
            <a:r>
              <a:rPr lang="en-US" dirty="0" smtClean="0"/>
              <a:t>Alternative hypothesis </a:t>
            </a:r>
          </a:p>
          <a:p>
            <a:pPr lvl="2"/>
            <a:r>
              <a:rPr lang="en-US" dirty="0" smtClean="0"/>
              <a:t>The complement (opposite) of the null hypothesis </a:t>
            </a:r>
          </a:p>
          <a:p>
            <a:pPr lvl="1"/>
            <a:r>
              <a:rPr lang="en-US" dirty="0" smtClean="0"/>
              <a:t>Example:</a:t>
            </a:r>
          </a:p>
          <a:p>
            <a:pPr lvl="2"/>
            <a:r>
              <a:rPr lang="en-US" dirty="0" smtClean="0"/>
              <a:t>Test the hypothesis that a given coin is fair. </a:t>
            </a:r>
          </a:p>
          <a:p>
            <a:pPr lvl="2"/>
            <a:endParaRPr lang="en-US" dirty="0"/>
          </a:p>
          <a:p>
            <a:pPr marL="914400" lvl="2" indent="0">
              <a:buNone/>
            </a:pPr>
            <a:endParaRPr lang="en-US" dirty="0"/>
          </a:p>
          <a:p>
            <a:pPr lvl="2"/>
            <a:r>
              <a:rPr lang="en-US" dirty="0" smtClean="0"/>
              <a:t>Test the hypothesis that a lightbulb can last 1,000 hours</a:t>
            </a:r>
          </a:p>
          <a:p>
            <a:pPr lvl="2"/>
            <a:endParaRPr lang="en-US" dirty="0"/>
          </a:p>
          <a:p>
            <a:pPr marL="914400" lvl="2" indent="0">
              <a:buNone/>
            </a:pPr>
            <a:endParaRPr lang="en-US" dirty="0"/>
          </a:p>
          <a:p>
            <a:pPr lvl="2"/>
            <a:r>
              <a:rPr lang="en-US" dirty="0" smtClean="0"/>
              <a:t>Test the hypothesis that a certain patient does not have cancer</a:t>
            </a:r>
          </a:p>
          <a:p>
            <a:pPr lvl="2"/>
            <a:endParaRPr lang="en-US" dirty="0" smtClean="0"/>
          </a:p>
          <a:p>
            <a:pPr lvl="1"/>
            <a:endParaRPr lang="en-US" dirty="0"/>
          </a:p>
        </p:txBody>
      </p:sp>
      <p:sp>
        <p:nvSpPr>
          <p:cNvPr id="4" name="Slide Number Placeholder 3"/>
          <p:cNvSpPr>
            <a:spLocks noGrp="1"/>
          </p:cNvSpPr>
          <p:nvPr>
            <p:ph type="sldNum" sz="quarter" idx="10"/>
          </p:nvPr>
        </p:nvSpPr>
        <p:spPr/>
        <p:txBody>
          <a:bodyPr/>
          <a:lstStyle/>
          <a:p>
            <a:fld id="{7A65BF99-0365-4788-A7C5-586C0382C80B}" type="slidenum">
              <a:rPr lang="zh-CN" altLang="en-US" smtClean="0"/>
              <a:pPr/>
              <a:t>24</a:t>
            </a:fld>
            <a:endParaRPr lang="en-US" altLang="zh-CN" dirty="0" smtClean="0"/>
          </a:p>
        </p:txBody>
      </p:sp>
      <p:pic>
        <p:nvPicPr>
          <p:cNvPr id="5" name="Picture 4"/>
          <p:cNvPicPr>
            <a:picLocks noChangeAspect="1"/>
          </p:cNvPicPr>
          <p:nvPr/>
        </p:nvPicPr>
        <p:blipFill>
          <a:blip r:embed="rId2"/>
          <a:stretch>
            <a:fillRect/>
          </a:stretch>
        </p:blipFill>
        <p:spPr>
          <a:xfrm>
            <a:off x="2971800" y="1335206"/>
            <a:ext cx="533400" cy="291592"/>
          </a:xfrm>
          <a:prstGeom prst="rect">
            <a:avLst/>
          </a:prstGeom>
        </p:spPr>
      </p:pic>
      <p:pic>
        <p:nvPicPr>
          <p:cNvPr id="6" name="Picture 5"/>
          <p:cNvPicPr>
            <a:picLocks noChangeAspect="1"/>
          </p:cNvPicPr>
          <p:nvPr/>
        </p:nvPicPr>
        <p:blipFill>
          <a:blip r:embed="rId3"/>
          <a:stretch>
            <a:fillRect/>
          </a:stretch>
        </p:blipFill>
        <p:spPr>
          <a:xfrm>
            <a:off x="3657600" y="1905000"/>
            <a:ext cx="418215" cy="304800"/>
          </a:xfrm>
          <a:prstGeom prst="rect">
            <a:avLst/>
          </a:prstGeom>
        </p:spPr>
      </p:pic>
      <p:pic>
        <p:nvPicPr>
          <p:cNvPr id="7" name="Picture 6"/>
          <p:cNvPicPr>
            <a:picLocks noChangeAspect="1"/>
          </p:cNvPicPr>
          <p:nvPr/>
        </p:nvPicPr>
        <p:blipFill>
          <a:blip r:embed="rId4"/>
          <a:stretch>
            <a:fillRect/>
          </a:stretch>
        </p:blipFill>
        <p:spPr>
          <a:xfrm>
            <a:off x="2743200" y="3276600"/>
            <a:ext cx="2362200" cy="619010"/>
          </a:xfrm>
          <a:prstGeom prst="rect">
            <a:avLst/>
          </a:prstGeom>
        </p:spPr>
      </p:pic>
      <p:pic>
        <p:nvPicPr>
          <p:cNvPr id="8" name="Picture 7"/>
          <p:cNvPicPr>
            <a:picLocks noChangeAspect="1"/>
          </p:cNvPicPr>
          <p:nvPr/>
        </p:nvPicPr>
        <p:blipFill>
          <a:blip r:embed="rId5"/>
          <a:stretch>
            <a:fillRect/>
          </a:stretch>
        </p:blipFill>
        <p:spPr>
          <a:xfrm>
            <a:off x="2713008" y="4289677"/>
            <a:ext cx="3952875" cy="597752"/>
          </a:xfrm>
          <a:prstGeom prst="rect">
            <a:avLst/>
          </a:prstGeom>
        </p:spPr>
      </p:pic>
      <p:pic>
        <p:nvPicPr>
          <p:cNvPr id="9" name="Picture 8"/>
          <p:cNvPicPr>
            <a:picLocks noChangeAspect="1"/>
          </p:cNvPicPr>
          <p:nvPr/>
        </p:nvPicPr>
        <p:blipFill>
          <a:blip r:embed="rId6"/>
          <a:stretch>
            <a:fillRect/>
          </a:stretch>
        </p:blipFill>
        <p:spPr>
          <a:xfrm>
            <a:off x="2743200" y="5287838"/>
            <a:ext cx="4114800" cy="613429"/>
          </a:xfrm>
          <a:prstGeom prst="rect">
            <a:avLst/>
          </a:prstGeom>
        </p:spPr>
      </p:pic>
    </p:spTree>
    <p:extLst>
      <p:ext uri="{BB962C8B-B14F-4D97-AF65-F5344CB8AC3E}">
        <p14:creationId xmlns:p14="http://schemas.microsoft.com/office/powerpoint/2010/main" val="42684686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HYPOTHESIS TESTING</a:t>
            </a:r>
            <a:endParaRPr lang="en-US" dirty="0"/>
          </a:p>
        </p:txBody>
      </p:sp>
      <p:sp>
        <p:nvSpPr>
          <p:cNvPr id="3" name="Content Placeholder 2"/>
          <p:cNvSpPr>
            <a:spLocks noGrp="1"/>
          </p:cNvSpPr>
          <p:nvPr>
            <p:ph idx="1"/>
          </p:nvPr>
        </p:nvSpPr>
        <p:spPr/>
        <p:txBody>
          <a:bodyPr/>
          <a:lstStyle/>
          <a:p>
            <a:r>
              <a:rPr lang="en-US" dirty="0" smtClean="0"/>
              <a:t>Errors</a:t>
            </a:r>
          </a:p>
          <a:p>
            <a:pPr lvl="1"/>
            <a:r>
              <a:rPr lang="en-US" dirty="0"/>
              <a:t>Type I error: Reject          when          is true</a:t>
            </a:r>
          </a:p>
          <a:p>
            <a:pPr lvl="2"/>
            <a:r>
              <a:rPr lang="en-US" dirty="0" smtClean="0"/>
              <a:t>False positive, false alarm</a:t>
            </a:r>
          </a:p>
          <a:p>
            <a:pPr lvl="1"/>
            <a:endParaRPr lang="en-US" dirty="0"/>
          </a:p>
          <a:p>
            <a:pPr lvl="1"/>
            <a:r>
              <a:rPr lang="en-US" dirty="0" smtClean="0"/>
              <a:t>Type </a:t>
            </a:r>
            <a:r>
              <a:rPr lang="en-US" dirty="0"/>
              <a:t>II error: Accept         when        is </a:t>
            </a:r>
            <a:r>
              <a:rPr lang="en-US" dirty="0" smtClean="0"/>
              <a:t>false</a:t>
            </a:r>
          </a:p>
          <a:p>
            <a:pPr lvl="2"/>
            <a:r>
              <a:rPr lang="en-US" dirty="0" smtClean="0"/>
              <a:t>False negative    </a:t>
            </a:r>
            <a:endParaRPr lang="en-US" dirty="0"/>
          </a:p>
          <a:p>
            <a:pPr lvl="1"/>
            <a:endParaRPr lang="en-US" dirty="0"/>
          </a:p>
        </p:txBody>
      </p:sp>
      <p:sp>
        <p:nvSpPr>
          <p:cNvPr id="4" name="Slide Number Placeholder 3"/>
          <p:cNvSpPr>
            <a:spLocks noGrp="1"/>
          </p:cNvSpPr>
          <p:nvPr>
            <p:ph type="sldNum" sz="quarter" idx="10"/>
          </p:nvPr>
        </p:nvSpPr>
        <p:spPr/>
        <p:txBody>
          <a:bodyPr/>
          <a:lstStyle/>
          <a:p>
            <a:fld id="{7A65BF99-0365-4788-A7C5-586C0382C80B}" type="slidenum">
              <a:rPr lang="zh-CN" altLang="en-US" smtClean="0"/>
              <a:pPr/>
              <a:t>25</a:t>
            </a:fld>
            <a:endParaRPr lang="en-US" altLang="zh-CN" dirty="0" smtClean="0"/>
          </a:p>
        </p:txBody>
      </p:sp>
      <p:graphicFrame>
        <p:nvGraphicFramePr>
          <p:cNvPr id="5" name="Object 9"/>
          <p:cNvGraphicFramePr>
            <a:graphicFrameLocks noChangeAspect="1"/>
          </p:cNvGraphicFramePr>
          <p:nvPr>
            <p:extLst>
              <p:ext uri="{D42A27DB-BD31-4B8C-83A1-F6EECF244321}">
                <p14:modId xmlns:p14="http://schemas.microsoft.com/office/powerpoint/2010/main" val="2830654786"/>
              </p:ext>
            </p:extLst>
          </p:nvPr>
        </p:nvGraphicFramePr>
        <p:xfrm>
          <a:off x="3352800" y="1290320"/>
          <a:ext cx="304800" cy="347980"/>
        </p:xfrm>
        <a:graphic>
          <a:graphicData uri="http://schemas.openxmlformats.org/presentationml/2006/ole">
            <mc:AlternateContent xmlns:mc="http://schemas.openxmlformats.org/markup-compatibility/2006">
              <mc:Choice xmlns:v="urn:schemas-microsoft-com:vml" Requires="v">
                <p:oleObj spid="_x0000_s35926" name="Equation" r:id="rId3" imgW="215640" imgH="228600" progId="Equation.3">
                  <p:embed/>
                </p:oleObj>
              </mc:Choice>
              <mc:Fallback>
                <p:oleObj name="Equation" r:id="rId3" imgW="215640" imgH="22860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52800" y="1290320"/>
                        <a:ext cx="304800" cy="347980"/>
                      </a:xfrm>
                      <a:prstGeom prst="rect">
                        <a:avLst/>
                      </a:prstGeom>
                      <a:noFill/>
                    </p:spPr>
                  </p:pic>
                </p:oleObj>
              </mc:Fallback>
            </mc:AlternateContent>
          </a:graphicData>
        </a:graphic>
      </p:graphicFrame>
      <p:graphicFrame>
        <p:nvGraphicFramePr>
          <p:cNvPr id="6" name="Object 10"/>
          <p:cNvGraphicFramePr>
            <a:graphicFrameLocks noChangeAspect="1"/>
          </p:cNvGraphicFramePr>
          <p:nvPr>
            <p:extLst>
              <p:ext uri="{D42A27DB-BD31-4B8C-83A1-F6EECF244321}">
                <p14:modId xmlns:p14="http://schemas.microsoft.com/office/powerpoint/2010/main" val="3047598148"/>
              </p:ext>
            </p:extLst>
          </p:nvPr>
        </p:nvGraphicFramePr>
        <p:xfrm>
          <a:off x="4419600" y="1290320"/>
          <a:ext cx="304800" cy="347980"/>
        </p:xfrm>
        <a:graphic>
          <a:graphicData uri="http://schemas.openxmlformats.org/presentationml/2006/ole">
            <mc:AlternateContent xmlns:mc="http://schemas.openxmlformats.org/markup-compatibility/2006">
              <mc:Choice xmlns:v="urn:schemas-microsoft-com:vml" Requires="v">
                <p:oleObj spid="_x0000_s35927" name="Equation" r:id="rId5" imgW="215640" imgH="228600" progId="Equation.3">
                  <p:embed/>
                </p:oleObj>
              </mc:Choice>
              <mc:Fallback>
                <p:oleObj name="Equation" r:id="rId5" imgW="215640" imgH="22860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419600" y="1290320"/>
                        <a:ext cx="304800" cy="347980"/>
                      </a:xfrm>
                      <a:prstGeom prst="rect">
                        <a:avLst/>
                      </a:prstGeom>
                      <a:noFill/>
                    </p:spPr>
                  </p:pic>
                </p:oleObj>
              </mc:Fallback>
            </mc:AlternateContent>
          </a:graphicData>
        </a:graphic>
      </p:graphicFrame>
      <p:graphicFrame>
        <p:nvGraphicFramePr>
          <p:cNvPr id="7" name="Object 9"/>
          <p:cNvGraphicFramePr>
            <a:graphicFrameLocks noChangeAspect="1"/>
          </p:cNvGraphicFramePr>
          <p:nvPr>
            <p:extLst>
              <p:ext uri="{D42A27DB-BD31-4B8C-83A1-F6EECF244321}">
                <p14:modId xmlns:p14="http://schemas.microsoft.com/office/powerpoint/2010/main" val="967661084"/>
              </p:ext>
            </p:extLst>
          </p:nvPr>
        </p:nvGraphicFramePr>
        <p:xfrm>
          <a:off x="3404558" y="2286000"/>
          <a:ext cx="304800" cy="347980"/>
        </p:xfrm>
        <a:graphic>
          <a:graphicData uri="http://schemas.openxmlformats.org/presentationml/2006/ole">
            <mc:AlternateContent xmlns:mc="http://schemas.openxmlformats.org/markup-compatibility/2006">
              <mc:Choice xmlns:v="urn:schemas-microsoft-com:vml" Requires="v">
                <p:oleObj spid="_x0000_s35928" name="Equation" r:id="rId7" imgW="215640" imgH="228600" progId="Equation.3">
                  <p:embed/>
                </p:oleObj>
              </mc:Choice>
              <mc:Fallback>
                <p:oleObj name="Equation" r:id="rId7" imgW="215640" imgH="22860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04558" y="2286000"/>
                        <a:ext cx="304800" cy="347980"/>
                      </a:xfrm>
                      <a:prstGeom prst="rect">
                        <a:avLst/>
                      </a:prstGeom>
                      <a:noFill/>
                    </p:spPr>
                  </p:pic>
                </p:oleObj>
              </mc:Fallback>
            </mc:AlternateContent>
          </a:graphicData>
        </a:graphic>
      </p:graphicFrame>
      <p:graphicFrame>
        <p:nvGraphicFramePr>
          <p:cNvPr id="8" name="Object 10"/>
          <p:cNvGraphicFramePr>
            <a:graphicFrameLocks noChangeAspect="1"/>
          </p:cNvGraphicFramePr>
          <p:nvPr>
            <p:extLst>
              <p:ext uri="{D42A27DB-BD31-4B8C-83A1-F6EECF244321}">
                <p14:modId xmlns:p14="http://schemas.microsoft.com/office/powerpoint/2010/main" val="2390003166"/>
              </p:ext>
            </p:extLst>
          </p:nvPr>
        </p:nvGraphicFramePr>
        <p:xfrm>
          <a:off x="4471358" y="2286000"/>
          <a:ext cx="304800" cy="347980"/>
        </p:xfrm>
        <a:graphic>
          <a:graphicData uri="http://schemas.openxmlformats.org/presentationml/2006/ole">
            <mc:AlternateContent xmlns:mc="http://schemas.openxmlformats.org/markup-compatibility/2006">
              <mc:Choice xmlns:v="urn:schemas-microsoft-com:vml" Requires="v">
                <p:oleObj spid="_x0000_s35929" name="Equation" r:id="rId8" imgW="215640" imgH="228600" progId="Equation.3">
                  <p:embed/>
                </p:oleObj>
              </mc:Choice>
              <mc:Fallback>
                <p:oleObj name="Equation" r:id="rId8" imgW="215640" imgH="22860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471358" y="2286000"/>
                        <a:ext cx="304800" cy="347980"/>
                      </a:xfrm>
                      <a:prstGeom prst="rect">
                        <a:avLst/>
                      </a:prstGeom>
                      <a:noFill/>
                    </p:spPr>
                  </p:pic>
                </p:oleObj>
              </mc:Fallback>
            </mc:AlternateContent>
          </a:graphicData>
        </a:graphic>
      </p:graphicFrame>
    </p:spTree>
    <p:extLst>
      <p:ext uri="{BB962C8B-B14F-4D97-AF65-F5344CB8AC3E}">
        <p14:creationId xmlns:p14="http://schemas.microsoft.com/office/powerpoint/2010/main" val="183693456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HYPOTHESIS TESTING</a:t>
            </a:r>
            <a:endParaRPr lang="en-US" dirty="0"/>
          </a:p>
        </p:txBody>
      </p:sp>
      <p:sp>
        <p:nvSpPr>
          <p:cNvPr id="3" name="Content Placeholder 2"/>
          <p:cNvSpPr>
            <a:spLocks noGrp="1"/>
          </p:cNvSpPr>
          <p:nvPr>
            <p:ph idx="1"/>
          </p:nvPr>
        </p:nvSpPr>
        <p:spPr/>
        <p:txBody>
          <a:bodyPr/>
          <a:lstStyle/>
          <a:p>
            <a:r>
              <a:rPr lang="en-US" dirty="0" smtClean="0"/>
              <a:t>Hypothesis testing: significance testing</a:t>
            </a:r>
          </a:p>
          <a:p>
            <a:pPr lvl="1"/>
            <a:r>
              <a:rPr lang="en-US" dirty="0" smtClean="0"/>
              <a:t>Test a hypothesis          about a parameter </a:t>
            </a:r>
            <a:r>
              <a:rPr lang="en-US" i="1" dirty="0" smtClean="0"/>
              <a:t>p</a:t>
            </a:r>
            <a:r>
              <a:rPr lang="en-US" dirty="0" smtClean="0"/>
              <a:t> of a random variable </a:t>
            </a:r>
            <a:r>
              <a:rPr lang="en-US" i="1" dirty="0" smtClean="0"/>
              <a:t>X </a:t>
            </a:r>
          </a:p>
          <a:p>
            <a:pPr lvl="2"/>
            <a:r>
              <a:rPr lang="en-US" dirty="0" smtClean="0"/>
              <a:t>Example: test whether a coin is fair</a:t>
            </a:r>
          </a:p>
          <a:p>
            <a:pPr lvl="3"/>
            <a:r>
              <a:rPr lang="en-US" i="1" dirty="0" smtClean="0"/>
              <a:t>X</a:t>
            </a:r>
            <a:r>
              <a:rPr lang="en-US" dirty="0" smtClean="0"/>
              <a:t>: Bernoulli RV with parameter</a:t>
            </a:r>
            <a:r>
              <a:rPr lang="en-US" i="1" dirty="0" smtClean="0"/>
              <a:t> p: P(X=1)=p, P(X=0)=1-p</a:t>
            </a:r>
          </a:p>
          <a:p>
            <a:pPr lvl="3"/>
            <a:r>
              <a:rPr lang="en-US" i="1" dirty="0" smtClean="0"/>
              <a:t>       : p = 0.5 (</a:t>
            </a:r>
            <a:r>
              <a:rPr lang="en-US" dirty="0" smtClean="0"/>
              <a:t>the coin is fair</a:t>
            </a:r>
            <a:r>
              <a:rPr lang="en-US" i="1" dirty="0" smtClean="0"/>
              <a:t>).</a:t>
            </a:r>
          </a:p>
          <a:p>
            <a:pPr lvl="1"/>
            <a:endParaRPr lang="en-US" dirty="0" smtClean="0"/>
          </a:p>
          <a:p>
            <a:pPr lvl="1"/>
            <a:r>
              <a:rPr lang="en-US" dirty="0" smtClean="0"/>
              <a:t>Objective: accept or reject the hypothesis based on a random sample</a:t>
            </a:r>
          </a:p>
          <a:p>
            <a:pPr lvl="1"/>
            <a:endParaRPr lang="en-US" dirty="0" smtClean="0"/>
          </a:p>
          <a:p>
            <a:pPr lvl="1"/>
            <a:endParaRPr lang="en-US" dirty="0" smtClean="0"/>
          </a:p>
        </p:txBody>
      </p:sp>
      <p:sp>
        <p:nvSpPr>
          <p:cNvPr id="4" name="Slide Number Placeholder 3"/>
          <p:cNvSpPr>
            <a:spLocks noGrp="1"/>
          </p:cNvSpPr>
          <p:nvPr>
            <p:ph type="sldNum" sz="quarter" idx="10"/>
          </p:nvPr>
        </p:nvSpPr>
        <p:spPr/>
        <p:txBody>
          <a:bodyPr/>
          <a:lstStyle/>
          <a:p>
            <a:fld id="{7A65BF99-0365-4788-A7C5-586C0382C80B}" type="slidenum">
              <a:rPr lang="zh-CN" altLang="en-US" smtClean="0"/>
              <a:pPr/>
              <a:t>26</a:t>
            </a:fld>
            <a:endParaRPr lang="en-US" altLang="zh-CN" dirty="0" smtClean="0"/>
          </a:p>
        </p:txBody>
      </p:sp>
      <p:graphicFrame>
        <p:nvGraphicFramePr>
          <p:cNvPr id="27650" name="Object 2"/>
          <p:cNvGraphicFramePr>
            <a:graphicFrameLocks noChangeAspect="1"/>
          </p:cNvGraphicFramePr>
          <p:nvPr>
            <p:extLst>
              <p:ext uri="{D42A27DB-BD31-4B8C-83A1-F6EECF244321}">
                <p14:modId xmlns:p14="http://schemas.microsoft.com/office/powerpoint/2010/main" val="2258310928"/>
              </p:ext>
            </p:extLst>
          </p:nvPr>
        </p:nvGraphicFramePr>
        <p:xfrm>
          <a:off x="3114136" y="1268730"/>
          <a:ext cx="304800" cy="347980"/>
        </p:xfrm>
        <a:graphic>
          <a:graphicData uri="http://schemas.openxmlformats.org/presentationml/2006/ole">
            <mc:AlternateContent xmlns:mc="http://schemas.openxmlformats.org/markup-compatibility/2006">
              <mc:Choice xmlns:v="urn:schemas-microsoft-com:vml" Requires="v">
                <p:oleObj spid="_x0000_s27805" name="Equation" r:id="rId3" imgW="215640" imgH="228600" progId="Equation.3">
                  <p:embed/>
                </p:oleObj>
              </mc:Choice>
              <mc:Fallback>
                <p:oleObj name="Equation" r:id="rId3" imgW="215640" imgH="228600" progId="Equation.3">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14136" y="1268730"/>
                        <a:ext cx="304800" cy="347980"/>
                      </a:xfrm>
                      <a:prstGeom prst="rect">
                        <a:avLst/>
                      </a:prstGeom>
                      <a:noFill/>
                    </p:spPr>
                  </p:pic>
                </p:oleObj>
              </mc:Fallback>
            </mc:AlternateContent>
          </a:graphicData>
        </a:graphic>
      </p:graphicFrame>
      <p:graphicFrame>
        <p:nvGraphicFramePr>
          <p:cNvPr id="27651" name="Object 3"/>
          <p:cNvGraphicFramePr>
            <a:graphicFrameLocks noChangeAspect="1"/>
          </p:cNvGraphicFramePr>
          <p:nvPr/>
        </p:nvGraphicFramePr>
        <p:xfrm>
          <a:off x="2286000" y="2209800"/>
          <a:ext cx="381000" cy="434975"/>
        </p:xfrm>
        <a:graphic>
          <a:graphicData uri="http://schemas.openxmlformats.org/presentationml/2006/ole">
            <mc:AlternateContent xmlns:mc="http://schemas.openxmlformats.org/markup-compatibility/2006">
              <mc:Choice xmlns:v="urn:schemas-microsoft-com:vml" Requires="v">
                <p:oleObj spid="_x0000_s27806" name="Equation" r:id="rId5" imgW="215640" imgH="228600" progId="Equation.3">
                  <p:embed/>
                </p:oleObj>
              </mc:Choice>
              <mc:Fallback>
                <p:oleObj name="Equation" r:id="rId5" imgW="215640" imgH="228600" progId="Equation.3">
                  <p:embed/>
                  <p:pic>
                    <p:nvPicPr>
                      <p:cNvPr id="0" name="Picture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286000" y="2209800"/>
                        <a:ext cx="381000" cy="434975"/>
                      </a:xfrm>
                      <a:prstGeom prst="rect">
                        <a:avLst/>
                      </a:prstGeom>
                      <a:noFill/>
                      <a:extLst>
                        <a:ext uri="{909E8E84-426E-40DD-AFC4-6F175D3DCCD1}">
                          <a14:hiddenFill xmlns:a14="http://schemas.microsoft.com/office/drawing/2010/main">
                            <a:solidFill>
                              <a:srgbClr val="FFFF99"/>
                            </a:solidFill>
                          </a14:hiddenFill>
                        </a:ext>
                      </a:extLst>
                    </p:spPr>
                  </p:pic>
                </p:oleObj>
              </mc:Fallback>
            </mc:AlternateContent>
          </a:graphicData>
        </a:graphic>
      </p:graphicFrame>
      <p:pic>
        <p:nvPicPr>
          <p:cNvPr id="13" name="Picture 12"/>
          <p:cNvPicPr>
            <a:picLocks noChangeAspect="1"/>
          </p:cNvPicPr>
          <p:nvPr/>
        </p:nvPicPr>
        <p:blipFill>
          <a:blip r:embed="rId7"/>
          <a:stretch>
            <a:fillRect/>
          </a:stretch>
        </p:blipFill>
        <p:spPr>
          <a:xfrm>
            <a:off x="1447800" y="3216275"/>
            <a:ext cx="1524000" cy="333944"/>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HYPOTHESIS TESTING</a:t>
            </a:r>
            <a:endParaRPr lang="en-US" dirty="0"/>
          </a:p>
        </p:txBody>
      </p:sp>
      <p:sp>
        <p:nvSpPr>
          <p:cNvPr id="3" name="Content Placeholder 2"/>
          <p:cNvSpPr>
            <a:spLocks noGrp="1"/>
          </p:cNvSpPr>
          <p:nvPr>
            <p:ph idx="1"/>
          </p:nvPr>
        </p:nvSpPr>
        <p:spPr/>
        <p:txBody>
          <a:bodyPr/>
          <a:lstStyle/>
          <a:p>
            <a:r>
              <a:rPr lang="en-US" dirty="0" smtClean="0"/>
              <a:t>Example</a:t>
            </a:r>
          </a:p>
          <a:p>
            <a:pPr lvl="1"/>
            <a:r>
              <a:rPr lang="en-US" dirty="0" smtClean="0"/>
              <a:t>A certain coin is claimed to be fair with a 95% confidence interval. To test the hypothesis, we flip the coin 100 times, and find the sample mean,       .  If                      , can we accept the claim? </a:t>
            </a:r>
          </a:p>
          <a:p>
            <a:pPr lvl="1"/>
            <a:endParaRPr lang="en-US" dirty="0" smtClean="0"/>
          </a:p>
          <a:p>
            <a:pPr lvl="1">
              <a:buNone/>
            </a:pPr>
            <a:r>
              <a:rPr lang="en-US" dirty="0" smtClean="0"/>
              <a:t>	Sol: Hypothesis: this is a fair coin </a:t>
            </a:r>
            <a:r>
              <a:rPr lang="en-US" dirty="0" smtClean="0">
                <a:sym typeface="Wingdings" pitchFamily="2" charset="2"/>
              </a:rPr>
              <a:t>                           , </a:t>
            </a:r>
          </a:p>
          <a:p>
            <a:pPr lvl="1">
              <a:buNone/>
            </a:pPr>
            <a:r>
              <a:rPr lang="en-US" dirty="0" smtClean="0">
                <a:sym typeface="Wingdings" pitchFamily="2" charset="2"/>
              </a:rPr>
              <a:t>		     find out if                      is in the 95% confidence interval  </a:t>
            </a:r>
            <a:endParaRPr lang="en-US" dirty="0" smtClean="0"/>
          </a:p>
        </p:txBody>
      </p:sp>
      <p:sp>
        <p:nvSpPr>
          <p:cNvPr id="4" name="Slide Number Placeholder 3"/>
          <p:cNvSpPr>
            <a:spLocks noGrp="1"/>
          </p:cNvSpPr>
          <p:nvPr>
            <p:ph type="sldNum" sz="quarter" idx="10"/>
          </p:nvPr>
        </p:nvSpPr>
        <p:spPr/>
        <p:txBody>
          <a:bodyPr/>
          <a:lstStyle/>
          <a:p>
            <a:fld id="{7A65BF99-0365-4788-A7C5-586C0382C80B}" type="slidenum">
              <a:rPr lang="zh-CN" altLang="en-US" smtClean="0"/>
              <a:pPr/>
              <a:t>27</a:t>
            </a:fld>
            <a:endParaRPr lang="en-US" altLang="zh-CN" dirty="0" smtClean="0"/>
          </a:p>
        </p:txBody>
      </p:sp>
      <p:graphicFrame>
        <p:nvGraphicFramePr>
          <p:cNvPr id="28674" name="Object 2"/>
          <p:cNvGraphicFramePr>
            <a:graphicFrameLocks noChangeAspect="1"/>
          </p:cNvGraphicFramePr>
          <p:nvPr/>
        </p:nvGraphicFramePr>
        <p:xfrm>
          <a:off x="7772400" y="1524000"/>
          <a:ext cx="425450" cy="381000"/>
        </p:xfrm>
        <a:graphic>
          <a:graphicData uri="http://schemas.openxmlformats.org/presentationml/2006/ole">
            <mc:AlternateContent xmlns:mc="http://schemas.openxmlformats.org/markup-compatibility/2006">
              <mc:Choice xmlns:v="urn:schemas-microsoft-com:vml" Requires="v">
                <p:oleObj spid="_x0000_s28879" name="Equation" r:id="rId4" imgW="241200" imgH="215640" progId="Equation.3">
                  <p:embed/>
                </p:oleObj>
              </mc:Choice>
              <mc:Fallback>
                <p:oleObj name="Equation" r:id="rId4" imgW="241200" imgH="215640" progId="Equation.3">
                  <p:embed/>
                  <p:pic>
                    <p:nvPicPr>
                      <p:cNvPr id="0"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772400" y="1524000"/>
                        <a:ext cx="425450" cy="381000"/>
                      </a:xfrm>
                      <a:prstGeom prst="rect">
                        <a:avLst/>
                      </a:prstGeom>
                      <a:noFill/>
                      <a:extLst>
                        <a:ext uri="{909E8E84-426E-40DD-AFC4-6F175D3DCCD1}">
                          <a14:hiddenFill xmlns:a14="http://schemas.microsoft.com/office/drawing/2010/main">
                            <a:solidFill>
                              <a:srgbClr val="FFFF99"/>
                            </a:solidFill>
                          </a14:hiddenFill>
                        </a:ext>
                      </a:extLst>
                    </p:spPr>
                  </p:pic>
                </p:oleObj>
              </mc:Fallback>
            </mc:AlternateContent>
          </a:graphicData>
        </a:graphic>
      </p:graphicFrame>
      <p:graphicFrame>
        <p:nvGraphicFramePr>
          <p:cNvPr id="28676" name="Object 4"/>
          <p:cNvGraphicFramePr>
            <a:graphicFrameLocks noChangeAspect="1"/>
          </p:cNvGraphicFramePr>
          <p:nvPr/>
        </p:nvGraphicFramePr>
        <p:xfrm>
          <a:off x="1676400" y="1828800"/>
          <a:ext cx="1165225" cy="381000"/>
        </p:xfrm>
        <a:graphic>
          <a:graphicData uri="http://schemas.openxmlformats.org/presentationml/2006/ole">
            <mc:AlternateContent xmlns:mc="http://schemas.openxmlformats.org/markup-compatibility/2006">
              <mc:Choice xmlns:v="urn:schemas-microsoft-com:vml" Requires="v">
                <p:oleObj spid="_x0000_s28880" name="Equation" r:id="rId6" imgW="660240" imgH="215640" progId="Equation.3">
                  <p:embed/>
                </p:oleObj>
              </mc:Choice>
              <mc:Fallback>
                <p:oleObj name="Equation" r:id="rId6" imgW="660240" imgH="215640" progId="Equation.3">
                  <p:embed/>
                  <p:pic>
                    <p:nvPicPr>
                      <p:cNvPr id="0" name="Picture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676400" y="1828800"/>
                        <a:ext cx="1165225" cy="381000"/>
                      </a:xfrm>
                      <a:prstGeom prst="rect">
                        <a:avLst/>
                      </a:prstGeom>
                      <a:noFill/>
                      <a:extLst>
                        <a:ext uri="{909E8E84-426E-40DD-AFC4-6F175D3DCCD1}">
                          <a14:hiddenFill xmlns:a14="http://schemas.microsoft.com/office/drawing/2010/main">
                            <a:solidFill>
                              <a:srgbClr val="FFFF99"/>
                            </a:solidFill>
                          </a14:hiddenFill>
                        </a:ext>
                      </a:extLst>
                    </p:spPr>
                  </p:pic>
                </p:oleObj>
              </mc:Fallback>
            </mc:AlternateContent>
          </a:graphicData>
        </a:graphic>
      </p:graphicFrame>
      <p:graphicFrame>
        <p:nvGraphicFramePr>
          <p:cNvPr id="28677" name="Object 5"/>
          <p:cNvGraphicFramePr>
            <a:graphicFrameLocks noChangeAspect="1"/>
          </p:cNvGraphicFramePr>
          <p:nvPr/>
        </p:nvGraphicFramePr>
        <p:xfrm>
          <a:off x="2209800" y="5334000"/>
          <a:ext cx="4565650" cy="896938"/>
        </p:xfrm>
        <a:graphic>
          <a:graphicData uri="http://schemas.openxmlformats.org/presentationml/2006/ole">
            <mc:AlternateContent xmlns:mc="http://schemas.openxmlformats.org/markup-compatibility/2006">
              <mc:Choice xmlns:v="urn:schemas-microsoft-com:vml" Requires="v">
                <p:oleObj spid="_x0000_s28881" name="Equation" r:id="rId8" imgW="2590560" imgH="507960" progId="Equation.3">
                  <p:embed/>
                </p:oleObj>
              </mc:Choice>
              <mc:Fallback>
                <p:oleObj name="Equation" r:id="rId8" imgW="2590560" imgH="507960" progId="Equation.3">
                  <p:embed/>
                  <p:pic>
                    <p:nvPicPr>
                      <p:cNvPr id="0" name="Picture 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209800" y="5334000"/>
                        <a:ext cx="4565650" cy="896938"/>
                      </a:xfrm>
                      <a:prstGeom prst="rect">
                        <a:avLst/>
                      </a:prstGeom>
                      <a:solidFill>
                        <a:srgbClr val="FFFF99"/>
                      </a:solidFill>
                    </p:spPr>
                  </p:pic>
                </p:oleObj>
              </mc:Fallback>
            </mc:AlternateContent>
          </a:graphicData>
        </a:graphic>
      </p:graphicFrame>
      <p:graphicFrame>
        <p:nvGraphicFramePr>
          <p:cNvPr id="28678" name="Object 6"/>
          <p:cNvGraphicFramePr>
            <a:graphicFrameLocks noChangeAspect="1"/>
          </p:cNvGraphicFramePr>
          <p:nvPr/>
        </p:nvGraphicFramePr>
        <p:xfrm>
          <a:off x="4876800" y="2438400"/>
          <a:ext cx="1474788" cy="381000"/>
        </p:xfrm>
        <a:graphic>
          <a:graphicData uri="http://schemas.openxmlformats.org/presentationml/2006/ole">
            <mc:AlternateContent xmlns:mc="http://schemas.openxmlformats.org/markup-compatibility/2006">
              <mc:Choice xmlns:v="urn:schemas-microsoft-com:vml" Requires="v">
                <p:oleObj spid="_x0000_s28882" name="Equation" r:id="rId10" imgW="838080" imgH="215640" progId="Equation.3">
                  <p:embed/>
                </p:oleObj>
              </mc:Choice>
              <mc:Fallback>
                <p:oleObj name="Equation" r:id="rId10" imgW="838080" imgH="215640" progId="Equation.3">
                  <p:embed/>
                  <p:pic>
                    <p:nvPicPr>
                      <p:cNvPr id="0" name="Picture 6"/>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876800" y="2438400"/>
                        <a:ext cx="1474788" cy="381000"/>
                      </a:xfrm>
                      <a:prstGeom prst="rect">
                        <a:avLst/>
                      </a:prstGeom>
                      <a:noFill/>
                      <a:extLst>
                        <a:ext uri="{909E8E84-426E-40DD-AFC4-6F175D3DCCD1}">
                          <a14:hiddenFill xmlns:a14="http://schemas.microsoft.com/office/drawing/2010/main">
                            <a:solidFill>
                              <a:srgbClr val="FFFF99"/>
                            </a:solidFill>
                          </a14:hiddenFill>
                        </a:ext>
                      </a:extLst>
                    </p:spPr>
                  </p:pic>
                </p:oleObj>
              </mc:Fallback>
            </mc:AlternateContent>
          </a:graphicData>
        </a:graphic>
      </p:graphicFrame>
      <p:graphicFrame>
        <p:nvGraphicFramePr>
          <p:cNvPr id="10" name="Object 6"/>
          <p:cNvGraphicFramePr>
            <a:graphicFrameLocks noChangeAspect="1"/>
          </p:cNvGraphicFramePr>
          <p:nvPr/>
        </p:nvGraphicFramePr>
        <p:xfrm>
          <a:off x="6553200" y="2362200"/>
          <a:ext cx="2124075" cy="447675"/>
        </p:xfrm>
        <a:graphic>
          <a:graphicData uri="http://schemas.openxmlformats.org/presentationml/2006/ole">
            <mc:AlternateContent xmlns:mc="http://schemas.openxmlformats.org/markup-compatibility/2006">
              <mc:Choice xmlns:v="urn:schemas-microsoft-com:vml" Requires="v">
                <p:oleObj spid="_x0000_s28883" name="Equation" r:id="rId12" imgW="1206360" imgH="253800" progId="Equation.3">
                  <p:embed/>
                </p:oleObj>
              </mc:Choice>
              <mc:Fallback>
                <p:oleObj name="Equation" r:id="rId12" imgW="1206360" imgH="253800" progId="Equation.3">
                  <p:embed/>
                  <p:pic>
                    <p:nvPicPr>
                      <p:cNvPr id="0" name="Object 6"/>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6553200" y="2362200"/>
                        <a:ext cx="2124075" cy="447675"/>
                      </a:xfrm>
                      <a:prstGeom prst="rect">
                        <a:avLst/>
                      </a:prstGeom>
                      <a:noFill/>
                      <a:extLst>
                        <a:ext uri="{909E8E84-426E-40DD-AFC4-6F175D3DCCD1}">
                          <a14:hiddenFill xmlns:a14="http://schemas.microsoft.com/office/drawing/2010/main">
                            <a:solidFill>
                              <a:srgbClr val="FFFF99"/>
                            </a:solidFill>
                          </a14:hiddenFill>
                        </a:ext>
                      </a:extLst>
                    </p:spPr>
                  </p:pic>
                </p:oleObj>
              </mc:Fallback>
            </mc:AlternateContent>
          </a:graphicData>
        </a:graphic>
      </p:graphicFrame>
      <p:graphicFrame>
        <p:nvGraphicFramePr>
          <p:cNvPr id="28680" name="Object 8"/>
          <p:cNvGraphicFramePr>
            <a:graphicFrameLocks noChangeAspect="1"/>
          </p:cNvGraphicFramePr>
          <p:nvPr>
            <p:extLst>
              <p:ext uri="{D42A27DB-BD31-4B8C-83A1-F6EECF244321}">
                <p14:modId xmlns:p14="http://schemas.microsoft.com/office/powerpoint/2010/main" val="4089809107"/>
              </p:ext>
            </p:extLst>
          </p:nvPr>
        </p:nvGraphicFramePr>
        <p:xfrm>
          <a:off x="2841625" y="2781300"/>
          <a:ext cx="1165225" cy="381000"/>
        </p:xfrm>
        <a:graphic>
          <a:graphicData uri="http://schemas.openxmlformats.org/presentationml/2006/ole">
            <mc:AlternateContent xmlns:mc="http://schemas.openxmlformats.org/markup-compatibility/2006">
              <mc:Choice xmlns:v="urn:schemas-microsoft-com:vml" Requires="v">
                <p:oleObj spid="_x0000_s28884" name="Equation" r:id="rId14" imgW="660240" imgH="215640" progId="Equation.3">
                  <p:embed/>
                </p:oleObj>
              </mc:Choice>
              <mc:Fallback>
                <p:oleObj name="Equation" r:id="rId14" imgW="660240" imgH="215640" progId="Equation.3">
                  <p:embed/>
                  <p:pic>
                    <p:nvPicPr>
                      <p:cNvPr id="0" name="Picture 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841625" y="2781300"/>
                        <a:ext cx="1165225" cy="381000"/>
                      </a:xfrm>
                      <a:prstGeom prst="rect">
                        <a:avLst/>
                      </a:prstGeom>
                      <a:noFill/>
                      <a:extLst>
                        <a:ext uri="{909E8E84-426E-40DD-AFC4-6F175D3DCCD1}">
                          <a14:hiddenFill xmlns:a14="http://schemas.microsoft.com/office/drawing/2010/main">
                            <a:solidFill>
                              <a:srgbClr val="FFFF99"/>
                            </a:solidFill>
                          </a14:hiddenFill>
                        </a:ext>
                      </a:extLst>
                    </p:spPr>
                  </p:pic>
                </p:oleObj>
              </mc:Fallback>
            </mc:AlternateContent>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HYPOTHESIS TESTING</a:t>
            </a:r>
            <a:endParaRPr lang="en-US" dirty="0"/>
          </a:p>
        </p:txBody>
      </p:sp>
      <p:sp>
        <p:nvSpPr>
          <p:cNvPr id="3" name="Content Placeholder 2"/>
          <p:cNvSpPr>
            <a:spLocks noGrp="1"/>
          </p:cNvSpPr>
          <p:nvPr>
            <p:ph idx="1"/>
          </p:nvPr>
        </p:nvSpPr>
        <p:spPr/>
        <p:txBody>
          <a:bodyPr/>
          <a:lstStyle/>
          <a:p>
            <a:r>
              <a:rPr lang="en-US" dirty="0" smtClean="0"/>
              <a:t>Example:</a:t>
            </a:r>
          </a:p>
          <a:p>
            <a:pPr lvl="1"/>
            <a:r>
              <a:rPr lang="en-US" dirty="0" smtClean="0"/>
              <a:t>A resistor manufacture is testing the quality of a batch of resistors with nominal value 1K Ohm, with a 95% confidence level. A sample of 100 resistors are tested, and the sample mean is 1040 Ohm, and the sample standard deviation is 100 Ohm. Do the resistors pass the quality check?</a:t>
            </a:r>
          </a:p>
          <a:p>
            <a:pPr lvl="1"/>
            <a:endParaRPr lang="en-US" dirty="0"/>
          </a:p>
        </p:txBody>
      </p:sp>
      <p:sp>
        <p:nvSpPr>
          <p:cNvPr id="4" name="Slide Number Placeholder 3"/>
          <p:cNvSpPr>
            <a:spLocks noGrp="1"/>
          </p:cNvSpPr>
          <p:nvPr>
            <p:ph type="sldNum" sz="quarter" idx="10"/>
          </p:nvPr>
        </p:nvSpPr>
        <p:spPr/>
        <p:txBody>
          <a:bodyPr/>
          <a:lstStyle/>
          <a:p>
            <a:fld id="{7A65BF99-0365-4788-A7C5-586C0382C80B}" type="slidenum">
              <a:rPr lang="zh-CN" altLang="en-US" smtClean="0"/>
              <a:pPr/>
              <a:t>28</a:t>
            </a:fld>
            <a:endParaRPr lang="en-US" altLang="zh-CN" dirty="0" smtClean="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HYPOTHESIS TESTING</a:t>
            </a:r>
            <a:endParaRPr lang="en-US" dirty="0"/>
          </a:p>
        </p:txBody>
      </p:sp>
      <p:sp>
        <p:nvSpPr>
          <p:cNvPr id="3" name="Content Placeholder 2"/>
          <p:cNvSpPr>
            <a:spLocks noGrp="1"/>
          </p:cNvSpPr>
          <p:nvPr>
            <p:ph idx="1"/>
          </p:nvPr>
        </p:nvSpPr>
        <p:spPr/>
        <p:txBody>
          <a:bodyPr/>
          <a:lstStyle/>
          <a:p>
            <a:r>
              <a:rPr lang="en-US" dirty="0" smtClean="0"/>
              <a:t>Binary hypothesis </a:t>
            </a:r>
            <a:r>
              <a:rPr lang="en-US" dirty="0" smtClean="0"/>
              <a:t>testing: Example</a:t>
            </a:r>
            <a:endParaRPr lang="en-US" dirty="0" smtClean="0"/>
          </a:p>
          <a:p>
            <a:pPr marL="457200" lvl="1" indent="0">
              <a:buNone/>
            </a:pPr>
            <a:endParaRPr lang="en-US" dirty="0" smtClean="0"/>
          </a:p>
        </p:txBody>
      </p:sp>
      <p:sp>
        <p:nvSpPr>
          <p:cNvPr id="4" name="Slide Number Placeholder 3"/>
          <p:cNvSpPr>
            <a:spLocks noGrp="1"/>
          </p:cNvSpPr>
          <p:nvPr>
            <p:ph type="sldNum" sz="quarter" idx="10"/>
          </p:nvPr>
        </p:nvSpPr>
        <p:spPr/>
        <p:txBody>
          <a:bodyPr/>
          <a:lstStyle/>
          <a:p>
            <a:fld id="{7A65BF99-0365-4788-A7C5-586C0382C80B}" type="slidenum">
              <a:rPr lang="zh-CN" altLang="en-US" smtClean="0"/>
              <a:pPr/>
              <a:t>29</a:t>
            </a:fld>
            <a:endParaRPr lang="en-US" altLang="zh-CN" dirty="0" smtClean="0"/>
          </a:p>
        </p:txBody>
      </p:sp>
      <p:pic>
        <p:nvPicPr>
          <p:cNvPr id="5" name="Picture 4"/>
          <p:cNvPicPr>
            <a:picLocks noChangeAspect="1"/>
          </p:cNvPicPr>
          <p:nvPr/>
        </p:nvPicPr>
        <p:blipFill>
          <a:blip r:embed="rId2"/>
          <a:stretch>
            <a:fillRect/>
          </a:stretch>
        </p:blipFill>
        <p:spPr>
          <a:xfrm>
            <a:off x="1371600" y="1219200"/>
            <a:ext cx="6553200" cy="2904585"/>
          </a:xfrm>
          <a:prstGeom prst="rect">
            <a:avLst/>
          </a:prstGeom>
        </p:spPr>
      </p:pic>
    </p:spTree>
    <p:extLst>
      <p:ext uri="{BB962C8B-B14F-4D97-AF65-F5344CB8AC3E}">
        <p14:creationId xmlns:p14="http://schemas.microsoft.com/office/powerpoint/2010/main" val="412592093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HYPOTHESIS</a:t>
            </a:r>
            <a:endParaRPr lang="en-US" dirty="0"/>
          </a:p>
        </p:txBody>
      </p:sp>
      <p:sp>
        <p:nvSpPr>
          <p:cNvPr id="3" name="Content Placeholder 2"/>
          <p:cNvSpPr>
            <a:spLocks noGrp="1"/>
          </p:cNvSpPr>
          <p:nvPr>
            <p:ph idx="1"/>
          </p:nvPr>
        </p:nvSpPr>
        <p:spPr/>
        <p:txBody>
          <a:bodyPr/>
          <a:lstStyle/>
          <a:p>
            <a:r>
              <a:rPr lang="en-US" dirty="0" smtClean="0"/>
              <a:t>Receiver operating characteristics (ROC) curve</a:t>
            </a:r>
          </a:p>
          <a:p>
            <a:pPr lvl="1"/>
            <a:r>
              <a:rPr lang="en-US" dirty="0" smtClean="0"/>
              <a:t>Plot true positive probability (complement of type II error) as a function of false positive probability (type I error)</a:t>
            </a:r>
            <a:endParaRPr lang="en-US" dirty="0"/>
          </a:p>
        </p:txBody>
      </p:sp>
      <p:sp>
        <p:nvSpPr>
          <p:cNvPr id="4" name="Slide Number Placeholder 3"/>
          <p:cNvSpPr>
            <a:spLocks noGrp="1"/>
          </p:cNvSpPr>
          <p:nvPr>
            <p:ph type="sldNum" sz="quarter" idx="10"/>
          </p:nvPr>
        </p:nvSpPr>
        <p:spPr/>
        <p:txBody>
          <a:bodyPr/>
          <a:lstStyle/>
          <a:p>
            <a:fld id="{7A65BF99-0365-4788-A7C5-586C0382C80B}" type="slidenum">
              <a:rPr lang="zh-CN" altLang="en-US" smtClean="0"/>
              <a:pPr/>
              <a:t>30</a:t>
            </a:fld>
            <a:endParaRPr lang="en-US" altLang="zh-CN" dirty="0" smtClean="0"/>
          </a:p>
        </p:txBody>
      </p:sp>
      <p:pic>
        <p:nvPicPr>
          <p:cNvPr id="5" name="Picture 4"/>
          <p:cNvPicPr>
            <a:picLocks noChangeAspect="1"/>
          </p:cNvPicPr>
          <p:nvPr/>
        </p:nvPicPr>
        <p:blipFill>
          <a:blip r:embed="rId2"/>
          <a:stretch>
            <a:fillRect/>
          </a:stretch>
        </p:blipFill>
        <p:spPr>
          <a:xfrm>
            <a:off x="1893093" y="1905000"/>
            <a:ext cx="5205413" cy="4262647"/>
          </a:xfrm>
          <a:prstGeom prst="rect">
            <a:avLst/>
          </a:prstGeom>
        </p:spPr>
      </p:pic>
    </p:spTree>
    <p:extLst>
      <p:ext uri="{BB962C8B-B14F-4D97-AF65-F5344CB8AC3E}">
        <p14:creationId xmlns:p14="http://schemas.microsoft.com/office/powerpoint/2010/main" val="299542573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5910</TotalTime>
  <Words>1703</Words>
  <Application>Microsoft Office PowerPoint</Application>
  <PresentationFormat>On-screen Show (4:3)</PresentationFormat>
  <Paragraphs>317</Paragraphs>
  <Slides>30</Slides>
  <Notes>4</Notes>
  <HiddenSlides>0</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1</vt:i4>
      </vt:variant>
      <vt:variant>
        <vt:lpstr>Slide Titles</vt:lpstr>
      </vt:variant>
      <vt:variant>
        <vt:i4>30</vt:i4>
      </vt:variant>
    </vt:vector>
  </HeadingPairs>
  <TitlesOfParts>
    <vt:vector size="38" baseType="lpstr">
      <vt:lpstr>宋体</vt:lpstr>
      <vt:lpstr>Arial</vt:lpstr>
      <vt:lpstr>Arial Black</vt:lpstr>
      <vt:lpstr>Calibri</vt:lpstr>
      <vt:lpstr>Times New Roman</vt:lpstr>
      <vt:lpstr>Wingdings</vt:lpstr>
      <vt:lpstr>Office Theme</vt:lpstr>
      <vt:lpstr>Equation</vt:lpstr>
      <vt:lpstr>ELEG 3143 Probability &amp; Stochastic Process Ch. 5 Elements of Statistics</vt:lpstr>
      <vt:lpstr>OUTLINE</vt:lpstr>
      <vt:lpstr>INTRODUCTION</vt:lpstr>
      <vt:lpstr>INTRODUCTION</vt:lpstr>
      <vt:lpstr>OUTLINE</vt:lpstr>
      <vt:lpstr>SAMPLE MEAN AND VARIANCE</vt:lpstr>
      <vt:lpstr>SAMPLE MEAN AND VARIANCE</vt:lpstr>
      <vt:lpstr>SAMPLE MEAN AND VARIANCE</vt:lpstr>
      <vt:lpstr>SAMPLE MEAN AND VARIANCE</vt:lpstr>
      <vt:lpstr>SAMPLE MEAN AND VARIANCE</vt:lpstr>
      <vt:lpstr>SAMPLE MEAN AND VARIANCE</vt:lpstr>
      <vt:lpstr>SAMPLE MEAN AND VARIANCE</vt:lpstr>
      <vt:lpstr>SAMPLE MEAN AND VARIANCE</vt:lpstr>
      <vt:lpstr>SAMPLE MEAN AND VARIANCE</vt:lpstr>
      <vt:lpstr>SAMPLE MEAN AND VARIANCE</vt:lpstr>
      <vt:lpstr>OUTLINE</vt:lpstr>
      <vt:lpstr>CONFIDENCE INTERVAL</vt:lpstr>
      <vt:lpstr>CONFIDENCE INTERVAL</vt:lpstr>
      <vt:lpstr>PowerPoint Presentation</vt:lpstr>
      <vt:lpstr>CONFIDENCE INTERVAL</vt:lpstr>
      <vt:lpstr>CONFIDENCE INTERVAL </vt:lpstr>
      <vt:lpstr>OUTLINE</vt:lpstr>
      <vt:lpstr>HYPOTHESIS TESTING</vt:lpstr>
      <vt:lpstr>HYPOTHESIS TESTING</vt:lpstr>
      <vt:lpstr>HYPOTHESIS TESTING</vt:lpstr>
      <vt:lpstr>HYPOTHESIS TESTING</vt:lpstr>
      <vt:lpstr>HYPOTHESIS TESTING</vt:lpstr>
      <vt:lpstr>HYPOTHESIS TESTING</vt:lpstr>
      <vt:lpstr>HYPOTHESIS TESTING</vt:lpstr>
      <vt:lpstr>HYPOTHESIS</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wuj</dc:creator>
  <cp:lastModifiedBy>Jingxian Wu</cp:lastModifiedBy>
  <cp:revision>969</cp:revision>
  <dcterms:created xsi:type="dcterms:W3CDTF">2006-08-16T00:00:00Z</dcterms:created>
  <dcterms:modified xsi:type="dcterms:W3CDTF">2018-04-03T17:03:37Z</dcterms:modified>
</cp:coreProperties>
</file>