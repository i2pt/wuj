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0"/>
  </p:notesMasterIdLst>
  <p:sldIdLst>
    <p:sldId id="256" r:id="rId2"/>
    <p:sldId id="336" r:id="rId3"/>
    <p:sldId id="261" r:id="rId4"/>
    <p:sldId id="339" r:id="rId5"/>
    <p:sldId id="262" r:id="rId6"/>
    <p:sldId id="263" r:id="rId7"/>
    <p:sldId id="264" r:id="rId8"/>
    <p:sldId id="332" r:id="rId9"/>
    <p:sldId id="266" r:id="rId10"/>
    <p:sldId id="267" r:id="rId11"/>
    <p:sldId id="268" r:id="rId12"/>
    <p:sldId id="340" r:id="rId13"/>
    <p:sldId id="269" r:id="rId14"/>
    <p:sldId id="270" r:id="rId15"/>
    <p:sldId id="271" r:id="rId16"/>
    <p:sldId id="333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320" r:id="rId26"/>
    <p:sldId id="334" r:id="rId27"/>
    <p:sldId id="294" r:id="rId28"/>
    <p:sldId id="295" r:id="rId29"/>
    <p:sldId id="296" r:id="rId30"/>
    <p:sldId id="297" r:id="rId31"/>
    <p:sldId id="298" r:id="rId32"/>
    <p:sldId id="299" r:id="rId33"/>
    <p:sldId id="337" r:id="rId34"/>
    <p:sldId id="300" r:id="rId35"/>
    <p:sldId id="342" r:id="rId36"/>
    <p:sldId id="338" r:id="rId37"/>
    <p:sldId id="302" r:id="rId38"/>
    <p:sldId id="301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00CC"/>
    <a:srgbClr val="0033CC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91" autoAdjust="0"/>
    <p:restoredTop sz="90086" autoAdjust="0"/>
  </p:normalViewPr>
  <p:slideViewPr>
    <p:cSldViewPr>
      <p:cViewPr varScale="1">
        <p:scale>
          <a:sx n="92" d="100"/>
          <a:sy n="92" d="100"/>
        </p:scale>
        <p:origin x="151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4" Type="http://schemas.openxmlformats.org/officeDocument/2006/relationships/image" Target="../media/image39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37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6" Type="http://schemas.openxmlformats.org/officeDocument/2006/relationships/image" Target="../media/image65.wmf"/><Relationship Id="rId5" Type="http://schemas.openxmlformats.org/officeDocument/2006/relationships/image" Target="../media/image64.wmf"/><Relationship Id="rId4" Type="http://schemas.openxmlformats.org/officeDocument/2006/relationships/image" Target="../media/image6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A95B8-4588-46D8-8F50-86C1DF9AFA24}" type="datetimeFigureOut">
              <a:rPr lang="en-US" smtClean="0"/>
              <a:pPr/>
              <a:t>2/15/2018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7B99F5-9ED3-44CF-A144-70EBB5FD54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751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0.972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496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31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4572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ext Box 12"/>
          <p:cNvSpPr txBox="1">
            <a:spLocks noChangeArrowheads="1"/>
          </p:cNvSpPr>
          <p:nvPr userDrawn="1"/>
        </p:nvSpPr>
        <p:spPr bwMode="auto">
          <a:xfrm>
            <a:off x="2846479" y="1346200"/>
            <a:ext cx="3897221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zh-CN" sz="1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Department of Electrical Engineering</a:t>
            </a:r>
          </a:p>
          <a:p>
            <a:pPr algn="r">
              <a:defRPr/>
            </a:pPr>
            <a:r>
              <a:rPr lang="en-US" altLang="zh-CN" sz="1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University of Arkansas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Arial Black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3581400"/>
            <a:ext cx="6400800" cy="762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FontTx/>
              <a:buNone/>
              <a:defRPr sz="2200" b="0">
                <a:solidFill>
                  <a:srgbClr val="000099"/>
                </a:solidFill>
                <a:latin typeface="Arial Black" pitchFamily="34" charset="0"/>
              </a:defRPr>
            </a:lvl1pPr>
          </a:lstStyle>
          <a:p>
            <a:r>
              <a:rPr lang="en-US" altLang="zh-CN" dirty="0"/>
              <a:t>Click to edit Master subtitle style</a:t>
            </a:r>
          </a:p>
        </p:txBody>
      </p:sp>
      <p:pic>
        <p:nvPicPr>
          <p:cNvPr id="12" name="Picture 16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1447800"/>
            <a:ext cx="16383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152400" y="7620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7772400" cy="7620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defRPr>
            </a:lvl1pPr>
            <a:lvl2pPr>
              <a:defRPr sz="1800">
                <a:latin typeface="Times New Roman" pitchFamily="18" charset="0"/>
                <a:cs typeface="Times New Roman" pitchFamily="18" charset="0"/>
              </a:defRPr>
            </a:lvl2pPr>
            <a:lvl3pPr>
              <a:defRPr sz="1800">
                <a:latin typeface="Times New Roman" pitchFamily="18" charset="0"/>
                <a:cs typeface="Times New Roman" pitchFamily="18" charset="0"/>
              </a:defRPr>
            </a:lvl3pPr>
            <a:lvl4pPr>
              <a:defRPr sz="1800">
                <a:latin typeface="Times New Roman" pitchFamily="18" charset="0"/>
                <a:cs typeface="Times New Roman" pitchFamily="18" charset="0"/>
              </a:defRPr>
            </a:lvl4pPr>
            <a:lvl5pPr>
              <a:defRPr sz="18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6248400"/>
            <a:ext cx="1781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3"/>
          <p:cNvSpPr>
            <a:spLocks noGrp="1"/>
          </p:cNvSpPr>
          <p:nvPr userDrawn="1">
            <p:ph type="sldNum" sz="quarter" idx="10"/>
          </p:nvPr>
        </p:nvSpPr>
        <p:spPr>
          <a:xfrm>
            <a:off x="7239000" y="0"/>
            <a:ext cx="1905000" cy="457200"/>
          </a:xfrm>
          <a:prstGeom prst="rect">
            <a:avLst/>
          </a:prstGeom>
          <a:noFill/>
        </p:spPr>
        <p:txBody>
          <a:bodyPr/>
          <a:lstStyle>
            <a:lvl1pPr algn="r">
              <a:defRPr b="1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7A65BF99-0365-4788-A7C5-586C0382C80B}" type="slidenum">
              <a:rPr lang="zh-CN" altLang="en-US" smtClean="0"/>
              <a:pPr/>
              <a:t>‹#›</a:t>
            </a:fld>
            <a:endParaRPr lang="en-US" altLang="zh-CN" dirty="0" smtClean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8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1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3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16.bin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2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21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2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4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27.bin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3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30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32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33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39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34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40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4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0" Type="http://schemas.openxmlformats.org/officeDocument/2006/relationships/image" Target="../media/image43.wmf"/><Relationship Id="rId4" Type="http://schemas.openxmlformats.org/officeDocument/2006/relationships/image" Target="../media/image37.wmf"/><Relationship Id="rId9" Type="http://schemas.openxmlformats.org/officeDocument/2006/relationships/oleObject" Target="../embeddings/oleObject39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45.wmf"/><Relationship Id="rId9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49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50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52.wmf"/><Relationship Id="rId4" Type="http://schemas.openxmlformats.org/officeDocument/2006/relationships/oleObject" Target="../embeddings/oleObject47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oleObject" Target="../embeddings/oleObject54.bin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6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53.bin"/><Relationship Id="rId5" Type="http://schemas.openxmlformats.org/officeDocument/2006/relationships/oleObject" Target="../embeddings/oleObject50.bin"/><Relationship Id="rId10" Type="http://schemas.openxmlformats.org/officeDocument/2006/relationships/image" Target="../media/image63.wmf"/><Relationship Id="rId4" Type="http://schemas.openxmlformats.org/officeDocument/2006/relationships/image" Target="../media/image60.wmf"/><Relationship Id="rId9" Type="http://schemas.openxmlformats.org/officeDocument/2006/relationships/oleObject" Target="../embeddings/oleObject52.bin"/><Relationship Id="rId14" Type="http://schemas.openxmlformats.org/officeDocument/2006/relationships/image" Target="../media/image6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2200"/>
            <a:ext cx="7772400" cy="990600"/>
          </a:xfrm>
        </p:spPr>
        <p:txBody>
          <a:bodyPr/>
          <a:lstStyle/>
          <a:p>
            <a:r>
              <a:rPr lang="en-US" sz="2400" dirty="0" smtClean="0"/>
              <a:t>ELEG 3143 Probability &amp; Stochastic Process</a:t>
            </a:r>
            <a:br>
              <a:rPr lang="en-US" sz="2400" dirty="0" smtClean="0"/>
            </a:br>
            <a:r>
              <a:rPr lang="en-US" dirty="0" smtClean="0"/>
              <a:t>Ch. 2 Discrete Random Variables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2743200" y="3810000"/>
            <a:ext cx="5791200" cy="1752600"/>
          </a:xfrm>
          <a:prstGeom prst="rect">
            <a:avLst/>
          </a:prstGeom>
        </p:spPr>
        <p:txBody>
          <a:bodyPr/>
          <a:lstStyle/>
          <a:p>
            <a:pPr algn="r">
              <a:buNone/>
            </a:pPr>
            <a:r>
              <a:rPr lang="en-US" sz="2200" dirty="0" smtClean="0">
                <a:solidFill>
                  <a:srgbClr val="000099"/>
                </a:solidFill>
                <a:latin typeface="Arial Black" pitchFamily="34" charset="0"/>
              </a:rPr>
              <a:t>Dr. Jingxian Wu</a:t>
            </a:r>
          </a:p>
          <a:p>
            <a:pPr algn="r">
              <a:buNone/>
            </a:pPr>
            <a:r>
              <a:rPr lang="en-US" sz="2200" dirty="0" smtClean="0">
                <a:solidFill>
                  <a:srgbClr val="000099"/>
                </a:solidFill>
                <a:latin typeface="Arial Black" pitchFamily="34" charset="0"/>
              </a:rPr>
              <a:t>wuj@uark.edu</a:t>
            </a:r>
            <a:endParaRPr lang="en-US" sz="2200" dirty="0">
              <a:solidFill>
                <a:srgbClr val="000099"/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Random Variable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Discrete Random Variable</a:t>
            </a:r>
          </a:p>
          <a:p>
            <a:pPr marL="800100" lvl="1" indent="-342900">
              <a:spcBef>
                <a:spcPct val="20000"/>
              </a:spcBef>
              <a:defRPr/>
            </a:pP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baseline="0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Families of Discrete</a:t>
            </a: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Random Variables</a:t>
            </a: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baseline="0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Moments</a:t>
            </a:r>
            <a:endParaRPr lang="en-US" altLang="zh-CN" b="1" dirty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983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RANDOM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Random variable (RV)</a:t>
            </a:r>
          </a:p>
          <a:p>
            <a:pPr lvl="1"/>
            <a:r>
              <a:rPr lang="en-US" dirty="0" smtClean="0"/>
              <a:t>A function, which assigns </a:t>
            </a:r>
            <a:r>
              <a:rPr lang="en-US" dirty="0" smtClean="0">
                <a:solidFill>
                  <a:srgbClr val="FF0000"/>
                </a:solidFill>
              </a:rPr>
              <a:t>a unique numerical value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FF0000"/>
                </a:solidFill>
              </a:rPr>
              <a:t>each possible outcome</a:t>
            </a:r>
            <a:r>
              <a:rPr lang="en-US" dirty="0" smtClean="0"/>
              <a:t> in the sample space of a random experiment</a:t>
            </a:r>
          </a:p>
          <a:p>
            <a:pPr lvl="1"/>
            <a:r>
              <a:rPr lang="en-US" dirty="0" smtClean="0"/>
              <a:t>A mapping from the </a:t>
            </a:r>
            <a:r>
              <a:rPr lang="en-US" dirty="0" smtClean="0">
                <a:solidFill>
                  <a:srgbClr val="FF0000"/>
                </a:solidFill>
              </a:rPr>
              <a:t>sample space </a:t>
            </a:r>
            <a:r>
              <a:rPr lang="en-US" dirty="0" smtClean="0"/>
              <a:t>to some </a:t>
            </a:r>
            <a:r>
              <a:rPr lang="en-US" dirty="0" smtClean="0">
                <a:solidFill>
                  <a:srgbClr val="FF0000"/>
                </a:solidFill>
              </a:rPr>
              <a:t>real numbers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smtClean="0"/>
              <a:t>	sample space S  </a:t>
            </a:r>
            <a:r>
              <a:rPr lang="en-US" dirty="0" smtClean="0">
                <a:sym typeface="Wingdings" panose="05000000000000000000" pitchFamily="2" charset="2"/>
              </a:rPr>
              <a:t> real number R</a:t>
            </a:r>
            <a:endParaRPr lang="en-US" dirty="0" smtClean="0"/>
          </a:p>
          <a:p>
            <a:pPr lvl="2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RANDOM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Random variable</a:t>
            </a:r>
          </a:p>
          <a:p>
            <a:pPr lvl="1"/>
            <a:r>
              <a:rPr lang="en-US" dirty="0" smtClean="0"/>
              <a:t>Examples</a:t>
            </a:r>
            <a:endParaRPr lang="en-US" dirty="0"/>
          </a:p>
          <a:p>
            <a:pPr lvl="2"/>
            <a:r>
              <a:rPr lang="en-US" dirty="0"/>
              <a:t>Toss a coin. S = {H, T}</a:t>
            </a:r>
          </a:p>
          <a:p>
            <a:pPr lvl="2"/>
            <a:r>
              <a:rPr lang="en-US" dirty="0"/>
              <a:t>Define random variable X such that</a:t>
            </a:r>
          </a:p>
          <a:p>
            <a:pPr lvl="3"/>
            <a:r>
              <a:rPr lang="en-US" dirty="0"/>
              <a:t>X = 1, if the outcome is H </a:t>
            </a:r>
          </a:p>
          <a:p>
            <a:pPr lvl="3"/>
            <a:r>
              <a:rPr lang="en-US" dirty="0"/>
              <a:t>X = 0, if the outcome is T </a:t>
            </a:r>
          </a:p>
          <a:p>
            <a:pPr lvl="2"/>
            <a:r>
              <a:rPr lang="en-US" dirty="0"/>
              <a:t>A mapping from the sample space to some real numbers</a:t>
            </a:r>
          </a:p>
          <a:p>
            <a:pPr lvl="3"/>
            <a:r>
              <a:rPr lang="en-US" dirty="0"/>
              <a:t>Event {H}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smtClean="0">
                <a:sym typeface="Wingdings" pitchFamily="2" charset="2"/>
              </a:rPr>
              <a:t>X </a:t>
            </a:r>
            <a:r>
              <a:rPr lang="en-US" dirty="0">
                <a:sym typeface="Wingdings" pitchFamily="2" charset="2"/>
              </a:rPr>
              <a:t>= 1</a:t>
            </a:r>
          </a:p>
          <a:p>
            <a:pPr lvl="3"/>
            <a:r>
              <a:rPr lang="en-US" dirty="0">
                <a:sym typeface="Wingdings" pitchFamily="2" charset="2"/>
              </a:rPr>
              <a:t>Event {T}  X = 0</a:t>
            </a:r>
          </a:p>
          <a:p>
            <a:pPr lvl="2"/>
            <a:r>
              <a:rPr lang="en-US" dirty="0">
                <a:sym typeface="Wingdings" pitchFamily="2" charset="2"/>
              </a:rPr>
              <a:t>The value of the random variable, X, is random. The actual value of X depends on the outcome of the experiment</a:t>
            </a:r>
          </a:p>
          <a:p>
            <a:pPr lvl="2"/>
            <a:r>
              <a:rPr lang="en-US" dirty="0">
                <a:sym typeface="Wingdings" pitchFamily="2" charset="2"/>
              </a:rPr>
              <a:t>We can assign probability to each value of the random variable</a:t>
            </a:r>
          </a:p>
          <a:p>
            <a:pPr lvl="3"/>
            <a:r>
              <a:rPr lang="en-US" dirty="0" err="1">
                <a:sym typeface="Wingdings" pitchFamily="2" charset="2"/>
              </a:rPr>
              <a:t>Pr</a:t>
            </a:r>
            <a:r>
              <a:rPr lang="en-US" dirty="0">
                <a:sym typeface="Wingdings" pitchFamily="2" charset="2"/>
              </a:rPr>
              <a:t>(X = 1) = </a:t>
            </a:r>
            <a:r>
              <a:rPr lang="en-US" dirty="0" err="1">
                <a:sym typeface="Wingdings" pitchFamily="2" charset="2"/>
              </a:rPr>
              <a:t>Pr</a:t>
            </a:r>
            <a:r>
              <a:rPr lang="en-US" dirty="0">
                <a:sym typeface="Wingdings" pitchFamily="2" charset="2"/>
              </a:rPr>
              <a:t>({H}) = 0.5</a:t>
            </a:r>
          </a:p>
          <a:p>
            <a:pPr lvl="3"/>
            <a:r>
              <a:rPr lang="en-US" dirty="0" err="1">
                <a:sym typeface="Wingdings" pitchFamily="2" charset="2"/>
              </a:rPr>
              <a:t>Pr</a:t>
            </a:r>
            <a:r>
              <a:rPr lang="en-US" dirty="0">
                <a:sym typeface="Wingdings" pitchFamily="2" charset="2"/>
              </a:rPr>
              <a:t>(X = 0) = </a:t>
            </a:r>
            <a:r>
              <a:rPr lang="en-US" dirty="0" err="1">
                <a:sym typeface="Wingdings" pitchFamily="2" charset="2"/>
              </a:rPr>
              <a:t>Pr</a:t>
            </a:r>
            <a:r>
              <a:rPr lang="en-US" dirty="0">
                <a:sym typeface="Wingdings" pitchFamily="2" charset="2"/>
              </a:rPr>
              <a:t>({T}) = 0.5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</a:t>
            </a:fld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850452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RANDOM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Consider an experiment of tossing 2 fair coins. Define the RV, Y, as the number of heads appearing. </a:t>
            </a:r>
          </a:p>
          <a:p>
            <a:pPr lvl="2"/>
            <a:r>
              <a:rPr lang="en-US" dirty="0" smtClean="0"/>
              <a:t>Find the mapping from the sample space to the value of Y</a:t>
            </a:r>
          </a:p>
          <a:p>
            <a:pPr lvl="2"/>
            <a:r>
              <a:rPr lang="en-US" dirty="0" smtClean="0"/>
              <a:t>Find the probability of the different values of 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</a:t>
            </a:fld>
            <a:endParaRPr lang="en-US" altLang="zh-CN" dirty="0" smtClean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62000" y="5410200"/>
            <a:ext cx="7772400" cy="6858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66800" y="5410200"/>
            <a:ext cx="7772400" cy="8382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Capital letter is used to represent an</a:t>
            </a:r>
            <a:r>
              <a:rPr kumimoji="0" lang="en-US" sz="200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RV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2000" baseline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Small letter is used to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represent a deterministic value of an RV. 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RANDOM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Suppose that there is an unfair coin with a probability </a:t>
            </a:r>
            <a:r>
              <a:rPr lang="en-US" i="1" dirty="0" smtClean="0"/>
              <a:t>p</a:t>
            </a:r>
            <a:r>
              <a:rPr lang="en-US" dirty="0" smtClean="0"/>
              <a:t> of coming up heads. We perform an experiment, in which we flip the coin, until the first head appears. Define an RV, </a:t>
            </a:r>
            <a:r>
              <a:rPr lang="en-US" i="1" dirty="0" smtClean="0"/>
              <a:t>N</a:t>
            </a:r>
            <a:r>
              <a:rPr lang="en-US" dirty="0" smtClean="0"/>
              <a:t>, as the number of flips required. </a:t>
            </a:r>
          </a:p>
          <a:p>
            <a:pPr lvl="2"/>
            <a:r>
              <a:rPr lang="en-US" dirty="0" smtClean="0"/>
              <a:t>1. Find the mapping from the sample space to the RV</a:t>
            </a:r>
          </a:p>
          <a:p>
            <a:pPr lvl="2"/>
            <a:r>
              <a:rPr lang="en-US" dirty="0" smtClean="0"/>
              <a:t>2. Find the probability of the RV.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6</a:t>
            </a:fld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RANDOM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Discrete RV </a:t>
            </a:r>
            <a:r>
              <a:rPr lang="en-US" dirty="0" err="1" smtClean="0"/>
              <a:t>v.s</a:t>
            </a:r>
            <a:r>
              <a:rPr lang="en-US" dirty="0" smtClean="0"/>
              <a:t>. continuous RV</a:t>
            </a:r>
          </a:p>
          <a:p>
            <a:pPr lvl="1"/>
            <a:r>
              <a:rPr lang="en-US" dirty="0" smtClean="0"/>
              <a:t>Consider a random variable X 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If X has countable number values, then X is a discrete RV</a:t>
            </a:r>
          </a:p>
          <a:p>
            <a:pPr lvl="2"/>
            <a:r>
              <a:rPr lang="en-US" dirty="0" smtClean="0"/>
              <a:t>E.g. toss a coin, X = 0 if H, X = 1 if T</a:t>
            </a:r>
          </a:p>
          <a:p>
            <a:pPr lvl="2"/>
            <a:r>
              <a:rPr lang="en-US" dirty="0" smtClean="0"/>
              <a:t>E.g. Defined the RV </a:t>
            </a:r>
            <a:r>
              <a:rPr lang="en-US" i="1" dirty="0" smtClean="0"/>
              <a:t>N</a:t>
            </a:r>
            <a:r>
              <a:rPr lang="en-US" dirty="0" smtClean="0"/>
              <a:t> as the number of flips required to get the head of a coin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If X has uncountable number of values, then X is a continuous RV</a:t>
            </a:r>
          </a:p>
          <a:p>
            <a:pPr lvl="2"/>
            <a:r>
              <a:rPr lang="en-US" dirty="0" smtClean="0"/>
              <a:t>E.g. Define the RV X as the current temperature</a:t>
            </a:r>
          </a:p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Consider the lifetime of a car</a:t>
            </a:r>
          </a:p>
          <a:p>
            <a:pPr lvl="2"/>
            <a:r>
              <a:rPr lang="en-US" dirty="0" smtClean="0"/>
              <a:t>Define the RV, X, as the lifetime of the car</a:t>
            </a:r>
          </a:p>
          <a:p>
            <a:pPr lvl="3"/>
            <a:r>
              <a:rPr lang="en-US" dirty="0" smtClean="0"/>
              <a:t>Then X is a continuous RV, </a:t>
            </a:r>
          </a:p>
          <a:p>
            <a:pPr lvl="2"/>
            <a:r>
              <a:rPr lang="en-US" dirty="0" smtClean="0"/>
              <a:t>Define the RV, Y, as follows</a:t>
            </a:r>
          </a:p>
          <a:p>
            <a:pPr lvl="3"/>
            <a:r>
              <a:rPr lang="en-US" dirty="0" smtClean="0"/>
              <a:t>If the car has a life longer than 2 years 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i="1" dirty="0" smtClean="0">
                <a:sym typeface="Wingdings" pitchFamily="2" charset="2"/>
              </a:rPr>
              <a:t>Y</a:t>
            </a:r>
            <a:r>
              <a:rPr lang="en-US" dirty="0" smtClean="0">
                <a:sym typeface="Wingdings" pitchFamily="2" charset="2"/>
              </a:rPr>
              <a:t> = 1</a:t>
            </a:r>
          </a:p>
          <a:p>
            <a:pPr lvl="3"/>
            <a:r>
              <a:rPr lang="en-US" dirty="0" smtClean="0">
                <a:sym typeface="Wingdings" pitchFamily="2" charset="2"/>
              </a:rPr>
              <a:t>If the car has a life shorter than 2 years  </a:t>
            </a:r>
            <a:r>
              <a:rPr lang="en-US" i="1" dirty="0" smtClean="0">
                <a:sym typeface="Wingdings" pitchFamily="2" charset="2"/>
              </a:rPr>
              <a:t>Y</a:t>
            </a:r>
            <a:r>
              <a:rPr lang="en-US" dirty="0" smtClean="0">
                <a:sym typeface="Wingdings" pitchFamily="2" charset="2"/>
              </a:rPr>
              <a:t> = 0</a:t>
            </a:r>
          </a:p>
          <a:p>
            <a:pPr lvl="3"/>
            <a:r>
              <a:rPr lang="en-US" dirty="0" smtClean="0">
                <a:sym typeface="Wingdings" pitchFamily="2" charset="2"/>
              </a:rPr>
              <a:t>Then </a:t>
            </a:r>
            <a:r>
              <a:rPr lang="en-US" i="1" dirty="0" smtClean="0">
                <a:sym typeface="Wingdings" pitchFamily="2" charset="2"/>
              </a:rPr>
              <a:t>Y</a:t>
            </a:r>
            <a:r>
              <a:rPr lang="en-US" dirty="0" smtClean="0">
                <a:sym typeface="Wingdings" pitchFamily="2" charset="2"/>
              </a:rPr>
              <a:t> is a discrete RV, </a:t>
            </a:r>
            <a:endParaRPr lang="en-US" dirty="0" smtClean="0"/>
          </a:p>
          <a:p>
            <a:pPr lvl="3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7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953000" y="4572000"/>
          <a:ext cx="1143000" cy="320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72" name="Equation" r:id="rId3" imgW="723600" imgH="203040" progId="Equation.3">
                  <p:embed/>
                </p:oleObj>
              </mc:Choice>
              <mc:Fallback>
                <p:oleObj name="Equation" r:id="rId3" imgW="723600" imgH="203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572000"/>
                        <a:ext cx="1143000" cy="3208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19" name="Object 3"/>
          <p:cNvGraphicFramePr>
            <a:graphicFrameLocks noChangeAspect="1"/>
          </p:cNvGraphicFramePr>
          <p:nvPr/>
        </p:nvGraphicFramePr>
        <p:xfrm>
          <a:off x="4854575" y="5867400"/>
          <a:ext cx="88265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73" name="Equation" r:id="rId5" imgW="558720" imgH="203040" progId="Equation.3">
                  <p:embed/>
                </p:oleObj>
              </mc:Choice>
              <mc:Fallback>
                <p:oleObj name="Equation" r:id="rId5" imgW="55872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4575" y="5867400"/>
                        <a:ext cx="882650" cy="320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8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Random Variable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Discrete Random Variable</a:t>
            </a:r>
          </a:p>
          <a:p>
            <a:pPr marL="800100" lvl="1" indent="-342900">
              <a:spcBef>
                <a:spcPct val="20000"/>
              </a:spcBef>
              <a:defRPr/>
            </a:pP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baseline="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Families of Discrete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Random Variables</a:t>
            </a: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baseline="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Moments</a:t>
            </a:r>
            <a:endParaRPr lang="en-US" altLang="zh-CN" b="1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717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Discrete RV</a:t>
            </a:r>
          </a:p>
          <a:p>
            <a:pPr lvl="1"/>
            <a:r>
              <a:rPr lang="en-US" dirty="0" smtClean="0"/>
              <a:t>A random variable that can take at most a countable number of possible values.</a:t>
            </a:r>
          </a:p>
          <a:p>
            <a:r>
              <a:rPr lang="en-US" dirty="0" smtClean="0"/>
              <a:t>Probability mass function (PMF)</a:t>
            </a:r>
          </a:p>
          <a:p>
            <a:pPr lvl="1"/>
            <a:r>
              <a:rPr lang="en-US" dirty="0" smtClean="0"/>
              <a:t>Consider a discrete RV </a:t>
            </a:r>
            <a:r>
              <a:rPr lang="en-US" i="1" dirty="0" smtClean="0"/>
              <a:t>X</a:t>
            </a:r>
            <a:r>
              <a:rPr lang="en-US" dirty="0" smtClean="0"/>
              <a:t>, which can take any one of the following values: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The probability mass function of </a:t>
            </a:r>
            <a:r>
              <a:rPr lang="en-US" i="1" dirty="0" smtClean="0"/>
              <a:t>X</a:t>
            </a:r>
            <a:r>
              <a:rPr lang="en-US" dirty="0" smtClean="0"/>
              <a:t> is defined as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Example</a:t>
            </a:r>
          </a:p>
          <a:p>
            <a:pPr lvl="2"/>
            <a:r>
              <a:rPr lang="en-US" dirty="0" smtClean="0"/>
              <a:t>Flip an unfair coin with the probability </a:t>
            </a:r>
            <a:r>
              <a:rPr lang="en-US" i="1" dirty="0" smtClean="0"/>
              <a:t>p</a:t>
            </a:r>
            <a:r>
              <a:rPr lang="en-US" dirty="0" smtClean="0"/>
              <a:t> of coming up head. Define an RV X, such that H </a:t>
            </a:r>
            <a:r>
              <a:rPr lang="en-US" dirty="0" smtClean="0">
                <a:sym typeface="Wingdings" pitchFamily="2" charset="2"/>
              </a:rPr>
              <a:t> X = 1; T  X = 0. What is the PMF?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9</a:t>
            </a:fld>
            <a:endParaRPr lang="en-US" altLang="zh-CN" dirty="0" smtClean="0"/>
          </a:p>
        </p:txBody>
      </p:sp>
      <p:graphicFrame>
        <p:nvGraphicFramePr>
          <p:cNvPr id="87043" name="Object 3"/>
          <p:cNvGraphicFramePr>
            <a:graphicFrameLocks noChangeAspect="1"/>
          </p:cNvGraphicFramePr>
          <p:nvPr/>
        </p:nvGraphicFramePr>
        <p:xfrm>
          <a:off x="2438400" y="3352800"/>
          <a:ext cx="200342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89" name="Equation" r:id="rId3" imgW="1269720" imgH="228600" progId="Equation.3">
                  <p:embed/>
                </p:oleObj>
              </mc:Choice>
              <mc:Fallback>
                <p:oleObj name="Equation" r:id="rId3" imgW="1269720" imgH="228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352800"/>
                        <a:ext cx="2003425" cy="3603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00" y="3387581"/>
            <a:ext cx="1676400" cy="32558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7800" y="2514601"/>
            <a:ext cx="2209800" cy="3135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Consider an urn with 3 black balls, 5 red balls, and 8 white balls. Randomly pick 1 ball. Define an RV X as: </a:t>
            </a:r>
          </a:p>
          <a:p>
            <a:pPr lvl="2"/>
            <a:r>
              <a:rPr lang="en-US" dirty="0" smtClean="0"/>
              <a:t>black ball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X = 1, red ball </a:t>
            </a:r>
            <a:r>
              <a:rPr lang="en-US" dirty="0" smtClean="0">
                <a:sym typeface="Wingdings" pitchFamily="2" charset="2"/>
              </a:rPr>
              <a:t> X = 2, white ball  X = 3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Find the PMF.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10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PMF</a:t>
            </a:r>
          </a:p>
          <a:p>
            <a:pPr lvl="1"/>
            <a:r>
              <a:rPr lang="en-US" dirty="0" smtClean="0"/>
              <a:t>For an RV                                        , since X must take one of the values of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11</a:t>
            </a:fld>
            <a:endParaRPr lang="en-US" altLang="zh-CN" dirty="0" smtClean="0"/>
          </a:p>
        </p:txBody>
      </p:sp>
      <p:graphicFrame>
        <p:nvGraphicFramePr>
          <p:cNvPr id="88067" name="Object 3"/>
          <p:cNvGraphicFramePr>
            <a:graphicFrameLocks noChangeAspect="1"/>
          </p:cNvGraphicFramePr>
          <p:nvPr/>
        </p:nvGraphicFramePr>
        <p:xfrm>
          <a:off x="8382000" y="1219200"/>
          <a:ext cx="27940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67" name="Equation" r:id="rId3" imgW="177480" imgH="228600" progId="Equation.3">
                  <p:embed/>
                </p:oleObj>
              </mc:Choice>
              <mc:Fallback>
                <p:oleObj name="Equation" r:id="rId3" imgW="177480" imgH="228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0" y="1219200"/>
                        <a:ext cx="279400" cy="3603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0537915"/>
              </p:ext>
            </p:extLst>
          </p:nvPr>
        </p:nvGraphicFramePr>
        <p:xfrm>
          <a:off x="2672556" y="1811338"/>
          <a:ext cx="2884488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68" name="Equation" r:id="rId5" imgW="1828800" imgH="431640" progId="Equation.3">
                  <p:embed/>
                </p:oleObj>
              </mc:Choice>
              <mc:Fallback>
                <p:oleObj name="Equation" r:id="rId5" imgW="1828800" imgH="431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2556" y="1811338"/>
                        <a:ext cx="2884488" cy="6794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6713" y="1312672"/>
            <a:ext cx="2224088" cy="2668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Cumulative distribution function (CDF)</a:t>
            </a:r>
          </a:p>
          <a:p>
            <a:pPr lvl="1"/>
            <a:r>
              <a:rPr lang="en-US" dirty="0"/>
              <a:t>All called </a:t>
            </a:r>
            <a:r>
              <a:rPr lang="en-US" dirty="0">
                <a:solidFill>
                  <a:srgbClr val="FF0000"/>
                </a:solidFill>
              </a:rPr>
              <a:t>distribution function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The probability that the RV, </a:t>
            </a:r>
            <a:r>
              <a:rPr lang="en-US" i="1" dirty="0"/>
              <a:t>X</a:t>
            </a:r>
            <a:r>
              <a:rPr lang="en-US" dirty="0"/>
              <a:t>, is less than or equal to a deterministic number, </a:t>
            </a:r>
            <a:r>
              <a:rPr lang="en-US" i="1" dirty="0"/>
              <a:t>x</a:t>
            </a:r>
            <a:r>
              <a:rPr lang="en-US" dirty="0"/>
              <a:t>        </a:t>
            </a:r>
          </a:p>
          <a:p>
            <a:pPr lvl="2"/>
            <a:r>
              <a:rPr lang="en-US" dirty="0"/>
              <a:t>capital letter X: Random variable (has random values)</a:t>
            </a:r>
          </a:p>
          <a:p>
            <a:pPr lvl="2"/>
            <a:r>
              <a:rPr lang="en-US" dirty="0"/>
              <a:t>Small letter x: deterministic variable (has fixed value)</a:t>
            </a:r>
          </a:p>
          <a:p>
            <a:pPr lvl="2"/>
            <a:r>
              <a:rPr lang="en-US" dirty="0"/>
              <a:t>E.g.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12</a:t>
            </a:fld>
            <a:endParaRPr lang="en-US" altLang="zh-CN" dirty="0" smtClean="0"/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6727720"/>
              </p:ext>
            </p:extLst>
          </p:nvPr>
        </p:nvGraphicFramePr>
        <p:xfrm>
          <a:off x="3082924" y="1683606"/>
          <a:ext cx="1843088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08" name="Equation" r:id="rId3" imgW="1168200" imgH="215640" progId="Equation.3">
                  <p:embed/>
                </p:oleObj>
              </mc:Choice>
              <mc:Fallback>
                <p:oleObj name="Equation" r:id="rId3" imgW="11682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2924" y="1683606"/>
                        <a:ext cx="1843088" cy="3397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1402404"/>
              </p:ext>
            </p:extLst>
          </p:nvPr>
        </p:nvGraphicFramePr>
        <p:xfrm>
          <a:off x="3124200" y="3893965"/>
          <a:ext cx="1801812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09" name="Equation" r:id="rId5" imgW="1143000" imgH="215640" progId="Equation.3">
                  <p:embed/>
                </p:oleObj>
              </mc:Choice>
              <mc:Fallback>
                <p:oleObj name="Equation" r:id="rId5" imgW="11430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893965"/>
                        <a:ext cx="1801812" cy="33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3713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Flip an unfair coin with the probability </a:t>
            </a:r>
            <a:r>
              <a:rPr lang="en-US" i="1" dirty="0" smtClean="0"/>
              <a:t>p</a:t>
            </a:r>
            <a:r>
              <a:rPr lang="en-US" dirty="0" smtClean="0"/>
              <a:t> of coming up head. Define an RV X, such that H </a:t>
            </a:r>
            <a:r>
              <a:rPr lang="en-US" dirty="0" smtClean="0">
                <a:sym typeface="Wingdings" pitchFamily="2" charset="2"/>
              </a:rPr>
              <a:t> X = 1; T  X = 0. What is the CDF?</a:t>
            </a: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>
              <a:buNone/>
            </a:pPr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13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Suppose X has a PMF given by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Find and plot the CDF.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14</a:t>
            </a:fld>
            <a:endParaRPr lang="en-US" altLang="zh-CN" dirty="0" smtClean="0"/>
          </a:p>
        </p:txBody>
      </p:sp>
      <p:graphicFrame>
        <p:nvGraphicFramePr>
          <p:cNvPr id="89090" name="Object 2"/>
          <p:cNvGraphicFramePr>
            <a:graphicFrameLocks noChangeAspect="1"/>
          </p:cNvGraphicFramePr>
          <p:nvPr/>
        </p:nvGraphicFramePr>
        <p:xfrm>
          <a:off x="1746250" y="1536700"/>
          <a:ext cx="1020763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71" name="Equation" r:id="rId3" imgW="647640" imgH="393480" progId="Equation.3">
                  <p:embed/>
                </p:oleObj>
              </mc:Choice>
              <mc:Fallback>
                <p:oleObj name="Equation" r:id="rId3" imgW="64764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6250" y="1536700"/>
                        <a:ext cx="1020763" cy="619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1" name="Object 3"/>
          <p:cNvGraphicFramePr>
            <a:graphicFrameLocks noChangeAspect="1"/>
          </p:cNvGraphicFramePr>
          <p:nvPr/>
        </p:nvGraphicFramePr>
        <p:xfrm>
          <a:off x="3413125" y="1536700"/>
          <a:ext cx="104140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72" name="Equation" r:id="rId5" imgW="660240" imgH="393480" progId="Equation.3">
                  <p:embed/>
                </p:oleObj>
              </mc:Choice>
              <mc:Fallback>
                <p:oleObj name="Equation" r:id="rId5" imgW="660240" imgH="393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3125" y="1536700"/>
                        <a:ext cx="1041400" cy="619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2" name="Object 4"/>
          <p:cNvGraphicFramePr>
            <a:graphicFrameLocks noChangeAspect="1"/>
          </p:cNvGraphicFramePr>
          <p:nvPr/>
        </p:nvGraphicFramePr>
        <p:xfrm>
          <a:off x="5257800" y="1524000"/>
          <a:ext cx="104140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73" name="Equation" r:id="rId7" imgW="660240" imgH="393480" progId="Equation.3">
                  <p:embed/>
                </p:oleObj>
              </mc:Choice>
              <mc:Fallback>
                <p:oleObj name="Equation" r:id="rId7" imgW="660240" imgH="3934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1524000"/>
                        <a:ext cx="1041400" cy="619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Properties of CDF</a:t>
            </a:r>
          </a:p>
          <a:p>
            <a:pPr lvl="1"/>
            <a:r>
              <a:rPr lang="en-US" dirty="0" smtClean="0"/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                       is a non-decreasing function of </a:t>
            </a:r>
            <a:r>
              <a:rPr lang="en-US" i="1" dirty="0" smtClean="0"/>
              <a:t>x</a:t>
            </a:r>
          </a:p>
          <a:p>
            <a:pPr lvl="1"/>
            <a:endParaRPr lang="en-US" i="1" dirty="0" smtClean="0"/>
          </a:p>
          <a:p>
            <a:pPr lvl="1"/>
            <a:r>
              <a:rPr lang="en-US" i="1" dirty="0" smtClean="0"/>
              <a:t> </a:t>
            </a:r>
          </a:p>
          <a:p>
            <a:pPr lvl="1"/>
            <a:endParaRPr lang="en-US" i="1" dirty="0" smtClean="0"/>
          </a:p>
          <a:p>
            <a:pPr lvl="1"/>
            <a:r>
              <a:rPr lang="en-US" i="1" dirty="0" smtClean="0"/>
              <a:t> 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15</a:t>
            </a:fld>
            <a:endParaRPr lang="en-US" altLang="zh-CN" dirty="0" smtClean="0"/>
          </a:p>
        </p:txBody>
      </p:sp>
      <p:graphicFrame>
        <p:nvGraphicFramePr>
          <p:cNvPr id="90114" name="Object 2"/>
          <p:cNvGraphicFramePr>
            <a:graphicFrameLocks noChangeAspect="1"/>
          </p:cNvGraphicFramePr>
          <p:nvPr/>
        </p:nvGraphicFramePr>
        <p:xfrm>
          <a:off x="1905000" y="1295400"/>
          <a:ext cx="1322387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78" name="Equation" r:id="rId3" imgW="838080" imgH="215640" progId="Equation.3">
                  <p:embed/>
                </p:oleObj>
              </mc:Choice>
              <mc:Fallback>
                <p:oleObj name="Equation" r:id="rId3" imgW="83808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295400"/>
                        <a:ext cx="1322387" cy="33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7" name="Object 5"/>
          <p:cNvGraphicFramePr>
            <a:graphicFrameLocks noChangeAspect="1"/>
          </p:cNvGraphicFramePr>
          <p:nvPr/>
        </p:nvGraphicFramePr>
        <p:xfrm>
          <a:off x="2057400" y="2286000"/>
          <a:ext cx="1201738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79" name="Equation" r:id="rId5" imgW="761760" imgH="215640" progId="Equation.3">
                  <p:embed/>
                </p:oleObj>
              </mc:Choice>
              <mc:Fallback>
                <p:oleObj name="Equation" r:id="rId5" imgW="761760" imgH="215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286000"/>
                        <a:ext cx="1201738" cy="33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8" name="Object 6"/>
          <p:cNvGraphicFramePr>
            <a:graphicFrameLocks noChangeAspect="1"/>
          </p:cNvGraphicFramePr>
          <p:nvPr/>
        </p:nvGraphicFramePr>
        <p:xfrm>
          <a:off x="2209800" y="3200400"/>
          <a:ext cx="102235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80" name="Equation" r:id="rId7" imgW="647640" imgH="215640" progId="Equation.3">
                  <p:embed/>
                </p:oleObj>
              </mc:Choice>
              <mc:Fallback>
                <p:oleObj name="Equation" r:id="rId7" imgW="647640" imgH="215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200400"/>
                        <a:ext cx="1022350" cy="33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9" name="Object 7"/>
          <p:cNvGraphicFramePr>
            <a:graphicFrameLocks noChangeAspect="1"/>
          </p:cNvGraphicFramePr>
          <p:nvPr/>
        </p:nvGraphicFramePr>
        <p:xfrm>
          <a:off x="1981200" y="4191000"/>
          <a:ext cx="66040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81" name="Equation" r:id="rId9" imgW="419040" imgH="215640" progId="Equation.3">
                  <p:embed/>
                </p:oleObj>
              </mc:Choice>
              <mc:Fallback>
                <p:oleObj name="Equation" r:id="rId9" imgW="419040" imgH="2156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191000"/>
                        <a:ext cx="660400" cy="33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0" name="Object 8"/>
          <p:cNvGraphicFramePr>
            <a:graphicFrameLocks noChangeAspect="1"/>
          </p:cNvGraphicFramePr>
          <p:nvPr/>
        </p:nvGraphicFramePr>
        <p:xfrm>
          <a:off x="1981200" y="4876800"/>
          <a:ext cx="330200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82" name="Equation" r:id="rId11" imgW="2095200" imgH="215640" progId="Equation.3">
                  <p:embed/>
                </p:oleObj>
              </mc:Choice>
              <mc:Fallback>
                <p:oleObj name="Equation" r:id="rId11" imgW="2095200" imgH="2156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876800"/>
                        <a:ext cx="3302000" cy="33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1" name="Object 9"/>
          <p:cNvGraphicFramePr>
            <a:graphicFrameLocks noChangeAspect="1"/>
          </p:cNvGraphicFramePr>
          <p:nvPr/>
        </p:nvGraphicFramePr>
        <p:xfrm>
          <a:off x="2133600" y="5562600"/>
          <a:ext cx="2141537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83" name="Equation" r:id="rId13" imgW="1358640" imgH="215640" progId="Equation.3">
                  <p:embed/>
                </p:oleObj>
              </mc:Choice>
              <mc:Fallback>
                <p:oleObj name="Equation" r:id="rId13" imgW="1358640" imgH="21564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5562600"/>
                        <a:ext cx="2141537" cy="33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16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Random Variable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Discrete Random Variable</a:t>
            </a:r>
          </a:p>
          <a:p>
            <a:pPr marL="800100" lvl="1" indent="-342900">
              <a:spcBef>
                <a:spcPct val="20000"/>
              </a:spcBef>
              <a:defRPr/>
            </a:pP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baseline="0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Families of Discrete</a:t>
            </a: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Random Variables</a:t>
            </a: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baseline="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Moments</a:t>
            </a: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2826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Bernoulli RV</a:t>
            </a:r>
          </a:p>
          <a:p>
            <a:pPr lvl="1"/>
            <a:r>
              <a:rPr lang="en-US" dirty="0" smtClean="0"/>
              <a:t>Consider an experiment, whose outcome can be classified as either a “success” or as a “failure”. The probability of success is </a:t>
            </a:r>
            <a:r>
              <a:rPr lang="en-US" i="1" dirty="0" smtClean="0"/>
              <a:t>p</a:t>
            </a:r>
            <a:r>
              <a:rPr lang="en-US" dirty="0" smtClean="0"/>
              <a:t>. Define an RV X such that</a:t>
            </a:r>
          </a:p>
          <a:p>
            <a:pPr lvl="2"/>
            <a:r>
              <a:rPr lang="en-US" dirty="0" smtClean="0"/>
              <a:t>Success </a:t>
            </a:r>
            <a:r>
              <a:rPr lang="en-US" dirty="0" smtClean="0">
                <a:sym typeface="Wingdings" pitchFamily="2" charset="2"/>
              </a:rPr>
              <a:t> X = 1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Failure  X = 0.</a:t>
            </a:r>
          </a:p>
          <a:p>
            <a:pPr lvl="2">
              <a:buNone/>
            </a:pPr>
            <a:r>
              <a:rPr lang="en-US" dirty="0" smtClean="0">
                <a:sym typeface="Wingdings" pitchFamily="2" charset="2"/>
              </a:rPr>
              <a:t>Then X is called a Bernoulli RV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The PMF</a:t>
            </a: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r>
              <a:rPr lang="en-US" dirty="0" smtClean="0">
                <a:sym typeface="Wingdings" pitchFamily="2" charset="2"/>
              </a:rPr>
              <a:t>The CDF</a:t>
            </a: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r>
              <a:rPr lang="en-US" dirty="0" smtClean="0">
                <a:sym typeface="Wingdings" pitchFamily="2" charset="2"/>
              </a:rPr>
              <a:t>Recall Bernoulli trials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Perform the experiment independently for </a:t>
            </a:r>
            <a:r>
              <a:rPr lang="en-US" i="1" dirty="0" smtClean="0">
                <a:sym typeface="Wingdings" pitchFamily="2" charset="2"/>
              </a:rPr>
              <a:t>N</a:t>
            </a:r>
            <a:r>
              <a:rPr lang="en-US" dirty="0" smtClean="0">
                <a:sym typeface="Wingdings" pitchFamily="2" charset="2"/>
              </a:rPr>
              <a:t> times</a:t>
            </a:r>
          </a:p>
          <a:p>
            <a:pPr lvl="1">
              <a:buNone/>
            </a:pP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17</a:t>
            </a:fld>
            <a:endParaRPr lang="en-US" altLang="zh-CN" dirty="0" smtClean="0"/>
          </a:p>
        </p:txBody>
      </p:sp>
      <p:graphicFrame>
        <p:nvGraphicFramePr>
          <p:cNvPr id="91138" name="Object 2"/>
          <p:cNvGraphicFramePr>
            <a:graphicFrameLocks noChangeAspect="1"/>
          </p:cNvGraphicFramePr>
          <p:nvPr/>
        </p:nvGraphicFramePr>
        <p:xfrm>
          <a:off x="1905000" y="3581400"/>
          <a:ext cx="1381125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92" name="Equation" r:id="rId3" imgW="876240" imgH="203040" progId="Equation.3">
                  <p:embed/>
                </p:oleObj>
              </mc:Choice>
              <mc:Fallback>
                <p:oleObj name="Equation" r:id="rId3" imgW="876240" imgH="203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581400"/>
                        <a:ext cx="1381125" cy="319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39" name="Object 3"/>
          <p:cNvGraphicFramePr>
            <a:graphicFrameLocks noChangeAspect="1"/>
          </p:cNvGraphicFramePr>
          <p:nvPr/>
        </p:nvGraphicFramePr>
        <p:xfrm>
          <a:off x="4495800" y="3581400"/>
          <a:ext cx="1700213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93" name="Equation" r:id="rId5" imgW="1079280" imgH="203040" progId="Equation.3">
                  <p:embed/>
                </p:oleObj>
              </mc:Choice>
              <mc:Fallback>
                <p:oleObj name="Equation" r:id="rId5" imgW="107928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3581400"/>
                        <a:ext cx="1700213" cy="319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Binomial RV</a:t>
            </a:r>
          </a:p>
          <a:p>
            <a:pPr lvl="1"/>
            <a:r>
              <a:rPr lang="en-US" dirty="0" smtClean="0"/>
              <a:t>Perform </a:t>
            </a:r>
            <a:r>
              <a:rPr lang="en-US" i="1" dirty="0" smtClean="0"/>
              <a:t>n</a:t>
            </a:r>
            <a:r>
              <a:rPr lang="en-US" dirty="0" smtClean="0"/>
              <a:t> independent trials, each of which results in a “success” with probability </a:t>
            </a:r>
            <a:r>
              <a:rPr lang="en-US" i="1" dirty="0" smtClean="0"/>
              <a:t>p</a:t>
            </a:r>
            <a:r>
              <a:rPr lang="en-US" dirty="0" smtClean="0"/>
              <a:t>. Define the RV Y as the total number of successes that occur in the </a:t>
            </a:r>
            <a:r>
              <a:rPr lang="en-US" i="1" dirty="0" smtClean="0"/>
              <a:t>n</a:t>
            </a:r>
            <a:r>
              <a:rPr lang="en-US" dirty="0" smtClean="0"/>
              <a:t> trials. Then Y is a binomial RV. </a:t>
            </a:r>
          </a:p>
          <a:p>
            <a:pPr lvl="1"/>
            <a:r>
              <a:rPr lang="en-US" dirty="0" smtClean="0"/>
              <a:t>PMF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The summation of PMF</a:t>
            </a:r>
          </a:p>
          <a:p>
            <a:pPr lvl="2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18</a:t>
            </a:fld>
            <a:endParaRPr lang="en-US" altLang="zh-CN" dirty="0" smtClean="0"/>
          </a:p>
        </p:txBody>
      </p:sp>
      <p:graphicFrame>
        <p:nvGraphicFramePr>
          <p:cNvPr id="92162" name="Object 2"/>
          <p:cNvGraphicFramePr>
            <a:graphicFrameLocks noChangeAspect="1"/>
          </p:cNvGraphicFramePr>
          <p:nvPr/>
        </p:nvGraphicFramePr>
        <p:xfrm>
          <a:off x="1905000" y="2590800"/>
          <a:ext cx="196215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3" name="Equation" r:id="rId3" imgW="1244520" imgH="215640" progId="Equation.3">
                  <p:embed/>
                </p:oleObj>
              </mc:Choice>
              <mc:Fallback>
                <p:oleObj name="Equation" r:id="rId3" imgW="124452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590800"/>
                        <a:ext cx="1962150" cy="33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3" name="Object 3"/>
          <p:cNvGraphicFramePr>
            <a:graphicFrameLocks noChangeAspect="1"/>
          </p:cNvGraphicFramePr>
          <p:nvPr/>
        </p:nvGraphicFramePr>
        <p:xfrm>
          <a:off x="2286000" y="4800600"/>
          <a:ext cx="112077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4" name="Equation" r:id="rId5" imgW="711000" imgH="431640" progId="Equation.3">
                  <p:embed/>
                </p:oleObj>
              </mc:Choice>
              <mc:Fallback>
                <p:oleObj name="Equation" r:id="rId5" imgW="711000" imgH="431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800600"/>
                        <a:ext cx="1120775" cy="679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4" name="Object 4"/>
          <p:cNvGraphicFramePr>
            <a:graphicFrameLocks noChangeAspect="1"/>
          </p:cNvGraphicFramePr>
          <p:nvPr/>
        </p:nvGraphicFramePr>
        <p:xfrm>
          <a:off x="3962400" y="2438400"/>
          <a:ext cx="1336675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5" name="Equation" r:id="rId7" imgW="990360" imgH="457200" progId="Equation.3">
                  <p:embed/>
                </p:oleObj>
              </mc:Choice>
              <mc:Fallback>
                <p:oleObj name="Equation" r:id="rId7" imgW="990360" imgH="457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438400"/>
                        <a:ext cx="1336675" cy="6223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Relationship between Bernoulli RV and Binomial RV</a:t>
            </a:r>
          </a:p>
          <a:p>
            <a:pPr lvl="1"/>
            <a:r>
              <a:rPr lang="en-US" dirty="0" smtClean="0"/>
              <a:t>Consider an experiment, whose outcome can be classified as either a “success” or as a “failure”. The probability of success is </a:t>
            </a:r>
            <a:r>
              <a:rPr lang="en-US" i="1" dirty="0" smtClean="0"/>
              <a:t>p</a:t>
            </a:r>
            <a:r>
              <a:rPr lang="en-US" dirty="0" smtClean="0"/>
              <a:t>. The Bernoulli RV, X, is defined as</a:t>
            </a:r>
          </a:p>
          <a:p>
            <a:pPr lvl="2"/>
            <a:r>
              <a:rPr lang="en-US" dirty="0" smtClean="0"/>
              <a:t>Success </a:t>
            </a:r>
            <a:r>
              <a:rPr lang="en-US" dirty="0" smtClean="0">
                <a:sym typeface="Wingdings" pitchFamily="2" charset="2"/>
              </a:rPr>
              <a:t> X = 1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Failure  X = 0.</a:t>
            </a:r>
          </a:p>
          <a:p>
            <a:pPr lvl="2">
              <a:buNone/>
            </a:pPr>
            <a:endParaRPr lang="en-US" dirty="0" smtClean="0">
              <a:sym typeface="Wingdings" pitchFamily="2" charset="2"/>
            </a:endParaRP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Perform </a:t>
            </a:r>
            <a:r>
              <a:rPr lang="en-US" i="1" dirty="0" smtClean="0"/>
              <a:t>n</a:t>
            </a:r>
            <a:r>
              <a:rPr lang="en-US" dirty="0" smtClean="0"/>
              <a:t> independent trials, each of which results in a “success” with probability </a:t>
            </a:r>
            <a:r>
              <a:rPr lang="en-US" i="1" dirty="0" smtClean="0"/>
              <a:t>p</a:t>
            </a:r>
            <a:r>
              <a:rPr lang="en-US" dirty="0" smtClean="0"/>
              <a:t>. Define the RV Y as the total number of successes that occur in the </a:t>
            </a:r>
            <a:r>
              <a:rPr lang="en-US" i="1" dirty="0" smtClean="0"/>
              <a:t>n</a:t>
            </a:r>
            <a:r>
              <a:rPr lang="en-US" dirty="0" smtClean="0"/>
              <a:t> trials. Then Y is a binomial RV. </a:t>
            </a:r>
          </a:p>
          <a:p>
            <a:pPr lvl="2"/>
            <a:r>
              <a:rPr lang="en-US" dirty="0" smtClean="0"/>
              <a:t>Each trial results in a Bernoulli RV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The relationship between the Bernoulli RV       , and the Binomial RV </a:t>
            </a:r>
            <a:r>
              <a:rPr lang="en-US" i="1" dirty="0" smtClean="0"/>
              <a:t>Y</a:t>
            </a:r>
            <a:r>
              <a:rPr lang="en-US" dirty="0" smtClean="0"/>
              <a:t> 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19</a:t>
            </a:fld>
            <a:endParaRPr lang="en-US" altLang="zh-CN" dirty="0" smtClean="0"/>
          </a:p>
        </p:txBody>
      </p:sp>
      <p:graphicFrame>
        <p:nvGraphicFramePr>
          <p:cNvPr id="93186" name="Object 2"/>
          <p:cNvGraphicFramePr>
            <a:graphicFrameLocks noChangeAspect="1"/>
          </p:cNvGraphicFramePr>
          <p:nvPr/>
        </p:nvGraphicFramePr>
        <p:xfrm>
          <a:off x="5410200" y="5029200"/>
          <a:ext cx="32067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49" name="Equation" r:id="rId3" imgW="203040" imgH="228600" progId="Equation.3">
                  <p:embed/>
                </p:oleObj>
              </mc:Choice>
              <mc:Fallback>
                <p:oleObj name="Equation" r:id="rId3" imgW="203040" imgH="228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5029200"/>
                        <a:ext cx="320675" cy="358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7" name="Object 3"/>
          <p:cNvGraphicFramePr>
            <a:graphicFrameLocks noChangeAspect="1"/>
          </p:cNvGraphicFramePr>
          <p:nvPr/>
        </p:nvGraphicFramePr>
        <p:xfrm>
          <a:off x="5257800" y="4038600"/>
          <a:ext cx="32067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50" name="Equation" r:id="rId5" imgW="203040" imgH="228600" progId="Equation.3">
                  <p:embed/>
                </p:oleObj>
              </mc:Choice>
              <mc:Fallback>
                <p:oleObj name="Equation" r:id="rId5" imgW="203040" imgH="228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4038600"/>
                        <a:ext cx="320675" cy="358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8" name="Object 4"/>
          <p:cNvGraphicFramePr>
            <a:graphicFrameLocks noChangeAspect="1"/>
          </p:cNvGraphicFramePr>
          <p:nvPr/>
        </p:nvGraphicFramePr>
        <p:xfrm>
          <a:off x="3886200" y="5638800"/>
          <a:ext cx="1022350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51" name="Equation" r:id="rId7" imgW="647640" imgH="431640" progId="Equation.3">
                  <p:embed/>
                </p:oleObj>
              </mc:Choice>
              <mc:Fallback>
                <p:oleObj name="Equation" r:id="rId7" imgW="647640" imgH="431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638800"/>
                        <a:ext cx="1022350" cy="6778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9" name="Object 5"/>
          <p:cNvGraphicFramePr>
            <a:graphicFrameLocks noChangeAspect="1"/>
          </p:cNvGraphicFramePr>
          <p:nvPr/>
        </p:nvGraphicFramePr>
        <p:xfrm>
          <a:off x="3429000" y="2895600"/>
          <a:ext cx="1763713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52" name="Equation" r:id="rId9" imgW="1117440" imgH="203040" progId="Equation.3">
                  <p:embed/>
                </p:oleObj>
              </mc:Choice>
              <mc:Fallback>
                <p:oleObj name="Equation" r:id="rId9" imgW="1117440" imgH="2030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895600"/>
                        <a:ext cx="1763713" cy="319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0" name="Object 6"/>
          <p:cNvGraphicFramePr>
            <a:graphicFrameLocks noChangeAspect="1"/>
          </p:cNvGraphicFramePr>
          <p:nvPr/>
        </p:nvGraphicFramePr>
        <p:xfrm>
          <a:off x="2438400" y="4648200"/>
          <a:ext cx="180340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53" name="Equation" r:id="rId11" imgW="1143000" imgH="228600" progId="Equation.3">
                  <p:embed/>
                </p:oleObj>
              </mc:Choice>
              <mc:Fallback>
                <p:oleObj name="Equation" r:id="rId11" imgW="1143000" imgH="2286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648200"/>
                        <a:ext cx="1803400" cy="358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2" name="Object 8"/>
          <p:cNvGraphicFramePr>
            <a:graphicFrameLocks noChangeAspect="1"/>
          </p:cNvGraphicFramePr>
          <p:nvPr/>
        </p:nvGraphicFramePr>
        <p:xfrm>
          <a:off x="4979988" y="4667250"/>
          <a:ext cx="1903412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54" name="Equation" r:id="rId13" imgW="1206360" imgH="203040" progId="Equation.3">
                  <p:embed/>
                </p:oleObj>
              </mc:Choice>
              <mc:Fallback>
                <p:oleObj name="Equation" r:id="rId13" imgW="1206360" imgH="2030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9988" y="4667250"/>
                        <a:ext cx="1903412" cy="319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It is known that any item produced by a certain machine will be defective with probability 0.1, independently of any other item. What is the probability that in a sample of 3 items, at most one will be defective?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20</a:t>
            </a:fld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Binomial RV</a:t>
            </a:r>
          </a:p>
          <a:p>
            <a:pPr lvl="1"/>
            <a:r>
              <a:rPr lang="en-US" dirty="0" smtClean="0"/>
              <a:t>On a multiple-choice exam with 4 possible answers for each of the 5 questions. What is the probability that a student would get 4 or more correct answers just by guessing?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21</a:t>
            </a:fld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Geometric RV</a:t>
            </a:r>
          </a:p>
          <a:p>
            <a:pPr lvl="1"/>
            <a:r>
              <a:rPr lang="en-US" dirty="0" smtClean="0"/>
              <a:t>Suppose that independent trials, each having probability </a:t>
            </a:r>
            <a:r>
              <a:rPr lang="en-US" i="1" dirty="0" smtClean="0"/>
              <a:t>p</a:t>
            </a:r>
            <a:r>
              <a:rPr lang="en-US" dirty="0" smtClean="0"/>
              <a:t> of being success. The experiment is performed until a success occurs. Define </a:t>
            </a:r>
            <a:r>
              <a:rPr lang="en-US" i="1" dirty="0" smtClean="0"/>
              <a:t>X</a:t>
            </a:r>
            <a:r>
              <a:rPr lang="en-US" dirty="0" smtClean="0"/>
              <a:t> as the number of trials required until the first success. Then X is said to be a geometric RV.</a:t>
            </a:r>
          </a:p>
          <a:p>
            <a:pPr lvl="1"/>
            <a:r>
              <a:rPr lang="en-US" dirty="0" smtClean="0"/>
              <a:t>PMF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The sum of Geometric PMF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22</a:t>
            </a:fld>
            <a:endParaRPr lang="en-US" altLang="zh-CN" dirty="0" smtClean="0"/>
          </a:p>
        </p:txBody>
      </p:sp>
      <p:graphicFrame>
        <p:nvGraphicFramePr>
          <p:cNvPr id="94210" name="Object 2"/>
          <p:cNvGraphicFramePr>
            <a:graphicFrameLocks noChangeAspect="1"/>
          </p:cNvGraphicFramePr>
          <p:nvPr/>
        </p:nvGraphicFramePr>
        <p:xfrm>
          <a:off x="1905000" y="2895600"/>
          <a:ext cx="2062162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91" name="Equation" r:id="rId3" imgW="1307880" imgH="215640" progId="Equation.3">
                  <p:embed/>
                </p:oleObj>
              </mc:Choice>
              <mc:Fallback>
                <p:oleObj name="Equation" r:id="rId3" imgW="130788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895600"/>
                        <a:ext cx="2062162" cy="33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1" name="Object 3"/>
          <p:cNvGraphicFramePr>
            <a:graphicFrameLocks noChangeAspect="1"/>
          </p:cNvGraphicFramePr>
          <p:nvPr/>
        </p:nvGraphicFramePr>
        <p:xfrm>
          <a:off x="4038600" y="2895600"/>
          <a:ext cx="92551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92" name="Equation" r:id="rId5" imgW="685800" imgH="228600" progId="Equation.3">
                  <p:embed/>
                </p:oleObj>
              </mc:Choice>
              <mc:Fallback>
                <p:oleObj name="Equation" r:id="rId5" imgW="685800" imgH="228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2895600"/>
                        <a:ext cx="925512" cy="3111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2" name="Object 4"/>
          <p:cNvGraphicFramePr>
            <a:graphicFrameLocks noChangeAspect="1"/>
          </p:cNvGraphicFramePr>
          <p:nvPr/>
        </p:nvGraphicFramePr>
        <p:xfrm>
          <a:off x="1955800" y="3868738"/>
          <a:ext cx="150177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93" name="Equation" r:id="rId7" imgW="952200" imgH="431640" progId="Equation.3">
                  <p:embed/>
                </p:oleObj>
              </mc:Choice>
              <mc:Fallback>
                <p:oleObj name="Equation" r:id="rId7" imgW="952200" imgH="431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3868738"/>
                        <a:ext cx="1501775" cy="679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4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7772400" cy="1333500"/>
          </a:xfrm>
        </p:spPr>
        <p:txBody>
          <a:bodyPr/>
          <a:lstStyle/>
          <a:p>
            <a:r>
              <a:rPr lang="en-US" dirty="0" smtClean="0"/>
              <a:t>Poisson RV</a:t>
            </a:r>
          </a:p>
          <a:p>
            <a:pPr lvl="1"/>
            <a:r>
              <a:rPr lang="en-US" dirty="0" smtClean="0"/>
              <a:t>A random variable X, taking on the values 0, 1, 2, ……, is said to be a Poisson random variable with parameter     &gt; 0, if the PMF can be written as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23</a:t>
            </a:fld>
            <a:endParaRPr lang="en-US" altLang="zh-CN" dirty="0" smtClean="0"/>
          </a:p>
        </p:txBody>
      </p:sp>
      <p:graphicFrame>
        <p:nvGraphicFramePr>
          <p:cNvPr id="110594" name="Object 2"/>
          <p:cNvGraphicFramePr>
            <a:graphicFrameLocks noChangeAspect="1"/>
          </p:cNvGraphicFramePr>
          <p:nvPr/>
        </p:nvGraphicFramePr>
        <p:xfrm>
          <a:off x="5181600" y="1524000"/>
          <a:ext cx="219075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02" name="Equation" r:id="rId3" imgW="139680" imgH="177480" progId="Equation.3">
                  <p:embed/>
                </p:oleObj>
              </mc:Choice>
              <mc:Fallback>
                <p:oleObj name="Equation" r:id="rId3" imgW="139680" imgH="177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1524000"/>
                        <a:ext cx="219075" cy="280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5" name="Object 3"/>
          <p:cNvGraphicFramePr>
            <a:graphicFrameLocks noChangeAspect="1"/>
          </p:cNvGraphicFramePr>
          <p:nvPr/>
        </p:nvGraphicFramePr>
        <p:xfrm>
          <a:off x="3394075" y="2057400"/>
          <a:ext cx="1673225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03" name="Equation" r:id="rId5" imgW="1155600" imgH="419040" progId="Equation.3">
                  <p:embed/>
                </p:oleObj>
              </mc:Choice>
              <mc:Fallback>
                <p:oleObj name="Equation" r:id="rId5" imgW="1155600" imgH="419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4075" y="2057400"/>
                        <a:ext cx="1673225" cy="6127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ntent Placeholder 2"/>
          <p:cNvSpPr txBox="1">
            <a:spLocks/>
          </p:cNvSpPr>
          <p:nvPr/>
        </p:nvSpPr>
        <p:spPr>
          <a:xfrm>
            <a:off x="609600" y="3657600"/>
            <a:ext cx="77724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Sum of Poisson</a:t>
            </a:r>
            <a:r>
              <a:rPr kumimoji="0" lang="en-US" sz="2000" b="1" i="0" u="none" strike="noStrike" kern="1200" cap="none" spc="0" normalizeH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PMF</a:t>
            </a:r>
            <a:endParaRPr kumimoji="0" lang="en-US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110596" name="Object 4"/>
          <p:cNvGraphicFramePr>
            <a:graphicFrameLocks noChangeAspect="1"/>
          </p:cNvGraphicFramePr>
          <p:nvPr/>
        </p:nvGraphicFramePr>
        <p:xfrm>
          <a:off x="4038600" y="5486400"/>
          <a:ext cx="1012825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04" name="Equation" r:id="rId7" imgW="698400" imgH="444240" progId="Equation.3">
                  <p:embed/>
                </p:oleObj>
              </mc:Choice>
              <mc:Fallback>
                <p:oleObj name="Equation" r:id="rId7" imgW="698400" imgH="4442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5486400"/>
                        <a:ext cx="1012825" cy="6508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7" name="Object 5"/>
          <p:cNvGraphicFramePr>
            <a:graphicFrameLocks noChangeAspect="1"/>
          </p:cNvGraphicFramePr>
          <p:nvPr/>
        </p:nvGraphicFramePr>
        <p:xfrm>
          <a:off x="1674813" y="4097338"/>
          <a:ext cx="1065212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05" name="Equation" r:id="rId9" imgW="736560" imgH="444240" progId="Equation.3">
                  <p:embed/>
                </p:oleObj>
              </mc:Choice>
              <mc:Fallback>
                <p:oleObj name="Equation" r:id="rId9" imgW="736560" imgH="4442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4813" y="4097338"/>
                        <a:ext cx="1065212" cy="649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RV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If the number of accidents occurring on a highway each day is a Poisson RV with parameter            . What is the probability that at least 1 accident occur  today?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24</a:t>
            </a:fld>
            <a:endParaRPr lang="en-US" altLang="zh-CN" dirty="0" smtClean="0"/>
          </a:p>
        </p:txBody>
      </p:sp>
      <p:graphicFrame>
        <p:nvGraphicFramePr>
          <p:cNvPr id="111618" name="Object 2"/>
          <p:cNvGraphicFramePr>
            <a:graphicFrameLocks noChangeAspect="1"/>
          </p:cNvGraphicFramePr>
          <p:nvPr/>
        </p:nvGraphicFramePr>
        <p:xfrm>
          <a:off x="3200400" y="1600200"/>
          <a:ext cx="681038" cy="258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45" name="Equation" r:id="rId3" imgW="469800" imgH="177480" progId="Equation.3">
                  <p:embed/>
                </p:oleObj>
              </mc:Choice>
              <mc:Fallback>
                <p:oleObj name="Equation" r:id="rId3" imgW="469800" imgH="177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600200"/>
                        <a:ext cx="681038" cy="258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RV: SUMMARY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Bernoulli RV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Binomial RV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Geometric RV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Poisson RV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25</a:t>
            </a:fld>
            <a:endParaRPr lang="en-US" altLang="zh-CN" dirty="0" smtClean="0"/>
          </a:p>
        </p:txBody>
      </p:sp>
      <p:graphicFrame>
        <p:nvGraphicFramePr>
          <p:cNvPr id="148483" name="Object 3"/>
          <p:cNvGraphicFramePr>
            <a:graphicFrameLocks noChangeAspect="1"/>
          </p:cNvGraphicFramePr>
          <p:nvPr/>
        </p:nvGraphicFramePr>
        <p:xfrm>
          <a:off x="2743200" y="4572000"/>
          <a:ext cx="1673225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619" name="Equation" r:id="rId3" imgW="1155600" imgH="419040" progId="Equation.3">
                  <p:embed/>
                </p:oleObj>
              </mc:Choice>
              <mc:Fallback>
                <p:oleObj name="Equation" r:id="rId3" imgW="1155600" imgH="419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572000"/>
                        <a:ext cx="1673225" cy="6127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484" name="Object 4"/>
          <p:cNvGraphicFramePr>
            <a:graphicFrameLocks noChangeAspect="1"/>
          </p:cNvGraphicFramePr>
          <p:nvPr/>
        </p:nvGraphicFramePr>
        <p:xfrm>
          <a:off x="2667000" y="3733800"/>
          <a:ext cx="224155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620" name="Equation" r:id="rId5" imgW="1422360" imgH="228600" progId="Equation.3">
                  <p:embed/>
                </p:oleObj>
              </mc:Choice>
              <mc:Fallback>
                <p:oleObj name="Equation" r:id="rId5" imgW="1422360" imgH="228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733800"/>
                        <a:ext cx="2241550" cy="3603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486" name="Object 6"/>
          <p:cNvGraphicFramePr>
            <a:graphicFrameLocks noChangeAspect="1"/>
          </p:cNvGraphicFramePr>
          <p:nvPr/>
        </p:nvGraphicFramePr>
        <p:xfrm>
          <a:off x="2667000" y="2362200"/>
          <a:ext cx="2312987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621" name="Equation" r:id="rId7" imgW="1714320" imgH="457200" progId="Equation.3">
                  <p:embed/>
                </p:oleObj>
              </mc:Choice>
              <mc:Fallback>
                <p:oleObj name="Equation" r:id="rId7" imgW="1714320" imgH="4572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362200"/>
                        <a:ext cx="2312987" cy="6223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487" name="Object 7"/>
          <p:cNvGraphicFramePr>
            <a:graphicFrameLocks noChangeAspect="1"/>
          </p:cNvGraphicFramePr>
          <p:nvPr/>
        </p:nvGraphicFramePr>
        <p:xfrm>
          <a:off x="2514600" y="1524000"/>
          <a:ext cx="1322388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622" name="Equation" r:id="rId9" imgW="838080" imgH="203040" progId="Equation.3">
                  <p:embed/>
                </p:oleObj>
              </mc:Choice>
              <mc:Fallback>
                <p:oleObj name="Equation" r:id="rId9" imgW="838080" imgH="2030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524000"/>
                        <a:ext cx="1322388" cy="3190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488" name="Object 8"/>
          <p:cNvGraphicFramePr>
            <a:graphicFrameLocks noChangeAspect="1"/>
          </p:cNvGraphicFramePr>
          <p:nvPr/>
        </p:nvGraphicFramePr>
        <p:xfrm>
          <a:off x="4267200" y="1524000"/>
          <a:ext cx="1643062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623" name="Equation" r:id="rId11" imgW="1041120" imgH="203040" progId="Equation.3">
                  <p:embed/>
                </p:oleObj>
              </mc:Choice>
              <mc:Fallback>
                <p:oleObj name="Equation" r:id="rId11" imgW="1041120" imgH="2030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1524000"/>
                        <a:ext cx="1643062" cy="3190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4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26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Random Variable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Discrete Random Variable</a:t>
            </a:r>
          </a:p>
          <a:p>
            <a:pPr marL="800100" lvl="1" indent="-342900">
              <a:spcBef>
                <a:spcPct val="20000"/>
              </a:spcBef>
              <a:defRPr/>
            </a:pP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baseline="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Families of Discrete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Random Variables</a:t>
            </a: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baseline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Moments</a:t>
            </a: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791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expected value</a:t>
            </a:r>
            <a:r>
              <a:rPr lang="en-US" dirty="0" smtClean="0"/>
              <a:t>, or </a:t>
            </a:r>
            <a:r>
              <a:rPr lang="en-US" dirty="0" smtClean="0">
                <a:solidFill>
                  <a:srgbClr val="FF0000"/>
                </a:solidFill>
              </a:rPr>
              <a:t>mean</a:t>
            </a:r>
            <a:r>
              <a:rPr lang="en-US" dirty="0" smtClean="0"/>
              <a:t>, of a discrete RV, </a:t>
            </a:r>
            <a:r>
              <a:rPr lang="en-US" i="1" dirty="0" smtClean="0"/>
              <a:t>X</a:t>
            </a:r>
            <a:r>
              <a:rPr lang="en-US" dirty="0" smtClean="0"/>
              <a:t>,  is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The summation is performed over all the possible values of </a:t>
            </a:r>
            <a:r>
              <a:rPr lang="en-US" i="1" dirty="0" smtClean="0"/>
              <a:t>X.</a:t>
            </a:r>
          </a:p>
          <a:p>
            <a:pPr lvl="1"/>
            <a:r>
              <a:rPr lang="en-US" dirty="0" smtClean="0"/>
              <a:t>Also </a:t>
            </a:r>
            <a:r>
              <a:rPr lang="en-US" smtClean="0"/>
              <a:t>called as: expected </a:t>
            </a:r>
            <a:r>
              <a:rPr lang="en-US" dirty="0" smtClean="0"/>
              <a:t>value, mean, average, first moment</a:t>
            </a:r>
          </a:p>
          <a:p>
            <a:pPr lvl="1"/>
            <a:r>
              <a:rPr lang="en-US" dirty="0" smtClean="0"/>
              <a:t>Interpretation</a:t>
            </a:r>
          </a:p>
          <a:p>
            <a:pPr lvl="2"/>
            <a:r>
              <a:rPr lang="en-US" dirty="0" smtClean="0"/>
              <a:t>The </a:t>
            </a:r>
            <a:r>
              <a:rPr lang="en-US" i="1" dirty="0" smtClean="0"/>
              <a:t>weighted average </a:t>
            </a:r>
            <a:r>
              <a:rPr lang="en-US" dirty="0" smtClean="0"/>
              <a:t>of the random variable</a:t>
            </a:r>
          </a:p>
          <a:p>
            <a:pPr lvl="2"/>
            <a:r>
              <a:rPr lang="en-US" dirty="0" smtClean="0"/>
              <a:t>If the random variable takes all the values with equal probability, that is,                                                   , then</a:t>
            </a:r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r>
              <a:rPr lang="en-US" dirty="0" smtClean="0"/>
              <a:t>Given more weight to more probable values, and vice versa</a:t>
            </a:r>
          </a:p>
          <a:p>
            <a:pPr lvl="1"/>
            <a:r>
              <a:rPr lang="en-US" dirty="0" smtClean="0"/>
              <a:t>Also denoted as 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27</a:t>
            </a:fld>
            <a:endParaRPr lang="en-US" altLang="zh-CN" dirty="0" smtClean="0"/>
          </a:p>
        </p:txBody>
      </p:sp>
      <p:graphicFrame>
        <p:nvGraphicFramePr>
          <p:cNvPr id="125954" name="Object 4"/>
          <p:cNvGraphicFramePr>
            <a:graphicFrameLocks noChangeAspect="1"/>
          </p:cNvGraphicFramePr>
          <p:nvPr/>
        </p:nvGraphicFramePr>
        <p:xfrm>
          <a:off x="3152775" y="1371600"/>
          <a:ext cx="188436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45" name="Equation" r:id="rId3" imgW="1257120" imgH="368280" progId="Equation.3">
                  <p:embed/>
                </p:oleObj>
              </mc:Choice>
              <mc:Fallback>
                <p:oleObj name="Equation" r:id="rId3" imgW="1257120" imgH="3682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2775" y="1371600"/>
                        <a:ext cx="1884363" cy="5556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3309140"/>
              </p:ext>
            </p:extLst>
          </p:nvPr>
        </p:nvGraphicFramePr>
        <p:xfrm>
          <a:off x="3498056" y="4008438"/>
          <a:ext cx="123348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46" name="Equation" r:id="rId5" imgW="1015920" imgH="431640" progId="Equation.3">
                  <p:embed/>
                </p:oleObj>
              </mc:Choice>
              <mc:Fallback>
                <p:oleObj name="Equation" r:id="rId5" imgW="1015920" imgH="431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8056" y="4008438"/>
                        <a:ext cx="1233488" cy="527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7" name="Object 4"/>
          <p:cNvGraphicFramePr>
            <a:graphicFrameLocks noChangeAspect="1"/>
          </p:cNvGraphicFramePr>
          <p:nvPr/>
        </p:nvGraphicFramePr>
        <p:xfrm>
          <a:off x="2790825" y="5334000"/>
          <a:ext cx="1524000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47" name="Equation" r:id="rId7" imgW="1015920" imgH="228600" progId="Equation.3">
                  <p:embed/>
                </p:oleObj>
              </mc:Choice>
              <mc:Fallback>
                <p:oleObj name="Equation" r:id="rId7" imgW="1015920" imgH="2286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0825" y="5334000"/>
                        <a:ext cx="1524000" cy="344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31231" y="3534695"/>
            <a:ext cx="2395538" cy="4744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Consider an unfair coin with Pr(H) = 0.3. Define the RV X, such that X = 0 if H, and X = 1 if T. Find the mean of X. (Bernoulli RV)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Find the mean of a geometric RV with parameter </a:t>
            </a:r>
            <a:r>
              <a:rPr lang="en-US" i="1" dirty="0" smtClean="0"/>
              <a:t>p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28</a:t>
            </a:fld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Find the mean of a binomial RV with parameters </a:t>
            </a:r>
            <a:r>
              <a:rPr lang="en-US" i="1" dirty="0" smtClean="0"/>
              <a:t>n, k</a:t>
            </a:r>
            <a:r>
              <a:rPr lang="en-US" dirty="0" smtClean="0"/>
              <a:t>, and </a:t>
            </a:r>
            <a:r>
              <a:rPr lang="en-US" i="1" dirty="0" smtClean="0"/>
              <a:t>p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29</a:t>
            </a:fld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Find the mean of the Poisson RV with the parameter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30</a:t>
            </a:fld>
            <a:endParaRPr lang="en-US" altLang="zh-CN" dirty="0" smtClean="0"/>
          </a:p>
        </p:txBody>
      </p:sp>
      <p:graphicFrame>
        <p:nvGraphicFramePr>
          <p:cNvPr id="126978" name="Object 2"/>
          <p:cNvGraphicFramePr>
            <a:graphicFrameLocks noChangeAspect="1"/>
          </p:cNvGraphicFramePr>
          <p:nvPr/>
        </p:nvGraphicFramePr>
        <p:xfrm>
          <a:off x="6400800" y="1295400"/>
          <a:ext cx="228600" cy="292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05" name="Equation" r:id="rId3" imgW="139680" imgH="177480" progId="Equation.3">
                  <p:embed/>
                </p:oleObj>
              </mc:Choice>
              <mc:Fallback>
                <p:oleObj name="Equation" r:id="rId3" imgW="139680" imgH="177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295400"/>
                        <a:ext cx="228600" cy="2926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Expected value of any function of X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i="1" dirty="0" smtClean="0"/>
              <a:t>E</a:t>
            </a:r>
            <a:r>
              <a:rPr lang="en-US" dirty="0" smtClean="0"/>
              <a:t>(</a:t>
            </a:r>
            <a:r>
              <a:rPr lang="en-US" i="1" dirty="0" smtClean="0"/>
              <a:t>X</a:t>
            </a:r>
            <a:r>
              <a:rPr lang="en-US" dirty="0" smtClean="0"/>
              <a:t>): the expectation operator</a:t>
            </a:r>
          </a:p>
          <a:p>
            <a:pPr lvl="1"/>
            <a:r>
              <a:rPr lang="en-US" dirty="0" smtClean="0"/>
              <a:t>The variable of the expectation operator must be a random variable</a:t>
            </a:r>
          </a:p>
          <a:p>
            <a:pPr lvl="2"/>
            <a:r>
              <a:rPr lang="en-US" dirty="0" smtClean="0"/>
              <a:t>X is an RV</a:t>
            </a:r>
          </a:p>
          <a:p>
            <a:pPr lvl="2"/>
            <a:r>
              <a:rPr lang="en-US" dirty="0" smtClean="0"/>
              <a:t>g(X) is an RV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Also denoted as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31</a:t>
            </a:fld>
            <a:endParaRPr lang="en-US" altLang="zh-CN" dirty="0" smtClean="0"/>
          </a:p>
        </p:txBody>
      </p:sp>
      <p:graphicFrame>
        <p:nvGraphicFramePr>
          <p:cNvPr id="128002" name="Object 4"/>
          <p:cNvGraphicFramePr>
            <a:graphicFrameLocks noChangeAspect="1"/>
          </p:cNvGraphicFramePr>
          <p:nvPr/>
        </p:nvGraphicFramePr>
        <p:xfrm>
          <a:off x="2895600" y="1371600"/>
          <a:ext cx="247491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57" name="Equation" r:id="rId3" imgW="1650960" imgH="368280" progId="Equation.3">
                  <p:embed/>
                </p:oleObj>
              </mc:Choice>
              <mc:Fallback>
                <p:oleObj name="Equation" r:id="rId3" imgW="1650960" imgH="3682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371600"/>
                        <a:ext cx="2474913" cy="5556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04" name="Object 4"/>
          <p:cNvGraphicFramePr>
            <a:graphicFrameLocks noChangeAspect="1"/>
          </p:cNvGraphicFramePr>
          <p:nvPr/>
        </p:nvGraphicFramePr>
        <p:xfrm>
          <a:off x="3352800" y="3962400"/>
          <a:ext cx="16002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58" name="Equation" r:id="rId5" imgW="1066680" imgH="203040" progId="Equation.3">
                  <p:embed/>
                </p:oleObj>
              </mc:Choice>
              <mc:Fallback>
                <p:oleObj name="Equation" r:id="rId5" imgW="106668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962400"/>
                        <a:ext cx="1600200" cy="306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/>
          <p:cNvCxnSpPr/>
          <p:nvPr/>
        </p:nvCxnSpPr>
        <p:spPr>
          <a:xfrm>
            <a:off x="4419600" y="3962400"/>
            <a:ext cx="457200" cy="15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Consider a gambling game of throwing 3 fair coins. Let X be the RV denoting the number of heads. The payoff is        , e.g. the Casino pays $0 for 0 H, $1 for 1H, $4 for 2H, and $9 for 3H. If the Casino charges $3.5 per play, will you play the game?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32</a:t>
            </a:fld>
            <a:endParaRPr lang="en-US" altLang="zh-CN" dirty="0" smtClean="0"/>
          </a:p>
        </p:txBody>
      </p:sp>
      <p:graphicFrame>
        <p:nvGraphicFramePr>
          <p:cNvPr id="129026" name="Object 2"/>
          <p:cNvGraphicFramePr>
            <a:graphicFrameLocks noChangeAspect="1"/>
          </p:cNvGraphicFramePr>
          <p:nvPr/>
        </p:nvGraphicFramePr>
        <p:xfrm>
          <a:off x="5562600" y="1524000"/>
          <a:ext cx="342900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53" name="Equation" r:id="rId4" imgW="228600" imgH="190440" progId="Equation.3">
                  <p:embed/>
                </p:oleObj>
              </mc:Choice>
              <mc:Fallback>
                <p:oleObj name="Equation" r:id="rId4" imgW="228600" imgH="1904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1524000"/>
                        <a:ext cx="342900" cy="287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expectation operator is a </a:t>
            </a:r>
            <a:r>
              <a:rPr lang="en-US" dirty="0" smtClean="0">
                <a:solidFill>
                  <a:srgbClr val="FF0000"/>
                </a:solidFill>
              </a:rPr>
              <a:t>linear</a:t>
            </a:r>
            <a:r>
              <a:rPr lang="en-US" dirty="0" smtClean="0"/>
              <a:t> operator</a:t>
            </a:r>
          </a:p>
          <a:p>
            <a:pPr lvl="1"/>
            <a:r>
              <a:rPr lang="en-US" dirty="0" smtClean="0"/>
              <a:t>Consider two random variables X and Y and two constants a and b, we have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Proof: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33</a:t>
            </a:fld>
            <a:endParaRPr lang="en-US" altLang="zh-CN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905000"/>
            <a:ext cx="4038600" cy="43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3822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Variance</a:t>
            </a:r>
          </a:p>
          <a:p>
            <a:pPr lvl="1"/>
            <a:r>
              <a:rPr lang="en-US" dirty="0" smtClean="0"/>
              <a:t>The variance of a discrete RV X is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Also </a:t>
            </a:r>
            <a:r>
              <a:rPr lang="en-US" dirty="0" smtClean="0"/>
              <a:t>called: the 2</a:t>
            </a:r>
            <a:r>
              <a:rPr lang="en-US" baseline="30000" dirty="0" smtClean="0"/>
              <a:t>nd</a:t>
            </a:r>
            <a:r>
              <a:rPr lang="en-US" dirty="0" smtClean="0"/>
              <a:t> central moment of </a:t>
            </a:r>
            <a:r>
              <a:rPr lang="en-US" i="1" dirty="0" smtClean="0"/>
              <a:t>X</a:t>
            </a:r>
          </a:p>
          <a:p>
            <a:pPr lvl="1"/>
            <a:r>
              <a:rPr lang="en-US" dirty="0" smtClean="0"/>
              <a:t>Standard deviation: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pPr lvl="1"/>
            <a:r>
              <a:rPr lang="en-US" dirty="0" smtClean="0"/>
              <a:t>Physical interpretation</a:t>
            </a:r>
          </a:p>
          <a:p>
            <a:pPr lvl="2"/>
            <a:r>
              <a:rPr lang="en-US" dirty="0" smtClean="0"/>
              <a:t>How far away the random variable is from its expected value</a:t>
            </a:r>
          </a:p>
          <a:p>
            <a:pPr lvl="2"/>
            <a:r>
              <a:rPr lang="en-US" dirty="0" smtClean="0"/>
              <a:t>A larger variance </a:t>
            </a:r>
            <a:r>
              <a:rPr lang="en-US" dirty="0" smtClean="0">
                <a:sym typeface="Wingdings" panose="05000000000000000000" pitchFamily="2" charset="2"/>
              </a:rPr>
              <a:t> more uncertainty</a:t>
            </a:r>
          </a:p>
          <a:p>
            <a:pPr lvl="2"/>
            <a:r>
              <a:rPr lang="en-US" dirty="0" smtClean="0">
                <a:sym typeface="Wingdings" panose="05000000000000000000" pitchFamily="2" charset="2"/>
              </a:rPr>
              <a:t>Zero-variance  the RV is deterministic (no randomness)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34</a:t>
            </a:fld>
            <a:endParaRPr lang="en-US" altLang="zh-CN" dirty="0" smtClean="0"/>
          </a:p>
        </p:txBody>
      </p:sp>
      <p:graphicFrame>
        <p:nvGraphicFramePr>
          <p:cNvPr id="130050" name="Object 6"/>
          <p:cNvGraphicFramePr>
            <a:graphicFrameLocks noChangeAspect="1"/>
          </p:cNvGraphicFramePr>
          <p:nvPr/>
        </p:nvGraphicFramePr>
        <p:xfrm>
          <a:off x="1644650" y="1600200"/>
          <a:ext cx="4822825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36" name="Equation" r:id="rId3" imgW="3174840" imgH="469800" progId="Equation.3">
                  <p:embed/>
                </p:oleObj>
              </mc:Choice>
              <mc:Fallback>
                <p:oleObj name="Equation" r:id="rId3" imgW="3174840" imgH="469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4650" y="1600200"/>
                        <a:ext cx="4822825" cy="7191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2561166"/>
            <a:ext cx="1600200" cy="39264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00" y="3986668"/>
            <a:ext cx="4495800" cy="82300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Consider a discrete RV with PMF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Find the mean and variance.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35</a:t>
            </a:fld>
            <a:endParaRPr lang="en-US" altLang="zh-CN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1638300"/>
            <a:ext cx="2895600" cy="120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2316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Properties of variance</a:t>
            </a:r>
          </a:p>
          <a:p>
            <a:pPr lvl="1"/>
            <a:endParaRPr lang="en-US" dirty="0"/>
          </a:p>
          <a:p>
            <a:pPr lvl="1"/>
            <a:r>
              <a:rPr lang="en-US" dirty="0" smtClean="0"/>
              <a:t> 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36</a:t>
            </a:fld>
            <a:endParaRPr lang="en-US" altLang="zh-CN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638300"/>
            <a:ext cx="2581275" cy="457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3581400"/>
            <a:ext cx="2895600" cy="42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0397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Find the variance of the Bernoulli RV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Consider a deterministic variable x = 3. What is the mean and variance?</a:t>
            </a:r>
          </a:p>
          <a:p>
            <a:pPr lvl="1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37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i="1" dirty="0" smtClean="0"/>
              <a:t>n</a:t>
            </a:r>
            <a:r>
              <a:rPr lang="en-US" dirty="0" smtClean="0"/>
              <a:t>-</a:t>
            </a:r>
            <a:r>
              <a:rPr lang="en-US" dirty="0" err="1" smtClean="0"/>
              <a:t>th</a:t>
            </a:r>
            <a:r>
              <a:rPr lang="en-US" dirty="0" smtClean="0"/>
              <a:t> moment of the random variable X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moment:                 mean</a:t>
            </a:r>
          </a:p>
          <a:p>
            <a:pPr lvl="1"/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moment: </a:t>
            </a:r>
          </a:p>
          <a:p>
            <a:endParaRPr lang="en-US" dirty="0" smtClean="0"/>
          </a:p>
          <a:p>
            <a:r>
              <a:rPr lang="en-US" dirty="0" smtClean="0"/>
              <a:t>The n-</a:t>
            </a:r>
            <a:r>
              <a:rPr lang="en-US" dirty="0" err="1" smtClean="0"/>
              <a:t>th</a:t>
            </a:r>
            <a:r>
              <a:rPr lang="en-US" dirty="0" smtClean="0"/>
              <a:t> central moment of the random variable X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central moment:</a:t>
            </a:r>
          </a:p>
          <a:p>
            <a:pPr lvl="1"/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central moment:                                     variance 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The combination of all the moments, n = 1, 2, …., gives a complete description of the random variable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38</a:t>
            </a:fld>
            <a:endParaRPr lang="en-US" altLang="zh-CN" dirty="0" smtClean="0"/>
          </a:p>
        </p:txBody>
      </p:sp>
      <p:graphicFrame>
        <p:nvGraphicFramePr>
          <p:cNvPr id="131074" name="Object 4"/>
          <p:cNvGraphicFramePr>
            <a:graphicFrameLocks noChangeAspect="1"/>
          </p:cNvGraphicFramePr>
          <p:nvPr/>
        </p:nvGraphicFramePr>
        <p:xfrm>
          <a:off x="3048000" y="1371600"/>
          <a:ext cx="200025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236" name="Equation" r:id="rId3" imgW="1333440" imgH="368280" progId="Equation.3">
                  <p:embed/>
                </p:oleObj>
              </mc:Choice>
              <mc:Fallback>
                <p:oleObj name="Equation" r:id="rId3" imgW="1333440" imgH="3682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371600"/>
                        <a:ext cx="2000250" cy="5556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75" name="Object 4"/>
          <p:cNvGraphicFramePr>
            <a:graphicFrameLocks noChangeAspect="1"/>
          </p:cNvGraphicFramePr>
          <p:nvPr/>
        </p:nvGraphicFramePr>
        <p:xfrm>
          <a:off x="2743200" y="1981200"/>
          <a:ext cx="5715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237" name="Equation" r:id="rId5" imgW="380880" imgH="203040" progId="Equation.3">
                  <p:embed/>
                </p:oleObj>
              </mc:Choice>
              <mc:Fallback>
                <p:oleObj name="Equation" r:id="rId5" imgW="38088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981200"/>
                        <a:ext cx="571500" cy="306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76" name="Object 4"/>
          <p:cNvGraphicFramePr>
            <a:graphicFrameLocks noChangeAspect="1"/>
          </p:cNvGraphicFramePr>
          <p:nvPr/>
        </p:nvGraphicFramePr>
        <p:xfrm>
          <a:off x="2667000" y="2286000"/>
          <a:ext cx="666750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238" name="Equation" r:id="rId7" imgW="444240" imgH="228600" progId="Equation.3">
                  <p:embed/>
                </p:oleObj>
              </mc:Choice>
              <mc:Fallback>
                <p:oleObj name="Equation" r:id="rId7" imgW="444240" imgH="228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286000"/>
                        <a:ext cx="666750" cy="344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77" name="Object 4"/>
          <p:cNvGraphicFramePr>
            <a:graphicFrameLocks noChangeAspect="1"/>
          </p:cNvGraphicFramePr>
          <p:nvPr/>
        </p:nvGraphicFramePr>
        <p:xfrm>
          <a:off x="2286000" y="3429000"/>
          <a:ext cx="33909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239" name="Equation" r:id="rId9" imgW="2260440" imgH="368280" progId="Equation.3">
                  <p:embed/>
                </p:oleObj>
              </mc:Choice>
              <mc:Fallback>
                <p:oleObj name="Equation" r:id="rId9" imgW="2260440" imgH="3682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429000"/>
                        <a:ext cx="3390900" cy="5556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78" name="Object 6"/>
          <p:cNvGraphicFramePr>
            <a:graphicFrameLocks noChangeAspect="1"/>
          </p:cNvGraphicFramePr>
          <p:nvPr/>
        </p:nvGraphicFramePr>
        <p:xfrm>
          <a:off x="3581400" y="4114800"/>
          <a:ext cx="1238250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240" name="Equation" r:id="rId11" imgW="825480" imgH="215640" progId="Equation.3">
                  <p:embed/>
                </p:oleObj>
              </mc:Choice>
              <mc:Fallback>
                <p:oleObj name="Equation" r:id="rId11" imgW="825480" imgH="215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4114800"/>
                        <a:ext cx="1238250" cy="325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79" name="Object 7"/>
          <p:cNvGraphicFramePr>
            <a:graphicFrameLocks noChangeAspect="1"/>
          </p:cNvGraphicFramePr>
          <p:nvPr/>
        </p:nvGraphicFramePr>
        <p:xfrm>
          <a:off x="3505200" y="4495800"/>
          <a:ext cx="175260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241" name="Equation" r:id="rId13" imgW="1168200" imgH="241200" progId="Equation.3">
                  <p:embed/>
                </p:oleObj>
              </mc:Choice>
              <mc:Fallback>
                <p:oleObj name="Equation" r:id="rId13" imgW="1168200" imgH="2412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495800"/>
                        <a:ext cx="1752600" cy="363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1670</TotalTime>
  <Words>1752</Words>
  <Application>Microsoft Office PowerPoint</Application>
  <PresentationFormat>On-screen Show (4:3)</PresentationFormat>
  <Paragraphs>368</Paragraphs>
  <Slides>38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宋体</vt:lpstr>
      <vt:lpstr>Arial</vt:lpstr>
      <vt:lpstr>Arial Black</vt:lpstr>
      <vt:lpstr>Calibri</vt:lpstr>
      <vt:lpstr>Times New Roman</vt:lpstr>
      <vt:lpstr>Wingdings</vt:lpstr>
      <vt:lpstr>Office Theme</vt:lpstr>
      <vt:lpstr>Equation</vt:lpstr>
      <vt:lpstr>ELEG 3143 Probability &amp; Stochastic Process Ch. 2 Discrete Random Variables</vt:lpstr>
      <vt:lpstr>OUTLINE</vt:lpstr>
      <vt:lpstr>RANDOM VARIABLE</vt:lpstr>
      <vt:lpstr>RANDOM VARIABLE</vt:lpstr>
      <vt:lpstr>RANDOM VARIABLE</vt:lpstr>
      <vt:lpstr>RANDOM VARIABLE</vt:lpstr>
      <vt:lpstr>RANDOM VARIABLE</vt:lpstr>
      <vt:lpstr>OUTLINE</vt:lpstr>
      <vt:lpstr>DISCRETE RV</vt:lpstr>
      <vt:lpstr>DISCRETE RV</vt:lpstr>
      <vt:lpstr>DISCRETE RV</vt:lpstr>
      <vt:lpstr>DISCRETE RV</vt:lpstr>
      <vt:lpstr>DISCRETE RV</vt:lpstr>
      <vt:lpstr>DISCRETE RV</vt:lpstr>
      <vt:lpstr>DISCRETE RV</vt:lpstr>
      <vt:lpstr>OUTLINE</vt:lpstr>
      <vt:lpstr>DISCRETE RV</vt:lpstr>
      <vt:lpstr>DISCRETE RV</vt:lpstr>
      <vt:lpstr>DISCRETE RV</vt:lpstr>
      <vt:lpstr>DISCRETE RV</vt:lpstr>
      <vt:lpstr>DISCRETE RV</vt:lpstr>
      <vt:lpstr>DISCRETE RV</vt:lpstr>
      <vt:lpstr>DISCRETE RV</vt:lpstr>
      <vt:lpstr>DISCRETE RV </vt:lpstr>
      <vt:lpstr>DISCRETE RV: SUMMARY </vt:lpstr>
      <vt:lpstr>OUTLINE</vt:lpstr>
      <vt:lpstr>MOMENTS</vt:lpstr>
      <vt:lpstr>MOMENTS</vt:lpstr>
      <vt:lpstr>MOMENTS</vt:lpstr>
      <vt:lpstr>MOMENTS</vt:lpstr>
      <vt:lpstr>MOMENTS</vt:lpstr>
      <vt:lpstr>MOMENTS</vt:lpstr>
      <vt:lpstr>MOMENTS</vt:lpstr>
      <vt:lpstr>MOMENTS</vt:lpstr>
      <vt:lpstr>MOMENTS</vt:lpstr>
      <vt:lpstr>MOMENTS</vt:lpstr>
      <vt:lpstr>MOMENTS</vt:lpstr>
      <vt:lpstr>MOMENTS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wuj</dc:creator>
  <cp:lastModifiedBy>Jingxian Wu</cp:lastModifiedBy>
  <cp:revision>598</cp:revision>
  <dcterms:created xsi:type="dcterms:W3CDTF">2006-08-16T00:00:00Z</dcterms:created>
  <dcterms:modified xsi:type="dcterms:W3CDTF">2018-02-15T20:33:35Z</dcterms:modified>
</cp:coreProperties>
</file>