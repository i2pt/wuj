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360" r:id="rId3"/>
    <p:sldId id="332" r:id="rId4"/>
    <p:sldId id="366" r:id="rId5"/>
    <p:sldId id="367" r:id="rId6"/>
    <p:sldId id="333" r:id="rId7"/>
    <p:sldId id="368" r:id="rId8"/>
    <p:sldId id="369" r:id="rId9"/>
    <p:sldId id="370" r:id="rId10"/>
    <p:sldId id="371" r:id="rId11"/>
    <p:sldId id="379" r:id="rId12"/>
    <p:sldId id="372" r:id="rId13"/>
    <p:sldId id="373" r:id="rId14"/>
    <p:sldId id="375" r:id="rId15"/>
    <p:sldId id="376" r:id="rId16"/>
    <p:sldId id="377" r:id="rId17"/>
    <p:sldId id="380" r:id="rId18"/>
    <p:sldId id="378" r:id="rId19"/>
    <p:sldId id="381" r:id="rId20"/>
    <p:sldId id="382" r:id="rId21"/>
    <p:sldId id="383" r:id="rId22"/>
    <p:sldId id="384" r:id="rId23"/>
    <p:sldId id="385" r:id="rId24"/>
    <p:sldId id="386" r:id="rId25"/>
    <p:sldId id="38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00CC"/>
    <a:srgbClr val="0033CC"/>
    <a:srgbClr val="3333CC"/>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91" autoAdjust="0"/>
    <p:restoredTop sz="87716" autoAdjust="0"/>
  </p:normalViewPr>
  <p:slideViewPr>
    <p:cSldViewPr>
      <p:cViewPr varScale="1">
        <p:scale>
          <a:sx n="89" d="100"/>
          <a:sy n="89" d="100"/>
        </p:scale>
        <p:origin x="-1584"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image" Target="../media/image18.wmf"/><Relationship Id="rId2" Type="http://schemas.openxmlformats.org/officeDocument/2006/relationships/image" Target="../media/image13.wmf"/><Relationship Id="rId1" Type="http://schemas.openxmlformats.org/officeDocument/2006/relationships/image" Target="../media/image3.wmf"/><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3.wmf"/><Relationship Id="rId2" Type="http://schemas.openxmlformats.org/officeDocument/2006/relationships/image" Target="../media/image19.wmf"/><Relationship Id="rId1" Type="http://schemas.openxmlformats.org/officeDocument/2006/relationships/image" Target="../media/image3.wmf"/><Relationship Id="rId6" Type="http://schemas.openxmlformats.org/officeDocument/2006/relationships/image" Target="../media/image22.wmf"/><Relationship Id="rId5" Type="http://schemas.openxmlformats.org/officeDocument/2006/relationships/image" Target="../media/image4.wmf"/><Relationship Id="rId4"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6.wmf"/><Relationship Id="rId7" Type="http://schemas.openxmlformats.org/officeDocument/2006/relationships/image" Target="../media/image29.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4.wmf"/><Relationship Id="rId5" Type="http://schemas.openxmlformats.org/officeDocument/2006/relationships/image" Target="../media/image28.wmf"/><Relationship Id="rId4" Type="http://schemas.openxmlformats.org/officeDocument/2006/relationships/image" Target="../media/image27.wmf"/><Relationship Id="rId9"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41.wmf"/><Relationship Id="rId1" Type="http://schemas.openxmlformats.org/officeDocument/2006/relationships/image" Target="../media/image40.wmf"/><Relationship Id="rId4"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44.wmf"/><Relationship Id="rId1" Type="http://schemas.openxmlformats.org/officeDocument/2006/relationships/image" Target="../media/image43.wmf"/><Relationship Id="rId5" Type="http://schemas.openxmlformats.org/officeDocument/2006/relationships/image" Target="../media/image46.wmf"/><Relationship Id="rId4" Type="http://schemas.openxmlformats.org/officeDocument/2006/relationships/image" Target="../media/image4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CA95B8-4588-46D8-8F50-86C1DF9AFA24}" type="datetimeFigureOut">
              <a:rPr lang="en-US" smtClean="0"/>
              <a:pPr/>
              <a:t>4/11/2011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7B99F5-9ED3-44CF-A144-70EBB5FD541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Demo </a:t>
            </a:r>
            <a:r>
              <a:rPr lang="en-US" dirty="0" err="1" smtClean="0"/>
              <a:t>sample_mean_Gaussian</a:t>
            </a:r>
            <a:endParaRPr lang="en-US" dirty="0" smtClean="0"/>
          </a:p>
          <a:p>
            <a:r>
              <a:rPr lang="en-US" dirty="0" smtClean="0"/>
              <a:t>Demo</a:t>
            </a:r>
            <a:r>
              <a:rPr lang="en-US" baseline="0" dirty="0" smtClean="0"/>
              <a:t> </a:t>
            </a:r>
            <a:r>
              <a:rPr lang="en-US" baseline="0" dirty="0" err="1" smtClean="0"/>
              <a:t>sample_mean_Bernoulli</a:t>
            </a:r>
            <a:endParaRPr lang="en-US" dirty="0"/>
          </a:p>
        </p:txBody>
      </p:sp>
      <p:sp>
        <p:nvSpPr>
          <p:cNvPr id="4" name="Slide Number Placeholder 3"/>
          <p:cNvSpPr>
            <a:spLocks noGrp="1"/>
          </p:cNvSpPr>
          <p:nvPr>
            <p:ph type="sldNum" sz="quarter" idx="10"/>
          </p:nvPr>
        </p:nvSpPr>
        <p:spPr/>
        <p:txBody>
          <a:bodyPr/>
          <a:lstStyle/>
          <a:p>
            <a:fld id="{317B99F5-9ED3-44CF-A144-70EBB5FD5410}" type="slidenum">
              <a:rPr lang="en-US" smtClean="0"/>
              <a:pPr/>
              <a:t>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t>
            </a:r>
            <a:endParaRPr lang="en-US" dirty="0"/>
          </a:p>
        </p:txBody>
      </p:sp>
      <p:sp>
        <p:nvSpPr>
          <p:cNvPr id="4" name="Slide Number Placeholder 3"/>
          <p:cNvSpPr>
            <a:spLocks noGrp="1"/>
          </p:cNvSpPr>
          <p:nvPr>
            <p:ph type="sldNum" sz="quarter" idx="10"/>
          </p:nvPr>
        </p:nvSpPr>
        <p:spPr/>
        <p:txBody>
          <a:bodyPr/>
          <a:lstStyle/>
          <a:p>
            <a:fld id="{317B99F5-9ED3-44CF-A144-70EBB5FD5410}" type="slidenum">
              <a:rPr lang="en-US" smtClean="0"/>
              <a:pPr/>
              <a:t>19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a:t>
            </a:r>
            <a:r>
              <a:rPr lang="en-US" dirty="0" err="1" smtClean="0"/>
              <a:t>sqrt</a:t>
            </a:r>
            <a:r>
              <a:rPr lang="en-US" dirty="0" smtClean="0"/>
              <a:t>(100)/0.5 = 1.96 </a:t>
            </a:r>
            <a:r>
              <a:rPr lang="en-US" dirty="0" smtClean="0">
                <a:sym typeface="Wingdings" pitchFamily="2" charset="2"/>
              </a:rPr>
              <a:t> a = 0.10 -&gt; [0.40, 0.60]</a:t>
            </a:r>
            <a:endParaRPr lang="en-US" dirty="0"/>
          </a:p>
        </p:txBody>
      </p:sp>
      <p:sp>
        <p:nvSpPr>
          <p:cNvPr id="4" name="Slide Number Placeholder 3"/>
          <p:cNvSpPr>
            <a:spLocks noGrp="1"/>
          </p:cNvSpPr>
          <p:nvPr>
            <p:ph type="sldNum" sz="quarter" idx="10"/>
          </p:nvPr>
        </p:nvSpPr>
        <p:spPr/>
        <p:txBody>
          <a:bodyPr/>
          <a:lstStyle/>
          <a:p>
            <a:fld id="{317B99F5-9ED3-44CF-A144-70EBB5FD5410}"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Line 9"/>
          <p:cNvSpPr>
            <a:spLocks noChangeShapeType="1"/>
          </p:cNvSpPr>
          <p:nvPr userDrawn="1"/>
        </p:nvSpPr>
        <p:spPr bwMode="auto">
          <a:xfrm>
            <a:off x="457200" y="3429000"/>
            <a:ext cx="8153400" cy="0"/>
          </a:xfrm>
          <a:prstGeom prst="line">
            <a:avLst/>
          </a:prstGeom>
          <a:noFill/>
          <a:ln w="9525">
            <a:solidFill>
              <a:schemeClr val="tx1"/>
            </a:solidFill>
            <a:round/>
            <a:headEnd/>
            <a:tailEnd/>
          </a:ln>
          <a:effectLst/>
        </p:spPr>
        <p:txBody>
          <a:bodyPr/>
          <a:lstStyle/>
          <a:p>
            <a:pPr>
              <a:defRPr/>
            </a:pPr>
            <a:endParaRPr lang="en-US"/>
          </a:p>
        </p:txBody>
      </p:sp>
      <p:sp>
        <p:nvSpPr>
          <p:cNvPr id="8" name="Text Box 12"/>
          <p:cNvSpPr txBox="1">
            <a:spLocks noChangeArrowheads="1"/>
          </p:cNvSpPr>
          <p:nvPr userDrawn="1"/>
        </p:nvSpPr>
        <p:spPr bwMode="auto">
          <a:xfrm>
            <a:off x="2846479" y="1346200"/>
            <a:ext cx="3897221" cy="615553"/>
          </a:xfrm>
          <a:prstGeom prst="rect">
            <a:avLst/>
          </a:prstGeom>
          <a:noFill/>
          <a:ln w="9525">
            <a:noFill/>
            <a:miter lim="800000"/>
            <a:headEnd/>
            <a:tailEnd/>
          </a:ln>
          <a:effectLst/>
        </p:spPr>
        <p:txBody>
          <a:bodyPr wrap="none">
            <a:spAutoFit/>
          </a:bodyPr>
          <a:lstStyle/>
          <a:p>
            <a:pPr algn="r">
              <a:defRPr/>
            </a:pPr>
            <a:r>
              <a:rPr lang="en-US" altLang="zh-CN" sz="1800" b="1" dirty="0">
                <a:latin typeface="Times New Roman" pitchFamily="18" charset="0"/>
                <a:ea typeface="宋体" pitchFamily="2" charset="-122"/>
                <a:cs typeface="Times New Roman" pitchFamily="18" charset="0"/>
              </a:rPr>
              <a:t>Department of Electrical Engineering</a:t>
            </a:r>
          </a:p>
          <a:p>
            <a:pPr algn="r">
              <a:defRPr/>
            </a:pPr>
            <a:r>
              <a:rPr lang="en-US" altLang="zh-CN" sz="1600" b="1" dirty="0">
                <a:latin typeface="Times New Roman" pitchFamily="18" charset="0"/>
                <a:ea typeface="宋体" pitchFamily="2" charset="-122"/>
                <a:cs typeface="Times New Roman" pitchFamily="18" charset="0"/>
              </a:rPr>
              <a:t>University of Arkansas</a:t>
            </a:r>
          </a:p>
        </p:txBody>
      </p:sp>
      <p:sp>
        <p:nvSpPr>
          <p:cNvPr id="10" name="Rectangle 2"/>
          <p:cNvSpPr>
            <a:spLocks noGrp="1" noChangeArrowheads="1"/>
          </p:cNvSpPr>
          <p:nvPr>
            <p:ph type="ctrTitle"/>
          </p:nvPr>
        </p:nvSpPr>
        <p:spPr>
          <a:xfrm>
            <a:off x="685800" y="2286000"/>
            <a:ext cx="7772400" cy="1143000"/>
          </a:xfrm>
          <a:prstGeom prst="rect">
            <a:avLst/>
          </a:prstGeom>
        </p:spPr>
        <p:txBody>
          <a:bodyPr/>
          <a:lstStyle>
            <a:lvl1pPr algn="r">
              <a:defRPr sz="3200">
                <a:latin typeface="Arial Black" pitchFamily="34" charset="0"/>
              </a:defRPr>
            </a:lvl1pPr>
          </a:lstStyle>
          <a:p>
            <a:r>
              <a:rPr lang="en-US" altLang="zh-CN" dirty="0"/>
              <a:t>Click to edit Master title style</a:t>
            </a:r>
          </a:p>
        </p:txBody>
      </p:sp>
      <p:sp>
        <p:nvSpPr>
          <p:cNvPr id="11" name="Rectangle 3"/>
          <p:cNvSpPr>
            <a:spLocks noGrp="1" noChangeArrowheads="1"/>
          </p:cNvSpPr>
          <p:nvPr>
            <p:ph type="subTitle" idx="1"/>
          </p:nvPr>
        </p:nvSpPr>
        <p:spPr>
          <a:xfrm>
            <a:off x="2057400" y="3581400"/>
            <a:ext cx="6400800" cy="762000"/>
          </a:xfrm>
          <a:prstGeom prst="rect">
            <a:avLst/>
          </a:prstGeom>
        </p:spPr>
        <p:txBody>
          <a:bodyPr>
            <a:normAutofit/>
          </a:bodyPr>
          <a:lstStyle>
            <a:lvl1pPr marL="0" indent="0" algn="r">
              <a:buFontTx/>
              <a:buNone/>
              <a:defRPr sz="2200" b="0">
                <a:solidFill>
                  <a:srgbClr val="000099"/>
                </a:solidFill>
                <a:latin typeface="Arial Black" pitchFamily="34" charset="0"/>
              </a:defRPr>
            </a:lvl1pPr>
          </a:lstStyle>
          <a:p>
            <a:r>
              <a:rPr lang="en-US" altLang="zh-CN" dirty="0"/>
              <a:t>Click to edit Master subtitle style</a:t>
            </a:r>
          </a:p>
        </p:txBody>
      </p:sp>
      <p:pic>
        <p:nvPicPr>
          <p:cNvPr id="12" name="Picture 16"/>
          <p:cNvPicPr>
            <a:picLocks noChangeAspect="1" noChangeArrowheads="1"/>
          </p:cNvPicPr>
          <p:nvPr userDrawn="1"/>
        </p:nvPicPr>
        <p:blipFill>
          <a:blip r:embed="rId2" cstate="print"/>
          <a:srcRect/>
          <a:stretch>
            <a:fillRect/>
          </a:stretch>
        </p:blipFill>
        <p:spPr bwMode="auto">
          <a:xfrm>
            <a:off x="6781800" y="1447800"/>
            <a:ext cx="1638300" cy="40005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Line 9"/>
          <p:cNvSpPr>
            <a:spLocks noChangeShapeType="1"/>
          </p:cNvSpPr>
          <p:nvPr userDrawn="1"/>
        </p:nvSpPr>
        <p:spPr bwMode="auto">
          <a:xfrm>
            <a:off x="152400" y="762000"/>
            <a:ext cx="8763000" cy="0"/>
          </a:xfrm>
          <a:prstGeom prst="line">
            <a:avLst/>
          </a:prstGeom>
          <a:noFill/>
          <a:ln w="9525">
            <a:solidFill>
              <a:schemeClr val="tx1"/>
            </a:solidFill>
            <a:round/>
            <a:headEnd/>
            <a:tailEnd/>
          </a:ln>
          <a:effectLst/>
        </p:spPr>
        <p:txBody>
          <a:bodyPr/>
          <a:lstStyle/>
          <a:p>
            <a:pPr>
              <a:defRPr/>
            </a:pPr>
            <a:endParaRPr lang="en-US"/>
          </a:p>
        </p:txBody>
      </p:sp>
      <p:sp>
        <p:nvSpPr>
          <p:cNvPr id="8" name="Title 1"/>
          <p:cNvSpPr>
            <a:spLocks noGrp="1"/>
          </p:cNvSpPr>
          <p:nvPr>
            <p:ph type="title"/>
          </p:nvPr>
        </p:nvSpPr>
        <p:spPr>
          <a:xfrm>
            <a:off x="228600" y="304800"/>
            <a:ext cx="7772400" cy="762000"/>
          </a:xfrm>
          <a:prstGeom prst="rect">
            <a:avLst/>
          </a:prstGeom>
        </p:spPr>
        <p:txBody>
          <a:bodyPr>
            <a:normAutofit/>
          </a:bodyPr>
          <a:lstStyle>
            <a:lvl1pPr algn="l">
              <a:defRPr sz="2400">
                <a:latin typeface="Arial Black" pitchFamily="34" charset="0"/>
              </a:defRPr>
            </a:lvl1pPr>
          </a:lstStyle>
          <a:p>
            <a:r>
              <a:rPr lang="en-US" dirty="0" smtClean="0"/>
              <a:t>Click to edit Master title style</a:t>
            </a:r>
            <a:endParaRPr lang="en-US" dirty="0"/>
          </a:p>
        </p:txBody>
      </p:sp>
      <p:sp>
        <p:nvSpPr>
          <p:cNvPr id="9" name="Content Placeholder 2"/>
          <p:cNvSpPr>
            <a:spLocks noGrp="1"/>
          </p:cNvSpPr>
          <p:nvPr>
            <p:ph idx="1"/>
          </p:nvPr>
        </p:nvSpPr>
        <p:spPr>
          <a:xfrm>
            <a:off x="609600" y="876300"/>
            <a:ext cx="7772400" cy="5600700"/>
          </a:xfrm>
          <a:prstGeom prst="rect">
            <a:avLst/>
          </a:prstGeom>
        </p:spPr>
        <p:txBody>
          <a:bodyPr>
            <a:normAutofit/>
          </a:bodyPr>
          <a:lstStyle>
            <a:lvl1pPr>
              <a:defRPr sz="2000" b="1">
                <a:solidFill>
                  <a:srgbClr val="000099"/>
                </a:solidFill>
                <a:latin typeface="Times New Roman" pitchFamily="18" charset="0"/>
                <a:cs typeface="Times New Roman" pitchFamily="18" charset="0"/>
              </a:defRPr>
            </a:lvl1pPr>
            <a:lvl2pPr>
              <a:defRPr sz="1800">
                <a:latin typeface="Times New Roman" pitchFamily="18" charset="0"/>
                <a:cs typeface="Times New Roman" pitchFamily="18" charset="0"/>
              </a:defRPr>
            </a:lvl2pPr>
            <a:lvl3pPr>
              <a:defRPr sz="1800">
                <a:latin typeface="Times New Roman" pitchFamily="18" charset="0"/>
                <a:cs typeface="Times New Roman" pitchFamily="18" charset="0"/>
              </a:defRPr>
            </a:lvl3pPr>
            <a:lvl4pPr>
              <a:defRPr sz="1800">
                <a:latin typeface="Times New Roman" pitchFamily="18" charset="0"/>
                <a:cs typeface="Times New Roman" pitchFamily="18" charset="0"/>
              </a:defRPr>
            </a:lvl4pPr>
            <a:lvl5pPr>
              <a:defRPr sz="1800">
                <a:latin typeface="Times New Roman" pitchFamily="18" charset="0"/>
                <a:cs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10" name="Picture 9"/>
          <p:cNvPicPr>
            <a:picLocks noChangeAspect="1" noChangeArrowheads="1"/>
          </p:cNvPicPr>
          <p:nvPr userDrawn="1"/>
        </p:nvPicPr>
        <p:blipFill>
          <a:blip r:embed="rId2" cstate="print"/>
          <a:srcRect/>
          <a:stretch>
            <a:fillRect/>
          </a:stretch>
        </p:blipFill>
        <p:spPr bwMode="auto">
          <a:xfrm>
            <a:off x="152400" y="6248400"/>
            <a:ext cx="1781175" cy="476250"/>
          </a:xfrm>
          <a:prstGeom prst="rect">
            <a:avLst/>
          </a:prstGeom>
          <a:noFill/>
          <a:ln w="9525">
            <a:noFill/>
            <a:miter lim="800000"/>
            <a:headEnd/>
            <a:tailEnd/>
          </a:ln>
        </p:spPr>
      </p:pic>
      <p:sp>
        <p:nvSpPr>
          <p:cNvPr id="11" name="Slide Number Placeholder 3"/>
          <p:cNvSpPr>
            <a:spLocks noGrp="1"/>
          </p:cNvSpPr>
          <p:nvPr userDrawn="1">
            <p:ph type="sldNum" sz="quarter" idx="10"/>
          </p:nvPr>
        </p:nvSpPr>
        <p:spPr>
          <a:xfrm>
            <a:off x="7239000" y="0"/>
            <a:ext cx="1905000" cy="457200"/>
          </a:xfrm>
          <a:prstGeom prst="rect">
            <a:avLst/>
          </a:prstGeom>
          <a:noFill/>
        </p:spPr>
        <p:txBody>
          <a:bodyPr/>
          <a:lstStyle>
            <a:lvl1pPr algn="r">
              <a:defRPr b="1">
                <a:latin typeface="Times New Roman" pitchFamily="18" charset="0"/>
                <a:cs typeface="Times New Roman" pitchFamily="18" charset="0"/>
              </a:defRPr>
            </a:lvl1pPr>
          </a:lstStyle>
          <a:p>
            <a:fld id="{7A65BF99-0365-4788-A7C5-586C0382C80B}" type="slidenum">
              <a:rPr lang="zh-CN" altLang="en-US" smtClean="0"/>
              <a:pPr/>
              <a:t>‹#›</a:t>
            </a:fld>
            <a:endParaRPr lang="en-US" altLang="zh-CN" dirty="0" smtClean="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oleObject" Target="../embeddings/oleObject4.bin"/><Relationship Id="rId10" Type="http://schemas.openxmlformats.org/officeDocument/2006/relationships/oleObject" Target="../embeddings/oleObject9.bin"/><Relationship Id="rId4" Type="http://schemas.openxmlformats.org/officeDocument/2006/relationships/oleObject" Target="../embeddings/oleObject3.bin"/><Relationship Id="rId9"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oleObject" Target="../embeddings/oleObject14.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7.bin"/><Relationship Id="rId5" Type="http://schemas.openxmlformats.org/officeDocument/2006/relationships/oleObject" Target="../embeddings/oleObject16.bin"/><Relationship Id="rId10" Type="http://schemas.openxmlformats.org/officeDocument/2006/relationships/oleObject" Target="../embeddings/oleObject21.bin"/><Relationship Id="rId4" Type="http://schemas.openxmlformats.org/officeDocument/2006/relationships/oleObject" Target="../embeddings/oleObject15.bin"/><Relationship Id="rId9" Type="http://schemas.openxmlformats.org/officeDocument/2006/relationships/oleObject" Target="../embeddings/oleObject20.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oleObject" Target="../embeddings/oleObject22.bin"/><Relationship Id="rId7"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5.bin"/><Relationship Id="rId11" Type="http://schemas.openxmlformats.org/officeDocument/2006/relationships/oleObject" Target="../embeddings/oleObject30.bin"/><Relationship Id="rId5" Type="http://schemas.openxmlformats.org/officeDocument/2006/relationships/oleObject" Target="../embeddings/oleObject24.bin"/><Relationship Id="rId10" Type="http://schemas.openxmlformats.org/officeDocument/2006/relationships/oleObject" Target="../embeddings/oleObject29.bin"/><Relationship Id="rId4" Type="http://schemas.openxmlformats.org/officeDocument/2006/relationships/oleObject" Target="../embeddings/oleObject23.bin"/><Relationship Id="rId9" Type="http://schemas.openxmlformats.org/officeDocument/2006/relationships/oleObject" Target="../embeddings/oleObject28.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5.bin"/><Relationship Id="rId12"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34.bin"/><Relationship Id="rId11" Type="http://schemas.openxmlformats.org/officeDocument/2006/relationships/oleObject" Target="../embeddings/oleObject39.bin"/><Relationship Id="rId5" Type="http://schemas.openxmlformats.org/officeDocument/2006/relationships/oleObject" Target="../embeddings/oleObject33.bin"/><Relationship Id="rId10" Type="http://schemas.openxmlformats.org/officeDocument/2006/relationships/oleObject" Target="../embeddings/oleObject38.bin"/><Relationship Id="rId4" Type="http://schemas.openxmlformats.org/officeDocument/2006/relationships/oleObject" Target="../embeddings/oleObject32.bin"/><Relationship Id="rId9" Type="http://schemas.openxmlformats.org/officeDocument/2006/relationships/oleObject" Target="../embeddings/oleObject37.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notesSlide" Target="../notesSlides/notesSlide2.xml"/><Relationship Id="rId7"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43.bin"/><Relationship Id="rId11" Type="http://schemas.openxmlformats.org/officeDocument/2006/relationships/oleObject" Target="../embeddings/oleObject48.bin"/><Relationship Id="rId5" Type="http://schemas.openxmlformats.org/officeDocument/2006/relationships/oleObject" Target="../embeddings/oleObject42.bin"/><Relationship Id="rId10" Type="http://schemas.openxmlformats.org/officeDocument/2006/relationships/oleObject" Target="../embeddings/oleObject47.bin"/><Relationship Id="rId4" Type="http://schemas.openxmlformats.org/officeDocument/2006/relationships/oleObject" Target="../embeddings/oleObject41.bin"/><Relationship Id="rId9" Type="http://schemas.openxmlformats.org/officeDocument/2006/relationships/oleObject" Target="../embeddings/oleObject46.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oleObject" Target="../embeddings/oleObject49.bin"/><Relationship Id="rId7"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52.bin"/><Relationship Id="rId5" Type="http://schemas.openxmlformats.org/officeDocument/2006/relationships/oleObject" Target="../embeddings/oleObject51.bin"/><Relationship Id="rId10" Type="http://schemas.openxmlformats.org/officeDocument/2006/relationships/oleObject" Target="../embeddings/oleObject56.bin"/><Relationship Id="rId4" Type="http://schemas.openxmlformats.org/officeDocument/2006/relationships/oleObject" Target="../embeddings/oleObject50.bin"/><Relationship Id="rId9" Type="http://schemas.openxmlformats.org/officeDocument/2006/relationships/oleObject" Target="../embeddings/oleObject55.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notesSlide" Target="../notesSlides/notesSlide3.xml"/><Relationship Id="rId7"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59.bin"/><Relationship Id="rId5" Type="http://schemas.openxmlformats.org/officeDocument/2006/relationships/oleObject" Target="../embeddings/oleObject58.bin"/><Relationship Id="rId4" Type="http://schemas.openxmlformats.org/officeDocument/2006/relationships/oleObject" Target="../embeddings/oleObject57.bin"/><Relationship Id="rId9" Type="http://schemas.openxmlformats.org/officeDocument/2006/relationships/oleObject" Target="../embeddings/oleObject6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362200"/>
            <a:ext cx="7772400" cy="990600"/>
          </a:xfrm>
        </p:spPr>
        <p:txBody>
          <a:bodyPr/>
          <a:lstStyle/>
          <a:p>
            <a:r>
              <a:rPr lang="en-US" sz="2400" dirty="0" smtClean="0"/>
              <a:t>ELEG 3143 Probability &amp; Stochastic Process</a:t>
            </a:r>
            <a:br>
              <a:rPr lang="en-US" sz="2400" dirty="0" smtClean="0"/>
            </a:br>
            <a:r>
              <a:rPr lang="en-US" dirty="0" smtClean="0"/>
              <a:t>Ch. 4 Elements of Statistics</a:t>
            </a:r>
            <a:endParaRPr lang="en-US" dirty="0"/>
          </a:p>
        </p:txBody>
      </p:sp>
      <p:sp>
        <p:nvSpPr>
          <p:cNvPr id="3" name="Subtitle 2"/>
          <p:cNvSpPr>
            <a:spLocks noGrp="1"/>
          </p:cNvSpPr>
          <p:nvPr>
            <p:ph type="subTitle" idx="4294967295"/>
          </p:nvPr>
        </p:nvSpPr>
        <p:spPr>
          <a:xfrm>
            <a:off x="2743200" y="3810000"/>
            <a:ext cx="5791200" cy="1752600"/>
          </a:xfrm>
          <a:prstGeom prst="rect">
            <a:avLst/>
          </a:prstGeom>
        </p:spPr>
        <p:txBody>
          <a:bodyPr/>
          <a:lstStyle/>
          <a:p>
            <a:pPr algn="r">
              <a:buNone/>
            </a:pPr>
            <a:r>
              <a:rPr lang="en-US" sz="2200" dirty="0" smtClean="0">
                <a:solidFill>
                  <a:srgbClr val="000099"/>
                </a:solidFill>
                <a:latin typeface="Arial Black" pitchFamily="34" charset="0"/>
              </a:rPr>
              <a:t>Dr. Jingxian Wu</a:t>
            </a:r>
          </a:p>
          <a:p>
            <a:pPr algn="r">
              <a:buNone/>
            </a:pPr>
            <a:r>
              <a:rPr lang="en-US" sz="2200" dirty="0" smtClean="0">
                <a:solidFill>
                  <a:srgbClr val="000099"/>
                </a:solidFill>
                <a:latin typeface="Arial Black" pitchFamily="34" charset="0"/>
              </a:rPr>
              <a:t>wuj@uark.edu</a:t>
            </a:r>
            <a:endParaRPr lang="en-US" sz="2200" dirty="0">
              <a:solidFill>
                <a:srgbClr val="000099"/>
              </a:solidFill>
              <a:latin typeface="Arial Black"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a:t>
            </a:fld>
            <a:endParaRPr lang="en-US" altLang="zh-CN" dirty="0" smtClean="0"/>
          </a:p>
        </p:txBody>
      </p:sp>
      <p:sp>
        <p:nvSpPr>
          <p:cNvPr id="5" name="Rectangle 3"/>
          <p:cNvSpPr txBox="1">
            <a:spLocks noChangeArrowheads="1"/>
          </p:cNvSpPr>
          <p:nvPr/>
        </p:nvSpPr>
        <p:spPr>
          <a:xfrm>
            <a:off x="533400" y="914400"/>
            <a:ext cx="7772400" cy="56007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Introduction:</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 what is statistics?</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Sample</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 mean and sample variance</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altLang="zh-CN" b="1"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C</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onfidence intervals</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CN" b="1" dirty="0" smtClean="0">
                <a:solidFill>
                  <a:srgbClr val="000099"/>
                </a:solidFill>
                <a:latin typeface="Times New Roman" pitchFamily="18" charset="0"/>
                <a:ea typeface="宋体" pitchFamily="2" charset="-122"/>
                <a:cs typeface="Times New Roman" pitchFamily="18" charset="0"/>
              </a:rPr>
              <a:t>Hypothesis testing</a:t>
            </a: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baseline="0" dirty="0" smtClean="0">
              <a:solidFill>
                <a:srgbClr val="000099"/>
              </a:solidFill>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609600" y="876300"/>
            <a:ext cx="8229600" cy="5600700"/>
          </a:xfrm>
        </p:spPr>
        <p:txBody>
          <a:bodyPr/>
          <a:lstStyle/>
          <a:p>
            <a:r>
              <a:rPr lang="en-US" dirty="0" smtClean="0"/>
              <a:t>Statistics</a:t>
            </a:r>
          </a:p>
          <a:p>
            <a:pPr lvl="1"/>
            <a:r>
              <a:rPr lang="en-US" dirty="0" smtClean="0"/>
              <a:t>A bridge between the probability theory and the real world</a:t>
            </a:r>
          </a:p>
          <a:p>
            <a:pPr lvl="1"/>
            <a:r>
              <a:rPr lang="en-US" dirty="0" smtClean="0"/>
              <a:t>The science of </a:t>
            </a:r>
            <a:r>
              <a:rPr lang="en-US" dirty="0" smtClean="0">
                <a:solidFill>
                  <a:srgbClr val="FF0000"/>
                </a:solidFill>
              </a:rPr>
              <a:t>gathering and analyzing data</a:t>
            </a:r>
            <a:r>
              <a:rPr lang="en-US" dirty="0" smtClean="0"/>
              <a:t>, and with </a:t>
            </a:r>
            <a:r>
              <a:rPr lang="en-US" dirty="0" smtClean="0">
                <a:solidFill>
                  <a:srgbClr val="FF0000"/>
                </a:solidFill>
              </a:rPr>
              <a:t>the drawing of conclusions or inferences</a:t>
            </a:r>
            <a:r>
              <a:rPr lang="en-US" dirty="0" smtClean="0"/>
              <a:t> from the data.</a:t>
            </a:r>
          </a:p>
          <a:p>
            <a:pPr lvl="2"/>
            <a:r>
              <a:rPr lang="en-US" dirty="0" smtClean="0"/>
              <a:t>Example</a:t>
            </a:r>
          </a:p>
          <a:p>
            <a:pPr lvl="3"/>
            <a:r>
              <a:rPr lang="en-US" dirty="0" smtClean="0"/>
              <a:t>1. collect data about the life span of all the males in US</a:t>
            </a:r>
          </a:p>
          <a:p>
            <a:pPr lvl="3"/>
            <a:r>
              <a:rPr lang="en-US" dirty="0" smtClean="0"/>
              <a:t>2. analyze the data to find out: </a:t>
            </a:r>
          </a:p>
          <a:p>
            <a:pPr lvl="3"/>
            <a:r>
              <a:rPr lang="en-US" dirty="0" smtClean="0"/>
              <a:t>What is the average (mean) male life span in US?</a:t>
            </a:r>
          </a:p>
          <a:p>
            <a:pPr lvl="3"/>
            <a:r>
              <a:rPr lang="en-US" dirty="0" smtClean="0"/>
              <a:t>What is the variance of the male life span?</a:t>
            </a:r>
          </a:p>
          <a:p>
            <a:pPr lvl="3"/>
            <a:r>
              <a:rPr lang="en-US" dirty="0" smtClean="0"/>
              <a:t>What is the distribution of the male life span?</a:t>
            </a:r>
          </a:p>
          <a:p>
            <a:pPr lvl="3"/>
            <a:endParaRPr lang="en-US" dirty="0" smtClean="0"/>
          </a:p>
          <a:p>
            <a:pPr lvl="2"/>
            <a:r>
              <a:rPr lang="en-US" dirty="0" smtClean="0"/>
              <a:t>Example</a:t>
            </a:r>
          </a:p>
          <a:p>
            <a:pPr lvl="3"/>
            <a:r>
              <a:rPr lang="en-US" dirty="0" smtClean="0"/>
              <a:t>1. consider a communication system transmitting -1 and 1</a:t>
            </a:r>
          </a:p>
          <a:p>
            <a:pPr lvl="3"/>
            <a:r>
              <a:rPr lang="en-US" dirty="0" smtClean="0"/>
              <a:t>2. received signal is distorted by noise (e.g., </a:t>
            </a:r>
            <a:r>
              <a:rPr lang="en-US" dirty="0" err="1" smtClean="0"/>
              <a:t>Tx</a:t>
            </a:r>
            <a:r>
              <a:rPr lang="en-US" dirty="0" smtClean="0"/>
              <a:t> a 1, Rx a 0.2)</a:t>
            </a:r>
          </a:p>
          <a:p>
            <a:pPr lvl="3"/>
            <a:r>
              <a:rPr lang="en-US" dirty="0" smtClean="0"/>
              <a:t>3. Based on the noisy received information, find out what was transmitted (1 or -1)</a:t>
            </a:r>
          </a:p>
          <a:p>
            <a:pPr lvl="1"/>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3</a:t>
            </a:fld>
            <a:endParaRPr lang="en-US" altLang="zh-CN"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Classifications of statistics</a:t>
            </a:r>
          </a:p>
          <a:p>
            <a:pPr lvl="1"/>
            <a:r>
              <a:rPr lang="en-US" dirty="0" smtClean="0"/>
              <a:t>Sampling theory: </a:t>
            </a:r>
          </a:p>
          <a:p>
            <a:pPr lvl="2"/>
            <a:r>
              <a:rPr lang="en-US" dirty="0" smtClean="0"/>
              <a:t>How to select samples from some collection of data that is too large to be examined completely.</a:t>
            </a:r>
          </a:p>
          <a:p>
            <a:pPr lvl="1"/>
            <a:r>
              <a:rPr lang="en-US" dirty="0" smtClean="0"/>
              <a:t>Estimation theory:</a:t>
            </a:r>
          </a:p>
          <a:p>
            <a:pPr lvl="2"/>
            <a:r>
              <a:rPr lang="en-US" dirty="0" smtClean="0"/>
              <a:t>Make some estimation or prediction based on the data that are available (e.g. estimate the average life span)</a:t>
            </a:r>
          </a:p>
          <a:p>
            <a:pPr lvl="1"/>
            <a:r>
              <a:rPr lang="en-US" dirty="0" smtClean="0"/>
              <a:t>Hypothesis testing</a:t>
            </a:r>
          </a:p>
          <a:p>
            <a:pPr lvl="2"/>
            <a:r>
              <a:rPr lang="en-US" dirty="0" smtClean="0"/>
              <a:t>Attempts to decide which of two or more hypotheses about the data are true (e.g. find out whether a 1 or -1 are transmitted in a communication system)</a:t>
            </a:r>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4</a:t>
            </a:fld>
            <a:endParaRPr lang="en-US" altLang="zh-CN"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5</a:t>
            </a:fld>
            <a:endParaRPr lang="en-US" altLang="zh-CN" dirty="0" smtClean="0"/>
          </a:p>
        </p:txBody>
      </p:sp>
      <p:sp>
        <p:nvSpPr>
          <p:cNvPr id="5" name="Rectangle 3"/>
          <p:cNvSpPr txBox="1">
            <a:spLocks noChangeArrowheads="1"/>
          </p:cNvSpPr>
          <p:nvPr/>
        </p:nvSpPr>
        <p:spPr>
          <a:xfrm>
            <a:off x="533400" y="914400"/>
            <a:ext cx="7772400" cy="56007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Introduction:</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what is statistics?</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Sample</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 mean and sample variance</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C</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onfidence interval</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CN" b="1" dirty="0" smtClean="0">
                <a:solidFill>
                  <a:schemeClr val="bg1">
                    <a:lumMod val="50000"/>
                  </a:schemeClr>
                </a:solidFill>
                <a:latin typeface="Times New Roman" pitchFamily="18" charset="0"/>
                <a:ea typeface="宋体" pitchFamily="2" charset="-122"/>
                <a:cs typeface="Times New Roman" pitchFamily="18" charset="0"/>
              </a:rPr>
              <a:t>Hypothesis testing</a:t>
            </a: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baseline="0"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normAutofit/>
          </a:bodyPr>
          <a:lstStyle/>
          <a:p>
            <a:r>
              <a:rPr lang="en-US" dirty="0" smtClean="0"/>
              <a:t>Definition: population: </a:t>
            </a:r>
          </a:p>
          <a:p>
            <a:pPr lvl="1"/>
            <a:r>
              <a:rPr lang="en-US" dirty="0" smtClean="0"/>
              <a:t>the collection of ALL objects or elements under study.</a:t>
            </a:r>
          </a:p>
          <a:p>
            <a:pPr lvl="1"/>
            <a:r>
              <a:rPr lang="en-US" dirty="0" smtClean="0"/>
              <a:t>E.g. measure the male life span in US</a:t>
            </a:r>
          </a:p>
          <a:p>
            <a:pPr lvl="2"/>
            <a:r>
              <a:rPr lang="en-US" dirty="0" smtClean="0"/>
              <a:t>member: the life span of one male in US (can be modeled as an RV: X)</a:t>
            </a:r>
          </a:p>
          <a:p>
            <a:pPr lvl="2"/>
            <a:r>
              <a:rPr lang="en-US" dirty="0" smtClean="0"/>
              <a:t>Population: the life spans of ALL the males in US</a:t>
            </a:r>
          </a:p>
          <a:p>
            <a:pPr lvl="1"/>
            <a:r>
              <a:rPr lang="en-US" dirty="0" smtClean="0"/>
              <a:t>Most of the time, it is extremely difficult and expensive, if not impossible, to get the data for the entire population.</a:t>
            </a:r>
          </a:p>
          <a:p>
            <a:pPr lvl="1"/>
            <a:r>
              <a:rPr lang="en-US" dirty="0" smtClean="0"/>
              <a:t>We take a limited number of samples to represent the population</a:t>
            </a:r>
          </a:p>
          <a:p>
            <a:r>
              <a:rPr lang="en-US" dirty="0" smtClean="0"/>
              <a:t>Definition: random sample (or, sample)</a:t>
            </a:r>
          </a:p>
          <a:p>
            <a:pPr lvl="1"/>
            <a:r>
              <a:rPr lang="en-US" dirty="0" smtClean="0"/>
              <a:t>A random sample is part of the population that has been selected at random. </a:t>
            </a:r>
          </a:p>
          <a:p>
            <a:pPr lvl="2"/>
            <a:r>
              <a:rPr lang="en-US" dirty="0" smtClean="0"/>
              <a:t>E.g. Consider a population with </a:t>
            </a:r>
            <a:r>
              <a:rPr lang="en-US" i="1" dirty="0" smtClean="0"/>
              <a:t>N</a:t>
            </a:r>
            <a:r>
              <a:rPr lang="en-US" dirty="0" smtClean="0"/>
              <a:t> members. We can randomly pick </a:t>
            </a:r>
          </a:p>
          <a:p>
            <a:pPr lvl="2">
              <a:buNone/>
            </a:pPr>
            <a:r>
              <a:rPr lang="en-US" dirty="0" smtClean="0"/>
              <a:t>	</a:t>
            </a:r>
            <a:r>
              <a:rPr lang="en-US" i="1" dirty="0" smtClean="0"/>
              <a:t>n</a:t>
            </a:r>
            <a:r>
              <a:rPr lang="en-US" dirty="0" smtClean="0"/>
              <a:t> &lt;&lt; </a:t>
            </a:r>
            <a:r>
              <a:rPr lang="en-US" i="1" dirty="0" smtClean="0"/>
              <a:t>N</a:t>
            </a:r>
            <a:r>
              <a:rPr lang="en-US" dirty="0" smtClean="0"/>
              <a:t> members. The </a:t>
            </a:r>
            <a:r>
              <a:rPr lang="en-US" i="1" dirty="0" smtClean="0"/>
              <a:t>n</a:t>
            </a:r>
            <a:r>
              <a:rPr lang="en-US" dirty="0" smtClean="0"/>
              <a:t> members form a sample of the population.</a:t>
            </a:r>
          </a:p>
          <a:p>
            <a:pPr lvl="2"/>
            <a:r>
              <a:rPr lang="en-US" dirty="0" smtClean="0"/>
              <a:t>All members of the population are equally likely  being picked.</a:t>
            </a:r>
          </a:p>
          <a:p>
            <a:pPr lvl="2"/>
            <a:r>
              <a:rPr lang="en-US" dirty="0" smtClean="0"/>
              <a:t>The picks are independent of each others. </a:t>
            </a:r>
          </a:p>
          <a:p>
            <a:endParaRPr lang="en-US" dirty="0" smtClean="0"/>
          </a:p>
          <a:p>
            <a:pPr lvl="1"/>
            <a:endParaRPr lang="en-US" dirty="0" smtClean="0"/>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6</a:t>
            </a:fld>
            <a:endParaRPr lang="en-US" altLang="zh-CN"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Random sample</a:t>
            </a:r>
          </a:p>
          <a:p>
            <a:pPr lvl="1"/>
            <a:r>
              <a:rPr lang="en-US" dirty="0" smtClean="0"/>
              <a:t>Consider a random sample with </a:t>
            </a:r>
            <a:r>
              <a:rPr lang="en-US" i="1" dirty="0" smtClean="0"/>
              <a:t>n</a:t>
            </a:r>
            <a:r>
              <a:rPr lang="en-US" dirty="0" smtClean="0"/>
              <a:t> members</a:t>
            </a:r>
          </a:p>
          <a:p>
            <a:pPr lvl="1"/>
            <a:endParaRPr lang="en-US" dirty="0" smtClean="0"/>
          </a:p>
          <a:p>
            <a:pPr lvl="1"/>
            <a:r>
              <a:rPr lang="en-US" dirty="0" smtClean="0"/>
              <a:t>Each member is a random variable</a:t>
            </a:r>
          </a:p>
          <a:p>
            <a:pPr lvl="1"/>
            <a:r>
              <a:rPr lang="en-US" dirty="0" smtClean="0"/>
              <a:t>The </a:t>
            </a:r>
            <a:r>
              <a:rPr lang="en-US" i="1" dirty="0" smtClean="0"/>
              <a:t>n</a:t>
            </a:r>
            <a:r>
              <a:rPr lang="en-US" dirty="0" smtClean="0"/>
              <a:t> random variables are mutually independent</a:t>
            </a:r>
          </a:p>
          <a:p>
            <a:pPr lvl="1"/>
            <a:r>
              <a:rPr lang="en-US" dirty="0" smtClean="0"/>
              <a:t>The </a:t>
            </a:r>
            <a:r>
              <a:rPr lang="en-US" i="1" dirty="0" smtClean="0"/>
              <a:t>n</a:t>
            </a:r>
            <a:r>
              <a:rPr lang="en-US" dirty="0" smtClean="0"/>
              <a:t> random variables are identically distributed</a:t>
            </a:r>
          </a:p>
          <a:p>
            <a:pPr lvl="1"/>
            <a:r>
              <a:rPr lang="en-US" dirty="0" smtClean="0"/>
              <a:t>With the random sample, we can infer (estimate) the properties of the population with </a:t>
            </a:r>
            <a:r>
              <a:rPr lang="en-US" i="1" dirty="0" smtClean="0"/>
              <a:t>N &gt;&gt; n</a:t>
            </a:r>
            <a:r>
              <a:rPr lang="en-US" dirty="0" smtClean="0"/>
              <a:t> members</a:t>
            </a:r>
          </a:p>
          <a:p>
            <a:pPr lvl="2"/>
            <a:r>
              <a:rPr lang="en-US" dirty="0" smtClean="0"/>
              <a:t>E.g. mean, variance, distribution, etc.</a:t>
            </a:r>
          </a:p>
          <a:p>
            <a:pPr lvl="1"/>
            <a:endParaRPr lang="en-US" dirty="0" smtClean="0"/>
          </a:p>
          <a:p>
            <a:pPr lvl="1"/>
            <a:r>
              <a:rPr lang="en-US" dirty="0" smtClean="0"/>
              <a:t>Intuitively, the larger the value of </a:t>
            </a:r>
            <a:r>
              <a:rPr lang="en-US" i="1" dirty="0" smtClean="0"/>
              <a:t>n</a:t>
            </a:r>
            <a:r>
              <a:rPr lang="en-US" dirty="0" smtClean="0"/>
              <a:t>, the better the estimation. </a:t>
            </a:r>
          </a:p>
          <a:p>
            <a:pPr lvl="2"/>
            <a:r>
              <a:rPr lang="en-US" dirty="0" smtClean="0"/>
              <a:t>We will prove this intuition.</a:t>
            </a:r>
          </a:p>
          <a:p>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7</a:t>
            </a:fld>
            <a:endParaRPr lang="en-US" altLang="zh-CN" dirty="0" smtClean="0"/>
          </a:p>
        </p:txBody>
      </p:sp>
      <p:graphicFrame>
        <p:nvGraphicFramePr>
          <p:cNvPr id="5" name="Object 4"/>
          <p:cNvGraphicFramePr>
            <a:graphicFrameLocks noChangeAspect="1"/>
          </p:cNvGraphicFramePr>
          <p:nvPr/>
        </p:nvGraphicFramePr>
        <p:xfrm>
          <a:off x="2895600" y="1600200"/>
          <a:ext cx="1320800" cy="304800"/>
        </p:xfrm>
        <a:graphic>
          <a:graphicData uri="http://schemas.openxmlformats.org/presentationml/2006/ole">
            <p:oleObj spid="_x0000_s1026" name="Equation" r:id="rId3" imgW="990360" imgH="228600" progId="Equation.3">
              <p:embed/>
            </p:oleObj>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Sample mean</a:t>
            </a:r>
          </a:p>
          <a:p>
            <a:pPr lvl="1"/>
            <a:r>
              <a:rPr lang="en-US" dirty="0" smtClean="0"/>
              <a:t>The </a:t>
            </a:r>
            <a:r>
              <a:rPr lang="en-US" dirty="0" smtClean="0">
                <a:solidFill>
                  <a:srgbClr val="FF0000"/>
                </a:solidFill>
              </a:rPr>
              <a:t>sample mean </a:t>
            </a:r>
            <a:r>
              <a:rPr lang="en-US" dirty="0" smtClean="0"/>
              <a:t>of                            is</a:t>
            </a:r>
          </a:p>
          <a:p>
            <a:pPr lvl="1"/>
            <a:endParaRPr lang="en-US" dirty="0" smtClean="0"/>
          </a:p>
          <a:p>
            <a:pPr lvl="1"/>
            <a:endParaRPr lang="en-US" dirty="0" smtClean="0"/>
          </a:p>
          <a:p>
            <a:pPr lvl="1"/>
            <a:r>
              <a:rPr lang="en-US" dirty="0" smtClean="0"/>
              <a:t>It is an estimation of the actual mean of the population </a:t>
            </a:r>
          </a:p>
          <a:p>
            <a:pPr lvl="1"/>
            <a:r>
              <a:rPr lang="en-US" dirty="0" smtClean="0"/>
              <a:t>     is a random variable, because it is a function of </a:t>
            </a:r>
            <a:r>
              <a:rPr lang="en-US" i="1" dirty="0" smtClean="0"/>
              <a:t>n</a:t>
            </a:r>
            <a:r>
              <a:rPr lang="en-US" dirty="0" smtClean="0"/>
              <a:t> RVs</a:t>
            </a:r>
          </a:p>
          <a:p>
            <a:r>
              <a:rPr lang="en-US" dirty="0" smtClean="0"/>
              <a:t>The first moment of the sample mean</a:t>
            </a:r>
          </a:p>
          <a:p>
            <a:pPr lvl="1"/>
            <a:r>
              <a:rPr lang="en-US" dirty="0" smtClean="0"/>
              <a:t> </a:t>
            </a:r>
          </a:p>
          <a:p>
            <a:pPr lvl="1"/>
            <a:endParaRPr lang="en-US" dirty="0" smtClean="0"/>
          </a:p>
          <a:p>
            <a:pPr lvl="1"/>
            <a:endParaRPr lang="en-US" dirty="0" smtClean="0"/>
          </a:p>
          <a:p>
            <a:pPr lvl="1">
              <a:buNone/>
            </a:pPr>
            <a:endParaRPr lang="en-US" dirty="0" smtClean="0"/>
          </a:p>
          <a:p>
            <a:pPr lvl="1"/>
            <a:endParaRPr lang="en-US" dirty="0" smtClean="0"/>
          </a:p>
          <a:p>
            <a:pPr lvl="1"/>
            <a:endParaRPr lang="en-US" dirty="0" smtClean="0"/>
          </a:p>
          <a:p>
            <a:r>
              <a:rPr lang="en-US" dirty="0" smtClean="0"/>
              <a:t>Definition: unbiased estimator</a:t>
            </a:r>
          </a:p>
          <a:p>
            <a:pPr lvl="1"/>
            <a:r>
              <a:rPr lang="en-US" dirty="0" smtClean="0"/>
              <a:t>The mean of the estimation is the same as its true value</a:t>
            </a:r>
          </a:p>
          <a:p>
            <a:pPr lvl="1"/>
            <a:r>
              <a:rPr lang="en-US" dirty="0" smtClean="0"/>
              <a:t>The sample mean is an unbiased estimation of the mean</a:t>
            </a:r>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8</a:t>
            </a:fld>
            <a:endParaRPr lang="en-US" altLang="zh-CN" dirty="0" smtClean="0"/>
          </a:p>
        </p:txBody>
      </p:sp>
      <p:graphicFrame>
        <p:nvGraphicFramePr>
          <p:cNvPr id="2050" name="Object 2"/>
          <p:cNvGraphicFramePr>
            <a:graphicFrameLocks noChangeAspect="1"/>
          </p:cNvGraphicFramePr>
          <p:nvPr/>
        </p:nvGraphicFramePr>
        <p:xfrm>
          <a:off x="3505200" y="1295400"/>
          <a:ext cx="1320800" cy="304800"/>
        </p:xfrm>
        <a:graphic>
          <a:graphicData uri="http://schemas.openxmlformats.org/presentationml/2006/ole">
            <p:oleObj spid="_x0000_s2050" name="Equation" r:id="rId3" imgW="990360" imgH="228600" progId="Equation.3">
              <p:embed/>
            </p:oleObj>
          </a:graphicData>
        </a:graphic>
      </p:graphicFrame>
      <p:graphicFrame>
        <p:nvGraphicFramePr>
          <p:cNvPr id="2051" name="Object 3"/>
          <p:cNvGraphicFramePr>
            <a:graphicFrameLocks noChangeAspect="1"/>
          </p:cNvGraphicFramePr>
          <p:nvPr/>
        </p:nvGraphicFramePr>
        <p:xfrm>
          <a:off x="3149600" y="1676400"/>
          <a:ext cx="1168400" cy="576263"/>
        </p:xfrm>
        <a:graphic>
          <a:graphicData uri="http://schemas.openxmlformats.org/presentationml/2006/ole">
            <p:oleObj spid="_x0000_s2051" name="Equation" r:id="rId4" imgW="876240" imgH="431640" progId="Equation.3">
              <p:embed/>
            </p:oleObj>
          </a:graphicData>
        </a:graphic>
      </p:graphicFrame>
      <p:graphicFrame>
        <p:nvGraphicFramePr>
          <p:cNvPr id="2052" name="Object 4"/>
          <p:cNvGraphicFramePr>
            <a:graphicFrameLocks noChangeAspect="1"/>
          </p:cNvGraphicFramePr>
          <p:nvPr/>
        </p:nvGraphicFramePr>
        <p:xfrm>
          <a:off x="6629400" y="2286000"/>
          <a:ext cx="998538" cy="287337"/>
        </p:xfrm>
        <a:graphic>
          <a:graphicData uri="http://schemas.openxmlformats.org/presentationml/2006/ole">
            <p:oleObj spid="_x0000_s2052" name="Equation" r:id="rId5" imgW="749160" imgH="215640" progId="Equation.3">
              <p:embed/>
            </p:oleObj>
          </a:graphicData>
        </a:graphic>
      </p:graphicFrame>
      <p:graphicFrame>
        <p:nvGraphicFramePr>
          <p:cNvPr id="2054" name="Object 6"/>
          <p:cNvGraphicFramePr>
            <a:graphicFrameLocks noChangeAspect="1"/>
          </p:cNvGraphicFramePr>
          <p:nvPr/>
        </p:nvGraphicFramePr>
        <p:xfrm>
          <a:off x="1330325" y="2598738"/>
          <a:ext cx="322263" cy="288925"/>
        </p:xfrm>
        <a:graphic>
          <a:graphicData uri="http://schemas.openxmlformats.org/presentationml/2006/ole">
            <p:oleObj spid="_x0000_s2054" name="Equation" r:id="rId6" imgW="241200" imgH="215640" progId="Equation.3">
              <p:embed/>
            </p:oleObj>
          </a:graphicData>
        </a:graphic>
      </p:graphicFrame>
      <p:graphicFrame>
        <p:nvGraphicFramePr>
          <p:cNvPr id="2055" name="Object 7"/>
          <p:cNvGraphicFramePr>
            <a:graphicFrameLocks noChangeAspect="1"/>
          </p:cNvGraphicFramePr>
          <p:nvPr/>
        </p:nvGraphicFramePr>
        <p:xfrm>
          <a:off x="6858000" y="2590800"/>
          <a:ext cx="1320800" cy="304800"/>
        </p:xfrm>
        <a:graphic>
          <a:graphicData uri="http://schemas.openxmlformats.org/presentationml/2006/ole">
            <p:oleObj spid="_x0000_s2055" name="Equation" r:id="rId7" imgW="990360" imgH="228600" progId="Equation.3">
              <p:embed/>
            </p:oleObj>
          </a:graphicData>
        </a:graphic>
      </p:graphicFrame>
      <p:graphicFrame>
        <p:nvGraphicFramePr>
          <p:cNvPr id="2056" name="Object 8"/>
          <p:cNvGraphicFramePr>
            <a:graphicFrameLocks noChangeAspect="1"/>
          </p:cNvGraphicFramePr>
          <p:nvPr/>
        </p:nvGraphicFramePr>
        <p:xfrm>
          <a:off x="5140325" y="2979738"/>
          <a:ext cx="322263" cy="287337"/>
        </p:xfrm>
        <a:graphic>
          <a:graphicData uri="http://schemas.openxmlformats.org/presentationml/2006/ole">
            <p:oleObj spid="_x0000_s2056" name="Equation" r:id="rId8" imgW="241200" imgH="215640" progId="Equation.3">
              <p:embed/>
            </p:oleObj>
          </a:graphicData>
        </a:graphic>
      </p:graphicFrame>
      <p:graphicFrame>
        <p:nvGraphicFramePr>
          <p:cNvPr id="2057" name="Object 9"/>
          <p:cNvGraphicFramePr>
            <a:graphicFrameLocks noChangeAspect="1"/>
          </p:cNvGraphicFramePr>
          <p:nvPr/>
        </p:nvGraphicFramePr>
        <p:xfrm>
          <a:off x="1473200" y="3386138"/>
          <a:ext cx="765175" cy="287337"/>
        </p:xfrm>
        <a:graphic>
          <a:graphicData uri="http://schemas.openxmlformats.org/presentationml/2006/ole">
            <p:oleObj spid="_x0000_s2057" name="Equation" r:id="rId9" imgW="571320" imgH="215640" progId="Equation.3">
              <p:embed/>
            </p:oleObj>
          </a:graphicData>
        </a:graphic>
      </p:graphicFrame>
      <p:graphicFrame>
        <p:nvGraphicFramePr>
          <p:cNvPr id="2058" name="Object 10"/>
          <p:cNvGraphicFramePr>
            <a:graphicFrameLocks noChangeAspect="1"/>
          </p:cNvGraphicFramePr>
          <p:nvPr/>
        </p:nvGraphicFramePr>
        <p:xfrm>
          <a:off x="7010400" y="5943600"/>
          <a:ext cx="1399810" cy="381000"/>
        </p:xfrm>
        <a:graphic>
          <a:graphicData uri="http://schemas.openxmlformats.org/presentationml/2006/ole">
            <p:oleObj spid="_x0000_s2058" name="Equation" r:id="rId10" imgW="787320" imgH="215640" progId="Equation.3">
              <p:embed/>
            </p:oleObj>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The 2</a:t>
            </a:r>
            <a:r>
              <a:rPr lang="en-US" baseline="30000" dirty="0" smtClean="0"/>
              <a:t>nd</a:t>
            </a:r>
            <a:r>
              <a:rPr lang="en-US" dirty="0" smtClean="0"/>
              <a:t> central moment (variance) of the sample mean</a:t>
            </a:r>
          </a:p>
          <a:p>
            <a:pPr lvl="1"/>
            <a:r>
              <a:rPr lang="en-US" dirty="0" smtClean="0"/>
              <a:t>  </a:t>
            </a:r>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r>
              <a:rPr lang="en-US" dirty="0" smtClean="0"/>
              <a:t>Recall: variance measures the deviation from the mean</a:t>
            </a:r>
          </a:p>
          <a:p>
            <a:pPr lvl="2"/>
            <a:r>
              <a:rPr lang="en-US" dirty="0" smtClean="0"/>
              <a:t>The smaller the variance, the less the randomness</a:t>
            </a:r>
          </a:p>
          <a:p>
            <a:pPr lvl="2"/>
            <a:r>
              <a:rPr lang="en-US" dirty="0" smtClean="0"/>
              <a:t>If variance is 0, then the RV is a constant</a:t>
            </a:r>
          </a:p>
          <a:p>
            <a:pPr lvl="1"/>
            <a:r>
              <a:rPr lang="en-US" dirty="0" smtClean="0"/>
              <a:t>The larger the sample size </a:t>
            </a:r>
            <a:r>
              <a:rPr lang="en-US" i="1" dirty="0" smtClean="0"/>
              <a:t>n</a:t>
            </a:r>
            <a:r>
              <a:rPr lang="en-US" dirty="0" smtClean="0"/>
              <a:t>, the more accurate the estimation. </a:t>
            </a:r>
            <a:endParaRPr lang="en-US" i="1" dirty="0" smtClean="0"/>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9</a:t>
            </a:fld>
            <a:endParaRPr lang="en-US" altLang="zh-CN" dirty="0" smtClean="0"/>
          </a:p>
        </p:txBody>
      </p:sp>
      <p:graphicFrame>
        <p:nvGraphicFramePr>
          <p:cNvPr id="3075" name="Object 3"/>
          <p:cNvGraphicFramePr>
            <a:graphicFrameLocks noChangeAspect="1"/>
          </p:cNvGraphicFramePr>
          <p:nvPr/>
        </p:nvGraphicFramePr>
        <p:xfrm>
          <a:off x="1568450" y="1295400"/>
          <a:ext cx="3689350" cy="322262"/>
        </p:xfrm>
        <a:graphic>
          <a:graphicData uri="http://schemas.openxmlformats.org/presentationml/2006/ole">
            <p:oleObj spid="_x0000_s3075" name="Equation" r:id="rId4" imgW="2755800" imgH="241200" progId="Equation.3">
              <p:embed/>
            </p:oleObj>
          </a:graphicData>
        </a:graphic>
      </p:graphicFrame>
      <p:graphicFrame>
        <p:nvGraphicFramePr>
          <p:cNvPr id="3076" name="Object 4"/>
          <p:cNvGraphicFramePr>
            <a:graphicFrameLocks noChangeAspect="1"/>
          </p:cNvGraphicFramePr>
          <p:nvPr/>
        </p:nvGraphicFramePr>
        <p:xfrm>
          <a:off x="3149600" y="3581400"/>
          <a:ext cx="1276350" cy="558800"/>
        </p:xfrm>
        <a:graphic>
          <a:graphicData uri="http://schemas.openxmlformats.org/presentationml/2006/ole">
            <p:oleObj spid="_x0000_s3076" name="Equation" r:id="rId5" imgW="952200" imgH="419040" progId="Equation.3">
              <p:embed/>
            </p:oleObj>
          </a:graphicData>
        </a:graphic>
      </p:graphicFrame>
      <p:graphicFrame>
        <p:nvGraphicFramePr>
          <p:cNvPr id="3077" name="Object 5"/>
          <p:cNvGraphicFramePr>
            <a:graphicFrameLocks noChangeAspect="1"/>
          </p:cNvGraphicFramePr>
          <p:nvPr/>
        </p:nvGraphicFramePr>
        <p:xfrm>
          <a:off x="7010400" y="914400"/>
          <a:ext cx="322263" cy="287337"/>
        </p:xfrm>
        <a:graphic>
          <a:graphicData uri="http://schemas.openxmlformats.org/presentationml/2006/ole">
            <p:oleObj spid="_x0000_s3077" name="Equation" r:id="rId6" imgW="241200" imgH="215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additive="base">
                                        <p:cTn id="7" dur="500" fill="hold"/>
                                        <p:tgtEl>
                                          <p:spTgt spid="3076"/>
                                        </p:tgtEl>
                                        <p:attrNameLst>
                                          <p:attrName>ppt_x</p:attrName>
                                        </p:attrNameLst>
                                      </p:cBhvr>
                                      <p:tavLst>
                                        <p:tav tm="0">
                                          <p:val>
                                            <p:strVal val="#ppt_x"/>
                                          </p:val>
                                        </p:tav>
                                        <p:tav tm="100000">
                                          <p:val>
                                            <p:strVal val="#ppt_x"/>
                                          </p:val>
                                        </p:tav>
                                      </p:tavLst>
                                    </p:anim>
                                    <p:anim calcmode="lin" valueType="num">
                                      <p:cBhvr additive="base">
                                        <p:cTn id="8"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A population of 10 resistors is to be tested. The true standard deviation is 5 Ohm, and the true mean is 100 Ohm. </a:t>
            </a:r>
          </a:p>
          <a:p>
            <a:pPr lvl="2"/>
            <a:r>
              <a:rPr lang="en-US" dirty="0" smtClean="0"/>
              <a:t>How large must be the sample size, if we want to obtain a sample mean, whose standard deviation is 2% of the true population mean?</a:t>
            </a:r>
          </a:p>
          <a:p>
            <a:pPr lvl="2"/>
            <a:r>
              <a:rPr lang="en-US" dirty="0" smtClean="0"/>
              <a:t>If the sample size is 8, what is the standard deviation of the sample mean?</a:t>
            </a:r>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10</a:t>
            </a:fld>
            <a:endParaRPr lang="en-US" altLang="zh-CN"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The sample of a random time function  follows a </a:t>
            </a:r>
            <a:r>
              <a:rPr lang="en-US" dirty="0" err="1" smtClean="0"/>
              <a:t>pdf</a:t>
            </a:r>
            <a:r>
              <a:rPr lang="en-US" dirty="0" smtClean="0"/>
              <a:t>  given as follows: </a:t>
            </a:r>
          </a:p>
          <a:p>
            <a:pPr lvl="1">
              <a:buNone/>
            </a:pPr>
            <a:endParaRPr lang="en-US" dirty="0" smtClean="0"/>
          </a:p>
          <a:p>
            <a:pPr lvl="1">
              <a:buNone/>
            </a:pPr>
            <a:endParaRPr lang="en-US" dirty="0" smtClean="0"/>
          </a:p>
          <a:p>
            <a:pPr lvl="1">
              <a:buNone/>
            </a:pPr>
            <a:r>
              <a:rPr lang="en-US" dirty="0" smtClean="0"/>
              <a:t>	The function is sampled so as to obtain independent sample values. How many sample values are required to obtain a sample mean, whose standard deviation is 1% from the true mean?</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11</a:t>
            </a:fld>
            <a:endParaRPr lang="en-US" altLang="zh-CN" dirty="0" smtClean="0"/>
          </a:p>
        </p:txBody>
      </p:sp>
      <p:graphicFrame>
        <p:nvGraphicFramePr>
          <p:cNvPr id="16386" name="Object 2"/>
          <p:cNvGraphicFramePr>
            <a:graphicFrameLocks noChangeAspect="1"/>
          </p:cNvGraphicFramePr>
          <p:nvPr/>
        </p:nvGraphicFramePr>
        <p:xfrm>
          <a:off x="2627313" y="1592263"/>
          <a:ext cx="2549525" cy="644525"/>
        </p:xfrm>
        <a:graphic>
          <a:graphicData uri="http://schemas.openxmlformats.org/presentationml/2006/ole">
            <p:oleObj spid="_x0000_s16386" name="Equation" r:id="rId3" imgW="1904760" imgH="482400" progId="Equation.3">
              <p:embed/>
            </p:oleObj>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Sample variance</a:t>
            </a:r>
          </a:p>
          <a:p>
            <a:pPr lvl="1"/>
            <a:r>
              <a:rPr lang="en-US" dirty="0" smtClean="0"/>
              <a:t>The </a:t>
            </a:r>
            <a:r>
              <a:rPr lang="en-US" dirty="0" smtClean="0">
                <a:solidFill>
                  <a:srgbClr val="FF0000"/>
                </a:solidFill>
              </a:rPr>
              <a:t>sample variance</a:t>
            </a:r>
            <a:r>
              <a:rPr lang="en-US" dirty="0" smtClean="0"/>
              <a:t> of                         is defined as</a:t>
            </a:r>
          </a:p>
          <a:p>
            <a:pPr lvl="1"/>
            <a:endParaRPr lang="en-US" dirty="0" smtClean="0"/>
          </a:p>
          <a:p>
            <a:pPr lvl="1"/>
            <a:endParaRPr lang="en-US" dirty="0" smtClean="0"/>
          </a:p>
          <a:p>
            <a:pPr lvl="1"/>
            <a:endParaRPr lang="en-US" dirty="0" smtClean="0"/>
          </a:p>
          <a:p>
            <a:pPr lvl="1"/>
            <a:r>
              <a:rPr lang="en-US" dirty="0" smtClean="0"/>
              <a:t>The          is used to make       an unbiased estimator .</a:t>
            </a:r>
          </a:p>
          <a:p>
            <a:pPr lvl="1"/>
            <a:r>
              <a:rPr lang="en-US" dirty="0" smtClean="0"/>
              <a:t>     is a random variable.</a:t>
            </a:r>
          </a:p>
          <a:p>
            <a:r>
              <a:rPr lang="en-US" dirty="0" smtClean="0"/>
              <a:t>First moment of the sample variance </a:t>
            </a:r>
          </a:p>
          <a:p>
            <a:endParaRPr lang="en-US" dirty="0" smtClean="0"/>
          </a:p>
          <a:p>
            <a:endParaRPr lang="en-US" dirty="0" smtClean="0"/>
          </a:p>
          <a:p>
            <a:pPr lvl="1"/>
            <a:r>
              <a:rPr lang="en-US" dirty="0" smtClean="0"/>
              <a:t>The sample variance is an unbiased estimation of</a:t>
            </a:r>
          </a:p>
          <a:p>
            <a:pPr lvl="1"/>
            <a:endParaRPr lang="en-US" dirty="0" smtClean="0"/>
          </a:p>
          <a:p>
            <a:pPr lvl="1">
              <a:buNone/>
            </a:pP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12</a:t>
            </a:fld>
            <a:endParaRPr lang="en-US" altLang="zh-CN" dirty="0" smtClean="0"/>
          </a:p>
        </p:txBody>
      </p:sp>
      <p:graphicFrame>
        <p:nvGraphicFramePr>
          <p:cNvPr id="4099" name="Object 3"/>
          <p:cNvGraphicFramePr>
            <a:graphicFrameLocks noChangeAspect="1"/>
          </p:cNvGraphicFramePr>
          <p:nvPr/>
        </p:nvGraphicFramePr>
        <p:xfrm>
          <a:off x="3657600" y="1295400"/>
          <a:ext cx="1320800" cy="304800"/>
        </p:xfrm>
        <a:graphic>
          <a:graphicData uri="http://schemas.openxmlformats.org/presentationml/2006/ole">
            <p:oleObj spid="_x0000_s4099" name="Equation" r:id="rId3" imgW="990360" imgH="228600" progId="Equation.3">
              <p:embed/>
            </p:oleObj>
          </a:graphicData>
        </a:graphic>
      </p:graphicFrame>
      <p:graphicFrame>
        <p:nvGraphicFramePr>
          <p:cNvPr id="4100" name="Object 4"/>
          <p:cNvGraphicFramePr>
            <a:graphicFrameLocks noChangeAspect="1"/>
          </p:cNvGraphicFramePr>
          <p:nvPr/>
        </p:nvGraphicFramePr>
        <p:xfrm>
          <a:off x="2692400" y="1752600"/>
          <a:ext cx="2049463" cy="574675"/>
        </p:xfrm>
        <a:graphic>
          <a:graphicData uri="http://schemas.openxmlformats.org/presentationml/2006/ole">
            <p:oleObj spid="_x0000_s4100" name="Equation" r:id="rId4" imgW="1536480" imgH="431640" progId="Equation.3">
              <p:embed/>
            </p:oleObj>
          </a:graphicData>
        </a:graphic>
      </p:graphicFrame>
      <p:graphicFrame>
        <p:nvGraphicFramePr>
          <p:cNvPr id="4101" name="Object 5"/>
          <p:cNvGraphicFramePr>
            <a:graphicFrameLocks noChangeAspect="1"/>
          </p:cNvGraphicFramePr>
          <p:nvPr/>
        </p:nvGraphicFramePr>
        <p:xfrm>
          <a:off x="1905000" y="2438400"/>
          <a:ext cx="441325" cy="523875"/>
        </p:xfrm>
        <a:graphic>
          <a:graphicData uri="http://schemas.openxmlformats.org/presentationml/2006/ole">
            <p:oleObj spid="_x0000_s4101" name="Equation" r:id="rId5" imgW="330120" imgH="393480" progId="Equation.3">
              <p:embed/>
            </p:oleObj>
          </a:graphicData>
        </a:graphic>
      </p:graphicFrame>
      <p:graphicFrame>
        <p:nvGraphicFramePr>
          <p:cNvPr id="4102" name="Object 6"/>
          <p:cNvGraphicFramePr>
            <a:graphicFrameLocks noChangeAspect="1"/>
          </p:cNvGraphicFramePr>
          <p:nvPr/>
        </p:nvGraphicFramePr>
        <p:xfrm>
          <a:off x="3886200" y="2590800"/>
          <a:ext cx="269875" cy="287338"/>
        </p:xfrm>
        <a:graphic>
          <a:graphicData uri="http://schemas.openxmlformats.org/presentationml/2006/ole">
            <p:oleObj spid="_x0000_s4102" name="Equation" r:id="rId6" imgW="203040" imgH="215640" progId="Equation.3">
              <p:embed/>
            </p:oleObj>
          </a:graphicData>
        </a:graphic>
      </p:graphicFrame>
      <p:graphicFrame>
        <p:nvGraphicFramePr>
          <p:cNvPr id="4103" name="Object 7"/>
          <p:cNvGraphicFramePr>
            <a:graphicFrameLocks noChangeAspect="1"/>
          </p:cNvGraphicFramePr>
          <p:nvPr/>
        </p:nvGraphicFramePr>
        <p:xfrm>
          <a:off x="1447800" y="2971800"/>
          <a:ext cx="269875" cy="287338"/>
        </p:xfrm>
        <a:graphic>
          <a:graphicData uri="http://schemas.openxmlformats.org/presentationml/2006/ole">
            <p:oleObj spid="_x0000_s4103" name="Equation" r:id="rId7" imgW="203040" imgH="215640" progId="Equation.3">
              <p:embed/>
            </p:oleObj>
          </a:graphicData>
        </a:graphic>
      </p:graphicFrame>
      <p:graphicFrame>
        <p:nvGraphicFramePr>
          <p:cNvPr id="4104" name="Object 8"/>
          <p:cNvGraphicFramePr>
            <a:graphicFrameLocks noChangeAspect="1"/>
          </p:cNvGraphicFramePr>
          <p:nvPr/>
        </p:nvGraphicFramePr>
        <p:xfrm>
          <a:off x="5105400" y="3276600"/>
          <a:ext cx="269875" cy="287338"/>
        </p:xfrm>
        <a:graphic>
          <a:graphicData uri="http://schemas.openxmlformats.org/presentationml/2006/ole">
            <p:oleObj spid="_x0000_s4104" name="Equation" r:id="rId8" imgW="203040" imgH="215640" progId="Equation.3">
              <p:embed/>
            </p:oleObj>
          </a:graphicData>
        </a:graphic>
      </p:graphicFrame>
      <p:graphicFrame>
        <p:nvGraphicFramePr>
          <p:cNvPr id="4105" name="Object 9"/>
          <p:cNvGraphicFramePr>
            <a:graphicFrameLocks noChangeAspect="1"/>
          </p:cNvGraphicFramePr>
          <p:nvPr/>
        </p:nvGraphicFramePr>
        <p:xfrm>
          <a:off x="3276600" y="3810000"/>
          <a:ext cx="1066800" cy="344239"/>
        </p:xfrm>
        <a:graphic>
          <a:graphicData uri="http://schemas.openxmlformats.org/presentationml/2006/ole">
            <p:oleObj spid="_x0000_s4105" name="Equation" r:id="rId9" imgW="749160" imgH="241200" progId="Equation.3">
              <p:embed/>
            </p:oleObj>
          </a:graphicData>
        </a:graphic>
      </p:graphicFrame>
      <p:graphicFrame>
        <p:nvGraphicFramePr>
          <p:cNvPr id="4106" name="Object 10"/>
          <p:cNvGraphicFramePr>
            <a:graphicFrameLocks noChangeAspect="1"/>
          </p:cNvGraphicFramePr>
          <p:nvPr/>
        </p:nvGraphicFramePr>
        <p:xfrm>
          <a:off x="6096000" y="4267200"/>
          <a:ext cx="325437" cy="325438"/>
        </p:xfrm>
        <a:graphic>
          <a:graphicData uri="http://schemas.openxmlformats.org/presentationml/2006/ole">
            <p:oleObj spid="_x0000_s4106" name="Equation" r:id="rId10" imgW="228600" imgH="228600" progId="Equation.3">
              <p:embed/>
            </p:oleObj>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Consider 5 random numbers: 0.3, 0.2, 0.8, 0.7, 0.9</a:t>
            </a:r>
          </a:p>
          <a:p>
            <a:pPr lvl="2"/>
            <a:r>
              <a:rPr lang="en-US" dirty="0" smtClean="0"/>
              <a:t>1. Find the sample mean and sample variance</a:t>
            </a:r>
          </a:p>
          <a:p>
            <a:pPr lvl="2"/>
            <a:r>
              <a:rPr lang="en-US" dirty="0" smtClean="0"/>
              <a:t>2. If the 5 random numbers are randomly picked from a population of random numbers that are uniformly distributed in [0, 1], find the variance of the sample mean. </a:t>
            </a:r>
          </a:p>
          <a:p>
            <a:pPr lvl="2">
              <a:buNone/>
            </a:pPr>
            <a:endParaRPr lang="en-US" dirty="0" smtClean="0"/>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13</a:t>
            </a:fld>
            <a:endParaRPr lang="en-US" altLang="zh-CN"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normAutofit/>
          </a:bodyPr>
          <a:lstStyle/>
          <a:p>
            <a:r>
              <a:rPr lang="en-US" dirty="0" smtClean="0"/>
              <a:t>Example</a:t>
            </a:r>
          </a:p>
          <a:p>
            <a:pPr lvl="1"/>
            <a:r>
              <a:rPr lang="en-US" dirty="0" smtClean="0"/>
              <a:t>Write a </a:t>
            </a:r>
            <a:r>
              <a:rPr lang="en-US" dirty="0" err="1" smtClean="0"/>
              <a:t>Matlab</a:t>
            </a:r>
            <a:r>
              <a:rPr lang="en-US" dirty="0" smtClean="0"/>
              <a:t> program to generate 100 independent random numbers. The random number are samples of  uniformly distributed random variable in (0, 10). (1) Write functions to find the sample mean and sample variance. (2) What is the variance of the sample mean?</a:t>
            </a:r>
          </a:p>
          <a:p>
            <a:pPr lvl="1">
              <a:buNone/>
            </a:pPr>
            <a:r>
              <a:rPr lang="en-US" dirty="0" smtClean="0"/>
              <a:t>	%------------------------------</a:t>
            </a:r>
          </a:p>
          <a:p>
            <a:pPr lvl="1">
              <a:buNone/>
            </a:pPr>
            <a:r>
              <a:rPr lang="en-US" dirty="0" smtClean="0"/>
              <a:t>	% </a:t>
            </a:r>
            <a:r>
              <a:rPr lang="en-US" dirty="0" err="1" smtClean="0"/>
              <a:t>main.m</a:t>
            </a:r>
            <a:endParaRPr lang="en-US" dirty="0" smtClean="0"/>
          </a:p>
          <a:p>
            <a:pPr lvl="1">
              <a:buNone/>
            </a:pPr>
            <a:r>
              <a:rPr lang="en-US" dirty="0" smtClean="0"/>
              <a:t>	clear all;</a:t>
            </a:r>
          </a:p>
          <a:p>
            <a:pPr lvl="1">
              <a:buNone/>
            </a:pPr>
            <a:r>
              <a:rPr lang="en-US" dirty="0" smtClean="0"/>
              <a:t>	</a:t>
            </a:r>
            <a:r>
              <a:rPr lang="en-US" dirty="0" err="1" smtClean="0"/>
              <a:t>random_sample</a:t>
            </a:r>
            <a:r>
              <a:rPr lang="en-US" dirty="0" smtClean="0"/>
              <a:t> = 10*rand (1, 100); % generate 100 random numbers</a:t>
            </a:r>
          </a:p>
          <a:p>
            <a:pPr lvl="1">
              <a:buNone/>
            </a:pPr>
            <a:r>
              <a:rPr lang="en-US" dirty="0" smtClean="0"/>
              <a:t>	</a:t>
            </a:r>
            <a:r>
              <a:rPr lang="en-US" dirty="0" err="1" smtClean="0"/>
              <a:t>sample_mean</a:t>
            </a:r>
            <a:r>
              <a:rPr lang="en-US" dirty="0" smtClean="0"/>
              <a:t> = </a:t>
            </a:r>
            <a:r>
              <a:rPr lang="en-US" dirty="0" err="1" smtClean="0"/>
              <a:t>find_sample_mean</a:t>
            </a:r>
            <a:r>
              <a:rPr lang="en-US" dirty="0" smtClean="0"/>
              <a:t>(</a:t>
            </a:r>
            <a:r>
              <a:rPr lang="en-US" dirty="0" err="1" smtClean="0"/>
              <a:t>random_sample</a:t>
            </a:r>
            <a:r>
              <a:rPr lang="en-US" dirty="0" smtClean="0"/>
              <a:t>);</a:t>
            </a:r>
          </a:p>
          <a:p>
            <a:pPr lvl="1">
              <a:buNone/>
            </a:pPr>
            <a:r>
              <a:rPr lang="en-US" dirty="0" smtClean="0"/>
              <a:t>	</a:t>
            </a:r>
            <a:r>
              <a:rPr lang="en-US" dirty="0" err="1" smtClean="0"/>
              <a:t>sample_var</a:t>
            </a:r>
            <a:r>
              <a:rPr lang="en-US" dirty="0" smtClean="0"/>
              <a:t> = </a:t>
            </a:r>
            <a:r>
              <a:rPr lang="en-US" dirty="0" err="1" smtClean="0"/>
              <a:t>find_sample_var</a:t>
            </a:r>
            <a:r>
              <a:rPr lang="en-US" dirty="0" smtClean="0"/>
              <a:t>(</a:t>
            </a:r>
            <a:r>
              <a:rPr lang="en-US" dirty="0" err="1" smtClean="0"/>
              <a:t>random_sample</a:t>
            </a:r>
            <a:r>
              <a:rPr lang="en-US" dirty="0" smtClean="0"/>
              <a:t>);</a:t>
            </a:r>
          </a:p>
          <a:p>
            <a:pPr lvl="1">
              <a:buNone/>
            </a:pPr>
            <a:endParaRPr lang="en-US" dirty="0" smtClean="0"/>
          </a:p>
          <a:p>
            <a:pPr lvl="1">
              <a:buNone/>
            </a:pPr>
            <a:r>
              <a:rPr lang="en-US" dirty="0" smtClean="0"/>
              <a:t>	%--------------------------------</a:t>
            </a:r>
          </a:p>
          <a:p>
            <a:pPr lvl="1">
              <a:buNone/>
            </a:pPr>
            <a:r>
              <a:rPr lang="en-US" dirty="0" smtClean="0"/>
              <a:t>	% </a:t>
            </a:r>
            <a:r>
              <a:rPr lang="en-US" dirty="0" err="1" smtClean="0"/>
              <a:t>find_sample_mean.m</a:t>
            </a:r>
            <a:endParaRPr lang="en-US" dirty="0" smtClean="0"/>
          </a:p>
          <a:p>
            <a:pPr lvl="1">
              <a:buNone/>
            </a:pPr>
            <a:r>
              <a:rPr lang="en-US" dirty="0" smtClean="0"/>
              <a:t>	function	 output = </a:t>
            </a:r>
            <a:r>
              <a:rPr lang="en-US" dirty="0" err="1" smtClean="0"/>
              <a:t>find_sample_mean</a:t>
            </a:r>
            <a:r>
              <a:rPr lang="en-US" dirty="0" smtClean="0"/>
              <a:t>(input)</a:t>
            </a:r>
          </a:p>
          <a:p>
            <a:pPr lvl="1">
              <a:buNone/>
            </a:pPr>
            <a:r>
              <a:rPr lang="en-US" dirty="0" smtClean="0"/>
              <a:t>	</a:t>
            </a:r>
            <a:r>
              <a:rPr lang="en-US" dirty="0" err="1" smtClean="0"/>
              <a:t>n_sample</a:t>
            </a:r>
            <a:r>
              <a:rPr lang="en-US" dirty="0" smtClean="0"/>
              <a:t> = length(input);</a:t>
            </a:r>
          </a:p>
          <a:p>
            <a:pPr lvl="1">
              <a:buNone/>
            </a:pPr>
            <a:r>
              <a:rPr lang="en-US" dirty="0" smtClean="0"/>
              <a:t>	output = sum(input)/</a:t>
            </a:r>
            <a:r>
              <a:rPr lang="en-US" dirty="0" err="1" smtClean="0"/>
              <a:t>n_sample</a:t>
            </a:r>
            <a:r>
              <a:rPr lang="en-US" dirty="0" smtClean="0"/>
              <a:t>;</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14</a:t>
            </a:fld>
            <a:endParaRPr lang="en-US" altLang="zh-CN"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 AND VARIANCE</a:t>
            </a:r>
            <a:endParaRPr lang="en-US" dirty="0"/>
          </a:p>
        </p:txBody>
      </p:sp>
      <p:sp>
        <p:nvSpPr>
          <p:cNvPr id="3" name="Content Placeholder 2"/>
          <p:cNvSpPr>
            <a:spLocks noGrp="1"/>
          </p:cNvSpPr>
          <p:nvPr>
            <p:ph idx="1"/>
          </p:nvPr>
        </p:nvSpPr>
        <p:spPr/>
        <p:txBody>
          <a:bodyPr/>
          <a:lstStyle/>
          <a:p>
            <a:r>
              <a:rPr lang="en-US" dirty="0" smtClean="0"/>
              <a:t>Example (Cont’d)</a:t>
            </a:r>
          </a:p>
          <a:p>
            <a:pPr lvl="1">
              <a:buNone/>
            </a:pPr>
            <a:r>
              <a:rPr lang="en-US" dirty="0" smtClean="0"/>
              <a:t>	%--------------------------------</a:t>
            </a:r>
          </a:p>
          <a:p>
            <a:pPr lvl="1">
              <a:buNone/>
            </a:pPr>
            <a:r>
              <a:rPr lang="en-US" dirty="0" smtClean="0"/>
              <a:t>	% </a:t>
            </a:r>
            <a:r>
              <a:rPr lang="en-US" dirty="0" err="1" smtClean="0"/>
              <a:t>find_sample_var.m</a:t>
            </a:r>
            <a:endParaRPr lang="en-US" dirty="0" smtClean="0"/>
          </a:p>
          <a:p>
            <a:pPr lvl="1">
              <a:buNone/>
            </a:pPr>
            <a:r>
              <a:rPr lang="en-US" dirty="0" smtClean="0"/>
              <a:t>	function	 output = </a:t>
            </a:r>
            <a:r>
              <a:rPr lang="en-US" dirty="0" err="1" smtClean="0"/>
              <a:t>find_sample_var</a:t>
            </a:r>
            <a:r>
              <a:rPr lang="en-US" dirty="0" smtClean="0"/>
              <a:t>(input)</a:t>
            </a:r>
          </a:p>
          <a:p>
            <a:pPr lvl="1">
              <a:buNone/>
            </a:pPr>
            <a:endParaRPr lang="en-US" dirty="0" smtClean="0"/>
          </a:p>
          <a:p>
            <a:pPr lvl="1">
              <a:buNone/>
            </a:pPr>
            <a:r>
              <a:rPr lang="en-US" dirty="0" smtClean="0"/>
              <a:t>	% find out how many members are in the sample</a:t>
            </a:r>
          </a:p>
          <a:p>
            <a:pPr lvl="1">
              <a:buNone/>
            </a:pPr>
            <a:r>
              <a:rPr lang="en-US" dirty="0" smtClean="0"/>
              <a:t>	</a:t>
            </a:r>
            <a:r>
              <a:rPr lang="en-US" dirty="0" err="1" smtClean="0"/>
              <a:t>n_sample</a:t>
            </a:r>
            <a:r>
              <a:rPr lang="en-US" dirty="0" smtClean="0"/>
              <a:t> = length(input);</a:t>
            </a:r>
          </a:p>
          <a:p>
            <a:pPr lvl="1">
              <a:buNone/>
            </a:pPr>
            <a:endParaRPr lang="en-US" dirty="0" smtClean="0"/>
          </a:p>
          <a:p>
            <a:pPr lvl="1">
              <a:buNone/>
            </a:pPr>
            <a:r>
              <a:rPr lang="en-US" dirty="0" smtClean="0"/>
              <a:t>	% calculate the sample mean</a:t>
            </a:r>
          </a:p>
          <a:p>
            <a:pPr lvl="1">
              <a:buNone/>
            </a:pPr>
            <a:r>
              <a:rPr lang="en-US" dirty="0" smtClean="0"/>
              <a:t>	</a:t>
            </a:r>
            <a:r>
              <a:rPr lang="en-US" dirty="0" err="1" smtClean="0"/>
              <a:t>sample_mean</a:t>
            </a:r>
            <a:r>
              <a:rPr lang="en-US" dirty="0" smtClean="0"/>
              <a:t> = </a:t>
            </a:r>
            <a:r>
              <a:rPr lang="en-US" dirty="0" err="1" smtClean="0"/>
              <a:t>find_sample_mean</a:t>
            </a:r>
            <a:r>
              <a:rPr lang="en-US" dirty="0" smtClean="0"/>
              <a:t>(input);</a:t>
            </a:r>
          </a:p>
          <a:p>
            <a:pPr lvl="1">
              <a:buNone/>
            </a:pPr>
            <a:endParaRPr lang="en-US" dirty="0" smtClean="0"/>
          </a:p>
          <a:p>
            <a:pPr lvl="1">
              <a:buNone/>
            </a:pPr>
            <a:r>
              <a:rPr lang="en-US" dirty="0" smtClean="0"/>
              <a:t>	% calculate the sample variance</a:t>
            </a:r>
          </a:p>
          <a:p>
            <a:pPr lvl="1">
              <a:buNone/>
            </a:pPr>
            <a:r>
              <a:rPr lang="en-US" dirty="0" smtClean="0"/>
              <a:t>	output = sum( (input-</a:t>
            </a:r>
            <a:r>
              <a:rPr lang="en-US" dirty="0" err="1" smtClean="0"/>
              <a:t>sample_mean</a:t>
            </a:r>
            <a:r>
              <a:rPr lang="en-US" dirty="0" smtClean="0"/>
              <a:t>).^2 )/(n_sample-1);</a:t>
            </a:r>
          </a:p>
          <a:p>
            <a:pPr lvl="1"/>
            <a:endParaRPr lang="en-US" dirty="0" smtClean="0"/>
          </a:p>
          <a:p>
            <a:pPr>
              <a:buNone/>
            </a:pPr>
            <a:r>
              <a:rPr lang="en-US" dirty="0" smtClean="0"/>
              <a:t>	</a:t>
            </a:r>
          </a:p>
          <a:p>
            <a:pPr>
              <a:buNone/>
            </a:pP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15</a:t>
            </a:fld>
            <a:endParaRPr lang="en-US" altLang="zh-CN"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16</a:t>
            </a:fld>
            <a:endParaRPr lang="en-US" altLang="zh-CN" dirty="0" smtClean="0"/>
          </a:p>
        </p:txBody>
      </p:sp>
      <p:sp>
        <p:nvSpPr>
          <p:cNvPr id="5" name="Rectangle 3"/>
          <p:cNvSpPr txBox="1">
            <a:spLocks noChangeArrowheads="1"/>
          </p:cNvSpPr>
          <p:nvPr/>
        </p:nvSpPr>
        <p:spPr>
          <a:xfrm>
            <a:off x="533400" y="914400"/>
            <a:ext cx="7772400" cy="56007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Introduction:</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what is statistics?</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Sample</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mean and sample variance</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rPr>
              <a:t>C</a:t>
            </a:r>
            <a:r>
              <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rPr>
              <a:t>onfidence interval</a:t>
            </a:r>
            <a:endParaRPr kumimoji="0" lang="en-US" altLang="zh-CN" b="1" i="0" u="none" strike="noStrike" kern="1200" cap="none" spc="0" normalizeH="0" baseline="0" noProof="0" dirty="0" smtClean="0">
              <a:ln>
                <a:noFill/>
              </a:ln>
              <a:solidFill>
                <a:srgbClr val="000099"/>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CN" b="1" dirty="0" smtClean="0">
                <a:solidFill>
                  <a:schemeClr val="bg1">
                    <a:lumMod val="50000"/>
                  </a:schemeClr>
                </a:solidFill>
                <a:latin typeface="Times New Roman" pitchFamily="18" charset="0"/>
                <a:ea typeface="宋体" pitchFamily="2" charset="-122"/>
                <a:cs typeface="Times New Roman" pitchFamily="18" charset="0"/>
              </a:rPr>
              <a:t>Hypothesis testing</a:t>
            </a: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baseline="0"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a:t>
            </a:r>
            <a:endParaRPr lang="en-US" dirty="0"/>
          </a:p>
        </p:txBody>
      </p:sp>
      <p:sp>
        <p:nvSpPr>
          <p:cNvPr id="3" name="Content Placeholder 2"/>
          <p:cNvSpPr>
            <a:spLocks noGrp="1"/>
          </p:cNvSpPr>
          <p:nvPr>
            <p:ph idx="1"/>
          </p:nvPr>
        </p:nvSpPr>
        <p:spPr/>
        <p:txBody>
          <a:bodyPr/>
          <a:lstStyle/>
          <a:p>
            <a:r>
              <a:rPr lang="en-US" dirty="0" smtClean="0"/>
              <a:t>Central Limit Theorem</a:t>
            </a:r>
          </a:p>
          <a:p>
            <a:pPr lvl="1"/>
            <a:r>
              <a:rPr lang="en-US" dirty="0" smtClean="0"/>
              <a:t>Let                           be a random sample of size </a:t>
            </a:r>
            <a:r>
              <a:rPr lang="en-US" i="1" dirty="0" smtClean="0"/>
              <a:t>n</a:t>
            </a:r>
            <a:r>
              <a:rPr lang="en-US" dirty="0" smtClean="0"/>
              <a:t>. They are independent and identically distributed with mean        and variance        . When           ,</a:t>
            </a:r>
          </a:p>
          <a:p>
            <a:pPr lvl="1">
              <a:buNone/>
            </a:pPr>
            <a:r>
              <a:rPr lang="en-US" dirty="0" smtClean="0"/>
              <a:t>	the sample mean,                      , converges in distribution to a Gaussian </a:t>
            </a:r>
          </a:p>
          <a:p>
            <a:pPr lvl="1">
              <a:buNone/>
            </a:pPr>
            <a:r>
              <a:rPr lang="en-US" dirty="0" smtClean="0"/>
              <a:t>	</a:t>
            </a:r>
          </a:p>
          <a:p>
            <a:pPr lvl="1">
              <a:buNone/>
            </a:pPr>
            <a:r>
              <a:rPr lang="en-US" dirty="0" smtClean="0"/>
              <a:t>	distribution with mean       and variance       .</a:t>
            </a:r>
          </a:p>
          <a:p>
            <a:pPr lvl="1">
              <a:buNone/>
            </a:pPr>
            <a:endParaRPr lang="en-US" dirty="0" smtClean="0"/>
          </a:p>
          <a:p>
            <a:pPr lvl="1"/>
            <a:r>
              <a:rPr lang="en-US" dirty="0" smtClean="0"/>
              <a:t>When </a:t>
            </a:r>
            <a:r>
              <a:rPr lang="en-US" i="1" dirty="0" smtClean="0"/>
              <a:t>n</a:t>
            </a:r>
            <a:r>
              <a:rPr lang="en-US" dirty="0" smtClean="0"/>
              <a:t> is large (</a:t>
            </a:r>
            <a:r>
              <a:rPr lang="en-US" i="1" dirty="0" smtClean="0"/>
              <a:t>n</a:t>
            </a:r>
            <a:r>
              <a:rPr lang="en-US" dirty="0" smtClean="0"/>
              <a:t> &gt; 30),         follows approximately to a Gaussian distribution, regardless of the distribution of </a:t>
            </a:r>
          </a:p>
          <a:p>
            <a:pPr lvl="1">
              <a:buNone/>
            </a:pP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17</a:t>
            </a:fld>
            <a:endParaRPr lang="en-US" altLang="zh-CN" dirty="0" smtClean="0"/>
          </a:p>
        </p:txBody>
      </p:sp>
      <p:graphicFrame>
        <p:nvGraphicFramePr>
          <p:cNvPr id="25602" name="Object 2"/>
          <p:cNvGraphicFramePr>
            <a:graphicFrameLocks noChangeAspect="1"/>
          </p:cNvGraphicFramePr>
          <p:nvPr/>
        </p:nvGraphicFramePr>
        <p:xfrm>
          <a:off x="1905000" y="1295400"/>
          <a:ext cx="1320800" cy="304800"/>
        </p:xfrm>
        <a:graphic>
          <a:graphicData uri="http://schemas.openxmlformats.org/presentationml/2006/ole">
            <p:oleObj spid="_x0000_s25602" name="Equation" r:id="rId3" imgW="990360" imgH="228600" progId="Equation.3">
              <p:embed/>
            </p:oleObj>
          </a:graphicData>
        </a:graphic>
      </p:graphicFrame>
      <p:graphicFrame>
        <p:nvGraphicFramePr>
          <p:cNvPr id="25603" name="Object 3"/>
          <p:cNvGraphicFramePr>
            <a:graphicFrameLocks noChangeAspect="1"/>
          </p:cNvGraphicFramePr>
          <p:nvPr/>
        </p:nvGraphicFramePr>
        <p:xfrm>
          <a:off x="4953000" y="1600200"/>
          <a:ext cx="320675" cy="287337"/>
        </p:xfrm>
        <a:graphic>
          <a:graphicData uri="http://schemas.openxmlformats.org/presentationml/2006/ole">
            <p:oleObj spid="_x0000_s25603" name="Equation" r:id="rId4" imgW="241200" imgH="215640" progId="Equation.3">
              <p:embed/>
            </p:oleObj>
          </a:graphicData>
        </a:graphic>
      </p:graphicFrame>
      <p:graphicFrame>
        <p:nvGraphicFramePr>
          <p:cNvPr id="25604" name="Object 4"/>
          <p:cNvGraphicFramePr>
            <a:graphicFrameLocks noChangeAspect="1"/>
          </p:cNvGraphicFramePr>
          <p:nvPr/>
        </p:nvGraphicFramePr>
        <p:xfrm>
          <a:off x="5181600" y="2514600"/>
          <a:ext cx="303212" cy="304800"/>
        </p:xfrm>
        <a:graphic>
          <a:graphicData uri="http://schemas.openxmlformats.org/presentationml/2006/ole">
            <p:oleObj spid="_x0000_s25604" name="Equation" r:id="rId5" imgW="228600" imgH="228600" progId="Equation.3">
              <p:embed/>
            </p:oleObj>
          </a:graphicData>
        </a:graphic>
      </p:graphicFrame>
      <p:graphicFrame>
        <p:nvGraphicFramePr>
          <p:cNvPr id="25606" name="Object 6"/>
          <p:cNvGraphicFramePr>
            <a:graphicFrameLocks noChangeAspect="1"/>
          </p:cNvGraphicFramePr>
          <p:nvPr/>
        </p:nvGraphicFramePr>
        <p:xfrm>
          <a:off x="7620000" y="1600200"/>
          <a:ext cx="590550" cy="185737"/>
        </p:xfrm>
        <a:graphic>
          <a:graphicData uri="http://schemas.openxmlformats.org/presentationml/2006/ole">
            <p:oleObj spid="_x0000_s25606" name="Equation" r:id="rId6" imgW="444240" imgH="139680" progId="Equation.3">
              <p:embed/>
            </p:oleObj>
          </a:graphicData>
        </a:graphic>
      </p:graphicFrame>
      <p:graphicFrame>
        <p:nvGraphicFramePr>
          <p:cNvPr id="25607" name="Object 7"/>
          <p:cNvGraphicFramePr>
            <a:graphicFrameLocks noChangeAspect="1"/>
          </p:cNvGraphicFramePr>
          <p:nvPr/>
        </p:nvGraphicFramePr>
        <p:xfrm>
          <a:off x="3124200" y="1752600"/>
          <a:ext cx="1168400" cy="576263"/>
        </p:xfrm>
        <a:graphic>
          <a:graphicData uri="http://schemas.openxmlformats.org/presentationml/2006/ole">
            <p:oleObj spid="_x0000_s25607" name="Equation" r:id="rId7" imgW="876240" imgH="431640" progId="Equation.3">
              <p:embed/>
            </p:oleObj>
          </a:graphicData>
        </a:graphic>
      </p:graphicFrame>
      <p:graphicFrame>
        <p:nvGraphicFramePr>
          <p:cNvPr id="25608" name="Object 8"/>
          <p:cNvGraphicFramePr>
            <a:graphicFrameLocks noChangeAspect="1"/>
          </p:cNvGraphicFramePr>
          <p:nvPr/>
        </p:nvGraphicFramePr>
        <p:xfrm>
          <a:off x="3581400" y="2590800"/>
          <a:ext cx="320675" cy="287338"/>
        </p:xfrm>
        <a:graphic>
          <a:graphicData uri="http://schemas.openxmlformats.org/presentationml/2006/ole">
            <p:oleObj spid="_x0000_s25608" name="Equation" r:id="rId8" imgW="241200" imgH="215640" progId="Equation.3">
              <p:embed/>
            </p:oleObj>
          </a:graphicData>
        </a:graphic>
      </p:graphicFrame>
      <p:graphicFrame>
        <p:nvGraphicFramePr>
          <p:cNvPr id="25609" name="Object 9"/>
          <p:cNvGraphicFramePr>
            <a:graphicFrameLocks noChangeAspect="1"/>
          </p:cNvGraphicFramePr>
          <p:nvPr/>
        </p:nvGraphicFramePr>
        <p:xfrm>
          <a:off x="3886200" y="3200400"/>
          <a:ext cx="322263" cy="288925"/>
        </p:xfrm>
        <a:graphic>
          <a:graphicData uri="http://schemas.openxmlformats.org/presentationml/2006/ole">
            <p:oleObj spid="_x0000_s25609" name="Equation" r:id="rId9" imgW="241200" imgH="215640" progId="Equation.3">
              <p:embed/>
            </p:oleObj>
          </a:graphicData>
        </a:graphic>
      </p:graphicFrame>
      <p:graphicFrame>
        <p:nvGraphicFramePr>
          <p:cNvPr id="25610" name="Object 10"/>
          <p:cNvGraphicFramePr>
            <a:graphicFrameLocks noChangeAspect="1"/>
          </p:cNvGraphicFramePr>
          <p:nvPr/>
        </p:nvGraphicFramePr>
        <p:xfrm>
          <a:off x="5638800" y="3505200"/>
          <a:ext cx="269875" cy="304800"/>
        </p:xfrm>
        <a:graphic>
          <a:graphicData uri="http://schemas.openxmlformats.org/presentationml/2006/ole">
            <p:oleObj spid="_x0000_s25610" name="Equation" r:id="rId10" imgW="203040" imgH="228600" progId="Equation.3">
              <p:embed/>
            </p:oleObj>
          </a:graphicData>
        </a:graphic>
      </p:graphicFrame>
      <p:graphicFrame>
        <p:nvGraphicFramePr>
          <p:cNvPr id="25611" name="Object 11"/>
          <p:cNvGraphicFramePr>
            <a:graphicFrameLocks noChangeAspect="1"/>
          </p:cNvGraphicFramePr>
          <p:nvPr/>
        </p:nvGraphicFramePr>
        <p:xfrm>
          <a:off x="6553200" y="1600200"/>
          <a:ext cx="303213" cy="304800"/>
        </p:xfrm>
        <a:graphic>
          <a:graphicData uri="http://schemas.openxmlformats.org/presentationml/2006/ole">
            <p:oleObj spid="_x0000_s25611" name="Equation" r:id="rId11" imgW="228600" imgH="228600" progId="Equation.3">
              <p:embed/>
            </p:oleObj>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a:t>
            </a:r>
            <a:endParaRPr lang="en-US" dirty="0"/>
          </a:p>
        </p:txBody>
      </p:sp>
      <p:sp>
        <p:nvSpPr>
          <p:cNvPr id="3" name="Content Placeholder 2"/>
          <p:cNvSpPr>
            <a:spLocks noGrp="1"/>
          </p:cNvSpPr>
          <p:nvPr>
            <p:ph idx="1"/>
          </p:nvPr>
        </p:nvSpPr>
        <p:spPr/>
        <p:txBody>
          <a:bodyPr/>
          <a:lstStyle/>
          <a:p>
            <a:r>
              <a:rPr lang="en-US" dirty="0" smtClean="0"/>
              <a:t>Confidence interval</a:t>
            </a:r>
          </a:p>
          <a:p>
            <a:pPr lvl="1"/>
            <a:r>
              <a:rPr lang="en-US" dirty="0" smtClean="0"/>
              <a:t> Example: estimate the mean,         , of a population of data.</a:t>
            </a:r>
          </a:p>
          <a:p>
            <a:pPr lvl="1"/>
            <a:r>
              <a:rPr lang="en-US" dirty="0" smtClean="0"/>
              <a:t>Specify an interval that is highly likely to contain the true value of</a:t>
            </a:r>
          </a:p>
          <a:p>
            <a:pPr lvl="2"/>
            <a:r>
              <a:rPr lang="en-US" dirty="0" smtClean="0"/>
              <a:t>E.g. It is 99% likely that the true value of      is in the interval</a:t>
            </a:r>
          </a:p>
          <a:p>
            <a:pPr lvl="2"/>
            <a:endParaRPr lang="en-US" dirty="0" smtClean="0"/>
          </a:p>
          <a:p>
            <a:pPr lvl="2"/>
            <a:endParaRPr lang="en-US" dirty="0" smtClean="0"/>
          </a:p>
          <a:p>
            <a:pPr lvl="2"/>
            <a:r>
              <a:rPr lang="en-US" dirty="0" smtClean="0"/>
              <a:t>                   </a:t>
            </a:r>
            <a:r>
              <a:rPr lang="en-US" dirty="0" smtClean="0"/>
              <a:t>        </a:t>
            </a:r>
            <a:r>
              <a:rPr lang="en-US" dirty="0" smtClean="0"/>
              <a:t>is called the 99% confidence interval of the mean</a:t>
            </a:r>
          </a:p>
          <a:p>
            <a:pPr lvl="1"/>
            <a:r>
              <a:rPr lang="en-US" dirty="0" smtClean="0"/>
              <a:t>Confidence interval </a:t>
            </a:r>
            <a:r>
              <a:rPr lang="en-US" dirty="0" err="1" smtClean="0"/>
              <a:t>v.s</a:t>
            </a:r>
            <a:r>
              <a:rPr lang="en-US" dirty="0" smtClean="0"/>
              <a:t>. sample mean</a:t>
            </a:r>
          </a:p>
          <a:p>
            <a:pPr lvl="2"/>
            <a:r>
              <a:rPr lang="en-US" dirty="0" smtClean="0"/>
              <a:t>Sample mean attempts to use </a:t>
            </a:r>
            <a:r>
              <a:rPr lang="en-US" dirty="0" smtClean="0">
                <a:solidFill>
                  <a:srgbClr val="FF0000"/>
                </a:solidFill>
              </a:rPr>
              <a:t>a single number</a:t>
            </a:r>
            <a:r>
              <a:rPr lang="en-US" dirty="0" smtClean="0"/>
              <a:t>,                      , to represent the sample mean</a:t>
            </a:r>
          </a:p>
          <a:p>
            <a:pPr lvl="3"/>
            <a:r>
              <a:rPr lang="en-US" dirty="0" smtClean="0"/>
              <a:t>How much can we trust this single number estimation?</a:t>
            </a:r>
          </a:p>
          <a:p>
            <a:pPr lvl="2"/>
            <a:r>
              <a:rPr lang="en-US" dirty="0" smtClean="0"/>
              <a:t>Confidence interval, instead, attempts to specify </a:t>
            </a:r>
            <a:r>
              <a:rPr lang="en-US" dirty="0" smtClean="0">
                <a:solidFill>
                  <a:srgbClr val="FF0000"/>
                </a:solidFill>
              </a:rPr>
              <a:t>an interval </a:t>
            </a:r>
            <a:r>
              <a:rPr lang="en-US" dirty="0" smtClean="0"/>
              <a:t>that is highly likely to contain the true value of the estimation. </a:t>
            </a:r>
          </a:p>
          <a:p>
            <a:pPr lvl="1"/>
            <a:r>
              <a:rPr lang="en-US" dirty="0" smtClean="0"/>
              <a:t>The                 confidence interval for the estimation of the parameter </a:t>
            </a:r>
            <a:r>
              <a:rPr lang="en-US" i="1" dirty="0" smtClean="0"/>
              <a:t>m</a:t>
            </a:r>
            <a:r>
              <a:rPr lang="en-US" dirty="0" smtClean="0"/>
              <a:t> is defined as                          , such that </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18</a:t>
            </a:fld>
            <a:endParaRPr lang="en-US" altLang="zh-CN" dirty="0" smtClean="0"/>
          </a:p>
        </p:txBody>
      </p:sp>
      <p:graphicFrame>
        <p:nvGraphicFramePr>
          <p:cNvPr id="17411" name="Object 3"/>
          <p:cNvGraphicFramePr>
            <a:graphicFrameLocks noChangeAspect="1"/>
          </p:cNvGraphicFramePr>
          <p:nvPr/>
        </p:nvGraphicFramePr>
        <p:xfrm>
          <a:off x="4267200" y="1295400"/>
          <a:ext cx="320675" cy="287338"/>
        </p:xfrm>
        <a:graphic>
          <a:graphicData uri="http://schemas.openxmlformats.org/presentationml/2006/ole">
            <p:oleObj spid="_x0000_s17411" name="Equation" r:id="rId3" imgW="241200" imgH="215640" progId="Equation.3">
              <p:embed/>
            </p:oleObj>
          </a:graphicData>
        </a:graphic>
      </p:graphicFrame>
      <p:graphicFrame>
        <p:nvGraphicFramePr>
          <p:cNvPr id="17412" name="Object 4"/>
          <p:cNvGraphicFramePr>
            <a:graphicFrameLocks noChangeAspect="1"/>
          </p:cNvGraphicFramePr>
          <p:nvPr/>
        </p:nvGraphicFramePr>
        <p:xfrm>
          <a:off x="7696200" y="1600200"/>
          <a:ext cx="320675" cy="287338"/>
        </p:xfrm>
        <a:graphic>
          <a:graphicData uri="http://schemas.openxmlformats.org/presentationml/2006/ole">
            <p:oleObj spid="_x0000_s17412" name="Equation" r:id="rId4" imgW="241200" imgH="215640" progId="Equation.3">
              <p:embed/>
            </p:oleObj>
          </a:graphicData>
        </a:graphic>
      </p:graphicFrame>
      <p:graphicFrame>
        <p:nvGraphicFramePr>
          <p:cNvPr id="17413" name="Object 5"/>
          <p:cNvGraphicFramePr>
            <a:graphicFrameLocks noChangeAspect="1"/>
          </p:cNvGraphicFramePr>
          <p:nvPr/>
        </p:nvGraphicFramePr>
        <p:xfrm>
          <a:off x="5638800" y="1905000"/>
          <a:ext cx="381000" cy="341392"/>
        </p:xfrm>
        <a:graphic>
          <a:graphicData uri="http://schemas.openxmlformats.org/presentationml/2006/ole">
            <p:oleObj spid="_x0000_s17413" name="Equation" r:id="rId5" imgW="241200" imgH="215640" progId="Equation.3">
              <p:embed/>
            </p:oleObj>
          </a:graphicData>
        </a:graphic>
      </p:graphicFrame>
      <p:graphicFrame>
        <p:nvGraphicFramePr>
          <p:cNvPr id="17415" name="Object 7"/>
          <p:cNvGraphicFramePr>
            <a:graphicFrameLocks noChangeAspect="1"/>
          </p:cNvGraphicFramePr>
          <p:nvPr/>
        </p:nvGraphicFramePr>
        <p:xfrm>
          <a:off x="7543800" y="1905000"/>
          <a:ext cx="1366837" cy="287337"/>
        </p:xfrm>
        <a:graphic>
          <a:graphicData uri="http://schemas.openxmlformats.org/presentationml/2006/ole">
            <p:oleObj spid="_x0000_s17415" name="Equation" r:id="rId6" imgW="1028520" imgH="215640" progId="Equation.3">
              <p:embed/>
            </p:oleObj>
          </a:graphicData>
        </a:graphic>
      </p:graphicFrame>
      <p:graphicFrame>
        <p:nvGraphicFramePr>
          <p:cNvPr id="17416" name="Object 8"/>
          <p:cNvGraphicFramePr>
            <a:graphicFrameLocks noChangeAspect="1"/>
          </p:cNvGraphicFramePr>
          <p:nvPr/>
        </p:nvGraphicFramePr>
        <p:xfrm>
          <a:off x="2227263" y="2362200"/>
          <a:ext cx="3602037" cy="381000"/>
        </p:xfrm>
        <a:graphic>
          <a:graphicData uri="http://schemas.openxmlformats.org/presentationml/2006/ole">
            <p:oleObj spid="_x0000_s17416" name="Equation" r:id="rId7" imgW="2044440" imgH="215640" progId="Equation.3">
              <p:embed/>
            </p:oleObj>
          </a:graphicData>
        </a:graphic>
      </p:graphicFrame>
      <p:graphicFrame>
        <p:nvGraphicFramePr>
          <p:cNvPr id="17419" name="Object 11"/>
          <p:cNvGraphicFramePr>
            <a:graphicFrameLocks noChangeAspect="1"/>
          </p:cNvGraphicFramePr>
          <p:nvPr/>
        </p:nvGraphicFramePr>
        <p:xfrm>
          <a:off x="6172200" y="3429000"/>
          <a:ext cx="1168400" cy="576263"/>
        </p:xfrm>
        <a:graphic>
          <a:graphicData uri="http://schemas.openxmlformats.org/presentationml/2006/ole">
            <p:oleObj spid="_x0000_s17419" name="Equation" r:id="rId8" imgW="876240" imgH="431640" progId="Equation.3">
              <p:embed/>
            </p:oleObj>
          </a:graphicData>
        </a:graphic>
      </p:graphicFrame>
      <p:graphicFrame>
        <p:nvGraphicFramePr>
          <p:cNvPr id="17420" name="Object 12"/>
          <p:cNvGraphicFramePr>
            <a:graphicFrameLocks noChangeAspect="1"/>
          </p:cNvGraphicFramePr>
          <p:nvPr/>
        </p:nvGraphicFramePr>
        <p:xfrm>
          <a:off x="1920875" y="5164138"/>
          <a:ext cx="776288" cy="271462"/>
        </p:xfrm>
        <a:graphic>
          <a:graphicData uri="http://schemas.openxmlformats.org/presentationml/2006/ole">
            <p:oleObj spid="_x0000_s17420" name="Equation" r:id="rId9" imgW="583920" imgH="203040" progId="Equation.3">
              <p:embed/>
            </p:oleObj>
          </a:graphicData>
        </a:graphic>
      </p:graphicFrame>
      <p:graphicFrame>
        <p:nvGraphicFramePr>
          <p:cNvPr id="17424" name="Object 16"/>
          <p:cNvGraphicFramePr>
            <a:graphicFrameLocks noChangeAspect="1"/>
          </p:cNvGraphicFramePr>
          <p:nvPr/>
        </p:nvGraphicFramePr>
        <p:xfrm>
          <a:off x="2909888" y="5791200"/>
          <a:ext cx="3267075" cy="381000"/>
        </p:xfrm>
        <a:graphic>
          <a:graphicData uri="http://schemas.openxmlformats.org/presentationml/2006/ole">
            <p:oleObj spid="_x0000_s17424" name="Equation" r:id="rId10" imgW="1854000" imgH="215640" progId="Equation.3">
              <p:embed/>
            </p:oleObj>
          </a:graphicData>
        </a:graphic>
      </p:graphicFrame>
      <p:graphicFrame>
        <p:nvGraphicFramePr>
          <p:cNvPr id="17425" name="Object 17"/>
          <p:cNvGraphicFramePr>
            <a:graphicFrameLocks noChangeAspect="1"/>
          </p:cNvGraphicFramePr>
          <p:nvPr/>
        </p:nvGraphicFramePr>
        <p:xfrm>
          <a:off x="2438400" y="5410200"/>
          <a:ext cx="1366838" cy="287338"/>
        </p:xfrm>
        <a:graphic>
          <a:graphicData uri="http://schemas.openxmlformats.org/presentationml/2006/ole">
            <p:oleObj spid="_x0000_s17425" name="Equation" r:id="rId11" imgW="1028520" imgH="215640" progId="Equation.3">
              <p:embed/>
            </p:oleObj>
          </a:graphicData>
        </a:graphic>
      </p:graphicFrame>
      <p:graphicFrame>
        <p:nvGraphicFramePr>
          <p:cNvPr id="17426" name="Object 18"/>
          <p:cNvGraphicFramePr>
            <a:graphicFrameLocks noChangeAspect="1"/>
          </p:cNvGraphicFramePr>
          <p:nvPr/>
        </p:nvGraphicFramePr>
        <p:xfrm>
          <a:off x="1905000" y="2971800"/>
          <a:ext cx="1366838" cy="287338"/>
        </p:xfrm>
        <a:graphic>
          <a:graphicData uri="http://schemas.openxmlformats.org/presentationml/2006/ole">
            <p:oleObj spid="_x0000_s17426" name="Equation" r:id="rId12" imgW="1028520" imgH="215640" progId="Equation.3">
              <p:embed/>
            </p:oleObj>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a:t>
            </a:r>
            <a:endParaRPr lang="en-US" dirty="0"/>
          </a:p>
        </p:txBody>
      </p:sp>
      <p:sp>
        <p:nvSpPr>
          <p:cNvPr id="3" name="Content Placeholder 2"/>
          <p:cNvSpPr>
            <a:spLocks noGrp="1"/>
          </p:cNvSpPr>
          <p:nvPr>
            <p:ph idx="1"/>
          </p:nvPr>
        </p:nvSpPr>
        <p:spPr/>
        <p:txBody>
          <a:bodyPr/>
          <a:lstStyle/>
          <a:p>
            <a:r>
              <a:rPr lang="en-US" dirty="0" smtClean="0"/>
              <a:t>Confidence Interval (Cont’d)</a:t>
            </a:r>
          </a:p>
          <a:p>
            <a:endParaRPr lang="en-US" dirty="0" smtClean="0"/>
          </a:p>
          <a:p>
            <a:endParaRPr lang="en-US" dirty="0" smtClean="0"/>
          </a:p>
          <a:p>
            <a:pPr lvl="1"/>
            <a:r>
              <a:rPr lang="en-US" dirty="0" smtClean="0"/>
              <a:t>Based on the central limit theorem,         is Gaussian distributed with mean</a:t>
            </a:r>
          </a:p>
          <a:p>
            <a:pPr lvl="1">
              <a:buNone/>
            </a:pPr>
            <a:r>
              <a:rPr lang="en-US" dirty="0" smtClean="0"/>
              <a:t>	        and variance </a:t>
            </a:r>
          </a:p>
          <a:p>
            <a:pPr lvl="1">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19</a:t>
            </a:fld>
            <a:endParaRPr lang="en-US" altLang="zh-CN" dirty="0" smtClean="0"/>
          </a:p>
        </p:txBody>
      </p:sp>
      <p:graphicFrame>
        <p:nvGraphicFramePr>
          <p:cNvPr id="26626" name="Object 2"/>
          <p:cNvGraphicFramePr>
            <a:graphicFrameLocks noChangeAspect="1"/>
          </p:cNvGraphicFramePr>
          <p:nvPr/>
        </p:nvGraphicFramePr>
        <p:xfrm>
          <a:off x="1143000" y="1447800"/>
          <a:ext cx="5907088" cy="381000"/>
        </p:xfrm>
        <a:graphic>
          <a:graphicData uri="http://schemas.openxmlformats.org/presentationml/2006/ole">
            <p:oleObj spid="_x0000_s26626" name="Equation" r:id="rId4" imgW="3352680" imgH="215640" progId="Equation.3">
              <p:embed/>
            </p:oleObj>
          </a:graphicData>
        </a:graphic>
      </p:graphicFrame>
      <p:graphicFrame>
        <p:nvGraphicFramePr>
          <p:cNvPr id="26627" name="Object 3"/>
          <p:cNvGraphicFramePr>
            <a:graphicFrameLocks noChangeAspect="1"/>
          </p:cNvGraphicFramePr>
          <p:nvPr/>
        </p:nvGraphicFramePr>
        <p:xfrm>
          <a:off x="7086600" y="1295400"/>
          <a:ext cx="1835150" cy="627062"/>
        </p:xfrm>
        <a:graphic>
          <a:graphicData uri="http://schemas.openxmlformats.org/presentationml/2006/ole">
            <p:oleObj spid="_x0000_s26627" name="Equation" r:id="rId5" imgW="1041120" imgH="355320" progId="Equation.3">
              <p:embed/>
            </p:oleObj>
          </a:graphicData>
        </a:graphic>
      </p:graphicFrame>
      <p:graphicFrame>
        <p:nvGraphicFramePr>
          <p:cNvPr id="26628" name="Object 4"/>
          <p:cNvGraphicFramePr>
            <a:graphicFrameLocks noChangeAspect="1"/>
          </p:cNvGraphicFramePr>
          <p:nvPr/>
        </p:nvGraphicFramePr>
        <p:xfrm>
          <a:off x="4724400" y="1981200"/>
          <a:ext cx="425450" cy="381000"/>
        </p:xfrm>
        <a:graphic>
          <a:graphicData uri="http://schemas.openxmlformats.org/presentationml/2006/ole">
            <p:oleObj spid="_x0000_s26628" name="Equation" r:id="rId6" imgW="241200" imgH="215640" progId="Equation.3">
              <p:embed/>
            </p:oleObj>
          </a:graphicData>
        </a:graphic>
      </p:graphicFrame>
      <p:graphicFrame>
        <p:nvGraphicFramePr>
          <p:cNvPr id="26631" name="Object 7"/>
          <p:cNvGraphicFramePr>
            <a:graphicFrameLocks noChangeAspect="1"/>
          </p:cNvGraphicFramePr>
          <p:nvPr/>
        </p:nvGraphicFramePr>
        <p:xfrm>
          <a:off x="1447800" y="2286000"/>
          <a:ext cx="425450" cy="381000"/>
        </p:xfrm>
        <a:graphic>
          <a:graphicData uri="http://schemas.openxmlformats.org/presentationml/2006/ole">
            <p:oleObj spid="_x0000_s26631" name="Equation" r:id="rId7" imgW="241200" imgH="215640" progId="Equation.3">
              <p:embed/>
            </p:oleObj>
          </a:graphicData>
        </a:graphic>
      </p:graphicFrame>
      <p:graphicFrame>
        <p:nvGraphicFramePr>
          <p:cNvPr id="26632" name="Object 8"/>
          <p:cNvGraphicFramePr>
            <a:graphicFrameLocks noChangeAspect="1"/>
          </p:cNvGraphicFramePr>
          <p:nvPr/>
        </p:nvGraphicFramePr>
        <p:xfrm>
          <a:off x="3048000" y="2209800"/>
          <a:ext cx="357157" cy="560387"/>
        </p:xfrm>
        <a:graphic>
          <a:graphicData uri="http://schemas.openxmlformats.org/presentationml/2006/ole">
            <p:oleObj spid="_x0000_s26632" name="Equation" r:id="rId8" imgW="266400" imgH="419040" progId="Equation.3">
              <p:embed/>
            </p:oleObj>
          </a:graphicData>
        </a:graphic>
      </p:graphicFrame>
      <p:graphicFrame>
        <p:nvGraphicFramePr>
          <p:cNvPr id="26633" name="Object 9"/>
          <p:cNvGraphicFramePr>
            <a:graphicFrameLocks noChangeAspect="1"/>
          </p:cNvGraphicFramePr>
          <p:nvPr/>
        </p:nvGraphicFramePr>
        <p:xfrm>
          <a:off x="1905000" y="2743200"/>
          <a:ext cx="5349875" cy="990600"/>
        </p:xfrm>
        <a:graphic>
          <a:graphicData uri="http://schemas.openxmlformats.org/presentationml/2006/ole">
            <p:oleObj spid="_x0000_s26633" name="Equation" r:id="rId9" imgW="3035160" imgH="520560" progId="Equation.3">
              <p:embed/>
            </p:oleObj>
          </a:graphicData>
        </a:graphic>
      </p:graphicFrame>
      <p:graphicFrame>
        <p:nvGraphicFramePr>
          <p:cNvPr id="26634" name="Object 10"/>
          <p:cNvGraphicFramePr>
            <a:graphicFrameLocks noChangeAspect="1"/>
          </p:cNvGraphicFramePr>
          <p:nvPr/>
        </p:nvGraphicFramePr>
        <p:xfrm>
          <a:off x="2133600" y="4038600"/>
          <a:ext cx="4565650" cy="896938"/>
        </p:xfrm>
        <a:graphic>
          <a:graphicData uri="http://schemas.openxmlformats.org/presentationml/2006/ole">
            <p:oleObj spid="_x0000_s26634" name="Equation" r:id="rId10" imgW="2590560" imgH="507960" progId="Equation.3">
              <p:embed/>
            </p:oleObj>
          </a:graphicData>
        </a:graphic>
      </p:graphicFrame>
      <p:graphicFrame>
        <p:nvGraphicFramePr>
          <p:cNvPr id="26635" name="Object 11"/>
          <p:cNvGraphicFramePr>
            <a:graphicFrameLocks noChangeAspect="1"/>
          </p:cNvGraphicFramePr>
          <p:nvPr/>
        </p:nvGraphicFramePr>
        <p:xfrm>
          <a:off x="2133600" y="5181600"/>
          <a:ext cx="4565650" cy="896938"/>
        </p:xfrm>
        <a:graphic>
          <a:graphicData uri="http://schemas.openxmlformats.org/presentationml/2006/ole">
            <p:oleObj spid="_x0000_s26635" name="Equation" r:id="rId11" imgW="2590560" imgH="507960" progId="Equation.3">
              <p:embed/>
            </p:oleObj>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CONFIDENCE INTERVAL	</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A very large population of resistor values has a true mean of 100 Ohm and a standard deviation of 5 Ohm. Find the 95% confidence interval (confidence limits) on the sample mean if the sample size is 100. </a:t>
            </a:r>
          </a:p>
          <a:p>
            <a:pPr lvl="1">
              <a:buNone/>
            </a:pPr>
            <a:r>
              <a:rPr lang="en-US" dirty="0" smtClean="0"/>
              <a:t>	Q(1.96) = 0.025</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20</a:t>
            </a:fld>
            <a:endParaRPr lang="en-US" altLang="zh-CN"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21</a:t>
            </a:fld>
            <a:endParaRPr lang="en-US" altLang="zh-CN" dirty="0" smtClean="0"/>
          </a:p>
        </p:txBody>
      </p:sp>
      <p:sp>
        <p:nvSpPr>
          <p:cNvPr id="5" name="Rectangle 3"/>
          <p:cNvSpPr txBox="1">
            <a:spLocks noChangeArrowheads="1"/>
          </p:cNvSpPr>
          <p:nvPr/>
        </p:nvSpPr>
        <p:spPr>
          <a:xfrm>
            <a:off x="533400" y="914400"/>
            <a:ext cx="7772400" cy="56007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Introduction:</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what is statistics?</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Sample</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 mean and sample variance</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altLang="zh-CN" b="1" dirty="0" smtClean="0">
              <a:solidFill>
                <a:schemeClr val="bg1">
                  <a:lumMod val="50000"/>
                </a:schemeClr>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C</a:t>
            </a:r>
            <a:r>
              <a:rPr kumimoji="0" lang="en-US" altLang="zh-CN" b="1" i="0" u="none" strike="noStrike" kern="1200" cap="none" spc="0" normalizeH="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rPr>
              <a:t>onfidence interval</a:t>
            </a:r>
            <a:endParaRPr kumimoji="0" lang="en-US" altLang="zh-CN" b="1" i="0" u="none" strike="noStrike" kern="1200" cap="none" spc="0" normalizeH="0" baseline="0" noProof="0" dirty="0" smtClean="0">
              <a:ln>
                <a:noFill/>
              </a:ln>
              <a:solidFill>
                <a:schemeClr val="bg1">
                  <a:lumMod val="50000"/>
                </a:schemeClr>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CN" b="1" dirty="0" smtClean="0">
                <a:solidFill>
                  <a:srgbClr val="000099"/>
                </a:solidFill>
                <a:latin typeface="Times New Roman" pitchFamily="18" charset="0"/>
                <a:ea typeface="宋体" pitchFamily="2" charset="-122"/>
                <a:cs typeface="Times New Roman" pitchFamily="18" charset="0"/>
              </a:rPr>
              <a:t>Hypothesis testing</a:t>
            </a: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CN" b="1" baseline="0" dirty="0" smtClean="0">
              <a:solidFill>
                <a:srgbClr val="000099"/>
              </a:solidFill>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altLang="zh-CN" b="1" i="0" u="none" strike="noStrike" kern="1200" cap="none" spc="0" normalizeH="0" noProof="0" dirty="0" smtClean="0">
              <a:ln>
                <a:noFill/>
              </a:ln>
              <a:solidFill>
                <a:srgbClr val="000099"/>
              </a:solidFill>
              <a:effectLst/>
              <a:uLnTx/>
              <a:uFillTx/>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a:xfrm>
            <a:off x="609600" y="876300"/>
            <a:ext cx="8305800" cy="5600700"/>
          </a:xfrm>
        </p:spPr>
        <p:txBody>
          <a:bodyPr/>
          <a:lstStyle/>
          <a:p>
            <a:r>
              <a:rPr lang="en-US" dirty="0" smtClean="0"/>
              <a:t>Hypothesis testing</a:t>
            </a:r>
          </a:p>
          <a:p>
            <a:pPr lvl="1"/>
            <a:r>
              <a:rPr lang="en-US" dirty="0" smtClean="0"/>
              <a:t>Testing an assertion about a population based on a random sample. </a:t>
            </a:r>
          </a:p>
          <a:p>
            <a:pPr lvl="1"/>
            <a:r>
              <a:rPr lang="en-US" dirty="0" smtClean="0"/>
              <a:t>Example:</a:t>
            </a:r>
          </a:p>
          <a:p>
            <a:pPr lvl="2"/>
            <a:r>
              <a:rPr lang="en-US" dirty="0" smtClean="0"/>
              <a:t>Hypothesis: a given coin is fair</a:t>
            </a:r>
          </a:p>
          <a:p>
            <a:pPr lvl="2"/>
            <a:r>
              <a:rPr lang="en-US" dirty="0" smtClean="0"/>
              <a:t>Test: flip the coin 100 times, count the number of heads</a:t>
            </a:r>
          </a:p>
          <a:p>
            <a:pPr lvl="3"/>
            <a:r>
              <a:rPr lang="en-US" dirty="0" smtClean="0"/>
              <a:t>If the coin is fair, we expect approximately 50 heads.</a:t>
            </a:r>
          </a:p>
          <a:p>
            <a:pPr lvl="3"/>
            <a:r>
              <a:rPr lang="en-US" dirty="0" smtClean="0"/>
              <a:t>E.g. if the number of heads is in [47, 53], the hypothesis is true. The hypothesis is false otherwise. </a:t>
            </a:r>
          </a:p>
          <a:p>
            <a:pPr lvl="3"/>
            <a:r>
              <a:rPr lang="en-US" dirty="0" smtClean="0"/>
              <a:t>The interval [47, 53] is chosen arbitrarily. How to systematically choose the interval?</a:t>
            </a:r>
          </a:p>
          <a:p>
            <a:pPr lvl="1"/>
            <a:r>
              <a:rPr lang="en-US" dirty="0" smtClean="0"/>
              <a:t>Example:</a:t>
            </a:r>
          </a:p>
          <a:p>
            <a:pPr lvl="2"/>
            <a:r>
              <a:rPr lang="en-US" dirty="0" smtClean="0"/>
              <a:t>Hypothesis: the light bulb from a certain manufacture can last 1000 hrs.</a:t>
            </a:r>
          </a:p>
          <a:p>
            <a:pPr lvl="2"/>
            <a:r>
              <a:rPr lang="en-US" dirty="0" smtClean="0"/>
              <a:t>Test: take 50 light bulbs, measure their life, and find the sample mean</a:t>
            </a:r>
          </a:p>
          <a:p>
            <a:pPr lvl="3"/>
            <a:r>
              <a:rPr lang="en-US" dirty="0" smtClean="0"/>
              <a:t>If the sample mean is greater than t hrs, the hypothesis is true.</a:t>
            </a:r>
          </a:p>
          <a:p>
            <a:pPr lvl="3"/>
            <a:r>
              <a:rPr lang="en-US" dirty="0" smtClean="0"/>
              <a:t>How do we determine the value t? 900 hrs? 950 hrs? 999 hrs?</a:t>
            </a:r>
          </a:p>
          <a:p>
            <a:pPr lvl="3">
              <a:buNone/>
            </a:pPr>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22</a:t>
            </a:fld>
            <a:endParaRPr lang="en-US" altLang="zh-CN"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Hypothesis testing: significance testing</a:t>
            </a:r>
          </a:p>
          <a:p>
            <a:pPr lvl="1"/>
            <a:r>
              <a:rPr lang="en-US" dirty="0" smtClean="0"/>
              <a:t>Test a hypothesis          about a parameter </a:t>
            </a:r>
            <a:r>
              <a:rPr lang="en-US" i="1" dirty="0" smtClean="0"/>
              <a:t>p</a:t>
            </a:r>
            <a:r>
              <a:rPr lang="en-US" dirty="0" smtClean="0"/>
              <a:t> of a random variable </a:t>
            </a:r>
            <a:r>
              <a:rPr lang="en-US" i="1" dirty="0" smtClean="0"/>
              <a:t>X </a:t>
            </a:r>
          </a:p>
          <a:p>
            <a:pPr lvl="2"/>
            <a:r>
              <a:rPr lang="en-US" dirty="0" smtClean="0"/>
              <a:t>Example: test whether a coin is fair</a:t>
            </a:r>
          </a:p>
          <a:p>
            <a:pPr lvl="3"/>
            <a:r>
              <a:rPr lang="en-US" i="1" dirty="0" smtClean="0"/>
              <a:t>X</a:t>
            </a:r>
            <a:r>
              <a:rPr lang="en-US" dirty="0" smtClean="0"/>
              <a:t>: Bernoulli RV with parameter</a:t>
            </a:r>
            <a:r>
              <a:rPr lang="en-US" i="1" dirty="0" smtClean="0"/>
              <a:t> p: P(X=1)=p, P(X=0)=1-p</a:t>
            </a:r>
          </a:p>
          <a:p>
            <a:pPr lvl="3"/>
            <a:r>
              <a:rPr lang="en-US" i="1" dirty="0" smtClean="0"/>
              <a:t>       : p = 0.5 (</a:t>
            </a:r>
            <a:r>
              <a:rPr lang="en-US" dirty="0" smtClean="0"/>
              <a:t>the coin is fair</a:t>
            </a:r>
            <a:r>
              <a:rPr lang="en-US" i="1" dirty="0" smtClean="0"/>
              <a:t>).</a:t>
            </a:r>
          </a:p>
          <a:p>
            <a:pPr lvl="1"/>
            <a:r>
              <a:rPr lang="en-US" i="1" dirty="0" smtClean="0"/>
              <a:t>       : </a:t>
            </a:r>
            <a:r>
              <a:rPr lang="en-US" dirty="0" smtClean="0"/>
              <a:t>null hypothesis</a:t>
            </a:r>
          </a:p>
          <a:p>
            <a:pPr lvl="1"/>
            <a:r>
              <a:rPr lang="en-US" i="1" dirty="0" smtClean="0"/>
              <a:t> </a:t>
            </a:r>
            <a:r>
              <a:rPr lang="en-US" dirty="0" smtClean="0"/>
              <a:t>Objective: accept or reject the hypothesis based on a random sample</a:t>
            </a:r>
          </a:p>
          <a:p>
            <a:pPr lvl="1"/>
            <a:endParaRPr lang="en-US" dirty="0" smtClean="0"/>
          </a:p>
          <a:p>
            <a:pPr lvl="1"/>
            <a:r>
              <a:rPr lang="en-US" dirty="0" smtClean="0"/>
              <a:t>Type I error: Reject          when          is true</a:t>
            </a:r>
          </a:p>
          <a:p>
            <a:pPr lvl="1"/>
            <a:r>
              <a:rPr lang="en-US" dirty="0" smtClean="0"/>
              <a:t>Type II error: Accept         when        is false    </a:t>
            </a:r>
          </a:p>
          <a:p>
            <a:pPr lvl="1"/>
            <a:endParaRPr lang="en-US" dirty="0" smtClean="0"/>
          </a:p>
          <a:p>
            <a:pPr lvl="1">
              <a:buNone/>
            </a:pPr>
            <a:r>
              <a:rPr lang="en-US" dirty="0" smtClean="0"/>
              <a:t>	</a:t>
            </a:r>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23</a:t>
            </a:fld>
            <a:endParaRPr lang="en-US" altLang="zh-CN" dirty="0" smtClean="0"/>
          </a:p>
        </p:txBody>
      </p:sp>
      <p:graphicFrame>
        <p:nvGraphicFramePr>
          <p:cNvPr id="27650" name="Object 2"/>
          <p:cNvGraphicFramePr>
            <a:graphicFrameLocks noChangeAspect="1"/>
          </p:cNvGraphicFramePr>
          <p:nvPr/>
        </p:nvGraphicFramePr>
        <p:xfrm>
          <a:off x="3124200" y="1219200"/>
          <a:ext cx="381000" cy="434975"/>
        </p:xfrm>
        <a:graphic>
          <a:graphicData uri="http://schemas.openxmlformats.org/presentationml/2006/ole">
            <p:oleObj spid="_x0000_s27650" name="Equation" r:id="rId3" imgW="215640" imgH="228600" progId="Equation.3">
              <p:embed/>
            </p:oleObj>
          </a:graphicData>
        </a:graphic>
      </p:graphicFrame>
      <p:graphicFrame>
        <p:nvGraphicFramePr>
          <p:cNvPr id="27651" name="Object 3"/>
          <p:cNvGraphicFramePr>
            <a:graphicFrameLocks noChangeAspect="1"/>
          </p:cNvGraphicFramePr>
          <p:nvPr/>
        </p:nvGraphicFramePr>
        <p:xfrm>
          <a:off x="2286000" y="2209800"/>
          <a:ext cx="381000" cy="434975"/>
        </p:xfrm>
        <a:graphic>
          <a:graphicData uri="http://schemas.openxmlformats.org/presentationml/2006/ole">
            <p:oleObj spid="_x0000_s27651" name="Equation" r:id="rId4" imgW="215640" imgH="228600" progId="Equation.3">
              <p:embed/>
            </p:oleObj>
          </a:graphicData>
        </a:graphic>
      </p:graphicFrame>
      <p:graphicFrame>
        <p:nvGraphicFramePr>
          <p:cNvPr id="27654" name="Object 6"/>
          <p:cNvGraphicFramePr>
            <a:graphicFrameLocks noChangeAspect="1"/>
          </p:cNvGraphicFramePr>
          <p:nvPr/>
        </p:nvGraphicFramePr>
        <p:xfrm>
          <a:off x="1600200" y="3276600"/>
          <a:ext cx="1320800" cy="304800"/>
        </p:xfrm>
        <a:graphic>
          <a:graphicData uri="http://schemas.openxmlformats.org/presentationml/2006/ole">
            <p:oleObj spid="_x0000_s27654" name="Equation" r:id="rId5" imgW="990360" imgH="228600" progId="Equation.3">
              <p:embed/>
            </p:oleObj>
          </a:graphicData>
        </a:graphic>
      </p:graphicFrame>
      <p:graphicFrame>
        <p:nvGraphicFramePr>
          <p:cNvPr id="27656" name="Object 8"/>
          <p:cNvGraphicFramePr>
            <a:graphicFrameLocks noChangeAspect="1"/>
          </p:cNvGraphicFramePr>
          <p:nvPr/>
        </p:nvGraphicFramePr>
        <p:xfrm>
          <a:off x="1447800" y="2514600"/>
          <a:ext cx="381000" cy="434975"/>
        </p:xfrm>
        <a:graphic>
          <a:graphicData uri="http://schemas.openxmlformats.org/presentationml/2006/ole">
            <p:oleObj spid="_x0000_s27656" name="Equation" r:id="rId6" imgW="215640" imgH="228600" progId="Equation.3">
              <p:embed/>
            </p:oleObj>
          </a:graphicData>
        </a:graphic>
      </p:graphicFrame>
      <p:graphicFrame>
        <p:nvGraphicFramePr>
          <p:cNvPr id="27657" name="Object 9"/>
          <p:cNvGraphicFramePr>
            <a:graphicFrameLocks noChangeAspect="1"/>
          </p:cNvGraphicFramePr>
          <p:nvPr/>
        </p:nvGraphicFramePr>
        <p:xfrm>
          <a:off x="3352800" y="3505200"/>
          <a:ext cx="381000" cy="434975"/>
        </p:xfrm>
        <a:graphic>
          <a:graphicData uri="http://schemas.openxmlformats.org/presentationml/2006/ole">
            <p:oleObj spid="_x0000_s27657" name="Equation" r:id="rId7" imgW="215640" imgH="228600" progId="Equation.3">
              <p:embed/>
            </p:oleObj>
          </a:graphicData>
        </a:graphic>
      </p:graphicFrame>
      <p:graphicFrame>
        <p:nvGraphicFramePr>
          <p:cNvPr id="27658" name="Object 10"/>
          <p:cNvGraphicFramePr>
            <a:graphicFrameLocks noChangeAspect="1"/>
          </p:cNvGraphicFramePr>
          <p:nvPr/>
        </p:nvGraphicFramePr>
        <p:xfrm>
          <a:off x="4419600" y="3505200"/>
          <a:ext cx="381000" cy="434975"/>
        </p:xfrm>
        <a:graphic>
          <a:graphicData uri="http://schemas.openxmlformats.org/presentationml/2006/ole">
            <p:oleObj spid="_x0000_s27658" name="Equation" r:id="rId8" imgW="215640" imgH="228600" progId="Equation.3">
              <p:embed/>
            </p:oleObj>
          </a:graphicData>
        </a:graphic>
      </p:graphicFrame>
      <p:graphicFrame>
        <p:nvGraphicFramePr>
          <p:cNvPr id="27659" name="Object 11"/>
          <p:cNvGraphicFramePr>
            <a:graphicFrameLocks noChangeAspect="1"/>
          </p:cNvGraphicFramePr>
          <p:nvPr/>
        </p:nvGraphicFramePr>
        <p:xfrm>
          <a:off x="3429000" y="3886200"/>
          <a:ext cx="381000" cy="434975"/>
        </p:xfrm>
        <a:graphic>
          <a:graphicData uri="http://schemas.openxmlformats.org/presentationml/2006/ole">
            <p:oleObj spid="_x0000_s27659" name="Equation" r:id="rId9" imgW="215640" imgH="228600" progId="Equation.3">
              <p:embed/>
            </p:oleObj>
          </a:graphicData>
        </a:graphic>
      </p:graphicFrame>
      <p:graphicFrame>
        <p:nvGraphicFramePr>
          <p:cNvPr id="27660" name="Object 12"/>
          <p:cNvGraphicFramePr>
            <a:graphicFrameLocks noChangeAspect="1"/>
          </p:cNvGraphicFramePr>
          <p:nvPr/>
        </p:nvGraphicFramePr>
        <p:xfrm>
          <a:off x="4419600" y="3886200"/>
          <a:ext cx="381000" cy="434975"/>
        </p:xfrm>
        <a:graphic>
          <a:graphicData uri="http://schemas.openxmlformats.org/presentationml/2006/ole">
            <p:oleObj spid="_x0000_s27660" name="Equation" r:id="rId10" imgW="215640" imgH="228600" progId="Equation.3">
              <p:embed/>
            </p:oleObj>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A certain coin is claimed to be fair with a 95% confidence interval. To test the hypothesis, we flip the coin 100 times, and find the sample mean,       .  If                      , can we accept the claim? </a:t>
            </a:r>
          </a:p>
          <a:p>
            <a:pPr lvl="1"/>
            <a:endParaRPr lang="en-US" dirty="0" smtClean="0"/>
          </a:p>
          <a:p>
            <a:pPr lvl="1">
              <a:buNone/>
            </a:pPr>
            <a:r>
              <a:rPr lang="en-US" dirty="0" smtClean="0"/>
              <a:t>	Sol: Hypothesis: this is a fair coin </a:t>
            </a:r>
            <a:r>
              <a:rPr lang="en-US" dirty="0" smtClean="0">
                <a:sym typeface="Wingdings" pitchFamily="2" charset="2"/>
              </a:rPr>
              <a:t>                           , </a:t>
            </a:r>
          </a:p>
          <a:p>
            <a:pPr lvl="1">
              <a:buNone/>
            </a:pPr>
            <a:r>
              <a:rPr lang="en-US" dirty="0" smtClean="0">
                <a:sym typeface="Wingdings" pitchFamily="2" charset="2"/>
              </a:rPr>
              <a:t>		     find out if                      is in the 95% confidence interval  </a:t>
            </a:r>
            <a:endParaRPr lang="en-US" dirty="0" smtClean="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24</a:t>
            </a:fld>
            <a:endParaRPr lang="en-US" altLang="zh-CN" dirty="0" smtClean="0"/>
          </a:p>
        </p:txBody>
      </p:sp>
      <p:graphicFrame>
        <p:nvGraphicFramePr>
          <p:cNvPr id="28674" name="Object 2"/>
          <p:cNvGraphicFramePr>
            <a:graphicFrameLocks noChangeAspect="1"/>
          </p:cNvGraphicFramePr>
          <p:nvPr/>
        </p:nvGraphicFramePr>
        <p:xfrm>
          <a:off x="7772400" y="1524000"/>
          <a:ext cx="425450" cy="381000"/>
        </p:xfrm>
        <a:graphic>
          <a:graphicData uri="http://schemas.openxmlformats.org/presentationml/2006/ole">
            <p:oleObj spid="_x0000_s28674" name="Equation" r:id="rId4" imgW="241200" imgH="215640" progId="Equation.3">
              <p:embed/>
            </p:oleObj>
          </a:graphicData>
        </a:graphic>
      </p:graphicFrame>
      <p:graphicFrame>
        <p:nvGraphicFramePr>
          <p:cNvPr id="28676" name="Object 4"/>
          <p:cNvGraphicFramePr>
            <a:graphicFrameLocks noChangeAspect="1"/>
          </p:cNvGraphicFramePr>
          <p:nvPr/>
        </p:nvGraphicFramePr>
        <p:xfrm>
          <a:off x="1676400" y="1828800"/>
          <a:ext cx="1165225" cy="381000"/>
        </p:xfrm>
        <a:graphic>
          <a:graphicData uri="http://schemas.openxmlformats.org/presentationml/2006/ole">
            <p:oleObj spid="_x0000_s28676" name="Equation" r:id="rId5" imgW="660240" imgH="215640" progId="Equation.3">
              <p:embed/>
            </p:oleObj>
          </a:graphicData>
        </a:graphic>
      </p:graphicFrame>
      <p:graphicFrame>
        <p:nvGraphicFramePr>
          <p:cNvPr id="28677" name="Object 5"/>
          <p:cNvGraphicFramePr>
            <a:graphicFrameLocks noChangeAspect="1"/>
          </p:cNvGraphicFramePr>
          <p:nvPr/>
        </p:nvGraphicFramePr>
        <p:xfrm>
          <a:off x="2209800" y="5334000"/>
          <a:ext cx="4565650" cy="896938"/>
        </p:xfrm>
        <a:graphic>
          <a:graphicData uri="http://schemas.openxmlformats.org/presentationml/2006/ole">
            <p:oleObj spid="_x0000_s28677" name="Equation" r:id="rId6" imgW="2590560" imgH="507960" progId="Equation.3">
              <p:embed/>
            </p:oleObj>
          </a:graphicData>
        </a:graphic>
      </p:graphicFrame>
      <p:graphicFrame>
        <p:nvGraphicFramePr>
          <p:cNvPr id="28678" name="Object 6"/>
          <p:cNvGraphicFramePr>
            <a:graphicFrameLocks noChangeAspect="1"/>
          </p:cNvGraphicFramePr>
          <p:nvPr/>
        </p:nvGraphicFramePr>
        <p:xfrm>
          <a:off x="4876800" y="2438400"/>
          <a:ext cx="1474788" cy="381000"/>
        </p:xfrm>
        <a:graphic>
          <a:graphicData uri="http://schemas.openxmlformats.org/presentationml/2006/ole">
            <p:oleObj spid="_x0000_s28678" name="Equation" r:id="rId7" imgW="838080" imgH="215640" progId="Equation.3">
              <p:embed/>
            </p:oleObj>
          </a:graphicData>
        </a:graphic>
      </p:graphicFrame>
      <p:graphicFrame>
        <p:nvGraphicFramePr>
          <p:cNvPr id="10" name="Object 6"/>
          <p:cNvGraphicFramePr>
            <a:graphicFrameLocks noChangeAspect="1"/>
          </p:cNvGraphicFramePr>
          <p:nvPr/>
        </p:nvGraphicFramePr>
        <p:xfrm>
          <a:off x="6553200" y="2362200"/>
          <a:ext cx="2124075" cy="447675"/>
        </p:xfrm>
        <a:graphic>
          <a:graphicData uri="http://schemas.openxmlformats.org/presentationml/2006/ole">
            <p:oleObj spid="_x0000_s28679" name="Equation" r:id="rId8" imgW="1206360" imgH="253800" progId="Equation.3">
              <p:embed/>
            </p:oleObj>
          </a:graphicData>
        </a:graphic>
      </p:graphicFrame>
      <p:graphicFrame>
        <p:nvGraphicFramePr>
          <p:cNvPr id="28680" name="Object 8"/>
          <p:cNvGraphicFramePr>
            <a:graphicFrameLocks noChangeAspect="1"/>
          </p:cNvGraphicFramePr>
          <p:nvPr/>
        </p:nvGraphicFramePr>
        <p:xfrm>
          <a:off x="2895600" y="2743200"/>
          <a:ext cx="1165225" cy="381000"/>
        </p:xfrm>
        <a:graphic>
          <a:graphicData uri="http://schemas.openxmlformats.org/presentationml/2006/ole">
            <p:oleObj spid="_x0000_s28680" name="Equation" r:id="rId9" imgW="660240" imgH="215640" progId="Equation.3">
              <p:embed/>
            </p:oleObj>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TESTING</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A resistor manufacture is testing the quality of a batch of resistors with nominal value 1K Ohm, with a 95% confidence level. A sample of 100 resistors are tested, and the sample mean is 1040 Ohm, and the sample standard deviation is 100 Ohm. Do the resistors pass the quality check?</a:t>
            </a:r>
          </a:p>
          <a:p>
            <a:pPr lvl="1"/>
            <a:endParaRPr lang="en-US" dirty="0"/>
          </a:p>
        </p:txBody>
      </p:sp>
      <p:sp>
        <p:nvSpPr>
          <p:cNvPr id="4" name="Slide Number Placeholder 3"/>
          <p:cNvSpPr>
            <a:spLocks noGrp="1"/>
          </p:cNvSpPr>
          <p:nvPr>
            <p:ph type="sldNum" sz="quarter" idx="10"/>
          </p:nvPr>
        </p:nvSpPr>
        <p:spPr/>
        <p:txBody>
          <a:bodyPr/>
          <a:lstStyle/>
          <a:p>
            <a:fld id="{7A65BF99-0365-4788-A7C5-586C0382C80B}" type="slidenum">
              <a:rPr lang="zh-CN" altLang="en-US" smtClean="0"/>
              <a:pPr/>
              <a:t>25</a:t>
            </a:fld>
            <a:endParaRPr lang="en-US" altLang="zh-CN"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2427</TotalTime>
  <Words>1525</Words>
  <Application>Microsoft Office PowerPoint</Application>
  <PresentationFormat>On-screen Show (4:3)</PresentationFormat>
  <Paragraphs>275</Paragraphs>
  <Slides>25</Slides>
  <Notes>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27" baseType="lpstr">
      <vt:lpstr>Office Theme</vt:lpstr>
      <vt:lpstr>Equation</vt:lpstr>
      <vt:lpstr>ELEG 3143 Probability &amp; Stochastic Process Ch. 4 Elements of Statistics</vt:lpstr>
      <vt:lpstr>OUTLINE</vt:lpstr>
      <vt:lpstr>INTRODUCTION</vt:lpstr>
      <vt:lpstr>INTRODUCTION</vt:lpstr>
      <vt:lpstr>OUTLINE</vt:lpstr>
      <vt:lpstr>SAMPLE MEAN AND VARIANCE</vt:lpstr>
      <vt:lpstr>SAMPLE MEAN AND VARIANCE</vt:lpstr>
      <vt:lpstr>SAMPLE MEAN AND VARIANCE</vt:lpstr>
      <vt:lpstr>SAMPLE MEAN AND VARIANCE</vt:lpstr>
      <vt:lpstr>SAMPLE MEAN AND VARIANCE</vt:lpstr>
      <vt:lpstr>SAMPLE MEAN AND VARIANCE</vt:lpstr>
      <vt:lpstr>SAMPLE MEAN AND VARIANCE</vt:lpstr>
      <vt:lpstr>SAMPLE MEAN AND VARIANCE</vt:lpstr>
      <vt:lpstr>SAMPLE MEAN AND VARIANCE</vt:lpstr>
      <vt:lpstr>SAMPLE MEAN AND VARIANCE</vt:lpstr>
      <vt:lpstr>OUTLINE</vt:lpstr>
      <vt:lpstr>CONFIDENCE INTERVAL</vt:lpstr>
      <vt:lpstr>CONFIDENCE INTERVAL</vt:lpstr>
      <vt:lpstr>CONFIDENCE INTERVAL</vt:lpstr>
      <vt:lpstr>CONFIDENCE INTERVAL </vt:lpstr>
      <vt:lpstr>OUTLINE</vt:lpstr>
      <vt:lpstr>HYPOTHESIS TESTING</vt:lpstr>
      <vt:lpstr>HYPOTHESIS TESTING</vt:lpstr>
      <vt:lpstr>HYPOTHESIS TESTING</vt:lpstr>
      <vt:lpstr>HYPOTHESIS TESTING</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wuj</dc:creator>
  <cp:lastModifiedBy>wuj</cp:lastModifiedBy>
  <cp:revision>937</cp:revision>
  <dcterms:created xsi:type="dcterms:W3CDTF">2006-08-16T00:00:00Z</dcterms:created>
  <dcterms:modified xsi:type="dcterms:W3CDTF">2011-04-12T03:34:54Z</dcterms:modified>
</cp:coreProperties>
</file>