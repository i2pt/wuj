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343" r:id="rId3"/>
    <p:sldId id="281" r:id="rId4"/>
    <p:sldId id="282" r:id="rId5"/>
    <p:sldId id="332" r:id="rId6"/>
    <p:sldId id="283" r:id="rId7"/>
    <p:sldId id="284" r:id="rId8"/>
    <p:sldId id="285" r:id="rId9"/>
    <p:sldId id="286" r:id="rId10"/>
    <p:sldId id="287" r:id="rId11"/>
    <p:sldId id="344" r:id="rId12"/>
    <p:sldId id="288" r:id="rId13"/>
    <p:sldId id="289" r:id="rId14"/>
    <p:sldId id="290" r:id="rId15"/>
    <p:sldId id="291" r:id="rId16"/>
    <p:sldId id="292" r:id="rId17"/>
    <p:sldId id="336" r:id="rId18"/>
    <p:sldId id="345" r:id="rId19"/>
    <p:sldId id="305" r:id="rId20"/>
    <p:sldId id="304" r:id="rId21"/>
    <p:sldId id="306" r:id="rId22"/>
    <p:sldId id="308" r:id="rId23"/>
    <p:sldId id="309" r:id="rId24"/>
    <p:sldId id="335" r:id="rId25"/>
    <p:sldId id="311" r:id="rId26"/>
    <p:sldId id="307" r:id="rId27"/>
    <p:sldId id="313" r:id="rId28"/>
    <p:sldId id="346" r:id="rId29"/>
    <p:sldId id="314" r:id="rId30"/>
    <p:sldId id="352" r:id="rId31"/>
    <p:sldId id="353" r:id="rId32"/>
    <p:sldId id="337" r:id="rId33"/>
    <p:sldId id="338" r:id="rId34"/>
    <p:sldId id="339" r:id="rId35"/>
    <p:sldId id="349" r:id="rId36"/>
    <p:sldId id="340" r:id="rId37"/>
    <p:sldId id="341" r:id="rId38"/>
    <p:sldId id="342" r:id="rId39"/>
    <p:sldId id="350" r:id="rId40"/>
    <p:sldId id="351" r:id="rId41"/>
    <p:sldId id="347" r:id="rId42"/>
    <p:sldId id="322" r:id="rId43"/>
    <p:sldId id="348" r:id="rId44"/>
    <p:sldId id="325" r:id="rId45"/>
    <p:sldId id="32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90086" autoAdjust="0"/>
  </p:normalViewPr>
  <p:slideViewPr>
    <p:cSldViewPr>
      <p:cViewPr varScale="1">
        <p:scale>
          <a:sx n="92" d="100"/>
          <a:sy n="92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5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9.bin"/><Relationship Id="rId14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0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oleObject" Target="../embeddings/oleObject36.bin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10" Type="http://schemas.openxmlformats.org/officeDocument/2006/relationships/image" Target="../media/image47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3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70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71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png"/><Relationship Id="rId5" Type="http://schemas.openxmlformats.org/officeDocument/2006/relationships/image" Target="../media/image48.png"/><Relationship Id="rId4" Type="http://schemas.openxmlformats.org/officeDocument/2006/relationships/image" Target="../media/image4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www.youtube.com/watch?v=xDIyAOBa_y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g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05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106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07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10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sz="2800" dirty="0" smtClean="0"/>
              <a:t>Ch. 3 Continuous Random Variables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Family of continuous RV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Gaussian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69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</a:p>
          <a:p>
            <a:pPr lvl="1"/>
            <a:r>
              <a:rPr lang="en-US" dirty="0" smtClean="0"/>
              <a:t>If a random variable can take an unaccountable number of values, then the random variable is a continuous random variable. </a:t>
            </a:r>
          </a:p>
          <a:p>
            <a:pPr lvl="1"/>
            <a:r>
              <a:rPr lang="en-US" dirty="0" smtClean="0"/>
              <a:t>Examples of continuous RV</a:t>
            </a:r>
          </a:p>
          <a:p>
            <a:pPr lvl="2"/>
            <a:r>
              <a:rPr lang="en-US" dirty="0" smtClean="0"/>
              <a:t>The daily average temperature </a:t>
            </a:r>
          </a:p>
          <a:p>
            <a:pPr lvl="2"/>
            <a:r>
              <a:rPr lang="en-US" dirty="0" smtClean="0"/>
              <a:t>The expected lifetime of a computer</a:t>
            </a:r>
          </a:p>
          <a:p>
            <a:pPr lvl="2"/>
            <a:r>
              <a:rPr lang="en-US" dirty="0" smtClean="0"/>
              <a:t>The amplitude of noise in an electronic component</a:t>
            </a:r>
          </a:p>
          <a:p>
            <a:pPr lvl="2"/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2400300"/>
          </a:xfrm>
        </p:spPr>
        <p:txBody>
          <a:bodyPr/>
          <a:lstStyle/>
          <a:p>
            <a:r>
              <a:rPr lang="en-US" dirty="0" smtClean="0"/>
              <a:t>Cumulative distribution function (distribution function)</a:t>
            </a:r>
          </a:p>
          <a:p>
            <a:pPr lvl="1"/>
            <a:r>
              <a:rPr lang="en-US" dirty="0" smtClean="0"/>
              <a:t>The cumulative distribution function (CDF) of a continuous RV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probability that the RV </a:t>
            </a:r>
            <a:r>
              <a:rPr lang="en-US" i="1" dirty="0" smtClean="0"/>
              <a:t>X</a:t>
            </a:r>
            <a:r>
              <a:rPr lang="en-US" dirty="0" smtClean="0"/>
              <a:t> is smaller than or equal to </a:t>
            </a:r>
            <a:r>
              <a:rPr lang="en-US" i="1" dirty="0" smtClean="0"/>
              <a:t>x</a:t>
            </a:r>
          </a:p>
          <a:p>
            <a:pPr lvl="1"/>
            <a:r>
              <a:rPr lang="en-US" dirty="0" smtClean="0"/>
              <a:t>Recall: the CDF of a discrete RV </a:t>
            </a:r>
            <a:r>
              <a:rPr lang="en-US" i="1" dirty="0" smtClean="0"/>
              <a:t>Y</a:t>
            </a:r>
            <a:r>
              <a:rPr lang="en-US" dirty="0" smtClean="0"/>
              <a:t> is</a:t>
            </a:r>
          </a:p>
          <a:p>
            <a:pPr lvl="1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2971800" y="1676400"/>
          <a:ext cx="184308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4" name="Equation" r:id="rId3" imgW="1168200" imgH="215640" progId="Equation.3">
                  <p:embed/>
                </p:oleObj>
              </mc:Choice>
              <mc:Fallback>
                <p:oleObj name="Equation" r:id="rId3" imgW="116820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676400"/>
                        <a:ext cx="1843088" cy="339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4953000" y="2590800"/>
          <a:ext cx="17827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5" name="Equation" r:id="rId5" imgW="1130040" imgH="215640" progId="Equation.3">
                  <p:embed/>
                </p:oleObj>
              </mc:Choice>
              <mc:Fallback>
                <p:oleObj name="Equation" r:id="rId5" imgW="113004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90800"/>
                        <a:ext cx="178276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of CDF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924721"/>
              </p:ext>
            </p:extLst>
          </p:nvPr>
        </p:nvGraphicFramePr>
        <p:xfrm>
          <a:off x="1676400" y="1519151"/>
          <a:ext cx="13223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76" name="Equation" r:id="rId3" imgW="838080" imgH="215640" progId="Equation.3">
                  <p:embed/>
                </p:oleObj>
              </mc:Choice>
              <mc:Fallback>
                <p:oleObj name="Equation" r:id="rId3" imgW="838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19151"/>
                        <a:ext cx="1322387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532186"/>
              </p:ext>
            </p:extLst>
          </p:nvPr>
        </p:nvGraphicFramePr>
        <p:xfrm>
          <a:off x="1647030" y="2378707"/>
          <a:ext cx="12017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77" name="Equation" r:id="rId5" imgW="761760" imgH="215640" progId="Equation.3">
                  <p:embed/>
                </p:oleObj>
              </mc:Choice>
              <mc:Fallback>
                <p:oleObj name="Equation" r:id="rId5" imgW="761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030" y="2378707"/>
                        <a:ext cx="1201738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017082"/>
              </p:ext>
            </p:extLst>
          </p:nvPr>
        </p:nvGraphicFramePr>
        <p:xfrm>
          <a:off x="1676400" y="3307253"/>
          <a:ext cx="10223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78" name="Equation" r:id="rId7" imgW="647640" imgH="215640" progId="Equation.3">
                  <p:embed/>
                </p:oleObj>
              </mc:Choice>
              <mc:Fallback>
                <p:oleObj name="Equation" r:id="rId7" imgW="6476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307253"/>
                        <a:ext cx="102235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72349"/>
              </p:ext>
            </p:extLst>
          </p:nvPr>
        </p:nvGraphicFramePr>
        <p:xfrm>
          <a:off x="1676400" y="4178935"/>
          <a:ext cx="33020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79" name="Equation" r:id="rId9" imgW="2095200" imgH="215640" progId="Equation.3">
                  <p:embed/>
                </p:oleObj>
              </mc:Choice>
              <mc:Fallback>
                <p:oleObj name="Equation" r:id="rId9" imgW="2095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178935"/>
                        <a:ext cx="33020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1857375" y="5085314"/>
            <a:ext cx="3733800" cy="53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 non-decreasing function of </a:t>
            </a:r>
            <a:r>
              <a:rPr kumimoji="0" lang="en-US" sz="18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endParaRPr kumimoji="0" lang="en-US" sz="18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007680"/>
              </p:ext>
            </p:extLst>
          </p:nvPr>
        </p:nvGraphicFramePr>
        <p:xfrm>
          <a:off x="1647030" y="5111637"/>
          <a:ext cx="6604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80" name="Equation" r:id="rId11" imgW="419040" imgH="215640" progId="Equation.3">
                  <p:embed/>
                </p:oleObj>
              </mc:Choice>
              <mc:Fallback>
                <p:oleObj name="Equation" r:id="rId11" imgW="419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030" y="5111637"/>
                        <a:ext cx="6604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976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particular random variable has a probability distribution function given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What is the probability that </a:t>
            </a:r>
          </a:p>
          <a:p>
            <a:pPr lvl="2"/>
            <a:r>
              <a:rPr lang="en-US" dirty="0" smtClean="0"/>
              <a:t>What is the probability that </a:t>
            </a:r>
          </a:p>
          <a:p>
            <a:pPr lvl="2"/>
            <a:r>
              <a:rPr lang="en-US" dirty="0" smtClean="0"/>
              <a:t>What is the probability that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113666" name="Object 2"/>
          <p:cNvGraphicFramePr>
            <a:graphicFrameLocks noChangeAspect="1"/>
          </p:cNvGraphicFramePr>
          <p:nvPr/>
        </p:nvGraphicFramePr>
        <p:xfrm>
          <a:off x="2514600" y="1828800"/>
          <a:ext cx="2133600" cy="667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0" name="Equation" r:id="rId3" imgW="1536480" imgH="482400" progId="Equation.3">
                  <p:embed/>
                </p:oleObj>
              </mc:Choice>
              <mc:Fallback>
                <p:oleObj name="Equation" r:id="rId3" imgW="153648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828800"/>
                        <a:ext cx="2133600" cy="667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4460875" y="2590800"/>
          <a:ext cx="8112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1" name="Equation" r:id="rId5" imgW="583920" imgH="177480" progId="Equation.3">
                  <p:embed/>
                </p:oleObj>
              </mc:Choice>
              <mc:Fallback>
                <p:oleObj name="Equation" r:id="rId5" imgW="58392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2590800"/>
                        <a:ext cx="811213" cy="24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4460875" y="2895600"/>
          <a:ext cx="725488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2" name="Equation" r:id="rId7" imgW="520560" imgH="177480" progId="Equation.3">
                  <p:embed/>
                </p:oleObj>
              </mc:Choice>
              <mc:Fallback>
                <p:oleObj name="Equation" r:id="rId7" imgW="52056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2895600"/>
                        <a:ext cx="725488" cy="24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4572000" y="3200400"/>
          <a:ext cx="1292225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3" name="Equation" r:id="rId9" imgW="927000" imgH="177480" progId="Equation.3">
                  <p:embed/>
                </p:oleObj>
              </mc:Choice>
              <mc:Fallback>
                <p:oleObj name="Equation" r:id="rId9" imgW="92700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0400"/>
                        <a:ext cx="1292225" cy="24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Probability density function (</a:t>
            </a:r>
            <a:r>
              <a:rPr lang="en-US" dirty="0" err="1" smtClean="0"/>
              <a:t>pdf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421063" y="1295400"/>
          <a:ext cx="120173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5" name="Equation" r:id="rId3" imgW="888840" imgH="393480" progId="Equation.3">
                  <p:embed/>
                </p:oleObj>
              </mc:Choice>
              <mc:Fallback>
                <p:oleObj name="Equation" r:id="rId3" imgW="88884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1295400"/>
                        <a:ext cx="1201737" cy="534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14375" y="1849437"/>
            <a:ext cx="777240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The “density” of probability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Review: differentiation</a:t>
            </a: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4262" name="Object 6"/>
          <p:cNvGraphicFramePr>
            <a:graphicFrameLocks noChangeAspect="1"/>
          </p:cNvGraphicFramePr>
          <p:nvPr/>
        </p:nvGraphicFramePr>
        <p:xfrm>
          <a:off x="2743200" y="2667000"/>
          <a:ext cx="24542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6" name="Equation" r:id="rId5" imgW="1815840" imgH="393480" progId="Equation.3">
                  <p:embed/>
                </p:oleObj>
              </mc:Choice>
              <mc:Fallback>
                <p:oleObj name="Equation" r:id="rId5" imgW="181584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667000"/>
                        <a:ext cx="2454275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895600" y="4343400"/>
          <a:ext cx="21971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7" name="Equation" r:id="rId7" imgW="1625400" imgH="203040" progId="Equation.3">
                  <p:embed/>
                </p:oleObj>
              </mc:Choice>
              <mc:Fallback>
                <p:oleObj name="Equation" r:id="rId7" imgW="16254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343400"/>
                        <a:ext cx="2197100" cy="276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819400" y="3657600"/>
          <a:ext cx="20955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8" name="Equation" r:id="rId9" imgW="1549080" imgH="393480" progId="Equation.3">
                  <p:embed/>
                </p:oleObj>
              </mc:Choice>
              <mc:Fallback>
                <p:oleObj name="Equation" r:id="rId9" imgW="154908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2095500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62000" y="3276601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 smtClean="0">
                <a:latin typeface="Times New Roman" pitchFamily="18" charset="0"/>
                <a:cs typeface="Times New Roman" pitchFamily="18" charset="0"/>
              </a:rPr>
              <a:t>Interpretation:</a:t>
            </a: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4695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91200" y="3810000"/>
            <a:ext cx="31051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</a:t>
            </a:r>
            <a:r>
              <a:rPr lang="en-US" dirty="0" err="1" smtClean="0"/>
              <a:t>pdf</a:t>
            </a:r>
            <a:r>
              <a:rPr lang="en-US" dirty="0" smtClean="0"/>
              <a:t> and CDF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Review: integration</a:t>
            </a:r>
          </a:p>
          <a:p>
            <a:pPr lvl="2"/>
            <a:r>
              <a:rPr lang="en-US" dirty="0" smtClean="0"/>
              <a:t> finding the area under the integrand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115714" name="Object 4"/>
          <p:cNvGraphicFramePr>
            <a:graphicFrameLocks noChangeAspect="1"/>
          </p:cNvGraphicFramePr>
          <p:nvPr/>
        </p:nvGraphicFramePr>
        <p:xfrm>
          <a:off x="1905000" y="1295400"/>
          <a:ext cx="13906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1" name="Equation" r:id="rId3" imgW="1028520" imgH="393480" progId="Equation.3">
                  <p:embed/>
                </p:oleObj>
              </mc:Choice>
              <mc:Fallback>
                <p:oleObj name="Equation" r:id="rId3" imgW="10285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1390650" cy="534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5" name="Object 4"/>
          <p:cNvGraphicFramePr>
            <a:graphicFrameLocks noChangeAspect="1"/>
          </p:cNvGraphicFramePr>
          <p:nvPr/>
        </p:nvGraphicFramePr>
        <p:xfrm>
          <a:off x="4495800" y="1371600"/>
          <a:ext cx="17319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2" name="Equation" r:id="rId5" imgW="1282680" imgH="330120" progId="Equation.3">
                  <p:embed/>
                </p:oleObj>
              </mc:Choice>
              <mc:Fallback>
                <p:oleObj name="Equation" r:id="rId5" imgW="128268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371600"/>
                        <a:ext cx="1731962" cy="447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6" name="Object 4"/>
          <p:cNvGraphicFramePr>
            <a:graphicFrameLocks noChangeAspect="1"/>
          </p:cNvGraphicFramePr>
          <p:nvPr/>
        </p:nvGraphicFramePr>
        <p:xfrm>
          <a:off x="1447800" y="2286000"/>
          <a:ext cx="2743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3" name="Equation" r:id="rId7" imgW="2031840" imgH="330120" progId="Equation.3">
                  <p:embed/>
                </p:oleObj>
              </mc:Choice>
              <mc:Fallback>
                <p:oleObj name="Equation" r:id="rId7" imgW="203184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0"/>
                        <a:ext cx="27432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1455738" y="2895600"/>
          <a:ext cx="27273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4" name="Equation" r:id="rId9" imgW="2019240" imgH="330120" progId="Equation.3">
                  <p:embed/>
                </p:oleObj>
              </mc:Choice>
              <mc:Fallback>
                <p:oleObj name="Equation" r:id="rId9" imgW="2019240" imgH="330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2895600"/>
                        <a:ext cx="2727325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1828800" y="3581400"/>
          <a:ext cx="36544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5" name="Equation" r:id="rId11" imgW="2705040" imgH="330120" progId="Equation.3">
                  <p:embed/>
                </p:oleObj>
              </mc:Choice>
              <mc:Fallback>
                <p:oleObj name="Equation" r:id="rId11" imgW="2705040" imgH="3301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81400"/>
                        <a:ext cx="3654425" cy="447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5719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486400" y="4267200"/>
            <a:ext cx="31623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5720" name="Object 8"/>
          <p:cNvGraphicFramePr>
            <a:graphicFrameLocks noChangeAspect="1"/>
          </p:cNvGraphicFramePr>
          <p:nvPr/>
        </p:nvGraphicFramePr>
        <p:xfrm>
          <a:off x="2133600" y="5486400"/>
          <a:ext cx="20923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6" name="Equation" r:id="rId14" imgW="1549080" imgH="469800" progId="Equation.3">
                  <p:embed/>
                </p:oleObj>
              </mc:Choice>
              <mc:Fallback>
                <p:oleObj name="Equation" r:id="rId14" imgW="1549080" imgH="4698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486400"/>
                        <a:ext cx="2092325" cy="6381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of </a:t>
            </a:r>
            <a:r>
              <a:rPr lang="en-US" dirty="0" err="1" smtClean="0"/>
              <a:t>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2242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693439"/>
              </p:ext>
            </p:extLst>
          </p:nvPr>
        </p:nvGraphicFramePr>
        <p:xfrm>
          <a:off x="2164224" y="2759074"/>
          <a:ext cx="212883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2" name="Equation" r:id="rId3" imgW="1574640" imgH="330120" progId="Equation.3">
                  <p:embed/>
                </p:oleObj>
              </mc:Choice>
              <mc:Fallback>
                <p:oleObj name="Equation" r:id="rId3" imgW="1574640" imgH="3301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224" y="2759074"/>
                        <a:ext cx="2128837" cy="449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225257"/>
              </p:ext>
            </p:extLst>
          </p:nvPr>
        </p:nvGraphicFramePr>
        <p:xfrm>
          <a:off x="2189162" y="4122737"/>
          <a:ext cx="15271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3" name="Equation" r:id="rId5" imgW="1130040" imgH="330120" progId="Equation.3">
                  <p:embed/>
                </p:oleObj>
              </mc:Choice>
              <mc:Fallback>
                <p:oleObj name="Equation" r:id="rId5" imgW="1130040" imgH="330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2" y="4122737"/>
                        <a:ext cx="1527175" cy="449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907030"/>
              </p:ext>
            </p:extLst>
          </p:nvPr>
        </p:nvGraphicFramePr>
        <p:xfrm>
          <a:off x="2189162" y="5486400"/>
          <a:ext cx="11842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4" name="Equation" r:id="rId7" imgW="876240" imgH="330120" progId="Equation.3">
                  <p:embed/>
                </p:oleObj>
              </mc:Choice>
              <mc:Fallback>
                <p:oleObj name="Equation" r:id="rId7" imgW="876240" imgH="3301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2" y="5486400"/>
                        <a:ext cx="1184275" cy="449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197430"/>
              </p:ext>
            </p:extLst>
          </p:nvPr>
        </p:nvGraphicFramePr>
        <p:xfrm>
          <a:off x="2235574" y="1580482"/>
          <a:ext cx="838200" cy="3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5" name="Equation" r:id="rId9" imgW="558720" imgH="203040" progId="Equation.3">
                  <p:embed/>
                </p:oleObj>
              </mc:Choice>
              <mc:Fallback>
                <p:oleObj name="Equation" r:id="rId9" imgW="55872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574" y="1580482"/>
                        <a:ext cx="838200" cy="306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a RV X has the form</a:t>
            </a:r>
          </a:p>
          <a:p>
            <a:pPr lvl="2"/>
            <a:r>
              <a:rPr lang="en-US" dirty="0" smtClean="0"/>
              <a:t>The value of </a:t>
            </a:r>
            <a:r>
              <a:rPr lang="en-US" i="1" dirty="0" smtClean="0"/>
              <a:t>a</a:t>
            </a:r>
          </a:p>
          <a:p>
            <a:pPr lvl="2"/>
            <a:r>
              <a:rPr lang="en-US" dirty="0" smtClean="0"/>
              <a:t> the probability that </a:t>
            </a:r>
          </a:p>
          <a:p>
            <a:pPr lvl="2"/>
            <a:r>
              <a:rPr lang="en-US" dirty="0" smtClean="0"/>
              <a:t>The probability that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224266" name="Object 2"/>
          <p:cNvGraphicFramePr>
            <a:graphicFrameLocks noChangeAspect="1"/>
          </p:cNvGraphicFramePr>
          <p:nvPr/>
        </p:nvGraphicFramePr>
        <p:xfrm>
          <a:off x="4419600" y="1295400"/>
          <a:ext cx="15811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41" name="Equation" r:id="rId3" imgW="1054080" imgH="228600" progId="Equation.3">
                  <p:embed/>
                </p:oleObj>
              </mc:Choice>
              <mc:Fallback>
                <p:oleObj name="Equation" r:id="rId3" imgW="105408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295400"/>
                        <a:ext cx="158115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4" name="Object 4"/>
          <p:cNvGraphicFramePr>
            <a:graphicFrameLocks noChangeAspect="1"/>
          </p:cNvGraphicFramePr>
          <p:nvPr/>
        </p:nvGraphicFramePr>
        <p:xfrm>
          <a:off x="3810000" y="2286000"/>
          <a:ext cx="806450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42" name="Equation" r:id="rId5" imgW="596880" imgH="164880" progId="Equation.3">
                  <p:embed/>
                </p:oleObj>
              </mc:Choice>
              <mc:Fallback>
                <p:oleObj name="Equation" r:id="rId5" imgW="596880" imgH="164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286000"/>
                        <a:ext cx="806450" cy="22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4038600" y="1981200"/>
          <a:ext cx="54927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43" name="Equation" r:id="rId7" imgW="406080" imgH="164880" progId="Equation.3">
                  <p:embed/>
                </p:oleObj>
              </mc:Choice>
              <mc:Fallback>
                <p:oleObj name="Equation" r:id="rId7" imgW="40608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981200"/>
                        <a:ext cx="549275" cy="22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Family of continuous RV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Gaussian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2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Uniform distribution</a:t>
            </a:r>
          </a:p>
          <a:p>
            <a:pPr lvl="1"/>
            <a:r>
              <a:rPr lang="en-US" dirty="0" smtClean="0"/>
              <a:t>A random variable </a:t>
            </a:r>
            <a:r>
              <a:rPr lang="en-US" i="1" dirty="0" smtClean="0"/>
              <a:t>X</a:t>
            </a:r>
            <a:r>
              <a:rPr lang="en-US" dirty="0" smtClean="0"/>
              <a:t> is said to be uniformly distributed over the interval (</a:t>
            </a:r>
            <a:r>
              <a:rPr lang="en-US" i="1" dirty="0" smtClean="0"/>
              <a:t>a, b</a:t>
            </a:r>
            <a:r>
              <a:rPr lang="en-US" dirty="0" smtClean="0"/>
              <a:t>) if its </a:t>
            </a:r>
            <a:r>
              <a:rPr lang="en-US" dirty="0" err="1" smtClean="0"/>
              <a:t>pdf</a:t>
            </a:r>
            <a:r>
              <a:rPr lang="en-US" dirty="0" smtClean="0"/>
              <a:t> is given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RV has equal probability of being any number inside (</a:t>
            </a:r>
            <a:r>
              <a:rPr lang="en-US" i="1" dirty="0" smtClean="0"/>
              <a:t>a, 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224266" name="Object 2"/>
          <p:cNvGraphicFramePr>
            <a:graphicFrameLocks noChangeAspect="1"/>
          </p:cNvGraphicFramePr>
          <p:nvPr/>
        </p:nvGraphicFramePr>
        <p:xfrm>
          <a:off x="2743200" y="2057400"/>
          <a:ext cx="26098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0" name="Equation" r:id="rId3" imgW="1739880" imgH="609480" progId="Equation.3">
                  <p:embed/>
                </p:oleObj>
              </mc:Choice>
              <mc:Fallback>
                <p:oleObj name="Equation" r:id="rId3" imgW="1739880" imgH="609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0"/>
                        <a:ext cx="2609850" cy="9191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2819400" y="5029200"/>
            <a:ext cx="3810000" cy="1588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038600" y="4495800"/>
            <a:ext cx="9906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3771900" y="4762500"/>
            <a:ext cx="53340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4763294" y="4761706"/>
            <a:ext cx="53340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8787" name="Object 3"/>
          <p:cNvGraphicFramePr>
            <a:graphicFrameLocks noChangeAspect="1"/>
          </p:cNvGraphicFramePr>
          <p:nvPr/>
        </p:nvGraphicFramePr>
        <p:xfrm>
          <a:off x="4276725" y="3883025"/>
          <a:ext cx="4810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1" name="Equation" r:id="rId5" imgW="355320" imgH="393480" progId="Equation.3">
                  <p:embed/>
                </p:oleObj>
              </mc:Choice>
              <mc:Fallback>
                <p:oleObj name="Equation" r:id="rId5" imgW="3553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6725" y="3883025"/>
                        <a:ext cx="481013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3962400" y="5105400"/>
          <a:ext cx="173037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2" name="Equation" r:id="rId7" imgW="126720" imgH="139680" progId="Equation.3">
                  <p:embed/>
                </p:oleObj>
              </mc:Choice>
              <mc:Fallback>
                <p:oleObj name="Equation" r:id="rId7" imgW="126720" imgH="1396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105400"/>
                        <a:ext cx="173037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9" name="Object 5"/>
          <p:cNvGraphicFramePr>
            <a:graphicFrameLocks noChangeAspect="1"/>
          </p:cNvGraphicFramePr>
          <p:nvPr/>
        </p:nvGraphicFramePr>
        <p:xfrm>
          <a:off x="4953000" y="5080000"/>
          <a:ext cx="173038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3" name="Equation" r:id="rId9" imgW="126720" imgH="177480" progId="Equation.3">
                  <p:embed/>
                </p:oleObj>
              </mc:Choice>
              <mc:Fallback>
                <p:oleObj name="Equation" r:id="rId9" imgW="12672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080000"/>
                        <a:ext cx="173038" cy="24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Uniform distribution</a:t>
            </a:r>
          </a:p>
          <a:p>
            <a:pPr lvl="1"/>
            <a:r>
              <a:rPr lang="en-US" dirty="0" smtClean="0"/>
              <a:t>CDF of a uniform RV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676400"/>
            <a:ext cx="2286000" cy="1076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continuous RV </a:t>
            </a:r>
            <a:r>
              <a:rPr lang="en-US" i="1" dirty="0" smtClean="0"/>
              <a:t>X</a:t>
            </a:r>
            <a:r>
              <a:rPr lang="en-US" dirty="0" smtClean="0"/>
              <a:t> is uniformly distributed between (3, 8). Find the following probability</a:t>
            </a:r>
          </a:p>
          <a:p>
            <a:pPr lvl="2"/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224266" name="Object 2"/>
          <p:cNvGraphicFramePr>
            <a:graphicFrameLocks noChangeAspect="1"/>
          </p:cNvGraphicFramePr>
          <p:nvPr/>
        </p:nvGraphicFramePr>
        <p:xfrm>
          <a:off x="1905000" y="1828800"/>
          <a:ext cx="12954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2" name="Equation" r:id="rId3" imgW="863280" imgH="203040" progId="Equation.3">
                  <p:embed/>
                </p:oleObj>
              </mc:Choice>
              <mc:Fallback>
                <p:oleObj name="Equation" r:id="rId3" imgW="86328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828800"/>
                        <a:ext cx="1295400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905000" y="2133600"/>
          <a:ext cx="12954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3" name="Equation" r:id="rId5" imgW="863280" imgH="203040" progId="Equation.3">
                  <p:embed/>
                </p:oleObj>
              </mc:Choice>
              <mc:Fallback>
                <p:oleObj name="Equation" r:id="rId5" imgW="8632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33600"/>
                        <a:ext cx="1295400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905000" y="2514600"/>
          <a:ext cx="12954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4" name="Equation" r:id="rId7" imgW="863280" imgH="203040" progId="Equation.3">
                  <p:embed/>
                </p:oleObj>
              </mc:Choice>
              <mc:Fallback>
                <p:oleObj name="Equation" r:id="rId7" imgW="8632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14600"/>
                        <a:ext cx="1295400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Exponential RV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an exponential RV with parameter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CDF of an exponential RV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121858" name="Object 4"/>
          <p:cNvGraphicFramePr>
            <a:graphicFrameLocks noChangeAspect="1"/>
          </p:cNvGraphicFramePr>
          <p:nvPr/>
        </p:nvGraphicFramePr>
        <p:xfrm>
          <a:off x="3124200" y="1752600"/>
          <a:ext cx="18526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0" name="Equation" r:id="rId3" imgW="1371600" imgH="482400" progId="Equation.3">
                  <p:embed/>
                </p:oleObj>
              </mc:Choice>
              <mc:Fallback>
                <p:oleObj name="Equation" r:id="rId3" imgW="137160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52600"/>
                        <a:ext cx="1852613" cy="6556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59" name="Object 4"/>
          <p:cNvGraphicFramePr>
            <a:graphicFrameLocks noChangeAspect="1"/>
          </p:cNvGraphicFramePr>
          <p:nvPr/>
        </p:nvGraphicFramePr>
        <p:xfrm>
          <a:off x="5715000" y="1295400"/>
          <a:ext cx="49847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1" name="Equation" r:id="rId5" imgW="368280" imgH="177480" progId="Equation.3">
                  <p:embed/>
                </p:oleObj>
              </mc:Choice>
              <mc:Fallback>
                <p:oleObj name="Equation" r:id="rId5" imgW="3682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295400"/>
                        <a:ext cx="498475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43600" y="1600200"/>
            <a:ext cx="2743200" cy="1911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3600" y="4038600"/>
            <a:ext cx="2819400" cy="1963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7772400" cy="13589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Normal RV (Gaussian RV)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 Gaussian RV X with parameters           and  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438400" y="1981200"/>
          <a:ext cx="29892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4" name="Equation" r:id="rId3" imgW="1993680" imgH="482400" progId="Equation.3">
                  <p:embed/>
                </p:oleObj>
              </mc:Choice>
              <mc:Fallback>
                <p:oleObj name="Equation" r:id="rId3" imgW="199368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81200"/>
                        <a:ext cx="2989262" cy="7286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1775" y="885825"/>
            <a:ext cx="25622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38400" y="4038600"/>
            <a:ext cx="5239395" cy="2674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3907" name="Object 3"/>
          <p:cNvGraphicFramePr>
            <a:graphicFrameLocks noChangeAspect="1"/>
          </p:cNvGraphicFramePr>
          <p:nvPr/>
        </p:nvGraphicFramePr>
        <p:xfrm>
          <a:off x="4800600" y="1371600"/>
          <a:ext cx="230187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5" name="Equation" r:id="rId7" imgW="164880" imgH="139680" progId="Equation.3">
                  <p:embed/>
                </p:oleObj>
              </mc:Choice>
              <mc:Fallback>
                <p:oleObj name="Equation" r:id="rId7" imgW="164880" imgH="1396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371600"/>
                        <a:ext cx="230187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5762625" y="1277938"/>
          <a:ext cx="28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6" name="Equation" r:id="rId9" imgW="203040" imgH="203040" progId="Equation.3">
                  <p:embed/>
                </p:oleObj>
              </mc:Choice>
              <mc:Fallback>
                <p:oleObj name="Equation" r:id="rId9" imgW="20304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1277938"/>
                        <a:ext cx="2857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 RV (Gaussian RV)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90800"/>
            <a:ext cx="8001000" cy="26321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5290008"/>
            <a:ext cx="2047875" cy="371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5349929"/>
            <a:ext cx="1847850" cy="333375"/>
          </a:xfrm>
          <a:prstGeom prst="rect">
            <a:avLst/>
          </a:prstGeom>
        </p:spPr>
      </p:pic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812660"/>
              </p:ext>
            </p:extLst>
          </p:nvPr>
        </p:nvGraphicFramePr>
        <p:xfrm>
          <a:off x="3115469" y="1512224"/>
          <a:ext cx="29892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7" name="Equation" r:id="rId6" imgW="1993680" imgH="482400" progId="Equation.3">
                  <p:embed/>
                </p:oleObj>
              </mc:Choice>
              <mc:Fallback>
                <p:oleObj name="Equation" r:id="rId6" imgW="19936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69" y="1512224"/>
                        <a:ext cx="2989262" cy="7286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3434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Family of continuous RV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Gaussian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33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expected value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FF0000"/>
                </a:solidFill>
              </a:rPr>
              <a:t>mean</a:t>
            </a:r>
            <a:r>
              <a:rPr lang="en-US" dirty="0" smtClean="0"/>
              <a:t>, of a continuous RV, </a:t>
            </a:r>
            <a:r>
              <a:rPr lang="en-US" i="1" dirty="0" smtClean="0"/>
              <a:t>X</a:t>
            </a:r>
            <a:r>
              <a:rPr lang="en-US" dirty="0" smtClean="0"/>
              <a:t>,  is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Recall: discrete RV </a:t>
            </a:r>
            <a:endParaRPr lang="en-US" i="1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known as: expected value, mean, average, first moment</a:t>
            </a:r>
          </a:p>
          <a:p>
            <a:pPr lvl="1"/>
            <a:r>
              <a:rPr lang="en-US" dirty="0" smtClean="0"/>
              <a:t>Interpretation</a:t>
            </a:r>
          </a:p>
          <a:p>
            <a:pPr lvl="2"/>
            <a:r>
              <a:rPr lang="en-US" dirty="0" smtClean="0"/>
              <a:t>The </a:t>
            </a:r>
            <a:r>
              <a:rPr lang="en-US" i="1" dirty="0" smtClean="0">
                <a:solidFill>
                  <a:srgbClr val="FF0000"/>
                </a:solidFill>
              </a:rPr>
              <a:t>weighted average </a:t>
            </a:r>
            <a:r>
              <a:rPr lang="en-US" dirty="0" smtClean="0"/>
              <a:t>of the random variable</a:t>
            </a:r>
          </a:p>
          <a:p>
            <a:pPr lvl="2"/>
            <a:r>
              <a:rPr lang="en-US" dirty="0" smtClean="0"/>
              <a:t>Recall: integration is an extreme case of summation.</a:t>
            </a:r>
          </a:p>
          <a:p>
            <a:pPr lvl="1"/>
            <a:r>
              <a:rPr lang="en-US" dirty="0" smtClean="0"/>
              <a:t>Also denoted as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125954" name="Object 4"/>
          <p:cNvGraphicFramePr>
            <a:graphicFrameLocks noChangeAspect="1"/>
          </p:cNvGraphicFramePr>
          <p:nvPr/>
        </p:nvGraphicFramePr>
        <p:xfrm>
          <a:off x="3048000" y="1295400"/>
          <a:ext cx="19224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78" name="Equation" r:id="rId3" imgW="1282680" imgH="330120" progId="Equation.3">
                  <p:embed/>
                </p:oleObj>
              </mc:Choice>
              <mc:Fallback>
                <p:oleObj name="Equation" r:id="rId3" imgW="1282680" imgH="330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295400"/>
                        <a:ext cx="1922463" cy="4968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4"/>
          <p:cNvGraphicFramePr>
            <a:graphicFrameLocks noChangeAspect="1"/>
          </p:cNvGraphicFramePr>
          <p:nvPr/>
        </p:nvGraphicFramePr>
        <p:xfrm>
          <a:off x="3124200" y="4419600"/>
          <a:ext cx="15240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79" name="Equation" r:id="rId5" imgW="1015920" imgH="228600" progId="Equation.3">
                  <p:embed/>
                </p:oleObj>
              </mc:Choice>
              <mc:Fallback>
                <p:oleObj name="Equation" r:id="rId5" imgW="10159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19600"/>
                        <a:ext cx="152400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2" name="Object 4"/>
          <p:cNvGraphicFramePr>
            <a:graphicFrameLocks noChangeAspect="1"/>
          </p:cNvGraphicFramePr>
          <p:nvPr/>
        </p:nvGraphicFramePr>
        <p:xfrm>
          <a:off x="3505200" y="1981200"/>
          <a:ext cx="18843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80" name="Equation" r:id="rId7" imgW="1257120" imgH="368280" progId="Equation.3">
                  <p:embed/>
                </p:oleObj>
              </mc:Choice>
              <mc:Fallback>
                <p:oleObj name="Equation" r:id="rId7" imgW="125712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81200"/>
                        <a:ext cx="1884363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mean of an RV X uniformly distributed in (a, 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mean of an exponential RV with parameter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5943600" y="1295400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8" name="Equation" r:id="rId3" imgW="139680" imgH="177480" progId="Equation.3">
                  <p:embed/>
                </p:oleObj>
              </mc:Choice>
              <mc:Fallback>
                <p:oleObj name="Equation" r:id="rId3" imgW="1396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295400"/>
                        <a:ext cx="2286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value of any function of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Recall: discrete RV</a:t>
            </a:r>
          </a:p>
          <a:p>
            <a:pPr lvl="1"/>
            <a:r>
              <a:rPr lang="en-US" i="1" dirty="0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): the expectation operator</a:t>
            </a:r>
          </a:p>
          <a:p>
            <a:pPr lvl="1"/>
            <a:r>
              <a:rPr lang="en-US" dirty="0" smtClean="0"/>
              <a:t>The variable of the expectation operator must be a random variable</a:t>
            </a:r>
          </a:p>
          <a:p>
            <a:pPr lvl="2"/>
            <a:r>
              <a:rPr lang="en-US" dirty="0" smtClean="0"/>
              <a:t>X is an RV</a:t>
            </a:r>
          </a:p>
          <a:p>
            <a:pPr lvl="2"/>
            <a:r>
              <a:rPr lang="en-US" dirty="0" smtClean="0"/>
              <a:t>g(X) is an RV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denoted 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128002" name="Object 4"/>
          <p:cNvGraphicFramePr>
            <a:graphicFrameLocks noChangeAspect="1"/>
          </p:cNvGraphicFramePr>
          <p:nvPr/>
        </p:nvGraphicFramePr>
        <p:xfrm>
          <a:off x="3733800" y="1905000"/>
          <a:ext cx="24749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25" name="Equation" r:id="rId3" imgW="1650960" imgH="368280" progId="Equation.3">
                  <p:embed/>
                </p:oleObj>
              </mc:Choice>
              <mc:Fallback>
                <p:oleObj name="Equation" r:id="rId3" imgW="165096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05000"/>
                        <a:ext cx="2474913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2743200" y="5410200"/>
          <a:ext cx="16002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26" name="Equation" r:id="rId5" imgW="1066680" imgH="203040" progId="Equation.3">
                  <p:embed/>
                </p:oleObj>
              </mc:Choice>
              <mc:Fallback>
                <p:oleObj name="Equation" r:id="rId5" imgW="10666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10200"/>
                        <a:ext cx="16002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3810000" y="5410200"/>
            <a:ext cx="4572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149" name="Object 4"/>
          <p:cNvGraphicFramePr>
            <a:graphicFrameLocks noChangeAspect="1"/>
          </p:cNvGraphicFramePr>
          <p:nvPr/>
        </p:nvGraphicFramePr>
        <p:xfrm>
          <a:off x="3074988" y="1323975"/>
          <a:ext cx="25717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27" name="Equation" r:id="rId7" imgW="1714320" imgH="330120" progId="Equation.3">
                  <p:embed/>
                </p:oleObj>
              </mc:Choice>
              <mc:Fallback>
                <p:oleObj name="Equation" r:id="rId7" imgW="1714320" imgH="330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1323975"/>
                        <a:ext cx="2571750" cy="498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Variance</a:t>
            </a:r>
          </a:p>
          <a:p>
            <a:pPr lvl="1"/>
            <a:r>
              <a:rPr lang="en-US" dirty="0" smtClean="0"/>
              <a:t>The variance of a continuous RV X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Recall: discrete RV </a:t>
            </a:r>
          </a:p>
          <a:p>
            <a:pPr lvl="1"/>
            <a:r>
              <a:rPr lang="en-US" dirty="0" smtClean="0"/>
              <a:t>Also called: the 2</a:t>
            </a:r>
            <a:r>
              <a:rPr lang="en-US" baseline="30000" dirty="0" smtClean="0"/>
              <a:t>nd</a:t>
            </a:r>
            <a:r>
              <a:rPr lang="en-US" dirty="0" smtClean="0"/>
              <a:t> central moment of </a:t>
            </a:r>
            <a:r>
              <a:rPr lang="en-US" i="1" dirty="0" smtClean="0"/>
              <a:t>X</a:t>
            </a:r>
            <a:endParaRPr lang="en-US" dirty="0" smtClean="0"/>
          </a:p>
          <a:p>
            <a:pPr lvl="1"/>
            <a:r>
              <a:rPr lang="en-US" dirty="0" smtClean="0"/>
              <a:t>Standard deviation: 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Physical interpretation</a:t>
            </a:r>
          </a:p>
          <a:p>
            <a:pPr lvl="2"/>
            <a:r>
              <a:rPr lang="en-US" dirty="0" smtClean="0"/>
              <a:t>How far away the random variable is from its expected value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graphicFrame>
        <p:nvGraphicFramePr>
          <p:cNvPr id="130050" name="Object 6"/>
          <p:cNvGraphicFramePr>
            <a:graphicFrameLocks noChangeAspect="1"/>
          </p:cNvGraphicFramePr>
          <p:nvPr/>
        </p:nvGraphicFramePr>
        <p:xfrm>
          <a:off x="1752600" y="1676400"/>
          <a:ext cx="49577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9" name="Equation" r:id="rId3" imgW="3263760" imgH="330120" progId="Equation.3">
                  <p:embed/>
                </p:oleObj>
              </mc:Choice>
              <mc:Fallback>
                <p:oleObj name="Equation" r:id="rId3" imgW="3263760" imgH="3301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76400"/>
                        <a:ext cx="4957762" cy="5064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4" name="Object 6"/>
          <p:cNvGraphicFramePr>
            <a:graphicFrameLocks noChangeAspect="1"/>
          </p:cNvGraphicFramePr>
          <p:nvPr/>
        </p:nvGraphicFramePr>
        <p:xfrm>
          <a:off x="3429000" y="3276600"/>
          <a:ext cx="3476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80" name="Equation" r:id="rId5" imgW="228600" imgH="215640" progId="Equation.3">
                  <p:embed/>
                </p:oleObj>
              </mc:Choice>
              <mc:Fallback>
                <p:oleObj name="Equation" r:id="rId5" imgW="2286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76600"/>
                        <a:ext cx="347662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5" name="Object 6"/>
          <p:cNvGraphicFramePr>
            <a:graphicFrameLocks noChangeAspect="1"/>
          </p:cNvGraphicFramePr>
          <p:nvPr/>
        </p:nvGraphicFramePr>
        <p:xfrm>
          <a:off x="3657600" y="2362200"/>
          <a:ext cx="24114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81" name="Equation" r:id="rId7" imgW="1587240" imgH="469800" progId="Equation.3">
                  <p:embed/>
                </p:oleObj>
              </mc:Choice>
              <mc:Fallback>
                <p:oleObj name="Equation" r:id="rId7" imgW="1587240" imgH="4698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62200"/>
                        <a:ext cx="2411412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Properties of variance</a:t>
            </a:r>
          </a:p>
          <a:p>
            <a:endParaRPr lang="en-US" dirty="0"/>
          </a:p>
          <a:p>
            <a:pPr lvl="1"/>
            <a:r>
              <a:rPr lang="en-US" dirty="0" smtClean="0"/>
              <a:t> 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  </a:t>
            </a:r>
            <a:endParaRPr lang="en-US" dirty="0"/>
          </a:p>
          <a:p>
            <a:pPr lvl="1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7998"/>
            <a:ext cx="2295525" cy="542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662535"/>
            <a:ext cx="29051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0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r>
              <a:rPr lang="en-US" smtClean="0"/>
              <a:t>: CONTINUOUS </a:t>
            </a:r>
            <a:r>
              <a:rPr lang="en-US" dirty="0" smtClean="0"/>
              <a:t>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smtClean="0"/>
              <a:t>n</a:t>
            </a:r>
            <a:r>
              <a:rPr lang="en-US" dirty="0" smtClean="0"/>
              <a:t>-</a:t>
            </a:r>
            <a:r>
              <a:rPr lang="en-US" dirty="0" err="1" smtClean="0"/>
              <a:t>th</a:t>
            </a:r>
            <a:r>
              <a:rPr lang="en-US" dirty="0" smtClean="0"/>
              <a:t>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moment:                 mean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moment: </a:t>
            </a:r>
          </a:p>
          <a:p>
            <a:endParaRPr lang="en-US" dirty="0" smtClean="0"/>
          </a:p>
          <a:p>
            <a:r>
              <a:rPr lang="en-US" dirty="0" smtClean="0"/>
              <a:t>The n-</a:t>
            </a:r>
            <a:r>
              <a:rPr lang="en-US" dirty="0" err="1" smtClean="0"/>
              <a:t>th</a:t>
            </a:r>
            <a:r>
              <a:rPr lang="en-US" dirty="0" smtClean="0"/>
              <a:t> central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central moment: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central moment:                                     variance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combination of all the moments, n = 1, 2, …., gives a complete description of the random variable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131074" name="Object 4"/>
          <p:cNvGraphicFramePr>
            <a:graphicFrameLocks noChangeAspect="1"/>
          </p:cNvGraphicFramePr>
          <p:nvPr/>
        </p:nvGraphicFramePr>
        <p:xfrm>
          <a:off x="2971800" y="1295400"/>
          <a:ext cx="21526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1" name="Equation" r:id="rId3" imgW="1434960" imgH="330120" progId="Equation.3">
                  <p:embed/>
                </p:oleObj>
              </mc:Choice>
              <mc:Fallback>
                <p:oleObj name="Equation" r:id="rId3" imgW="1434960" imgH="330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295400"/>
                        <a:ext cx="2152650" cy="4968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5" name="Object 4"/>
          <p:cNvGraphicFramePr>
            <a:graphicFrameLocks noChangeAspect="1"/>
          </p:cNvGraphicFramePr>
          <p:nvPr/>
        </p:nvGraphicFramePr>
        <p:xfrm>
          <a:off x="2743200" y="1981200"/>
          <a:ext cx="5715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2" name="Equation" r:id="rId5" imgW="380880" imgH="203040" progId="Equation.3">
                  <p:embed/>
                </p:oleObj>
              </mc:Choice>
              <mc:Fallback>
                <p:oleObj name="Equation" r:id="rId5" imgW="3808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0"/>
                        <a:ext cx="5715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2667000" y="2286000"/>
          <a:ext cx="6667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3" name="Equation" r:id="rId7" imgW="444240" imgH="228600" progId="Equation.3">
                  <p:embed/>
                </p:oleObj>
              </mc:Choice>
              <mc:Fallback>
                <p:oleObj name="Equation" r:id="rId7" imgW="44424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86000"/>
                        <a:ext cx="66675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3581400" y="4114800"/>
          <a:ext cx="12382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4" name="Equation" r:id="rId9" imgW="825480" imgH="215640" progId="Equation.3">
                  <p:embed/>
                </p:oleObj>
              </mc:Choice>
              <mc:Fallback>
                <p:oleObj name="Equation" r:id="rId9" imgW="82548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14800"/>
                        <a:ext cx="123825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9" name="Object 7"/>
          <p:cNvGraphicFramePr>
            <a:graphicFrameLocks noChangeAspect="1"/>
          </p:cNvGraphicFramePr>
          <p:nvPr/>
        </p:nvGraphicFramePr>
        <p:xfrm>
          <a:off x="3505200" y="4495800"/>
          <a:ext cx="17526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5" name="Equation" r:id="rId11" imgW="1168200" imgH="241200" progId="Equation.3">
                  <p:embed/>
                </p:oleObj>
              </mc:Choice>
              <mc:Fallback>
                <p:oleObj name="Equation" r:id="rId11" imgW="116820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95800"/>
                        <a:ext cx="1752600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0" name="Object 4"/>
          <p:cNvGraphicFramePr>
            <a:graphicFrameLocks noChangeAspect="1"/>
          </p:cNvGraphicFramePr>
          <p:nvPr/>
        </p:nvGraphicFramePr>
        <p:xfrm>
          <a:off x="2228850" y="3429000"/>
          <a:ext cx="34861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6" name="Equation" r:id="rId13" imgW="2323800" imgH="330120" progId="Equation.3">
                  <p:embed/>
                </p:oleObj>
              </mc:Choice>
              <mc:Fallback>
                <p:oleObj name="Equation" r:id="rId13" imgW="2323800" imgH="330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429000"/>
                        <a:ext cx="3486150" cy="4968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variance of an RV X uniformly distributed on (a, b)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variable                                  , where A, f are constants, and       is uniformly distributed in              . Find the expected value of </a:t>
            </a:r>
            <a:r>
              <a:rPr lang="en-US" i="1" dirty="0" smtClean="0"/>
              <a:t>Y</a:t>
            </a:r>
            <a:r>
              <a:rPr lang="en-US" dirty="0" smtClean="0"/>
              <a:t>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137218" name="Object 4"/>
          <p:cNvGraphicFramePr>
            <a:graphicFrameLocks noChangeAspect="1"/>
          </p:cNvGraphicFramePr>
          <p:nvPr/>
        </p:nvGraphicFramePr>
        <p:xfrm>
          <a:off x="4114800" y="1295400"/>
          <a:ext cx="17907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6" name="Equation" r:id="rId3" imgW="1193760" imgH="203040" progId="Equation.3">
                  <p:embed/>
                </p:oleObj>
              </mc:Choice>
              <mc:Fallback>
                <p:oleObj name="Equation" r:id="rId3" imgW="11937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295400"/>
                        <a:ext cx="17907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9" name="Object 4"/>
          <p:cNvGraphicFramePr>
            <a:graphicFrameLocks noChangeAspect="1"/>
          </p:cNvGraphicFramePr>
          <p:nvPr/>
        </p:nvGraphicFramePr>
        <p:xfrm>
          <a:off x="2819400" y="1600200"/>
          <a:ext cx="24765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7" name="Equation" r:id="rId5" imgW="164880" imgH="177480" progId="Equation.3">
                  <p:embed/>
                </p:oleObj>
              </mc:Choice>
              <mc:Fallback>
                <p:oleObj name="Equation" r:id="rId5" imgW="1648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00200"/>
                        <a:ext cx="247650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0" name="Object 4"/>
          <p:cNvGraphicFramePr>
            <a:graphicFrameLocks noChangeAspect="1"/>
          </p:cNvGraphicFramePr>
          <p:nvPr/>
        </p:nvGraphicFramePr>
        <p:xfrm>
          <a:off x="5638800" y="1600200"/>
          <a:ext cx="6286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8" name="Equation" r:id="rId7" imgW="419040" imgH="203040" progId="Equation.3">
                  <p:embed/>
                </p:oleObj>
              </mc:Choice>
              <mc:Fallback>
                <p:oleObj name="Equation" r:id="rId7" imgW="41904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62865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Family of continuous RV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Gaussian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7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7772400" cy="13589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Normal RV (Gaussian RV)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b="1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b="1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spcBef>
                <a:spcPct val="20000"/>
              </a:spcBef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057400" y="1295400"/>
          <a:ext cx="29892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9" name="Equation" r:id="rId3" imgW="1993680" imgH="482400" progId="Equation.3">
                  <p:embed/>
                </p:oleObj>
              </mc:Choice>
              <mc:Fallback>
                <p:oleObj name="Equation" r:id="rId3" imgW="199368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295400"/>
                        <a:ext cx="2989262" cy="7286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1775" y="885825"/>
            <a:ext cx="25622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7772400" cy="381000"/>
          </a:xfrm>
        </p:spPr>
        <p:txBody>
          <a:bodyPr/>
          <a:lstStyle/>
          <a:p>
            <a:pPr lvl="1"/>
            <a:r>
              <a:rPr lang="en-US" dirty="0" smtClean="0"/>
              <a:t>The mean and variance are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62000" y="5562600"/>
            <a:ext cx="77724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Gaussian RV is completely determined by its first 2 moments.</a:t>
            </a:r>
          </a:p>
          <a:p>
            <a:pPr marL="1200150" lvl="2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 true for other RVs.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800292"/>
            <a:ext cx="1335088" cy="4181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410976"/>
            <a:ext cx="1704975" cy="43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Galton board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 video demonstration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sp>
        <p:nvSpPr>
          <p:cNvPr id="8" name="Rectangle 7"/>
          <p:cNvSpPr/>
          <p:nvPr/>
        </p:nvSpPr>
        <p:spPr>
          <a:xfrm>
            <a:off x="1295400" y="5209807"/>
            <a:ext cx="61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www.youtube.com/watch?v=xDIyAOBa_yU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837" y="2005007"/>
            <a:ext cx="2658325" cy="23930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128" y="1874398"/>
            <a:ext cx="2232743" cy="258855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38" y="1870242"/>
            <a:ext cx="2536123" cy="25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58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Probability density function (pdf) </a:t>
            </a:r>
            <a:r>
              <a:rPr lang="en-US" dirty="0" err="1" smtClean="0"/>
              <a:t>v.s</a:t>
            </a:r>
            <a:r>
              <a:rPr lang="en-US" dirty="0" smtClean="0"/>
              <a:t>. Histogram</a:t>
            </a:r>
          </a:p>
          <a:p>
            <a:pPr lvl="1"/>
            <a:r>
              <a:rPr lang="en-US" dirty="0" smtClean="0"/>
              <a:t> years worked of 1820 employees in a cereal factory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When the bin width goes to 0, histogram </a:t>
            </a:r>
            <a:r>
              <a:rPr lang="en-US" dirty="0" smtClean="0">
                <a:sym typeface="Wingdings" panose="05000000000000000000" pitchFamily="2" charset="2"/>
              </a:rPr>
              <a:t> </a:t>
            </a:r>
            <a:r>
              <a:rPr lang="en-US" dirty="0" smtClean="0"/>
              <a:t> 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804004"/>
            <a:ext cx="3505200" cy="18600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674322"/>
            <a:ext cx="3251201" cy="19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70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Notation of Gaussian RV</a:t>
            </a:r>
          </a:p>
          <a:p>
            <a:pPr lvl="1"/>
            <a:r>
              <a:rPr lang="en-US" dirty="0" smtClean="0"/>
              <a:t> A Gaussian RV X with mean        and variance        is denoted as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Standard Gaussian RV</a:t>
            </a:r>
          </a:p>
          <a:p>
            <a:pPr lvl="1"/>
            <a:r>
              <a:rPr lang="en-US" dirty="0" smtClean="0"/>
              <a:t>A Gaussian RV with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Denoted as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42" y="4038600"/>
            <a:ext cx="1657350" cy="428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5" y="1325707"/>
            <a:ext cx="352425" cy="314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256953"/>
            <a:ext cx="314325" cy="352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092" y="1787063"/>
            <a:ext cx="1828800" cy="428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817" y="5038725"/>
            <a:ext cx="165735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95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linear transformation of a Gaussian RV is still Gaussian</a:t>
            </a:r>
          </a:p>
          <a:p>
            <a:pPr lvl="1"/>
            <a:r>
              <a:rPr lang="en-US" dirty="0" smtClean="0"/>
              <a:t>Consider                              . Define a new RV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Then Y is still Gaussian distributed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Converting a Gaussian RV to a standard Gaussian RV</a:t>
            </a:r>
          </a:p>
          <a:p>
            <a:pPr lvl="1"/>
            <a:r>
              <a:rPr lang="en-US" dirty="0" smtClean="0"/>
              <a:t>If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81112"/>
            <a:ext cx="1524000" cy="3571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832501"/>
            <a:ext cx="1799188" cy="4497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3047999"/>
            <a:ext cx="3200400" cy="5194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004" y="4813849"/>
            <a:ext cx="1905000" cy="3265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2953" y="5559520"/>
            <a:ext cx="2113232" cy="58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24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CDF of standard Gaussian random variable</a:t>
            </a:r>
          </a:p>
          <a:p>
            <a:pPr lvl="1"/>
            <a:r>
              <a:rPr lang="en-US" dirty="0" smtClean="0"/>
              <a:t>Let                       be a standard Gaussian random variable, then the CDF of </a:t>
            </a:r>
            <a:r>
              <a:rPr lang="en-US" i="1" dirty="0" smtClean="0"/>
              <a:t>Z</a:t>
            </a:r>
            <a:r>
              <a:rPr lang="en-US" dirty="0" smtClean="0"/>
              <a:t> is 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Complementary CDF (CCDF) of standard Gaussian random variable</a:t>
            </a:r>
          </a:p>
          <a:p>
            <a:pPr lvl="1"/>
            <a:r>
              <a:rPr lang="en-US" dirty="0" smtClean="0"/>
              <a:t>Let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50941"/>
            <a:ext cx="1219200" cy="2910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209800"/>
            <a:ext cx="3352800" cy="7737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572000"/>
            <a:ext cx="5924550" cy="7150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3923767"/>
            <a:ext cx="1219200" cy="29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23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Q-function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3652"/>
            <a:ext cx="2543175" cy="600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156"/>
            <a:ext cx="4363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1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CDF of Gaussian Random Variable</a:t>
            </a:r>
          </a:p>
          <a:p>
            <a:pPr lvl="1"/>
            <a:r>
              <a:rPr lang="en-US" dirty="0" smtClean="0"/>
              <a:t>Let                                 , then the CDF of </a:t>
            </a:r>
            <a:r>
              <a:rPr lang="en-US" i="1" dirty="0" smtClean="0"/>
              <a:t>X</a:t>
            </a:r>
            <a:r>
              <a:rPr lang="en-US" dirty="0" smtClean="0"/>
              <a:t> is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11729"/>
            <a:ext cx="1905000" cy="3265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003367"/>
            <a:ext cx="2743200" cy="7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26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Symmetric property of the Gaussian-Q function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1514995"/>
            <a:ext cx="2809875" cy="504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3200"/>
            <a:ext cx="9144000" cy="32764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29120"/>
            <a:ext cx="6572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72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                                  , what are the probability for the following events</a:t>
            </a:r>
          </a:p>
          <a:p>
            <a:pPr lvl="2"/>
            <a:r>
              <a:rPr lang="en-US" dirty="0" smtClean="0"/>
              <a:t> </a:t>
            </a:r>
          </a:p>
          <a:p>
            <a:pPr lvl="2"/>
            <a:endParaRPr lang="en-US" dirty="0" smtClean="0"/>
          </a:p>
          <a:p>
            <a:pPr marL="914400" lvl="2" indent="0">
              <a:buNone/>
            </a:pPr>
            <a:endParaRPr lang="en-US" dirty="0"/>
          </a:p>
          <a:p>
            <a:pPr lvl="2"/>
            <a:r>
              <a:rPr lang="en-US" dirty="0" smtClean="0"/>
              <a:t> 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 smtClean="0"/>
          </a:p>
          <a:p>
            <a:pPr lvl="2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81249"/>
            <a:ext cx="1905000" cy="3265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871798"/>
            <a:ext cx="1828800" cy="3102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418" y="2846670"/>
            <a:ext cx="2133600" cy="2807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731" y="3877618"/>
            <a:ext cx="2133600" cy="2466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249" y="5867400"/>
            <a:ext cx="5933902" cy="30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349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1350818"/>
            <a:ext cx="6629400" cy="150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561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05290"/>
            <a:ext cx="7202350" cy="82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46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Family of continuous RV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Gaussian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06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ONE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X is an RV with </a:t>
            </a:r>
            <a:r>
              <a:rPr lang="en-US" dirty="0" err="1" smtClean="0"/>
              <a:t>pdf</a:t>
            </a:r>
            <a:r>
              <a:rPr lang="en-US" dirty="0" smtClean="0"/>
              <a:t>              . Let Y = a X + b, where a and b are constants. What is the </a:t>
            </a:r>
            <a:r>
              <a:rPr lang="en-US" dirty="0" err="1" smtClean="0"/>
              <a:t>pdf</a:t>
            </a:r>
            <a:r>
              <a:rPr lang="en-US" dirty="0" smtClean="0"/>
              <a:t> of Y?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42</a:t>
            </a:fld>
            <a:endParaRPr lang="en-US" altLang="zh-CN" dirty="0" smtClean="0"/>
          </a:p>
        </p:txBody>
      </p:sp>
      <p:graphicFrame>
        <p:nvGraphicFramePr>
          <p:cNvPr id="160770" name="Object 4"/>
          <p:cNvGraphicFramePr>
            <a:graphicFrameLocks noChangeAspect="1"/>
          </p:cNvGraphicFramePr>
          <p:nvPr/>
        </p:nvGraphicFramePr>
        <p:xfrm>
          <a:off x="3429000" y="1219200"/>
          <a:ext cx="6096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11" name="Equation" r:id="rId3" imgW="406080" imgH="215640" progId="Equation.3">
                  <p:embed/>
                </p:oleObj>
              </mc:Choice>
              <mc:Fallback>
                <p:oleObj name="Equation" r:id="rId3" imgW="4060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219200"/>
                        <a:ext cx="609600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ONE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/>
              <a:t>If X is a Gaussian RV with mean 0 and variance 1. Find the pdf of 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43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476284"/>
              </p:ext>
            </p:extLst>
          </p:nvPr>
        </p:nvGraphicFramePr>
        <p:xfrm>
          <a:off x="3943350" y="1828800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28" name="Equation" r:id="rId3" imgW="736560" imgH="177480" progId="Equation.3">
                  <p:embed/>
                </p:oleObj>
              </mc:Choice>
              <mc:Fallback>
                <p:oleObj name="Equation" r:id="rId3" imgW="7365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1828800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974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ONE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If X is a Gaussian RV with mean 0 and variance 1.  Find the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44</a:t>
            </a:fld>
            <a:endParaRPr lang="en-US" altLang="zh-CN" dirty="0" smtClean="0"/>
          </a:p>
        </p:txBody>
      </p:sp>
      <p:graphicFrame>
        <p:nvGraphicFramePr>
          <p:cNvPr id="162819" name="Object 3"/>
          <p:cNvGraphicFramePr>
            <a:graphicFrameLocks noChangeAspect="1"/>
          </p:cNvGraphicFramePr>
          <p:nvPr/>
        </p:nvGraphicFramePr>
        <p:xfrm>
          <a:off x="7848600" y="1295400"/>
          <a:ext cx="7239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45" name="Equation" r:id="rId3" imgW="482400" imgH="190440" progId="Equation.3">
                  <p:embed/>
                </p:oleObj>
              </mc:Choice>
              <mc:Fallback>
                <p:oleObj name="Equation" r:id="rId3" imgW="48240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295400"/>
                        <a:ext cx="723900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ONE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X be an exponential RV with parameter            . Find the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45</a:t>
            </a:fld>
            <a:endParaRPr lang="en-US" altLang="zh-CN" dirty="0" smtClean="0"/>
          </a:p>
        </p:txBody>
      </p:sp>
      <p:graphicFrame>
        <p:nvGraphicFramePr>
          <p:cNvPr id="163842" name="Object 2"/>
          <p:cNvGraphicFramePr>
            <a:graphicFrameLocks noChangeAspect="1"/>
          </p:cNvGraphicFramePr>
          <p:nvPr/>
        </p:nvGraphicFramePr>
        <p:xfrm>
          <a:off x="5514975" y="1314450"/>
          <a:ext cx="55245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4" name="Equation" r:id="rId3" imgW="368280" imgH="177480" progId="Equation.3">
                  <p:embed/>
                </p:oleObj>
              </mc:Choice>
              <mc:Fallback>
                <p:oleObj name="Equation" r:id="rId3" imgW="3682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1314450"/>
                        <a:ext cx="552450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3" name="Object 3"/>
          <p:cNvGraphicFramePr>
            <a:graphicFrameLocks noChangeAspect="1"/>
          </p:cNvGraphicFramePr>
          <p:nvPr/>
        </p:nvGraphicFramePr>
        <p:xfrm>
          <a:off x="7696200" y="1219200"/>
          <a:ext cx="7239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5" name="Equation" r:id="rId5" imgW="482400" imgH="190440" progId="Equation.3">
                  <p:embed/>
                </p:oleObj>
              </mc:Choice>
              <mc:Fallback>
                <p:oleObj name="Equation" r:id="rId5" imgW="48240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1219200"/>
                        <a:ext cx="723900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1067</Words>
  <Application>Microsoft Office PowerPoint</Application>
  <PresentationFormat>On-screen Show (4:3)</PresentationFormat>
  <Paragraphs>394</Paragraphs>
  <Slides>45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ELEG 3143 Probability &amp; Stochastic Process Ch. 3 Continuous Random Variables</vt:lpstr>
      <vt:lpstr>OUTLINE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OUTLINE</vt:lpstr>
      <vt:lpstr>CONTINUOUS RV</vt:lpstr>
      <vt:lpstr>CONTINUOUS RV</vt:lpstr>
      <vt:lpstr>CONTINUOUS RV</vt:lpstr>
      <vt:lpstr>CONTINUOUS RV</vt:lpstr>
      <vt:lpstr>CONTINUOUS RV</vt:lpstr>
      <vt:lpstr>CONTINUOUS RV</vt:lpstr>
      <vt:lpstr>OUTLINE</vt:lpstr>
      <vt:lpstr>MOMENTS: DISCRETE RV</vt:lpstr>
      <vt:lpstr>MOMENTS: CONTINOUS RV</vt:lpstr>
      <vt:lpstr>MOMENTS: CONTINOUS RV</vt:lpstr>
      <vt:lpstr>MOMENTS: CONTINUOUS RV</vt:lpstr>
      <vt:lpstr>MOMENTS: CONTINUOUS RV</vt:lpstr>
      <vt:lpstr>MOMENTS: CONTINUOUS RV</vt:lpstr>
      <vt:lpstr>MOMENTS: CONTINUOUS RV</vt:lpstr>
      <vt:lpstr>MOMENTS: CONTINUOUS RV</vt:lpstr>
      <vt:lpstr>MOMENTS</vt:lpstr>
      <vt:lpstr>OUTLINE</vt:lpstr>
      <vt:lpstr>GAUSSIAN RV</vt:lpstr>
      <vt:lpstr>GAUSSIAN RV</vt:lpstr>
      <vt:lpstr>GAUSSIAN RV</vt:lpstr>
      <vt:lpstr>GAUSSIAN RV</vt:lpstr>
      <vt:lpstr>GAUSSIAN RV</vt:lpstr>
      <vt:lpstr>GAUSSIAN RV</vt:lpstr>
      <vt:lpstr>GAUSSIAN RV</vt:lpstr>
      <vt:lpstr>GAUSSIAN RV</vt:lpstr>
      <vt:lpstr>GAUSSIAN RV</vt:lpstr>
      <vt:lpstr>GAUSSIAN RV</vt:lpstr>
      <vt:lpstr>GAUSSIAN RV</vt:lpstr>
      <vt:lpstr>GAUSSIAN RV</vt:lpstr>
      <vt:lpstr>OUTLINE</vt:lpstr>
      <vt:lpstr>FUNCTIONS OF ONE RV</vt:lpstr>
      <vt:lpstr>FUNCTIONS OF ONE RV</vt:lpstr>
      <vt:lpstr>FUNCTIONS OF ONE RV</vt:lpstr>
      <vt:lpstr>FUNCTIONS OF ONE RV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592</cp:revision>
  <dcterms:created xsi:type="dcterms:W3CDTF">2006-08-16T00:00:00Z</dcterms:created>
  <dcterms:modified xsi:type="dcterms:W3CDTF">2018-03-08T20:23:11Z</dcterms:modified>
</cp:coreProperties>
</file>