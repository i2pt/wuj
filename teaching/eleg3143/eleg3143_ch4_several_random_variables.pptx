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360" r:id="rId3"/>
    <p:sldId id="332" r:id="rId4"/>
    <p:sldId id="366" r:id="rId5"/>
    <p:sldId id="333" r:id="rId6"/>
    <p:sldId id="336" r:id="rId7"/>
    <p:sldId id="338" r:id="rId8"/>
    <p:sldId id="367" r:id="rId9"/>
    <p:sldId id="345" r:id="rId10"/>
    <p:sldId id="334" r:id="rId11"/>
    <p:sldId id="337" r:id="rId12"/>
    <p:sldId id="339" r:id="rId13"/>
    <p:sldId id="335" r:id="rId14"/>
    <p:sldId id="341" r:id="rId15"/>
    <p:sldId id="340" r:id="rId16"/>
    <p:sldId id="342" r:id="rId17"/>
    <p:sldId id="346" r:id="rId18"/>
    <p:sldId id="343" r:id="rId19"/>
    <p:sldId id="344" r:id="rId20"/>
    <p:sldId id="361" r:id="rId21"/>
    <p:sldId id="362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9" r:id="rId31"/>
    <p:sldId id="355" r:id="rId32"/>
    <p:sldId id="356" r:id="rId33"/>
    <p:sldId id="357" r:id="rId34"/>
    <p:sldId id="358" r:id="rId35"/>
    <p:sldId id="363" r:id="rId36"/>
    <p:sldId id="364" r:id="rId37"/>
    <p:sldId id="365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0086" autoAdjust="0"/>
  </p:normalViewPr>
  <p:slideViewPr>
    <p:cSldViewPr>
      <p:cViewPr varScale="1">
        <p:scale>
          <a:sx n="92" d="100"/>
          <a:sy n="92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3/1/2018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3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png"/><Relationship Id="rId4" Type="http://schemas.openxmlformats.org/officeDocument/2006/relationships/image" Target="../media/image9.wmf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33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2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6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5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0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7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3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8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84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</a:t>
            </a:r>
            <a:r>
              <a:rPr lang="en-US" dirty="0" smtClean="0"/>
              <a:t>4 Several </a:t>
            </a:r>
            <a:r>
              <a:rPr lang="en-US" dirty="0" smtClean="0"/>
              <a:t>Random 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458200" cy="5600700"/>
          </a:xfrm>
        </p:spPr>
        <p:txBody>
          <a:bodyPr/>
          <a:lstStyle/>
          <a:p>
            <a:r>
              <a:rPr lang="en-US" dirty="0" smtClean="0"/>
              <a:t>Joint PMF of two discrete random variables</a:t>
            </a:r>
          </a:p>
          <a:p>
            <a:pPr lvl="1"/>
            <a:r>
              <a:rPr lang="en-US" dirty="0" smtClean="0"/>
              <a:t>Consider two discrete RVs, X and Y. The joint probability mass function (PMF) of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43200"/>
            <a:ext cx="865822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DISCRETE 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Marginal PMF: </a:t>
            </a:r>
          </a:p>
          <a:p>
            <a:pPr lvl="1"/>
            <a:r>
              <a:rPr lang="en-US" dirty="0"/>
              <a:t>the PMF of each individual RV (exactly the same as in Ch. 2)</a:t>
            </a:r>
          </a:p>
          <a:p>
            <a:pPr lvl="1"/>
            <a:r>
              <a:rPr lang="en-US" dirty="0"/>
              <a:t>Joint PMF </a:t>
            </a:r>
            <a:r>
              <a:rPr lang="en-US" dirty="0">
                <a:sym typeface="Wingdings" pitchFamily="2" charset="2"/>
              </a:rPr>
              <a:t> marginal PMF (using the total probability equation)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                                                 </a:t>
            </a:r>
            <a:endParaRPr lang="en-US" dirty="0" smtClean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 </a:t>
            </a:r>
            <a:r>
              <a:rPr lang="en-US" dirty="0">
                <a:sym typeface="Wingdings" pitchFamily="2" charset="2"/>
              </a:rPr>
              <a:t>summation is over all the possible value of Y</a:t>
            </a: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                                                 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 </a:t>
            </a:r>
            <a:r>
              <a:rPr lang="en-US" dirty="0">
                <a:sym typeface="Wingdings" pitchFamily="2" charset="2"/>
              </a:rPr>
              <a:t>summation is over all the possible value of X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total probability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122992"/>
              </p:ext>
            </p:extLst>
          </p:nvPr>
        </p:nvGraphicFramePr>
        <p:xfrm>
          <a:off x="1981200" y="2133600"/>
          <a:ext cx="40179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Equation" r:id="rId3" imgW="2120760" imgH="457200" progId="Equation.3">
                  <p:embed/>
                </p:oleObj>
              </mc:Choice>
              <mc:Fallback>
                <p:oleObj name="Equation" r:id="rId3" imgW="2120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017962" cy="685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169524"/>
              </p:ext>
            </p:extLst>
          </p:nvPr>
        </p:nvGraphicFramePr>
        <p:xfrm>
          <a:off x="2105818" y="3648075"/>
          <a:ext cx="40179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Equation" r:id="rId5" imgW="2120760" imgH="444240" progId="Equation.3">
                  <p:embed/>
                </p:oleObj>
              </mc:Choice>
              <mc:Fallback>
                <p:oleObj name="Equation" r:id="rId5" imgW="2120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818" y="3648075"/>
                        <a:ext cx="4017963" cy="666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562600"/>
            <a:ext cx="3841075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378" y="5719499"/>
            <a:ext cx="2162175" cy="29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7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contains 4 white balls and 6 black balls. Pick two balls without replacement. Let X denote the result from the first pick, and Y the result from the 2</a:t>
            </a:r>
            <a:r>
              <a:rPr lang="en-US" baseline="30000" dirty="0" smtClean="0"/>
              <a:t>nd</a:t>
            </a:r>
            <a:r>
              <a:rPr lang="en-US" dirty="0" smtClean="0"/>
              <a:t> pick, i.e., define two random variables (X, Y) as</a:t>
            </a:r>
          </a:p>
          <a:p>
            <a:pPr lvl="1">
              <a:buNone/>
            </a:pPr>
            <a:r>
              <a:rPr lang="en-US" dirty="0" smtClean="0"/>
              <a:t>	{(B, B)} </a:t>
            </a:r>
            <a:r>
              <a:rPr lang="en-US" dirty="0" smtClean="0">
                <a:sym typeface="Wingdings" pitchFamily="2" charset="2"/>
              </a:rPr>
              <a:t> (X=0, Y=0), {(B, W)} (X=0, Y=1), 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{(W, B)} (X=1, Y=0), {(W, W)} (X = 1,Y = 1)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(a) Find the joint PMF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(b) Find the marginal PMF of X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(c) Find the marginal PMF of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aphicFrame>
        <p:nvGraphicFramePr>
          <p:cNvPr id="10241" name="Object 1"/>
          <p:cNvGraphicFramePr>
            <a:graphicFrameLocks noChangeAspect="1"/>
          </p:cNvGraphicFramePr>
          <p:nvPr/>
        </p:nvGraphicFramePr>
        <p:xfrm>
          <a:off x="3657600" y="5943600"/>
          <a:ext cx="238283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3" imgW="1257120" imgH="355320" progId="Equation.3">
                  <p:embed/>
                </p:oleObj>
              </mc:Choice>
              <mc:Fallback>
                <p:oleObj name="Equation" r:id="rId3" imgW="1257120" imgH="3553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943600"/>
                        <a:ext cx="2382838" cy="6746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Review: conditional probability</a:t>
            </a:r>
          </a:p>
          <a:p>
            <a:pPr lvl="1"/>
            <a:r>
              <a:rPr lang="en-US" dirty="0" smtClean="0"/>
              <a:t>Two events A and B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Conditional PMF</a:t>
            </a:r>
          </a:p>
          <a:p>
            <a:pPr lvl="1"/>
            <a:r>
              <a:rPr lang="en-US" dirty="0" smtClean="0"/>
              <a:t>Given event B, what is the probability that               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E.g. two RV X and Y </a:t>
            </a:r>
          </a:p>
          <a:p>
            <a:pPr lvl="2"/>
            <a:r>
              <a:rPr lang="en-US" dirty="0" smtClean="0"/>
              <a:t>B: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B: </a:t>
            </a:r>
            <a:r>
              <a:rPr lang="en-US" i="1" dirty="0" smtClean="0"/>
              <a:t>Y</a:t>
            </a:r>
            <a:r>
              <a:rPr lang="en-US" dirty="0" smtClean="0"/>
              <a:t> &gt;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9217" name="Object 1"/>
          <p:cNvGraphicFramePr>
            <a:graphicFrameLocks noChangeAspect="1"/>
          </p:cNvGraphicFramePr>
          <p:nvPr/>
        </p:nvGraphicFramePr>
        <p:xfrm>
          <a:off x="3429000" y="1447800"/>
          <a:ext cx="18827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3" imgW="1130040" imgH="419040" progId="Equation.3">
                  <p:embed/>
                </p:oleObj>
              </mc:Choice>
              <mc:Fallback>
                <p:oleObj name="Equation" r:id="rId3" imgW="113004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188277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5410200" y="2667000"/>
          <a:ext cx="7191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5" imgW="431640" imgH="228600" progId="Equation.3">
                  <p:embed/>
                </p:oleObj>
              </mc:Choice>
              <mc:Fallback>
                <p:oleObj name="Equation" r:id="rId5" imgW="43164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667000"/>
                        <a:ext cx="7191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2209800" y="4343400"/>
          <a:ext cx="7191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7" imgW="431640" imgH="241200" progId="Equation.3">
                  <p:embed/>
                </p:oleObj>
              </mc:Choice>
              <mc:Fallback>
                <p:oleObj name="Equation" r:id="rId7" imgW="43164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43400"/>
                        <a:ext cx="71913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399" y="3104801"/>
            <a:ext cx="3690938" cy="7544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2869" y="4232346"/>
            <a:ext cx="3968920" cy="5853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4124" y="5165908"/>
            <a:ext cx="3837665" cy="591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contains 4 white balls and 6 black balls. Pick two balls without replacement. Let X denote the result from the first pick, and Y the result from the 2</a:t>
            </a:r>
            <a:r>
              <a:rPr lang="en-US" baseline="30000" dirty="0" smtClean="0"/>
              <a:t>nd</a:t>
            </a:r>
            <a:r>
              <a:rPr lang="en-US" dirty="0" smtClean="0"/>
              <a:t> pick, i.e., define two random variables (X, Y) as</a:t>
            </a:r>
          </a:p>
          <a:p>
            <a:pPr lvl="1">
              <a:buNone/>
            </a:pPr>
            <a:r>
              <a:rPr lang="en-US" dirty="0" smtClean="0"/>
              <a:t>	{(B, B)} </a:t>
            </a:r>
            <a:r>
              <a:rPr lang="en-US" dirty="0" smtClean="0">
                <a:sym typeface="Wingdings" pitchFamily="2" charset="2"/>
              </a:rPr>
              <a:t> (X=0, Y=0), {(B, W)} (X=0, Y=1), 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{(W, B)} (X=1, Y=0), {(W, W)} (X = 1,Y = 1)</a:t>
            </a:r>
          </a:p>
          <a:p>
            <a:pPr lvl="1"/>
            <a:r>
              <a:rPr lang="en-US" dirty="0" smtClean="0"/>
              <a:t>Find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981200" y="2819400"/>
          <a:ext cx="1905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3" imgW="1143000" imgH="241200" progId="Equation.3">
                  <p:embed/>
                </p:oleObj>
              </mc:Choice>
              <mc:Fallback>
                <p:oleObj name="Equation" r:id="rId3" imgW="114300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819400"/>
                        <a:ext cx="190500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657600" y="5867400"/>
          <a:ext cx="20526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5" imgW="1231560" imgH="444240" progId="Equation.3">
                  <p:embed/>
                </p:oleObj>
              </mc:Choice>
              <mc:Fallback>
                <p:oleObj name="Equation" r:id="rId5" imgW="123156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67400"/>
                        <a:ext cx="2052637" cy="7413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joint PMF of two RV X and Y are given as follows. Find the marginal PMF and the conditional PMF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605049"/>
            <a:ext cx="1893096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1914525"/>
            <a:ext cx="35623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2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CDF</a:t>
            </a:r>
          </a:p>
          <a:p>
            <a:pPr lvl="1"/>
            <a:r>
              <a:rPr lang="en-US" dirty="0" smtClean="0"/>
              <a:t>The joint cumulative distribution function (CDF) of two random variables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above definition is true for both discrete RV and continuous RV</a:t>
            </a:r>
          </a:p>
          <a:p>
            <a:r>
              <a:rPr lang="en-US" dirty="0" smtClean="0"/>
              <a:t>Marginal CDF</a:t>
            </a:r>
          </a:p>
          <a:p>
            <a:pPr lvl="1"/>
            <a:r>
              <a:rPr lang="en-US" dirty="0" smtClean="0"/>
              <a:t>The CDF of each individual RV (exactly the same as in Ch. 2)</a:t>
            </a:r>
          </a:p>
          <a:p>
            <a:pPr lvl="1"/>
            <a:r>
              <a:rPr lang="en-US" dirty="0" smtClean="0"/>
              <a:t>joint CDF </a:t>
            </a:r>
            <a:r>
              <a:rPr lang="en-US" dirty="0" smtClean="0">
                <a:sym typeface="Wingdings" pitchFamily="2" charset="2"/>
              </a:rPr>
              <a:t> marginal CDF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2"/>
            <a:r>
              <a:rPr lang="en-US" dirty="0" smtClean="0">
                <a:sym typeface="Wingdings" pitchFamily="2" charset="2"/>
              </a:rPr>
              <a:t>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667000" y="1905000"/>
          <a:ext cx="34893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3" imgW="1841400" imgH="215640" progId="Equation.3">
                  <p:embed/>
                </p:oleObj>
              </mc:Choice>
              <mc:Fallback>
                <p:oleObj name="Equation" r:id="rId3" imgW="18414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05000"/>
                        <a:ext cx="3489325" cy="4079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752600" y="4038600"/>
          <a:ext cx="21653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5" imgW="1143000" imgH="215640" progId="Equation.3">
                  <p:embed/>
                </p:oleObj>
              </mc:Choice>
              <mc:Fallback>
                <p:oleObj name="Equation" r:id="rId5" imgW="11430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38600"/>
                        <a:ext cx="2165350" cy="407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4953000" y="4038600"/>
          <a:ext cx="21653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7" imgW="1143000" imgH="215640" progId="Equation.3">
                  <p:embed/>
                </p:oleObj>
              </mc:Choice>
              <mc:Fallback>
                <p:oleObj name="Equation" r:id="rId7" imgW="11430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38600"/>
                        <a:ext cx="2165350" cy="407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524000" y="1371600"/>
          <a:ext cx="15398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3" imgW="812520" imgH="215640" progId="Equation.3">
                  <p:embed/>
                </p:oleObj>
              </mc:Choice>
              <mc:Fallback>
                <p:oleObj name="Equation" r:id="rId3" imgW="8125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71600"/>
                        <a:ext cx="1539875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600200" y="2209800"/>
          <a:ext cx="15875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5" imgW="838080" imgH="215640" progId="Equation.3">
                  <p:embed/>
                </p:oleObj>
              </mc:Choice>
              <mc:Fallback>
                <p:oleObj name="Equation" r:id="rId5" imgW="8380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09800"/>
                        <a:ext cx="15875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600200" y="3276600"/>
          <a:ext cx="14668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7" imgW="774360" imgH="215640" progId="Equation.3">
                  <p:embed/>
                </p:oleObj>
              </mc:Choice>
              <mc:Fallback>
                <p:oleObj name="Equation" r:id="rId7" imgW="77436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146685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X and Y have a joint CDF as follows. Find the CDF of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676400"/>
            <a:ext cx="3200400" cy="123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</a:t>
            </a:r>
            <a:r>
              <a:rPr lang="en-US" dirty="0" err="1" smtClean="0"/>
              <a:t>pdf</a:t>
            </a:r>
            <a:r>
              <a:rPr lang="en-US" dirty="0" smtClean="0"/>
              <a:t> of two continuous RVs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Probability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CDF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Marginal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Recall: marginal PMF for discrete RV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14338" name="Object 12"/>
          <p:cNvGraphicFramePr>
            <a:graphicFrameLocks noChangeAspect="1"/>
          </p:cNvGraphicFramePr>
          <p:nvPr/>
        </p:nvGraphicFramePr>
        <p:xfrm>
          <a:off x="3048000" y="1447800"/>
          <a:ext cx="18272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3" imgW="1257120" imgH="444240" progId="Equation.3">
                  <p:embed/>
                </p:oleObj>
              </mc:Choice>
              <mc:Fallback>
                <p:oleObj name="Equation" r:id="rId3" imgW="125712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7800"/>
                        <a:ext cx="1827212" cy="654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2"/>
          <p:cNvGraphicFramePr>
            <a:graphicFrameLocks noChangeAspect="1"/>
          </p:cNvGraphicFramePr>
          <p:nvPr/>
        </p:nvGraphicFramePr>
        <p:xfrm>
          <a:off x="2971800" y="2514600"/>
          <a:ext cx="4419600" cy="533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5" imgW="2984400" imgH="355320" progId="Equation.3">
                  <p:embed/>
                </p:oleObj>
              </mc:Choice>
              <mc:Fallback>
                <p:oleObj name="Equation" r:id="rId5" imgW="2984400" imgH="355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0"/>
                        <a:ext cx="4419600" cy="5338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2438400" y="4724400"/>
          <a:ext cx="21431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tion" r:id="rId7" imgW="1447560" imgH="330120" progId="Equation.3">
                  <p:embed/>
                </p:oleObj>
              </mc:Choice>
              <mc:Fallback>
                <p:oleObj name="Equation" r:id="rId7" imgW="144756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724400"/>
                        <a:ext cx="2143125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971800" y="3657600"/>
          <a:ext cx="29130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name="Equation" r:id="rId9" imgW="1968480" imgH="330120" progId="Equation.3">
                  <p:embed/>
                </p:oleObj>
              </mc:Choice>
              <mc:Fallback>
                <p:oleObj name="Equation" r:id="rId9" imgW="1968480" imgH="330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657600"/>
                        <a:ext cx="2913063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334000" y="4648200"/>
          <a:ext cx="21224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tion" r:id="rId11" imgW="1434960" imgH="330120" progId="Equation.3">
                  <p:embed/>
                </p:oleObj>
              </mc:Choice>
              <mc:Fallback>
                <p:oleObj name="Equation" r:id="rId11" imgW="1434960" imgH="330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648200"/>
                        <a:ext cx="2122487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3276600" y="5715000"/>
          <a:ext cx="3043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13" imgW="2057400" imgH="355320" progId="Equation.3">
                  <p:embed/>
                </p:oleObj>
              </mc:Choice>
              <mc:Fallback>
                <p:oleObj name="Equation" r:id="rId13" imgW="2057400" imgH="355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15000"/>
                        <a:ext cx="30432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given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marginal </a:t>
            </a:r>
            <a:r>
              <a:rPr lang="en-US" dirty="0" err="1" smtClean="0"/>
              <a:t>pdf</a:t>
            </a:r>
            <a:r>
              <a:rPr lang="en-US" dirty="0" smtClean="0"/>
              <a:t> of </a:t>
            </a:r>
            <a:r>
              <a:rPr lang="en-US" i="1" dirty="0" smtClean="0"/>
              <a:t>X</a:t>
            </a:r>
          </a:p>
          <a:p>
            <a:pPr lvl="2"/>
            <a:r>
              <a:rPr lang="en-US" dirty="0" smtClean="0"/>
              <a:t>The probability that X &gt; 0.5 and Y &lt; 0.3</a:t>
            </a:r>
          </a:p>
          <a:p>
            <a:pPr lvl="2">
              <a:buNone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600200"/>
            <a:ext cx="385267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the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2"/>
            <a:r>
              <a:rPr lang="en-US" dirty="0" smtClean="0"/>
              <a:t>Find the constant c</a:t>
            </a:r>
          </a:p>
          <a:p>
            <a:pPr lvl="2"/>
            <a:r>
              <a:rPr lang="en-US" dirty="0" smtClean="0"/>
              <a:t>Find the marginal </a:t>
            </a:r>
            <a:r>
              <a:rPr lang="en-US" dirty="0" err="1" smtClean="0"/>
              <a:t>pdf</a:t>
            </a:r>
            <a:r>
              <a:rPr lang="en-US" dirty="0" smtClean="0"/>
              <a:t> of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676400"/>
            <a:ext cx="412879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Recall</a:t>
            </a:r>
          </a:p>
          <a:p>
            <a:pPr lvl="1"/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18434" name="Object 12"/>
          <p:cNvGraphicFramePr>
            <a:graphicFrameLocks noChangeAspect="1"/>
          </p:cNvGraphicFramePr>
          <p:nvPr/>
        </p:nvGraphicFramePr>
        <p:xfrm>
          <a:off x="2209800" y="1371600"/>
          <a:ext cx="19923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Equation" r:id="rId3" imgW="1371600" imgH="431640" progId="Equation.3">
                  <p:embed/>
                </p:oleObj>
              </mc:Choice>
              <mc:Fallback>
                <p:oleObj name="Equation" r:id="rId3" imgW="137160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1992313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2"/>
          <p:cNvGraphicFramePr>
            <a:graphicFrameLocks noChangeAspect="1"/>
          </p:cNvGraphicFramePr>
          <p:nvPr/>
        </p:nvGraphicFramePr>
        <p:xfrm>
          <a:off x="2514600" y="2209800"/>
          <a:ext cx="16414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Equation" r:id="rId5" imgW="1130040" imgH="419040" progId="Equation.3">
                  <p:embed/>
                </p:oleObj>
              </mc:Choice>
              <mc:Fallback>
                <p:oleObj name="Equation" r:id="rId5" imgW="113004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09800"/>
                        <a:ext cx="16414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2"/>
          <p:cNvGraphicFramePr>
            <a:graphicFrameLocks noChangeAspect="1"/>
          </p:cNvGraphicFramePr>
          <p:nvPr/>
        </p:nvGraphicFramePr>
        <p:xfrm>
          <a:off x="5105400" y="1524000"/>
          <a:ext cx="24717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Equation" r:id="rId7" imgW="1701720" imgH="241200" progId="Equation.3">
                  <p:embed/>
                </p:oleObj>
              </mc:Choice>
              <mc:Fallback>
                <p:oleObj name="Equation" r:id="rId7" imgW="17017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524000"/>
                        <a:ext cx="2471737" cy="355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5486400" y="2362200"/>
          <a:ext cx="206533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9" imgW="1422360" imgH="203040" progId="Equation.3">
                  <p:embed/>
                </p:oleObj>
              </mc:Choice>
              <mc:Fallback>
                <p:oleObj name="Equation" r:id="rId9" imgW="14223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362200"/>
                        <a:ext cx="2065337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r>
              <a:rPr lang="en-US" dirty="0" smtClean="0"/>
              <a:t>Conditional </a:t>
            </a:r>
            <a:r>
              <a:rPr lang="en-US" dirty="0" err="1" smtClean="0"/>
              <a:t>pdf</a:t>
            </a:r>
            <a:r>
              <a:rPr lang="en-US" dirty="0" smtClean="0"/>
              <a:t> is still a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Please be careful about the difference between                                   and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21506" name="Object 12"/>
          <p:cNvGraphicFramePr>
            <a:graphicFrameLocks noChangeAspect="1"/>
          </p:cNvGraphicFramePr>
          <p:nvPr/>
        </p:nvGraphicFramePr>
        <p:xfrm>
          <a:off x="2667000" y="1752600"/>
          <a:ext cx="168048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Equation" r:id="rId3" imgW="1079280" imgH="241200" progId="Equation.3">
                  <p:embed/>
                </p:oleObj>
              </mc:Choice>
              <mc:Fallback>
                <p:oleObj name="Equation" r:id="rId3" imgW="107928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168048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2"/>
          <p:cNvGraphicFramePr>
            <a:graphicFrameLocks noChangeAspect="1"/>
          </p:cNvGraphicFramePr>
          <p:nvPr/>
        </p:nvGraphicFramePr>
        <p:xfrm>
          <a:off x="2667000" y="2209800"/>
          <a:ext cx="18589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Equation" r:id="rId5" imgW="1193760" imgH="330120" progId="Equation.3">
                  <p:embed/>
                </p:oleObj>
              </mc:Choice>
              <mc:Fallback>
                <p:oleObj name="Equation" r:id="rId5" imgW="119376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09800"/>
                        <a:ext cx="1858963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12"/>
          <p:cNvGraphicFramePr>
            <a:graphicFrameLocks noChangeAspect="1"/>
          </p:cNvGraphicFramePr>
          <p:nvPr/>
        </p:nvGraphicFramePr>
        <p:xfrm>
          <a:off x="2667000" y="2819400"/>
          <a:ext cx="4527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7" imgW="2908080" imgH="330120" progId="Equation.3">
                  <p:embed/>
                </p:oleObj>
              </mc:Choice>
              <mc:Fallback>
                <p:oleObj name="Equation" r:id="rId7" imgW="290808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19400"/>
                        <a:ext cx="45275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2"/>
          <p:cNvGraphicFramePr>
            <a:graphicFrameLocks noChangeAspect="1"/>
          </p:cNvGraphicFramePr>
          <p:nvPr/>
        </p:nvGraphicFramePr>
        <p:xfrm>
          <a:off x="5956300" y="3581400"/>
          <a:ext cx="16208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Equation" r:id="rId9" imgW="1041120" imgH="203040" progId="Equation.3">
                  <p:embed/>
                </p:oleObj>
              </mc:Choice>
              <mc:Fallback>
                <p:oleObj name="Equation" r:id="rId9" imgW="10411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3581400"/>
                        <a:ext cx="16208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447800" y="4038600"/>
          <a:ext cx="16002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Equation" r:id="rId11" imgW="1028520" imgH="203040" progId="Equation.3">
                  <p:embed/>
                </p:oleObj>
              </mc:Choice>
              <mc:Fallback>
                <p:oleObj name="Equation" r:id="rId11" imgW="102852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1600200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1752600" y="4876800"/>
          <a:ext cx="17986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13" imgW="1155600" imgH="203040" progId="Equation.3">
                  <p:embed/>
                </p:oleObj>
              </mc:Choice>
              <mc:Fallback>
                <p:oleObj name="Equation" r:id="rId13" imgW="11556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76800"/>
                        <a:ext cx="17986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</a:t>
            </a:r>
          </a:p>
          <a:p>
            <a:pPr lvl="1"/>
            <a:r>
              <a:rPr lang="en-US" dirty="0" smtClean="0"/>
              <a:t>Find</a:t>
            </a:r>
          </a:p>
          <a:p>
            <a:pPr lvl="1"/>
            <a:r>
              <a:rPr lang="en-US" dirty="0" smtClean="0"/>
              <a:t>Find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00200"/>
            <a:ext cx="412879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133600" y="2209800"/>
          <a:ext cx="9413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quation" r:id="rId4" imgW="647640" imgH="241200" progId="Equation.3">
                  <p:embed/>
                </p:oleObj>
              </mc:Choice>
              <mc:Fallback>
                <p:oleObj name="Equation" r:id="rId4" imgW="6476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09800"/>
                        <a:ext cx="94138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133600" y="2590800"/>
          <a:ext cx="1458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tion" r:id="rId6" imgW="1002960" imgH="203040" progId="Equation.3">
                  <p:embed/>
                </p:oleObj>
              </mc:Choice>
              <mc:Fallback>
                <p:oleObj name="Equation" r:id="rId6" imgW="10029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1458912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209800" y="2895600"/>
          <a:ext cx="14589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8" imgW="1002960" imgH="203040" progId="Equation.3">
                  <p:embed/>
                </p:oleObj>
              </mc:Choice>
              <mc:Fallback>
                <p:oleObj name="Equation" r:id="rId8" imgW="100296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95600"/>
                        <a:ext cx="1458913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a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</a:t>
            </a:r>
          </a:p>
          <a:p>
            <a:pPr lvl="2"/>
            <a:r>
              <a:rPr lang="en-US" dirty="0" smtClean="0"/>
              <a:t>Verify that 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057400" y="1600200"/>
          <a:ext cx="39338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3" imgW="2705040" imgH="609480" progId="Equation.3">
                  <p:embed/>
                </p:oleObj>
              </mc:Choice>
              <mc:Fallback>
                <p:oleObj name="Equation" r:id="rId3" imgW="2705040" imgH="609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3933825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2514600" y="2590800"/>
          <a:ext cx="9413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5" imgW="647640" imgH="241200" progId="Equation.3">
                  <p:embed/>
                </p:oleObj>
              </mc:Choice>
              <mc:Fallback>
                <p:oleObj name="Equation" r:id="rId5" imgW="64764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90800"/>
                        <a:ext cx="94138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895600" y="2819400"/>
          <a:ext cx="17351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7" imgW="1193760" imgH="330120" progId="Equation.3">
                  <p:embed/>
                </p:oleObj>
              </mc:Choice>
              <mc:Fallback>
                <p:oleObj name="Equation" r:id="rId7" imgW="119376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1735138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moment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Linearity of the expectation operator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209800" y="1295400"/>
          <a:ext cx="36560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2" name="Equation" r:id="rId3" imgW="2514600" imgH="330120" progId="Equation.3">
                  <p:embed/>
                </p:oleObj>
              </mc:Choice>
              <mc:Fallback>
                <p:oleObj name="Equation" r:id="rId3" imgW="251460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95400"/>
                        <a:ext cx="3656012" cy="4873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286000" y="2590800"/>
          <a:ext cx="262255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3" name="Equation" r:id="rId5" imgW="1803240" imgH="203040" progId="Equation.3">
                  <p:embed/>
                </p:oleObj>
              </mc:Choice>
              <mc:Fallback>
                <p:oleObj name="Equation" r:id="rId5" imgW="18032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0"/>
                        <a:ext cx="2622550" cy="300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X and Y with mean              and               . Define Z = 2X + 5Y + 7. Find E[Z].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4191000" y="1295400"/>
          <a:ext cx="68421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6" name="Equation" r:id="rId3" imgW="469800" imgH="215640" progId="Equation.3">
                  <p:embed/>
                </p:oleObj>
              </mc:Choice>
              <mc:Fallback>
                <p:oleObj name="Equation" r:id="rId3" imgW="4698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68421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5419725" y="1295400"/>
          <a:ext cx="66516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7" name="Equation" r:id="rId5" imgW="457200" imgH="215640" progId="Equation.3">
                  <p:embed/>
                </p:oleObj>
              </mc:Choice>
              <mc:Fallback>
                <p:oleObj name="Equation" r:id="rId5" imgW="4572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1295400"/>
                        <a:ext cx="66516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</a:p>
          <a:p>
            <a:pPr lvl="1"/>
            <a:r>
              <a:rPr lang="en-US" dirty="0" smtClean="0"/>
              <a:t>Tow continuous RVs are called </a:t>
            </a:r>
            <a:r>
              <a:rPr lang="en-US" dirty="0" smtClean="0">
                <a:solidFill>
                  <a:srgbClr val="FF0000"/>
                </a:solidFill>
              </a:rPr>
              <a:t>independent</a:t>
            </a:r>
            <a:r>
              <a:rPr lang="en-US" dirty="0" smtClean="0"/>
              <a:t> if and only if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for two RVs X and 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Therefore, if X and Y are independent, then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2514600" y="1676400"/>
          <a:ext cx="3200400" cy="478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Equation" r:id="rId3" imgW="1460160" imgH="215640" progId="Equation.3">
                  <p:embed/>
                </p:oleObj>
              </mc:Choice>
              <mc:Fallback>
                <p:oleObj name="Equation" r:id="rId3" imgW="146016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76400"/>
                        <a:ext cx="3200400" cy="47874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2362200" y="2895600"/>
          <a:ext cx="37290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Equation" r:id="rId5" imgW="1701720" imgH="241200" progId="Equation.3">
                  <p:embed/>
                </p:oleObj>
              </mc:Choice>
              <mc:Fallback>
                <p:oleObj name="Equation" r:id="rId5" imgW="170172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95600"/>
                        <a:ext cx="372903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895600" y="4114800"/>
          <a:ext cx="2559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Equation" r:id="rId7" imgW="1168200" imgH="241200" progId="Equation.3">
                  <p:embed/>
                </p:oleObj>
              </mc:Choice>
              <mc:Fallback>
                <p:oleObj name="Equation" r:id="rId7" imgW="116820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14800"/>
                        <a:ext cx="25590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value of </a:t>
            </a:r>
            <a:r>
              <a:rPr lang="en-US" i="1" dirty="0" smtClean="0"/>
              <a:t>k</a:t>
            </a:r>
          </a:p>
          <a:p>
            <a:pPr lvl="2"/>
            <a:r>
              <a:rPr lang="en-US" dirty="0" smtClean="0"/>
              <a:t>Are they independent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2057400" y="1676400"/>
          <a:ext cx="39528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3" imgW="2717640" imgH="482400" progId="Equation.3">
                  <p:embed/>
                </p:oleObj>
              </mc:Choice>
              <mc:Fallback>
                <p:oleObj name="Equation" r:id="rId3" imgW="271764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0"/>
                        <a:ext cx="3952875" cy="71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Correlation</a:t>
            </a:r>
          </a:p>
          <a:p>
            <a:pPr lvl="1"/>
            <a:r>
              <a:rPr lang="en-US" dirty="0" smtClean="0"/>
              <a:t>The correlation between two RVs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Covariance</a:t>
            </a:r>
          </a:p>
          <a:p>
            <a:pPr lvl="1"/>
            <a:r>
              <a:rPr lang="en-US" dirty="0" smtClean="0"/>
              <a:t>The covariance between two RVs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Recall: variance of </a:t>
            </a:r>
            <a:r>
              <a:rPr lang="en-US" i="1" dirty="0" smtClean="0"/>
              <a:t>X</a:t>
            </a:r>
            <a:r>
              <a:rPr lang="en-US" dirty="0" smtClean="0"/>
              <a:t>: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438400" y="1752600"/>
          <a:ext cx="3764599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Equation" r:id="rId3" imgW="1942920" imgH="330120" progId="Equation.3">
                  <p:embed/>
                </p:oleObj>
              </mc:Choice>
              <mc:Fallback>
                <p:oleObj name="Equation" r:id="rId3" imgW="19429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3764599" cy="6492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743200" y="3657600"/>
          <a:ext cx="2667000" cy="44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Equation" r:id="rId5" imgW="1320480" imgH="215640" progId="Equation.3">
                  <p:embed/>
                </p:oleObj>
              </mc:Choice>
              <mc:Fallback>
                <p:oleObj name="Equation" r:id="rId5" imgW="13204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2667000" cy="44379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038600" y="4267201"/>
          <a:ext cx="1295400" cy="349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Equation" r:id="rId7" imgW="863280" imgH="228600" progId="Equation.3">
                  <p:embed/>
                </p:oleObj>
              </mc:Choice>
              <mc:Fallback>
                <p:oleObj name="Equation" r:id="rId7" imgW="8632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67201"/>
                        <a:ext cx="1295400" cy="349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1981200" y="4876800"/>
          <a:ext cx="48212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9" imgW="2387520" imgH="215640" progId="Equation.3">
                  <p:embed/>
                </p:oleObj>
              </mc:Choice>
              <mc:Fallback>
                <p:oleObj name="Equation" r:id="rId9" imgW="23875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4821238" cy="444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Correlation coefficient (normalized covariance)</a:t>
            </a:r>
          </a:p>
          <a:p>
            <a:pPr lvl="1"/>
            <a:r>
              <a:rPr lang="en-US" dirty="0" smtClean="0"/>
              <a:t>The correlation coefficient of two RV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1981200" y="1752600"/>
          <a:ext cx="4953000" cy="806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3" imgW="2705040" imgH="431640" progId="Equation.3">
                  <p:embed/>
                </p:oleObj>
              </mc:Choice>
              <mc:Fallback>
                <p:oleObj name="Equation" r:id="rId3" imgW="270504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4953000" cy="8060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two RVs with the joint </a:t>
            </a:r>
            <a:r>
              <a:rPr lang="en-US" dirty="0" err="1" smtClean="0"/>
              <a:t>pdf</a:t>
            </a:r>
            <a:r>
              <a:rPr lang="en-US" dirty="0" smtClean="0"/>
              <a:t>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correlation, covariance, and the correlation coefficient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362200" y="1676400"/>
          <a:ext cx="3455987" cy="7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3" imgW="2234880" imgH="457200" progId="Equation.3">
                  <p:embed/>
                </p:oleObj>
              </mc:Choice>
              <mc:Fallback>
                <p:oleObj name="Equation" r:id="rId3" imgW="22348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76400"/>
                        <a:ext cx="3455987" cy="7212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382000" cy="5600700"/>
          </a:xfrm>
        </p:spPr>
        <p:txBody>
          <a:bodyPr/>
          <a:lstStyle/>
          <a:p>
            <a:r>
              <a:rPr lang="en-US" dirty="0" smtClean="0"/>
              <a:t>Uncorrelated</a:t>
            </a:r>
          </a:p>
          <a:p>
            <a:pPr lvl="1"/>
            <a:r>
              <a:rPr lang="en-US" dirty="0" smtClean="0"/>
              <a:t>Two RVs X and Y are said to be uncorrelated if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If two RVs are uncorrelated, then the covariance is       , their correlation coefficient is          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Independence ≠ correlation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 smtClean="0">
                <a:sym typeface="Wingdings" pitchFamily="2" charset="2"/>
              </a:rPr>
              <a:t> uncorrelated (it’s not true the other way around)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If X and Y are independent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If two RVs are uncorrelated, they might not be independent.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971800" y="4343400"/>
          <a:ext cx="88423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3" imgW="571320" imgH="215640" progId="Equation.3">
                  <p:embed/>
                </p:oleObj>
              </mc:Choice>
              <mc:Fallback>
                <p:oleObj name="Equation" r:id="rId3" imgW="5713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343400"/>
                        <a:ext cx="88423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2432050" y="1600200"/>
          <a:ext cx="19653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5" imgW="1269720" imgH="215640" progId="Equation.3">
                  <p:embed/>
                </p:oleObj>
              </mc:Choice>
              <mc:Fallback>
                <p:oleObj name="Equation" r:id="rId5" imgW="12697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600200"/>
                        <a:ext cx="196532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 be uniformly distributed in              .</a:t>
            </a:r>
          </a:p>
          <a:p>
            <a:pPr lvl="1">
              <a:buNone/>
            </a:pPr>
            <a:endParaRPr lang="en-US" dirty="0" smtClean="0"/>
          </a:p>
          <a:p>
            <a:pPr lvl="2"/>
            <a:r>
              <a:rPr lang="en-US" dirty="0" smtClean="0"/>
              <a:t>Are they uncorrelated? </a:t>
            </a:r>
          </a:p>
          <a:p>
            <a:pPr lvl="1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828800" y="1295400"/>
          <a:ext cx="25558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Equation" r:id="rId3" imgW="164880" imgH="177480" progId="Equation.3">
                  <p:embed/>
                </p:oleObj>
              </mc:Choice>
              <mc:Fallback>
                <p:oleObj name="Equation" r:id="rId3" imgW="1648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255588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4724400" y="1295400"/>
          <a:ext cx="64928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1" name="Equation" r:id="rId5" imgW="419040" imgH="203040" progId="Equation.3">
                  <p:embed/>
                </p:oleObj>
              </mc:Choice>
              <mc:Fallback>
                <p:oleObj name="Equation" r:id="rId5" imgW="4190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295400"/>
                        <a:ext cx="64928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209800" y="1600200"/>
          <a:ext cx="11604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2" name="Equation" r:id="rId7" imgW="749160" imgH="203040" progId="Equation.3">
                  <p:embed/>
                </p:oleObj>
              </mc:Choice>
              <mc:Fallback>
                <p:oleObj name="Equation" r:id="rId7" imgW="749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0"/>
                        <a:ext cx="116046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419600" y="1600200"/>
          <a:ext cx="10620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3" name="Equation" r:id="rId9" imgW="685800" imgH="203040" progId="Equation.3">
                  <p:embed/>
                </p:oleObj>
              </mc:Choice>
              <mc:Fallback>
                <p:oleObj name="Equation" r:id="rId9" imgW="6858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00200"/>
                        <a:ext cx="1062037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independent RVs, X and Y, have variance                                 . Find the variance of U = 2X + 3Y.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5867400" y="1295400"/>
          <a:ext cx="7858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name="Equation" r:id="rId3" imgW="507960" imgH="228600" progId="Equation.3">
                  <p:embed/>
                </p:oleObj>
              </mc:Choice>
              <mc:Fallback>
                <p:oleObj name="Equation" r:id="rId3" imgW="5079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95400"/>
                        <a:ext cx="7858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6743700" y="1295400"/>
          <a:ext cx="7858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5" name="Equation" r:id="rId5" imgW="507960" imgH="228600" progId="Equation.3">
                  <p:embed/>
                </p:oleObj>
              </mc:Choice>
              <mc:Fallback>
                <p:oleObj name="Equation" r:id="rId5" imgW="5079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295400"/>
                        <a:ext cx="7858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the sum of two RVs</a:t>
            </a:r>
          </a:p>
          <a:p>
            <a:pPr lvl="1"/>
            <a:r>
              <a:rPr lang="en-US" dirty="0" smtClean="0"/>
              <a:t>Consider two RVs X and Y, with the joint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r>
              <a:rPr lang="en-US" dirty="0" smtClean="0"/>
              <a:t>Define a new RV Z = X + Y. What is the </a:t>
            </a:r>
            <a:r>
              <a:rPr lang="en-US" dirty="0" err="1" smtClean="0"/>
              <a:t>pdf</a:t>
            </a:r>
            <a:r>
              <a:rPr lang="en-US" dirty="0" smtClean="0"/>
              <a:t> of Z?</a:t>
            </a:r>
          </a:p>
          <a:p>
            <a:pPr lvl="1"/>
            <a:r>
              <a:rPr lang="en-US" dirty="0" smtClean="0"/>
              <a:t>Sol: Find the CDF of Z, then differentiate it with respect to z.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5791200" y="1219200"/>
          <a:ext cx="923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4" imgW="596880" imgH="215640" progId="Equation.3">
                  <p:embed/>
                </p:oleObj>
              </mc:Choice>
              <mc:Fallback>
                <p:oleObj name="Equation" r:id="rId4" imgW="5968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219200"/>
                        <a:ext cx="923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2762250" y="5486400"/>
          <a:ext cx="25161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name="Equation" r:id="rId6" imgW="1625400" imgH="330120" progId="Equation.3">
                  <p:embed/>
                </p:oleObj>
              </mc:Choice>
              <mc:Fallback>
                <p:oleObj name="Equation" r:id="rId6" imgW="162540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5486400"/>
                        <a:ext cx="2516188" cy="5254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the sum of two independent RVs</a:t>
            </a:r>
          </a:p>
          <a:p>
            <a:pPr lvl="1"/>
            <a:r>
              <a:rPr lang="en-US" dirty="0" smtClean="0"/>
              <a:t>If X and Y are independent, then the </a:t>
            </a:r>
            <a:r>
              <a:rPr lang="en-US" dirty="0" err="1" smtClean="0"/>
              <a:t>pdf</a:t>
            </a:r>
            <a:r>
              <a:rPr lang="en-US" dirty="0" smtClean="0"/>
              <a:t> of Z = X+Y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Z is the convolution of the </a:t>
            </a:r>
            <a:r>
              <a:rPr lang="en-US" dirty="0" err="1" smtClean="0"/>
              <a:t>pdfs</a:t>
            </a:r>
            <a:r>
              <a:rPr lang="en-US" dirty="0" smtClean="0"/>
              <a:t> of X and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371600" y="1752600"/>
          <a:ext cx="62309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3" imgW="4025880" imgH="330120" progId="Equation.3">
                  <p:embed/>
                </p:oleObj>
              </mc:Choice>
              <mc:Fallback>
                <p:oleObj name="Equation" r:id="rId3" imgW="402588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6230937" cy="5254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independent RVs have </a:t>
            </a:r>
            <a:r>
              <a:rPr lang="en-US" dirty="0" err="1" smtClean="0"/>
              <a:t>pdf</a:t>
            </a:r>
            <a:r>
              <a:rPr lang="en-US" dirty="0" smtClean="0"/>
              <a:t>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</a:t>
            </a:r>
            <a:r>
              <a:rPr lang="en-US" dirty="0" err="1" smtClean="0"/>
              <a:t>pdf</a:t>
            </a:r>
            <a:r>
              <a:rPr lang="en-US" dirty="0" smtClean="0"/>
              <a:t> of Z = X + 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1524000" y="1676400"/>
          <a:ext cx="2319338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Equation" r:id="rId3" imgW="1498320" imgH="482400" progId="Equation.3">
                  <p:embed/>
                </p:oleObj>
              </mc:Choice>
              <mc:Fallback>
                <p:oleObj name="Equation" r:id="rId3" imgW="149832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2319338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4800600" y="1676400"/>
          <a:ext cx="23780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Equation" r:id="rId5" imgW="1536480" imgH="482400" progId="Equation.3">
                  <p:embed/>
                </p:oleObj>
              </mc:Choice>
              <mc:Fallback>
                <p:oleObj name="Equation" r:id="rId5" imgW="153648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76400"/>
                        <a:ext cx="2378075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functions of two RVs</a:t>
            </a:r>
          </a:p>
          <a:p>
            <a:pPr lvl="1"/>
            <a:r>
              <a:rPr lang="en-US" dirty="0" smtClean="0"/>
              <a:t>Consider two RVs, X and Y, with joint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Let                          ,                           </a:t>
            </a:r>
          </a:p>
          <a:p>
            <a:pPr lvl="1"/>
            <a:r>
              <a:rPr lang="en-US" dirty="0" smtClean="0"/>
              <a:t>Or, inversely,  </a:t>
            </a:r>
          </a:p>
          <a:p>
            <a:pPr lvl="1"/>
            <a:r>
              <a:rPr lang="en-US" dirty="0" smtClean="0"/>
              <a:t>The joint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  <a:r>
              <a:rPr lang="en-US" i="1" dirty="0" smtClean="0"/>
              <a:t>Z</a:t>
            </a:r>
            <a:r>
              <a:rPr lang="en-US" dirty="0" smtClean="0"/>
              <a:t> and </a:t>
            </a:r>
            <a:r>
              <a:rPr lang="en-US" i="1" dirty="0" smtClean="0"/>
              <a:t>W</a:t>
            </a:r>
            <a:r>
              <a:rPr lang="en-US" dirty="0" smtClean="0"/>
              <a:t> is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905000" y="1600200"/>
          <a:ext cx="127793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name="Equation" r:id="rId3" imgW="825480" imgH="215640" progId="Equation.3">
                  <p:embed/>
                </p:oleObj>
              </mc:Choice>
              <mc:Fallback>
                <p:oleObj name="Equation" r:id="rId3" imgW="8254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00200"/>
                        <a:ext cx="1277938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5486400" y="1219200"/>
          <a:ext cx="9239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9" name="Equation" r:id="rId5" imgW="596880" imgH="215640" progId="Equation.3">
                  <p:embed/>
                </p:oleObj>
              </mc:Choice>
              <mc:Fallback>
                <p:oleObj name="Equation" r:id="rId5" imgW="5968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19200"/>
                        <a:ext cx="9239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3429000" y="1600200"/>
          <a:ext cx="13557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0" name="Equation" r:id="rId7" imgW="876240" imgH="215640" progId="Equation.3">
                  <p:embed/>
                </p:oleObj>
              </mc:Choice>
              <mc:Fallback>
                <p:oleObj name="Equation" r:id="rId7" imgW="87624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00200"/>
                        <a:ext cx="1355725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2133600" y="2743200"/>
          <a:ext cx="33797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Equation" r:id="rId9" imgW="2184120" imgH="253800" progId="Equation.3">
                  <p:embed/>
                </p:oleObj>
              </mc:Choice>
              <mc:Fallback>
                <p:oleObj name="Equation" r:id="rId9" imgW="2184120" imgH="253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43200"/>
                        <a:ext cx="3379787" cy="406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2847975" y="1905000"/>
          <a:ext cx="137636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Equation" r:id="rId11" imgW="888840" imgH="215640" progId="Equation.3">
                  <p:embed/>
                </p:oleObj>
              </mc:Choice>
              <mc:Fallback>
                <p:oleObj name="Equation" r:id="rId11" imgW="88884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1905000"/>
                        <a:ext cx="1376363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4267200" y="1905000"/>
          <a:ext cx="12779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3" name="Equation" r:id="rId13" imgW="825480" imgH="215640" progId="Equation.3">
                  <p:embed/>
                </p:oleObj>
              </mc:Choice>
              <mc:Fallback>
                <p:oleObj name="Equation" r:id="rId13" imgW="82548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05000"/>
                        <a:ext cx="1277938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3124200" y="3505200"/>
          <a:ext cx="1316038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4" name="Equation" r:id="rId15" imgW="850680" imgH="787320" progId="Equation.3">
                  <p:embed/>
                </p:oleObj>
              </mc:Choice>
              <mc:Fallback>
                <p:oleObj name="Equation" r:id="rId15" imgW="850680" imgH="787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05200"/>
                        <a:ext cx="1316038" cy="1258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random variables X and Y have a joint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 the </a:t>
            </a:r>
            <a:r>
              <a:rPr lang="en-US" dirty="0" err="1" smtClean="0"/>
              <a:t>pdf</a:t>
            </a:r>
            <a:r>
              <a:rPr lang="en-US" dirty="0" smtClean="0"/>
              <a:t> of Z = XY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057400" y="1600200"/>
          <a:ext cx="32829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" name="Equation" r:id="rId3" imgW="2120760" imgH="457200" progId="Equation.3">
                  <p:embed/>
                </p:oleObj>
              </mc:Choice>
              <mc:Fallback>
                <p:oleObj name="Equation" r:id="rId3" imgW="212076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328295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box contains resistors whose values are independent and uniformly distributed between 10 Ohm and 20 Ohm. If two resistors are selected in random and connected in series</a:t>
            </a:r>
          </a:p>
          <a:p>
            <a:pPr lvl="2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the resistance of the serial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9109</TotalTime>
  <Words>1084</Words>
  <Application>Microsoft Office PowerPoint</Application>
  <PresentationFormat>On-screen Show (4:3)</PresentationFormat>
  <Paragraphs>315</Paragraphs>
  <Slides>37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3143 Probability &amp; Stochastic Process Ch. 4 Several Random Variables</vt:lpstr>
      <vt:lpstr>OUTLINE</vt:lpstr>
      <vt:lpstr>TWO DISCRETE RANDOM VARIABLES</vt:lpstr>
      <vt:lpstr>TWO DISCRETE RANDOM VARIABLES</vt:lpstr>
      <vt:lpstr>TWO DISCRETE RV</vt:lpstr>
      <vt:lpstr>TWO DISCRETE RV</vt:lpstr>
      <vt:lpstr>TWO DISCRETE RV</vt:lpstr>
      <vt:lpstr>TWO DISCRETE RV</vt:lpstr>
      <vt:lpstr>OUTLINE</vt:lpstr>
      <vt:lpstr>TWO CONTINUOUS RANDOM VARIABLES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RVS</vt:lpstr>
      <vt:lpstr>TWO CONTINUOUS RVS</vt:lpstr>
      <vt:lpstr>OUTLINE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OUTLINE</vt:lpstr>
      <vt:lpstr>FUNCTIONS OF TWO RVS</vt:lpstr>
      <vt:lpstr>FUNCTIONS OF TWO RVS</vt:lpstr>
      <vt:lpstr>FUNCTIONS OF TWO RVS</vt:lpstr>
      <vt:lpstr>FUNCTIONS OF TWO RVS</vt:lpstr>
      <vt:lpstr>FUNCTION OF TWO RVS</vt:lpstr>
      <vt:lpstr>FUNCTIONS OF TWO RVS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729</cp:revision>
  <dcterms:created xsi:type="dcterms:W3CDTF">2006-08-16T00:00:00Z</dcterms:created>
  <dcterms:modified xsi:type="dcterms:W3CDTF">2018-03-06T16:56:41Z</dcterms:modified>
</cp:coreProperties>
</file>