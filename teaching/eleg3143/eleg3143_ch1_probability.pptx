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5"/>
  </p:notesMasterIdLst>
  <p:sldIdLst>
    <p:sldId id="256" r:id="rId2"/>
    <p:sldId id="260" r:id="rId3"/>
    <p:sldId id="268" r:id="rId4"/>
    <p:sldId id="339" r:id="rId5"/>
    <p:sldId id="270" r:id="rId6"/>
    <p:sldId id="271" r:id="rId7"/>
    <p:sldId id="33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332" r:id="rId18"/>
    <p:sldId id="273" r:id="rId19"/>
    <p:sldId id="276" r:id="rId20"/>
    <p:sldId id="274" r:id="rId21"/>
    <p:sldId id="275" r:id="rId22"/>
    <p:sldId id="333" r:id="rId23"/>
    <p:sldId id="277" r:id="rId24"/>
    <p:sldId id="279" r:id="rId25"/>
    <p:sldId id="280" r:id="rId26"/>
    <p:sldId id="295" r:id="rId27"/>
    <p:sldId id="281" r:id="rId28"/>
    <p:sldId id="294" r:id="rId29"/>
    <p:sldId id="296" r:id="rId30"/>
    <p:sldId id="341" r:id="rId31"/>
    <p:sldId id="340" r:id="rId32"/>
    <p:sldId id="342" r:id="rId33"/>
    <p:sldId id="297" r:id="rId34"/>
    <p:sldId id="334" r:id="rId35"/>
    <p:sldId id="298" r:id="rId36"/>
    <p:sldId id="300" r:id="rId37"/>
    <p:sldId id="301" r:id="rId38"/>
    <p:sldId id="303" r:id="rId39"/>
    <p:sldId id="302" r:id="rId40"/>
    <p:sldId id="304" r:id="rId41"/>
    <p:sldId id="306" r:id="rId42"/>
    <p:sldId id="307" r:id="rId43"/>
    <p:sldId id="335" r:id="rId44"/>
    <p:sldId id="308" r:id="rId45"/>
    <p:sldId id="309" r:id="rId46"/>
    <p:sldId id="311" r:id="rId47"/>
    <p:sldId id="310" r:id="rId48"/>
    <p:sldId id="312" r:id="rId49"/>
    <p:sldId id="313" r:id="rId50"/>
    <p:sldId id="317" r:id="rId51"/>
    <p:sldId id="318" r:id="rId52"/>
    <p:sldId id="336" r:id="rId53"/>
    <p:sldId id="321" r:id="rId54"/>
    <p:sldId id="322" r:id="rId55"/>
    <p:sldId id="316" r:id="rId56"/>
    <p:sldId id="324" r:id="rId57"/>
    <p:sldId id="338" r:id="rId58"/>
    <p:sldId id="326" r:id="rId59"/>
    <p:sldId id="325" r:id="rId60"/>
    <p:sldId id="337" r:id="rId61"/>
    <p:sldId id="328" r:id="rId62"/>
    <p:sldId id="329" r:id="rId63"/>
    <p:sldId id="330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CC"/>
    <a:srgbClr val="0033CC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1" autoAdjust="0"/>
    <p:restoredTop sz="91272" autoAdjust="0"/>
  </p:normalViewPr>
  <p:slideViewPr>
    <p:cSldViewPr>
      <p:cViewPr varScale="1">
        <p:scale>
          <a:sx n="93" d="100"/>
          <a:sy n="93" d="100"/>
        </p:scale>
        <p:origin x="148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9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4" Type="http://schemas.openxmlformats.org/officeDocument/2006/relationships/image" Target="../media/image8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4" Type="http://schemas.openxmlformats.org/officeDocument/2006/relationships/image" Target="../media/image9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7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8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2/1/2018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6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intersect B, empty, A intersect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54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1. Pr(A) = 4/36</a:t>
            </a:r>
            <a:r>
              <a:rPr lang="en-US" baseline="0" dirty="0" smtClean="0"/>
              <a:t> = 1/9. </a:t>
            </a:r>
            <a:r>
              <a:rPr lang="en-US" dirty="0" smtClean="0"/>
              <a:t>(1, 4), (2, 3), (3, 2), (4, 1),</a:t>
            </a:r>
            <a:r>
              <a:rPr lang="en-US" baseline="0" dirty="0" smtClean="0"/>
              <a:t> </a:t>
            </a:r>
          </a:p>
          <a:p>
            <a:r>
              <a:rPr lang="en-US" baseline="0" dirty="0" smtClean="0"/>
              <a:t>Pr(B) = 6/36 = 1/6. (1, 6), (6, 1), (2, 5), (5, 2), (3, 4), (4, 3)</a:t>
            </a:r>
          </a:p>
          <a:p>
            <a:r>
              <a:rPr lang="en-US" baseline="0" dirty="0" smtClean="0"/>
              <a:t>Pr(AB) = 0</a:t>
            </a:r>
          </a:p>
          <a:p>
            <a:r>
              <a:rPr lang="en-US" baseline="0" dirty="0" smtClean="0"/>
              <a:t>Pr(AUB) = Pr(A) + Pr(B) – Pr(AB)</a:t>
            </a:r>
          </a:p>
          <a:p>
            <a:endParaRPr lang="en-US" baseline="0" dirty="0" smtClean="0"/>
          </a:p>
          <a:p>
            <a:r>
              <a:rPr lang="en-US" baseline="0" dirty="0" smtClean="0"/>
              <a:t>2. Pr(A) = ½</a:t>
            </a:r>
          </a:p>
          <a:p>
            <a:r>
              <a:rPr lang="en-US" baseline="0" dirty="0" smtClean="0"/>
              <a:t>Pr(B) = 1/6</a:t>
            </a:r>
          </a:p>
          <a:p>
            <a:r>
              <a:rPr lang="en-US" baseline="0" dirty="0" smtClean="0"/>
              <a:t>Pr(AB) = Pr(B) = 1/6</a:t>
            </a:r>
          </a:p>
          <a:p>
            <a:r>
              <a:rPr lang="en-US" baseline="0" dirty="0" smtClean="0"/>
              <a:t>Pr(AUB) = Pr(A)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86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Pr(A) = 1/13</a:t>
            </a:r>
          </a:p>
          <a:p>
            <a:r>
              <a:rPr lang="en-US" dirty="0" smtClean="0"/>
              <a:t>Pr(B)</a:t>
            </a:r>
            <a:r>
              <a:rPr lang="en-US" baseline="0" dirty="0" smtClean="0"/>
              <a:t> = ¼</a:t>
            </a:r>
          </a:p>
          <a:p>
            <a:r>
              <a:rPr lang="en-US" baseline="0" dirty="0" smtClean="0"/>
              <a:t>Pr(AB) = 1/52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11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(H,</a:t>
            </a:r>
            <a:r>
              <a:rPr lang="en-US" baseline="0" dirty="0" smtClean="0"/>
              <a:t> 1) (H, 2) (H, 3) (H, 4) (H, 5) (H, 6)</a:t>
            </a:r>
          </a:p>
          <a:p>
            <a:r>
              <a:rPr lang="en-US" baseline="0" dirty="0" smtClean="0"/>
              <a:t>(T, 1) (T, 2) (T, 3) (T, 4) (T, 5) (T, 6)</a:t>
            </a:r>
          </a:p>
          <a:p>
            <a:endParaRPr lang="en-US" baseline="0" dirty="0" smtClean="0"/>
          </a:p>
          <a:p>
            <a:r>
              <a:rPr lang="en-US" baseline="0" dirty="0" smtClean="0"/>
              <a:t>¼</a:t>
            </a:r>
          </a:p>
          <a:p>
            <a:r>
              <a:rPr lang="en-US" baseline="0" dirty="0" smtClean="0"/>
              <a:t>P(H) = ½</a:t>
            </a:r>
          </a:p>
          <a:p>
            <a:r>
              <a:rPr lang="en-US" baseline="0" dirty="0" smtClean="0"/>
              <a:t>P({1, 2, 3} =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68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A draw a black ball</a:t>
            </a:r>
          </a:p>
          <a:p>
            <a:r>
              <a:rPr lang="en-US" dirty="0" smtClean="0"/>
              <a:t>B</a:t>
            </a:r>
            <a:r>
              <a:rPr lang="en-US" baseline="0" dirty="0" smtClean="0"/>
              <a:t> drawing from the 1</a:t>
            </a:r>
            <a:r>
              <a:rPr lang="en-US" baseline="30000" dirty="0" smtClean="0"/>
              <a:t>st</a:t>
            </a:r>
            <a:r>
              <a:rPr lang="en-US" baseline="0" dirty="0" smtClean="0"/>
              <a:t> urn</a:t>
            </a:r>
          </a:p>
          <a:p>
            <a:endParaRPr lang="en-US" baseline="0" dirty="0" smtClean="0"/>
          </a:p>
          <a:p>
            <a:r>
              <a:rPr lang="en-US" baseline="0" dirty="0" smtClean="0"/>
              <a:t>P(B) = ½;</a:t>
            </a:r>
          </a:p>
          <a:p>
            <a:r>
              <a:rPr lang="en-US" baseline="0" dirty="0" smtClean="0"/>
              <a:t>P(A|B) = 7/10;</a:t>
            </a:r>
          </a:p>
          <a:p>
            <a:r>
              <a:rPr lang="en-US" baseline="0" dirty="0" smtClean="0"/>
              <a:t>P(</a:t>
            </a:r>
            <a:r>
              <a:rPr lang="en-US" baseline="0" dirty="0" err="1" smtClean="0"/>
              <a:t>A|Bc</a:t>
            </a:r>
            <a:r>
              <a:rPr lang="en-US" baseline="0" dirty="0" smtClean="0"/>
              <a:t>) = 2/20;</a:t>
            </a:r>
          </a:p>
          <a:p>
            <a:r>
              <a:rPr lang="en-US" baseline="0" dirty="0" smtClean="0"/>
              <a:t>P(A) = P(A|B)P(B)+P(</a:t>
            </a:r>
            <a:r>
              <a:rPr lang="en-US" baseline="0" dirty="0" err="1" smtClean="0"/>
              <a:t>A|Bc</a:t>
            </a:r>
            <a:r>
              <a:rPr lang="en-US" baseline="0" dirty="0" smtClean="0"/>
              <a:t>)P(</a:t>
            </a:r>
            <a:r>
              <a:rPr lang="en-US" baseline="0" dirty="0" err="1" smtClean="0"/>
              <a:t>Bc</a:t>
            </a:r>
            <a:r>
              <a:rPr lang="en-US" baseline="0" dirty="0" smtClean="0"/>
              <a:t>) = 7/10*1/2 + 2/10*1/2 = 9/20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05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A draw a black ball</a:t>
            </a:r>
          </a:p>
          <a:p>
            <a:r>
              <a:rPr lang="en-US" dirty="0" smtClean="0"/>
              <a:t>B</a:t>
            </a:r>
            <a:r>
              <a:rPr lang="en-US" baseline="0" dirty="0" smtClean="0"/>
              <a:t> drawing from the 1</a:t>
            </a:r>
            <a:r>
              <a:rPr lang="en-US" baseline="30000" dirty="0" smtClean="0"/>
              <a:t>st</a:t>
            </a:r>
            <a:r>
              <a:rPr lang="en-US" baseline="0" dirty="0" smtClean="0"/>
              <a:t> urn</a:t>
            </a:r>
          </a:p>
          <a:p>
            <a:endParaRPr lang="en-US" baseline="0" dirty="0" smtClean="0"/>
          </a:p>
          <a:p>
            <a:r>
              <a:rPr lang="en-US" baseline="0" dirty="0" smtClean="0"/>
              <a:t>P(B) = ½;</a:t>
            </a:r>
          </a:p>
          <a:p>
            <a:r>
              <a:rPr lang="en-US" baseline="0" dirty="0" smtClean="0"/>
              <a:t>P(A|B) = 7/10;</a:t>
            </a:r>
          </a:p>
          <a:p>
            <a:r>
              <a:rPr lang="en-US" baseline="0" dirty="0" smtClean="0"/>
              <a:t>P(</a:t>
            </a:r>
            <a:r>
              <a:rPr lang="en-US" baseline="0" dirty="0" err="1" smtClean="0"/>
              <a:t>A|Bc</a:t>
            </a:r>
            <a:r>
              <a:rPr lang="en-US" baseline="0" dirty="0" smtClean="0"/>
              <a:t>) = 2/20;</a:t>
            </a:r>
          </a:p>
          <a:p>
            <a:r>
              <a:rPr lang="en-US" baseline="0" dirty="0" smtClean="0"/>
              <a:t>P(A) = P(A|B)P(B)+P(</a:t>
            </a:r>
            <a:r>
              <a:rPr lang="en-US" baseline="0" dirty="0" err="1" smtClean="0"/>
              <a:t>A|Bc</a:t>
            </a:r>
            <a:r>
              <a:rPr lang="en-US" baseline="0" dirty="0" smtClean="0"/>
              <a:t>)P(</a:t>
            </a:r>
            <a:r>
              <a:rPr lang="en-US" baseline="0" dirty="0" err="1" smtClean="0"/>
              <a:t>Bc</a:t>
            </a:r>
            <a:r>
              <a:rPr lang="en-US" baseline="0" dirty="0" smtClean="0"/>
              <a:t>) = 7/10*1/2 + 2/10*1/2 = 9/20</a:t>
            </a:r>
          </a:p>
          <a:p>
            <a:endParaRPr lang="en-US" baseline="0" dirty="0" smtClean="0"/>
          </a:p>
          <a:p>
            <a:r>
              <a:rPr lang="en-US" baseline="0" dirty="0" smtClean="0"/>
              <a:t>P(B|A) = P(A|B)P(B)/P(A) = 7/20*1/2/(9/20) = 7/40/(18/40) = 7/18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839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B:</a:t>
            </a:r>
            <a:r>
              <a:rPr lang="en-US" baseline="0" dirty="0" smtClean="0"/>
              <a:t> bad</a:t>
            </a:r>
          </a:p>
          <a:p>
            <a:r>
              <a:rPr lang="en-US" baseline="0" dirty="0" smtClean="0"/>
              <a:t>A2: supplier 2</a:t>
            </a:r>
          </a:p>
          <a:p>
            <a:endParaRPr lang="en-US" baseline="0" dirty="0" smtClean="0"/>
          </a:p>
          <a:p>
            <a:r>
              <a:rPr lang="en-US" baseline="0" dirty="0" smtClean="0"/>
              <a:t>P(A|B)</a:t>
            </a:r>
          </a:p>
          <a:p>
            <a:endParaRPr lang="en-US" baseline="0" dirty="0" smtClean="0"/>
          </a:p>
          <a:p>
            <a:r>
              <a:rPr lang="en-US" baseline="0" dirty="0" smtClean="0"/>
              <a:t>P(B|A) = 0.1</a:t>
            </a:r>
          </a:p>
          <a:p>
            <a:r>
              <a:rPr lang="en-US" baseline="0" dirty="0" smtClean="0"/>
              <a:t>P(</a:t>
            </a:r>
            <a:r>
              <a:rPr lang="en-US" baseline="0" dirty="0" err="1" smtClean="0"/>
              <a:t>B|Ac</a:t>
            </a:r>
            <a:r>
              <a:rPr lang="en-US" baseline="0" dirty="0" smtClean="0"/>
              <a:t>) = 0.05</a:t>
            </a:r>
          </a:p>
          <a:p>
            <a:endParaRPr lang="en-US" baseline="0" dirty="0" smtClean="0"/>
          </a:p>
          <a:p>
            <a:r>
              <a:rPr lang="en-US" baseline="0" dirty="0" smtClean="0"/>
              <a:t>P(A) = 0.5</a:t>
            </a:r>
          </a:p>
          <a:p>
            <a:r>
              <a:rPr lang="en-US" baseline="0" dirty="0" smtClean="0"/>
              <a:t>P(Ac) = 0.5</a:t>
            </a:r>
          </a:p>
          <a:p>
            <a:endParaRPr lang="en-US" baseline="0" dirty="0" smtClean="0"/>
          </a:p>
          <a:p>
            <a:r>
              <a:rPr lang="en-US" baseline="0" dirty="0" smtClean="0"/>
              <a:t>P(B) = 0.05*0.25+0.1*0.25+ 0.2*0.25 +  0.15*0.25 = 0.125</a:t>
            </a:r>
          </a:p>
          <a:p>
            <a:endParaRPr lang="en-US" baseline="0" dirty="0" smtClean="0"/>
          </a:p>
          <a:p>
            <a:r>
              <a:rPr lang="en-US" baseline="0" dirty="0" smtClean="0"/>
              <a:t>P(A2|B) = 0.1*0.25/0.125 = 0.2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97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A: disease</a:t>
            </a:r>
          </a:p>
          <a:p>
            <a:r>
              <a:rPr lang="en-US" dirty="0" smtClean="0"/>
              <a:t>B1: positive</a:t>
            </a:r>
          </a:p>
          <a:p>
            <a:r>
              <a:rPr lang="en-US" dirty="0" smtClean="0"/>
              <a:t>B2: negative</a:t>
            </a:r>
          </a:p>
          <a:p>
            <a:endParaRPr lang="en-US" dirty="0" smtClean="0"/>
          </a:p>
          <a:p>
            <a:r>
              <a:rPr lang="en-US" dirty="0" smtClean="0"/>
              <a:t>Pr(A|B) = ?</a:t>
            </a:r>
          </a:p>
          <a:p>
            <a:endParaRPr lang="en-US" dirty="0" smtClean="0"/>
          </a:p>
          <a:p>
            <a:r>
              <a:rPr lang="en-US" dirty="0" smtClean="0"/>
              <a:t>Pr(B|A)</a:t>
            </a:r>
            <a:r>
              <a:rPr lang="en-US" baseline="0" dirty="0" smtClean="0"/>
              <a:t> = 0.95</a:t>
            </a:r>
          </a:p>
          <a:p>
            <a:r>
              <a:rPr lang="en-US" baseline="0" dirty="0" smtClean="0"/>
              <a:t>Pr(</a:t>
            </a:r>
            <a:r>
              <a:rPr lang="en-US" baseline="0" dirty="0" err="1" smtClean="0"/>
              <a:t>B|Ac</a:t>
            </a:r>
            <a:r>
              <a:rPr lang="en-US" baseline="0" dirty="0" smtClean="0"/>
              <a:t>) = 0.01</a:t>
            </a:r>
          </a:p>
          <a:p>
            <a:r>
              <a:rPr lang="en-US" baseline="0" dirty="0" smtClean="0"/>
              <a:t>Pr(A) = 0.005</a:t>
            </a:r>
          </a:p>
          <a:p>
            <a:endParaRPr lang="en-US" baseline="0" dirty="0" smtClean="0"/>
          </a:p>
          <a:p>
            <a:r>
              <a:rPr lang="en-US" baseline="0" dirty="0" smtClean="0"/>
              <a:t>Pr(B) = Pr(B|A)Pr(A) + Pr(</a:t>
            </a:r>
            <a:r>
              <a:rPr lang="en-US" baseline="0" dirty="0" err="1" smtClean="0"/>
              <a:t>B|Ac</a:t>
            </a:r>
            <a:r>
              <a:rPr lang="en-US" baseline="0" dirty="0" smtClean="0"/>
              <a:t>)Pr(Ac) = 0.95*0.005+0.01*0.995 = 0.0147</a:t>
            </a:r>
          </a:p>
          <a:p>
            <a:r>
              <a:rPr lang="en-US" baseline="0" dirty="0" smtClean="0"/>
              <a:t>Pr(A|B) = Pr(B|A)*Pr(A)/Pr(B) = (0.95*0.005)/0.0147 = 0.3231 = 32.31%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44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AcAcAA</a:t>
            </a:r>
            <a:r>
              <a:rPr lang="en-US" dirty="0" smtClean="0"/>
              <a:t>,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AcAAcA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AcAAAc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AAcAcA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AAcAAc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AAAcAc</a:t>
            </a:r>
            <a:endParaRPr lang="en-US" baseline="0" dirty="0" smtClean="0"/>
          </a:p>
          <a:p>
            <a:endParaRPr lang="en-US" baseline="0" dirty="0" smtClean="0"/>
          </a:p>
          <a:p>
            <a:r>
              <a:rPr lang="en-US" baseline="0" dirty="0" smtClean="0"/>
              <a:t>4!/(2!2!) = 24/4 =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367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53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 dirty="0" smtClean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png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7.png"/><Relationship Id="rId7" Type="http://schemas.openxmlformats.org/officeDocument/2006/relationships/image" Target="../media/image23.png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0.png"/><Relationship Id="rId1" Type="http://schemas.openxmlformats.org/officeDocument/2006/relationships/vmlDrawing" Target="../drawings/vmlDrawing4.vml"/><Relationship Id="rId11" Type="http://schemas.openxmlformats.org/officeDocument/2006/relationships/oleObject" Target="../embeddings/oleObject14.bin"/><Relationship Id="rId15" Type="http://schemas.openxmlformats.org/officeDocument/2006/relationships/image" Target="../media/image29.png"/><Relationship Id="rId10" Type="http://schemas.openxmlformats.org/officeDocument/2006/relationships/image" Target="../media/image26.png"/><Relationship Id="rId9" Type="http://schemas.openxmlformats.org/officeDocument/2006/relationships/image" Target="../media/image25.png"/><Relationship Id="rId1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2.png"/><Relationship Id="rId7" Type="http://schemas.openxmlformats.org/officeDocument/2006/relationships/image" Target="../media/image36.png"/><Relationship Id="rId12" Type="http://schemas.openxmlformats.org/officeDocument/2006/relationships/image" Target="../media/image3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2.png"/><Relationship Id="rId5" Type="http://schemas.openxmlformats.org/officeDocument/2006/relationships/image" Target="../media/image34.png"/><Relationship Id="rId10" Type="http://schemas.openxmlformats.org/officeDocument/2006/relationships/image" Target="../media/image31.pn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oleObject" Target="../embeddings/oleObject15.bin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4.wmf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48.png"/><Relationship Id="rId4" Type="http://schemas.openxmlformats.org/officeDocument/2006/relationships/image" Target="../media/image44.wmf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5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55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55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5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59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oleObject" Target="../embeddings/oleObject27.bin"/><Relationship Id="rId7" Type="http://schemas.openxmlformats.org/officeDocument/2006/relationships/image" Target="../media/image6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61.wmf"/><Relationship Id="rId9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80.png"/><Relationship Id="rId4" Type="http://schemas.openxmlformats.org/officeDocument/2006/relationships/image" Target="../media/image79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81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image" Target="../media/image89.png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8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4.wmf"/><Relationship Id="rId11" Type="http://schemas.openxmlformats.org/officeDocument/2006/relationships/image" Target="../media/image87.png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86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9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image" Target="../media/image97.png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9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2.wmf"/><Relationship Id="rId11" Type="http://schemas.openxmlformats.org/officeDocument/2006/relationships/image" Target="../media/image95.png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94.wmf"/><Relationship Id="rId4" Type="http://schemas.openxmlformats.org/officeDocument/2006/relationships/image" Target="../media/image91.wmf"/><Relationship Id="rId9" Type="http://schemas.openxmlformats.org/officeDocument/2006/relationships/oleObject" Target="../embeddings/oleObject39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9.wmf"/><Relationship Id="rId11" Type="http://schemas.openxmlformats.org/officeDocument/2006/relationships/image" Target="../media/image103.png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102.png"/><Relationship Id="rId4" Type="http://schemas.openxmlformats.org/officeDocument/2006/relationships/image" Target="../media/image98.wmf"/><Relationship Id="rId9" Type="http://schemas.openxmlformats.org/officeDocument/2006/relationships/image" Target="../media/image101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050.png"/><Relationship Id="rId5" Type="http://schemas.openxmlformats.org/officeDocument/2006/relationships/image" Target="../media/image107.wmf"/><Relationship Id="rId4" Type="http://schemas.openxmlformats.org/officeDocument/2006/relationships/oleObject" Target="../embeddings/oleObject43.bin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108.wmf"/><Relationship Id="rId4" Type="http://schemas.openxmlformats.org/officeDocument/2006/relationships/oleObject" Target="../embeddings/oleObject44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109.wmf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 dirty="0" smtClean="0"/>
              <a:t>ELEG 3143 Probability &amp; Stochastic Process</a:t>
            </a:r>
            <a:br>
              <a:rPr lang="en-US" sz="2400" dirty="0" smtClean="0"/>
            </a:br>
            <a:r>
              <a:rPr lang="en-US" dirty="0" smtClean="0"/>
              <a:t>Ch. 1 Probability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wuj@uark.edu</a:t>
            </a:r>
            <a:endParaRPr lang="en-US" sz="2200" dirty="0">
              <a:solidFill>
                <a:srgbClr val="000099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Applications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Set Theory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Experiments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Probability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Conditional probability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Independence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Bayes’ Formula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Bernoulli trials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APPLICARTIONS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Why probability?</a:t>
            </a:r>
          </a:p>
          <a:p>
            <a:pPr lvl="1"/>
            <a:r>
              <a:rPr lang="en-US" dirty="0" smtClean="0"/>
              <a:t>Most real world events have uncertain (or random) outcomes</a:t>
            </a:r>
          </a:p>
          <a:p>
            <a:pPr lvl="2"/>
            <a:r>
              <a:rPr lang="en-US" dirty="0" smtClean="0"/>
              <a:t>flipping a coin</a:t>
            </a:r>
          </a:p>
          <a:p>
            <a:pPr lvl="2"/>
            <a:r>
              <a:rPr lang="en-US" dirty="0" smtClean="0"/>
              <a:t>Tossing dices</a:t>
            </a:r>
          </a:p>
          <a:p>
            <a:pPr lvl="2"/>
            <a:r>
              <a:rPr lang="en-US" dirty="0" smtClean="0"/>
              <a:t>Football games</a:t>
            </a:r>
          </a:p>
          <a:p>
            <a:pPr lvl="2"/>
            <a:r>
              <a:rPr lang="en-US" dirty="0" smtClean="0"/>
              <a:t>Blackjack</a:t>
            </a:r>
          </a:p>
          <a:p>
            <a:pPr lvl="2"/>
            <a:r>
              <a:rPr lang="en-US" dirty="0" smtClean="0"/>
              <a:t>Expected lifetime of iPhone</a:t>
            </a:r>
          </a:p>
          <a:p>
            <a:pPr lvl="2"/>
            <a:r>
              <a:rPr lang="en-US" dirty="0" smtClean="0"/>
              <a:t>The actual resistance of a 100 Ohm resistor</a:t>
            </a:r>
          </a:p>
          <a:p>
            <a:pPr lvl="2"/>
            <a:r>
              <a:rPr lang="en-US" dirty="0" smtClean="0"/>
              <a:t>……</a:t>
            </a:r>
          </a:p>
          <a:p>
            <a:pPr lvl="1"/>
            <a:r>
              <a:rPr lang="en-US" dirty="0" smtClean="0"/>
              <a:t>How do we characterize these random events?</a:t>
            </a:r>
          </a:p>
          <a:p>
            <a:pPr lvl="1"/>
            <a:r>
              <a:rPr lang="en-US" dirty="0" smtClean="0"/>
              <a:t>Can we predict the outcome of a random event?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Probability Theory </a:t>
            </a:r>
          </a:p>
          <a:p>
            <a:pPr lvl="1"/>
            <a:r>
              <a:rPr lang="en-US" dirty="0"/>
              <a:t>provides a complete set of mathematical tools and theories that can accurately and precisely describe the statistical behaviors of the random phenomenon. </a:t>
            </a:r>
          </a:p>
          <a:p>
            <a:pPr lvl="1"/>
            <a:r>
              <a:rPr lang="en-US" dirty="0"/>
              <a:t>It is a branch of Mathematics</a:t>
            </a:r>
          </a:p>
          <a:p>
            <a:pPr lvl="1"/>
            <a:r>
              <a:rPr lang="en-US" dirty="0"/>
              <a:t>It has a wide rang of applications to Engineers.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</a:t>
            </a:fld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434724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Random input signals</a:t>
            </a:r>
          </a:p>
          <a:p>
            <a:pPr lvl="1"/>
            <a:r>
              <a:rPr lang="en-US" dirty="0" smtClean="0"/>
              <a:t>The input for a system might be random</a:t>
            </a:r>
          </a:p>
          <a:p>
            <a:pPr lvl="2"/>
            <a:r>
              <a:rPr lang="en-US" dirty="0" smtClean="0"/>
              <a:t>E.g. the number of vehicles passing through a certain check points as an input to a traffic control system (e.g. duration of traffic lights)</a:t>
            </a:r>
          </a:p>
          <a:p>
            <a:pPr lvl="2"/>
            <a:r>
              <a:rPr lang="en-US" dirty="0" smtClean="0"/>
              <a:t>E.g. temperature fluctuations as an input to a heating system</a:t>
            </a:r>
          </a:p>
          <a:p>
            <a:pPr lvl="2"/>
            <a:r>
              <a:rPr lang="en-US" dirty="0" smtClean="0"/>
              <a:t>E.g. Music signals as an input to your stereo system</a:t>
            </a:r>
          </a:p>
          <a:p>
            <a:r>
              <a:rPr lang="en-US" dirty="0" smtClean="0"/>
              <a:t>Random system characteristics</a:t>
            </a:r>
          </a:p>
          <a:p>
            <a:pPr lvl="1"/>
            <a:r>
              <a:rPr lang="en-US" dirty="0" smtClean="0"/>
              <a:t>The system itself has random characteristics</a:t>
            </a:r>
          </a:p>
          <a:p>
            <a:pPr lvl="2"/>
            <a:r>
              <a:rPr lang="en-US" dirty="0" smtClean="0"/>
              <a:t>E.g. The components inside a system has random values</a:t>
            </a:r>
          </a:p>
          <a:p>
            <a:pPr lvl="3"/>
            <a:r>
              <a:rPr lang="en-US" dirty="0" smtClean="0"/>
              <a:t>A 100 Ohm resistor might have an actual value of 101 Ohm</a:t>
            </a:r>
          </a:p>
          <a:p>
            <a:pPr lvl="2"/>
            <a:r>
              <a:rPr lang="en-US" dirty="0" smtClean="0"/>
              <a:t>E.g. </a:t>
            </a:r>
            <a:r>
              <a:rPr lang="en-US" dirty="0" smtClean="0">
                <a:solidFill>
                  <a:srgbClr val="FF0000"/>
                </a:solidFill>
              </a:rPr>
              <a:t>Noise</a:t>
            </a:r>
            <a:r>
              <a:rPr lang="en-US" dirty="0" smtClean="0"/>
              <a:t>: random electrical disturbance caused by the random movement of electronics</a:t>
            </a:r>
          </a:p>
          <a:p>
            <a:pPr lvl="3"/>
            <a:r>
              <a:rPr lang="en-US" dirty="0" smtClean="0"/>
              <a:t>It is present at all electrical systems</a:t>
            </a:r>
          </a:p>
          <a:p>
            <a:pPr lvl="3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</a:t>
            </a:fld>
            <a:endParaRPr lang="en-US" altLang="zh-CN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1219200" y="5181600"/>
            <a:ext cx="6765243" cy="1436132"/>
            <a:chOff x="1066800" y="2286000"/>
            <a:chExt cx="6765243" cy="1436132"/>
          </a:xfrm>
        </p:grpSpPr>
        <p:pic>
          <p:nvPicPr>
            <p:cNvPr id="6" name="Picture 3" descr="aoriginal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066800" y="2286000"/>
              <a:ext cx="1981200" cy="1036201"/>
            </a:xfrm>
            <a:prstGeom prst="rect">
              <a:avLst/>
            </a:prstGeom>
            <a:noFill/>
          </p:spPr>
        </p:pic>
        <p:pic>
          <p:nvPicPr>
            <p:cNvPr id="7" name="Picture 4" descr="anoise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715000" y="2286000"/>
              <a:ext cx="2117043" cy="1143000"/>
            </a:xfrm>
            <a:prstGeom prst="rect">
              <a:avLst/>
            </a:prstGeom>
            <a:noFill/>
          </p:spPr>
        </p:pic>
        <p:sp>
          <p:nvSpPr>
            <p:cNvPr id="8" name="Rectangle 7"/>
            <p:cNvSpPr/>
            <p:nvPr/>
          </p:nvSpPr>
          <p:spPr>
            <a:xfrm>
              <a:off x="3581400" y="2362200"/>
              <a:ext cx="16002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Electrical</a:t>
              </a:r>
            </a:p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System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AutoShape 8"/>
            <p:cNvSpPr>
              <a:spLocks noChangeArrowheads="1"/>
            </p:cNvSpPr>
            <p:nvPr/>
          </p:nvSpPr>
          <p:spPr bwMode="auto">
            <a:xfrm>
              <a:off x="3048000" y="2667000"/>
              <a:ext cx="533400" cy="152400"/>
            </a:xfrm>
            <a:prstGeom prst="rightArrow">
              <a:avLst>
                <a:gd name="adj1" fmla="val 50000"/>
                <a:gd name="adj2" fmla="val 84091"/>
              </a:avLst>
            </a:prstGeom>
            <a:solidFill>
              <a:srgbClr val="0000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" name="AutoShape 8"/>
            <p:cNvSpPr>
              <a:spLocks noChangeArrowheads="1"/>
            </p:cNvSpPr>
            <p:nvPr/>
          </p:nvSpPr>
          <p:spPr bwMode="auto">
            <a:xfrm>
              <a:off x="5181600" y="2667000"/>
              <a:ext cx="533400" cy="152400"/>
            </a:xfrm>
            <a:prstGeom prst="rightArrow">
              <a:avLst>
                <a:gd name="adj1" fmla="val 50000"/>
                <a:gd name="adj2" fmla="val 84091"/>
              </a:avLst>
            </a:prstGeom>
            <a:solidFill>
              <a:srgbClr val="0000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52600" y="3276600"/>
              <a:ext cx="679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input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53200" y="3352800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output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System reliability</a:t>
            </a:r>
          </a:p>
          <a:p>
            <a:pPr lvl="1"/>
            <a:r>
              <a:rPr lang="en-US" dirty="0" smtClean="0"/>
              <a:t>What is the expected life cycle of a given system?</a:t>
            </a:r>
          </a:p>
          <a:p>
            <a:pPr lvl="1"/>
            <a:r>
              <a:rPr lang="en-US" dirty="0" smtClean="0"/>
              <a:t>What is the probability of failure of a system?</a:t>
            </a:r>
          </a:p>
          <a:p>
            <a:pPr lvl="2"/>
            <a:r>
              <a:rPr lang="en-US" dirty="0" smtClean="0"/>
              <a:t>Warranty duration, insurance policy, etc. </a:t>
            </a:r>
          </a:p>
          <a:p>
            <a:r>
              <a:rPr lang="en-US" dirty="0" smtClean="0"/>
              <a:t>Random sampling</a:t>
            </a:r>
          </a:p>
          <a:p>
            <a:pPr lvl="1"/>
            <a:r>
              <a:rPr lang="en-US" dirty="0" smtClean="0"/>
              <a:t>It might be too costly to inspect every single elements</a:t>
            </a:r>
          </a:p>
          <a:p>
            <a:pPr lvl="1"/>
            <a:r>
              <a:rPr lang="en-US" dirty="0" smtClean="0"/>
              <a:t>Only sample a small population, then deduce the general behavior from the sample results</a:t>
            </a:r>
          </a:p>
          <a:p>
            <a:pPr lvl="2"/>
            <a:r>
              <a:rPr lang="en-US" dirty="0" smtClean="0"/>
              <a:t>E.g. survey </a:t>
            </a:r>
          </a:p>
          <a:p>
            <a:pPr lvl="2"/>
            <a:r>
              <a:rPr lang="en-US" dirty="0" smtClean="0"/>
              <a:t>E.g. product inspection for quality control</a:t>
            </a:r>
          </a:p>
          <a:p>
            <a:pPr lvl="1"/>
            <a:r>
              <a:rPr lang="en-US" dirty="0" smtClean="0"/>
              <a:t>How to design the random sampling process?</a:t>
            </a:r>
          </a:p>
          <a:p>
            <a:r>
              <a:rPr lang="en-US" dirty="0" smtClean="0"/>
              <a:t>Computer simulation</a:t>
            </a:r>
          </a:p>
          <a:p>
            <a:pPr lvl="1"/>
            <a:r>
              <a:rPr lang="en-US" dirty="0" smtClean="0"/>
              <a:t>A cost effective and efficient way to test the performance of a system</a:t>
            </a:r>
          </a:p>
          <a:p>
            <a:pPr lvl="1"/>
            <a:r>
              <a:rPr lang="en-US" dirty="0" smtClean="0"/>
              <a:t>Random inputs, random system parameters (e.g. random component value, random disturbance, …)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Applications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Set Theory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Experiments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Probability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Conditional probability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Independence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Bayes’ Formula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Bernoulli trials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THEORY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Set</a:t>
            </a:r>
          </a:p>
          <a:p>
            <a:pPr lvl="1"/>
            <a:r>
              <a:rPr lang="en-US" dirty="0" smtClean="0"/>
              <a:t>A collection of </a:t>
            </a:r>
            <a:r>
              <a:rPr lang="en-US" dirty="0" smtClean="0">
                <a:solidFill>
                  <a:srgbClr val="FF0000"/>
                </a:solidFill>
              </a:rPr>
              <a:t>elements</a:t>
            </a:r>
          </a:p>
          <a:p>
            <a:pPr lvl="1"/>
            <a:r>
              <a:rPr lang="en-US" dirty="0" smtClean="0"/>
              <a:t>Example:</a:t>
            </a:r>
          </a:p>
          <a:p>
            <a:pPr lvl="2"/>
            <a:r>
              <a:rPr lang="en-US" i="1" dirty="0" smtClean="0"/>
              <a:t>E</a:t>
            </a:r>
            <a:r>
              <a:rPr lang="en-US" dirty="0" smtClean="0"/>
              <a:t> is a set</a:t>
            </a:r>
          </a:p>
          <a:p>
            <a:pPr lvl="2"/>
            <a:r>
              <a:rPr lang="en-US" dirty="0" smtClean="0"/>
              <a:t>      is an element of the set </a:t>
            </a:r>
            <a:r>
              <a:rPr lang="en-US" i="1" dirty="0" smtClean="0"/>
              <a:t>E</a:t>
            </a:r>
          </a:p>
          <a:p>
            <a:pPr lvl="1"/>
            <a:r>
              <a:rPr lang="en-US" dirty="0" smtClean="0"/>
              <a:t>A subset of </a:t>
            </a:r>
            <a:r>
              <a:rPr lang="en-US" i="1" dirty="0" smtClean="0"/>
              <a:t>E</a:t>
            </a:r>
            <a:r>
              <a:rPr lang="en-US" dirty="0" smtClean="0"/>
              <a:t> is any set all of whose elements are also elements of </a:t>
            </a:r>
            <a:r>
              <a:rPr lang="en-US" i="1" dirty="0" smtClean="0"/>
              <a:t>E</a:t>
            </a:r>
          </a:p>
          <a:p>
            <a:pPr lvl="2"/>
            <a:r>
              <a:rPr lang="en-US" dirty="0" smtClean="0"/>
              <a:t>Example:</a:t>
            </a:r>
          </a:p>
          <a:p>
            <a:pPr lvl="2"/>
            <a:r>
              <a:rPr lang="en-US" i="1" dirty="0" smtClean="0"/>
              <a:t>                      </a:t>
            </a:r>
            <a:r>
              <a:rPr lang="en-US" dirty="0" smtClean="0"/>
              <a:t>is a subset of </a:t>
            </a:r>
            <a:r>
              <a:rPr lang="en-US" i="1" dirty="0" smtClean="0"/>
              <a:t>E,</a:t>
            </a:r>
          </a:p>
          <a:p>
            <a:pPr lvl="2"/>
            <a:r>
              <a:rPr lang="en-US" i="1" dirty="0" smtClean="0"/>
              <a:t>G = </a:t>
            </a:r>
            <a:r>
              <a:rPr lang="en-US" dirty="0" smtClean="0"/>
              <a:t>{1} is a subset of </a:t>
            </a:r>
            <a:r>
              <a:rPr lang="en-US" i="1" dirty="0" smtClean="0"/>
              <a:t>E,  </a:t>
            </a:r>
          </a:p>
          <a:p>
            <a:pPr lvl="2"/>
            <a:r>
              <a:rPr lang="en-US" i="1" dirty="0" smtClean="0"/>
              <a:t> </a:t>
            </a:r>
            <a:r>
              <a:rPr lang="en-US" dirty="0" smtClean="0"/>
              <a:t>Any set is a subset</a:t>
            </a:r>
            <a:r>
              <a:rPr lang="en-US" i="1" dirty="0" smtClean="0"/>
              <a:t> </a:t>
            </a:r>
            <a:r>
              <a:rPr lang="en-US" dirty="0" smtClean="0"/>
              <a:t>of itself</a:t>
            </a:r>
          </a:p>
          <a:p>
            <a:pPr lvl="1"/>
            <a:r>
              <a:rPr lang="en-US" dirty="0" smtClean="0"/>
              <a:t>Empty set: </a:t>
            </a:r>
          </a:p>
          <a:p>
            <a:pPr lvl="2"/>
            <a:r>
              <a:rPr lang="en-US" dirty="0" smtClean="0"/>
              <a:t>A set that does not have any element</a:t>
            </a:r>
          </a:p>
          <a:p>
            <a:pPr lvl="2"/>
            <a:r>
              <a:rPr lang="en-US" dirty="0" smtClean="0"/>
              <a:t>Empty set is a subset of any set</a:t>
            </a:r>
          </a:p>
          <a:p>
            <a:pPr lvl="1"/>
            <a:r>
              <a:rPr lang="en-US" dirty="0" smtClean="0"/>
              <a:t>Space </a:t>
            </a:r>
            <a:r>
              <a:rPr lang="en-US" i="1" dirty="0" smtClean="0"/>
              <a:t>S: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FF0000"/>
                </a:solidFill>
              </a:rPr>
              <a:t>largest set </a:t>
            </a:r>
            <a:r>
              <a:rPr lang="en-US" dirty="0" smtClean="0"/>
              <a:t>of interests for a given application</a:t>
            </a:r>
          </a:p>
          <a:p>
            <a:pPr lvl="2"/>
            <a:r>
              <a:rPr lang="en-US" dirty="0" smtClean="0"/>
              <a:t>E.g. toss a coin, S ={H, T}</a:t>
            </a:r>
          </a:p>
          <a:p>
            <a:pPr lvl="2"/>
            <a:r>
              <a:rPr lang="en-US" dirty="0" smtClean="0"/>
              <a:t>E.g. throw a die, S = {1, 2, 3, 4, 5, 6}</a:t>
            </a:r>
          </a:p>
          <a:p>
            <a:pPr lvl="2"/>
            <a:endParaRPr lang="en-US" dirty="0" smtClean="0"/>
          </a:p>
          <a:p>
            <a:pPr lvl="2"/>
            <a:endParaRPr lang="en-US" i="1" dirty="0" smtClean="0"/>
          </a:p>
          <a:p>
            <a:pPr lvl="2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8</a:t>
            </a:fld>
            <a:endParaRPr lang="en-US" altLang="zh-CN" dirty="0" smtClean="0"/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2514600" y="1600200"/>
          <a:ext cx="1983154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7" name="Equation" r:id="rId3" imgW="1180800" imgH="228600" progId="Equation.3">
                  <p:embed/>
                </p:oleObj>
              </mc:Choice>
              <mc:Fallback>
                <p:oleObj name="Equation" r:id="rId3" imgW="118080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600200"/>
                        <a:ext cx="1983154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1828800" y="2209800"/>
          <a:ext cx="3619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8" name="Equation" r:id="rId5" imgW="215640" imgH="228600" progId="Equation.3">
                  <p:embed/>
                </p:oleObj>
              </mc:Choice>
              <mc:Fallback>
                <p:oleObj name="Equation" r:id="rId5" imgW="21564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209800"/>
                        <a:ext cx="3619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2895600" y="2895600"/>
          <a:ext cx="170815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9" name="Equation" r:id="rId7" imgW="1015920" imgH="203040" progId="Equation.3">
                  <p:embed/>
                </p:oleObj>
              </mc:Choice>
              <mc:Fallback>
                <p:oleObj name="Equation" r:id="rId7" imgW="1015920" imgH="203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895600"/>
                        <a:ext cx="1708150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2"/>
          <p:cNvGraphicFramePr>
            <a:graphicFrameLocks noChangeAspect="1"/>
          </p:cNvGraphicFramePr>
          <p:nvPr/>
        </p:nvGraphicFramePr>
        <p:xfrm>
          <a:off x="1828800" y="3276600"/>
          <a:ext cx="11525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0" name="Equation" r:id="rId9" imgW="685800" imgH="203040" progId="Equation.3">
                  <p:embed/>
                </p:oleObj>
              </mc:Choice>
              <mc:Fallback>
                <p:oleObj name="Equation" r:id="rId9" imgW="68580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276600"/>
                        <a:ext cx="1152525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084358"/>
              </p:ext>
            </p:extLst>
          </p:nvPr>
        </p:nvGraphicFramePr>
        <p:xfrm>
          <a:off x="4876800" y="3213101"/>
          <a:ext cx="747712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1" name="Equation" r:id="rId11" imgW="444240" imgH="164880" progId="Equation.3">
                  <p:embed/>
                </p:oleObj>
              </mc:Choice>
              <mc:Fallback>
                <p:oleObj name="Equation" r:id="rId11" imgW="444240" imgH="1648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213101"/>
                        <a:ext cx="747712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5700705"/>
              </p:ext>
            </p:extLst>
          </p:nvPr>
        </p:nvGraphicFramePr>
        <p:xfrm>
          <a:off x="4890406" y="3548857"/>
          <a:ext cx="747713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2" name="Equation" r:id="rId13" imgW="444240" imgH="177480" progId="Equation.3">
                  <p:embed/>
                </p:oleObj>
              </mc:Choice>
              <mc:Fallback>
                <p:oleObj name="Equation" r:id="rId13" imgW="444240" imgH="177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0406" y="3548857"/>
                        <a:ext cx="747713" cy="296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"/>
          <p:cNvGraphicFramePr>
            <a:graphicFrameLocks noChangeAspect="1"/>
          </p:cNvGraphicFramePr>
          <p:nvPr/>
        </p:nvGraphicFramePr>
        <p:xfrm>
          <a:off x="4876800" y="3906838"/>
          <a:ext cx="7270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3" name="Equation" r:id="rId15" imgW="431640" imgH="164880" progId="Equation.3">
                  <p:embed/>
                </p:oleObj>
              </mc:Choice>
              <mc:Fallback>
                <p:oleObj name="Equation" r:id="rId15" imgW="431640" imgH="1648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906838"/>
                        <a:ext cx="727075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460646"/>
              </p:ext>
            </p:extLst>
          </p:nvPr>
        </p:nvGraphicFramePr>
        <p:xfrm>
          <a:off x="2590800" y="4191000"/>
          <a:ext cx="3048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4" name="Equation" r:id="rId17" imgW="126720" imgH="203040" progId="Equation.3">
                  <p:embed/>
                </p:oleObj>
              </mc:Choice>
              <mc:Fallback>
                <p:oleObj name="Equation" r:id="rId17" imgW="126720" imgH="2030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191000"/>
                        <a:ext cx="304800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/>
          <p:cNvGraphicFramePr>
            <a:graphicFrameLocks noChangeAspect="1"/>
          </p:cNvGraphicFramePr>
          <p:nvPr/>
        </p:nvGraphicFramePr>
        <p:xfrm>
          <a:off x="4953000" y="4876800"/>
          <a:ext cx="9747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5" name="Equation" r:id="rId19" imgW="406080" imgH="203040" progId="Equation.3">
                  <p:embed/>
                </p:oleObj>
              </mc:Choice>
              <mc:Fallback>
                <p:oleObj name="Equation" r:id="rId19" imgW="40608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876800"/>
                        <a:ext cx="974725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THEORY: VENN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Venn diagram</a:t>
            </a:r>
          </a:p>
          <a:p>
            <a:pPr lvl="1"/>
            <a:r>
              <a:rPr lang="en-US" dirty="0" smtClean="0"/>
              <a:t>A geometric representation, where the space S is represented by a square and the sets are represented by closed plane figures inside the square. </a:t>
            </a:r>
          </a:p>
          <a:p>
            <a:pPr lvl="1"/>
            <a:r>
              <a:rPr lang="en-US" dirty="0" smtClean="0"/>
              <a:t>E.g.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If                 and                , then </a:t>
            </a:r>
            <a:r>
              <a:rPr lang="en-US" i="1" dirty="0" smtClean="0"/>
              <a:t>A</a:t>
            </a:r>
            <a:r>
              <a:rPr lang="en-US" dirty="0" smtClean="0"/>
              <a:t> = </a:t>
            </a:r>
            <a:r>
              <a:rPr lang="en-US" i="1" dirty="0" smtClean="0"/>
              <a:t>B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9</a:t>
            </a:fld>
            <a:endParaRPr lang="en-US" altLang="zh-CN" dirty="0" smtClean="0"/>
          </a:p>
        </p:txBody>
      </p:sp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2057400" y="1905000"/>
          <a:ext cx="1195387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1" name="Equation" r:id="rId3" imgW="711000" imgH="177480" progId="Equation.3">
                  <p:embed/>
                </p:oleObj>
              </mc:Choice>
              <mc:Fallback>
                <p:oleObj name="Equation" r:id="rId3" imgW="711000" imgH="177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05000"/>
                        <a:ext cx="1195387" cy="296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3886200" y="2057400"/>
            <a:ext cx="2286000" cy="1828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114800" y="2286000"/>
            <a:ext cx="1905000" cy="1524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267200" y="2590800"/>
            <a:ext cx="1447800" cy="914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495800" y="2743200"/>
            <a:ext cx="990600" cy="533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876800" y="281940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181600" y="312420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334000" y="335280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791200" y="21336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</a:t>
            </a:r>
            <a:endParaRPr lang="en-US" dirty="0"/>
          </a:p>
        </p:txBody>
      </p:sp>
      <p:graphicFrame>
        <p:nvGraphicFramePr>
          <p:cNvPr id="14" name="Object 2"/>
          <p:cNvGraphicFramePr>
            <a:graphicFrameLocks noChangeAspect="1"/>
          </p:cNvGraphicFramePr>
          <p:nvPr/>
        </p:nvGraphicFramePr>
        <p:xfrm>
          <a:off x="1752600" y="4495800"/>
          <a:ext cx="727075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2" name="Equation" r:id="rId5" imgW="431640" imgH="164880" progId="Equation.3">
                  <p:embed/>
                </p:oleObj>
              </mc:Choice>
              <mc:Fallback>
                <p:oleObj name="Equation" r:id="rId5" imgW="431640" imgH="1648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495800"/>
                        <a:ext cx="727075" cy="274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"/>
          <p:cNvGraphicFramePr>
            <a:graphicFrameLocks noChangeAspect="1"/>
          </p:cNvGraphicFramePr>
          <p:nvPr/>
        </p:nvGraphicFramePr>
        <p:xfrm>
          <a:off x="3048000" y="4495800"/>
          <a:ext cx="727075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3" name="Equation" r:id="rId7" imgW="431640" imgH="164880" progId="Equation.3">
                  <p:embed/>
                </p:oleObj>
              </mc:Choice>
              <mc:Fallback>
                <p:oleObj name="Equation" r:id="rId7" imgW="431640" imgH="1648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95800"/>
                        <a:ext cx="727075" cy="274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/>
        </p:nvSpPr>
        <p:spPr>
          <a:xfrm>
            <a:off x="5334000" y="4648200"/>
            <a:ext cx="2286000" cy="1463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486400" y="4800600"/>
            <a:ext cx="1905000" cy="12192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715000" y="5410200"/>
            <a:ext cx="55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A, B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THEORY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Union (sum)</a:t>
                </a:r>
              </a:p>
              <a:p>
                <a:pPr lvl="1"/>
                <a:r>
                  <a:rPr lang="en-US" dirty="0" smtClean="0"/>
                  <a:t>The union of two sets A and B is a set consisting of all the elements from A or B or both</a:t>
                </a:r>
              </a:p>
              <a:p>
                <a:pPr lvl="1"/>
                <a:r>
                  <a:rPr lang="en-US" dirty="0" smtClean="0"/>
                  <a:t>Denoted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Associate law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 smtClean="0"/>
                  <a:t>)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Commutative law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	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Properties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 smtClean="0"/>
              </a:p>
              <a:p>
                <a:pPr lvl="1"/>
                <a:endParaRPr lang="en-US" dirty="0" smtClean="0"/>
              </a:p>
              <a:p>
                <a:pPr lvl="1"/>
                <a:endParaRPr lang="en-US" dirty="0" smtClean="0"/>
              </a:p>
              <a:p>
                <a:pPr lvl="1"/>
                <a:endParaRPr lang="en-US" dirty="0" smtClean="0"/>
              </a:p>
              <a:p>
                <a:pPr lvl="1">
                  <a:buNone/>
                </a:pPr>
                <a:r>
                  <a:rPr lang="en-US" dirty="0" smtClean="0"/>
                  <a:t>        If               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 smtClean="0"/>
              </a:p>
              <a:p>
                <a:pPr lvl="1">
                  <a:buNone/>
                </a:pPr>
                <a:endParaRPr lang="en-US" dirty="0" smtClean="0"/>
              </a:p>
              <a:p>
                <a:pPr lvl="1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706" t="-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10</a:t>
            </a:fld>
            <a:endParaRPr lang="en-US" altLang="zh-CN" dirty="0" smtClean="0"/>
          </a:p>
        </p:txBody>
      </p:sp>
      <p:sp>
        <p:nvSpPr>
          <p:cNvPr id="6" name="Rectangle 5"/>
          <p:cNvSpPr/>
          <p:nvPr/>
        </p:nvSpPr>
        <p:spPr>
          <a:xfrm>
            <a:off x="6629400" y="1981200"/>
            <a:ext cx="2286000" cy="198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781800" y="2133600"/>
            <a:ext cx="1143000" cy="1651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010400" y="2743199"/>
            <a:ext cx="555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391400" y="2133600"/>
            <a:ext cx="1447800" cy="1651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153400" y="27432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629400" y="2057400"/>
            <a:ext cx="555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</a:t>
            </a:r>
            <a:endParaRPr lang="en-US" dirty="0"/>
          </a:p>
        </p:txBody>
      </p:sp>
      <p:graphicFrame>
        <p:nvGraphicFramePr>
          <p:cNvPr id="18" name="Object 2"/>
          <p:cNvGraphicFramePr>
            <a:graphicFrameLocks noChangeAspect="1"/>
          </p:cNvGraphicFramePr>
          <p:nvPr/>
        </p:nvGraphicFramePr>
        <p:xfrm>
          <a:off x="1905000" y="5181600"/>
          <a:ext cx="725488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4" name="Equation" r:id="rId4" imgW="431640" imgH="164880" progId="Equation.3">
                  <p:embed/>
                </p:oleObj>
              </mc:Choice>
              <mc:Fallback>
                <p:oleObj name="Equation" r:id="rId4" imgW="431640" imgH="1648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181600"/>
                        <a:ext cx="725488" cy="27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44656" y="4218089"/>
                <a:ext cx="14923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56" y="4218089"/>
                <a:ext cx="1492395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044656" y="4647055"/>
                <a:ext cx="15063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56" y="4647055"/>
                <a:ext cx="1506310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THEORY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Intersection (product)</a:t>
            </a:r>
          </a:p>
          <a:p>
            <a:pPr lvl="1"/>
            <a:r>
              <a:rPr lang="en-US" dirty="0" smtClean="0"/>
              <a:t>The intersection of two sets is the set consisting of all the elements from both sets.  </a:t>
            </a:r>
          </a:p>
          <a:p>
            <a:pPr lvl="1"/>
            <a:r>
              <a:rPr lang="en-US" dirty="0" smtClean="0"/>
              <a:t>Denoted as</a:t>
            </a:r>
          </a:p>
          <a:p>
            <a:pPr lvl="1"/>
            <a:r>
              <a:rPr lang="en-US" dirty="0" smtClean="0"/>
              <a:t>Associative law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Commutative law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Properties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/>
              <a:t>	  if              ,</a:t>
            </a:r>
          </a:p>
          <a:p>
            <a:pPr lvl="1"/>
            <a:r>
              <a:rPr lang="en-US" dirty="0" smtClean="0"/>
              <a:t>Mutually exclusive (disjoint)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i="1" dirty="0" smtClean="0"/>
              <a:t>A</a:t>
            </a:r>
            <a:r>
              <a:rPr lang="en-US" dirty="0" smtClean="0"/>
              <a:t> and </a:t>
            </a:r>
            <a:r>
              <a:rPr lang="en-US" i="1" dirty="0" smtClean="0"/>
              <a:t>B</a:t>
            </a:r>
            <a:r>
              <a:rPr lang="en-US" dirty="0" smtClean="0"/>
              <a:t> are mutually exclusive if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11</a:t>
            </a:fld>
            <a:endParaRPr lang="en-US" altLang="zh-CN" dirty="0" smtClean="0"/>
          </a:p>
        </p:txBody>
      </p:sp>
      <p:grpSp>
        <p:nvGrpSpPr>
          <p:cNvPr id="13" name="Group 12"/>
          <p:cNvGrpSpPr/>
          <p:nvPr/>
        </p:nvGrpSpPr>
        <p:grpSpPr>
          <a:xfrm>
            <a:off x="6629400" y="1676400"/>
            <a:ext cx="2286000" cy="1981200"/>
            <a:chOff x="6629400" y="1981200"/>
            <a:chExt cx="2286000" cy="1981200"/>
          </a:xfrm>
        </p:grpSpPr>
        <p:sp>
          <p:nvSpPr>
            <p:cNvPr id="7" name="Rectangle 6"/>
            <p:cNvSpPr/>
            <p:nvPr/>
          </p:nvSpPr>
          <p:spPr>
            <a:xfrm>
              <a:off x="6629400" y="1981200"/>
              <a:ext cx="2286000" cy="1981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6781800" y="2133600"/>
              <a:ext cx="1143000" cy="1651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010400" y="2743199"/>
              <a:ext cx="555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391400" y="2133600"/>
              <a:ext cx="1447800" cy="1651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153400" y="27432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29400" y="2057400"/>
              <a:ext cx="555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</a:t>
              </a:r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667000" y="1838365"/>
                <a:ext cx="8038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1838365"/>
                <a:ext cx="803873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560213" y="3135313"/>
                <a:ext cx="16819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213" y="3135313"/>
                <a:ext cx="1681935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399736" y="2512774"/>
                <a:ext cx="45278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)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736" y="2512774"/>
                <a:ext cx="4527843" cy="369332"/>
              </a:xfrm>
              <a:prstGeom prst="rect">
                <a:avLst/>
              </a:prstGeom>
              <a:blipFill rotWithShape="0">
                <a:blip r:embed="rId9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082602" y="3822694"/>
                <a:ext cx="14923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602" y="3822694"/>
                <a:ext cx="1492395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911971"/>
              </p:ext>
            </p:extLst>
          </p:nvPr>
        </p:nvGraphicFramePr>
        <p:xfrm>
          <a:off x="1826077" y="5160279"/>
          <a:ext cx="725488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1" name="Equation" r:id="rId11" imgW="431640" imgH="164880" progId="Equation.3">
                  <p:embed/>
                </p:oleObj>
              </mc:Choice>
              <mc:Fallback>
                <p:oleObj name="Equation" r:id="rId11" imgW="43164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6077" y="5160279"/>
                        <a:ext cx="725488" cy="27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082601" y="4132136"/>
                <a:ext cx="14923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601" y="4132136"/>
                <a:ext cx="1492395" cy="36933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082601" y="4510075"/>
                <a:ext cx="15063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601" y="4510075"/>
                <a:ext cx="1506310" cy="369332"/>
              </a:xfrm>
              <a:prstGeom prst="rect">
                <a:avLst/>
              </a:prstGeom>
              <a:blipFill rotWithShape="0">
                <a:blip r:embed="rId1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950313" y="5087369"/>
                <a:ext cx="10411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313" y="5087369"/>
                <a:ext cx="1041119" cy="369332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4572000" y="5791200"/>
                <a:ext cx="12672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791200"/>
                <a:ext cx="1267270" cy="369332"/>
              </a:xfrm>
              <a:prstGeom prst="rect">
                <a:avLst/>
              </a:prstGeom>
              <a:blipFill rotWithShape="0">
                <a:blip r:embed="rId1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THEORY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Intersection (Cont’d)</a:t>
                </a:r>
              </a:p>
              <a:p>
                <a:pPr lvl="1"/>
                <a:r>
                  <a:rPr lang="en-US" dirty="0" smtClean="0"/>
                  <a:t> </a:t>
                </a:r>
              </a:p>
              <a:p>
                <a:pPr lvl="1"/>
                <a:r>
                  <a:rPr lang="en-US" dirty="0" smtClean="0"/>
                  <a:t> </a:t>
                </a:r>
              </a:p>
              <a:p>
                <a:pPr lvl="1"/>
                <a:r>
                  <a:rPr lang="en-US" dirty="0"/>
                  <a:t> </a:t>
                </a:r>
                <a:endParaRPr lang="en-US" dirty="0" smtClean="0"/>
              </a:p>
              <a:p>
                <a:r>
                  <a:rPr lang="en-US" dirty="0" smtClean="0"/>
                  <a:t>Complement</a:t>
                </a:r>
              </a:p>
              <a:p>
                <a:pPr lvl="1"/>
                <a:r>
                  <a:rPr lang="en-US" dirty="0" smtClean="0"/>
                  <a:t>The complement of set </a:t>
                </a:r>
                <a:r>
                  <a:rPr lang="en-US" i="1" dirty="0" smtClean="0"/>
                  <a:t>A</a:t>
                </a:r>
                <a:r>
                  <a:rPr lang="en-US" dirty="0" smtClean="0"/>
                  <a:t> is a set containing all the </a:t>
                </a:r>
              </a:p>
              <a:p>
                <a:pPr lvl="1">
                  <a:buNone/>
                </a:pPr>
                <a:r>
                  <a:rPr lang="en-US" dirty="0" smtClean="0"/>
                  <a:t>	elements of </a:t>
                </a:r>
                <a:r>
                  <a:rPr lang="en-US" i="1" dirty="0" smtClean="0"/>
                  <a:t>S</a:t>
                </a:r>
                <a:r>
                  <a:rPr lang="en-US" dirty="0" smtClean="0"/>
                  <a:t> that are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not</a:t>
                </a:r>
                <a:r>
                  <a:rPr lang="en-US" dirty="0" smtClean="0"/>
                  <a:t> in </a:t>
                </a:r>
                <a:r>
                  <a:rPr lang="en-US" i="1" dirty="0" smtClean="0"/>
                  <a:t>A</a:t>
                </a:r>
                <a:r>
                  <a:rPr lang="en-US" dirty="0" smtClean="0"/>
                  <a:t>.</a:t>
                </a:r>
              </a:p>
              <a:p>
                <a:pPr lvl="1"/>
                <a:r>
                  <a:rPr lang="en-US" dirty="0" smtClean="0"/>
                  <a:t>Denoted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Properties</a:t>
                </a:r>
              </a:p>
              <a:p>
                <a:pPr lvl="2">
                  <a:buNone/>
                </a:pPr>
                <a:endParaRPr lang="en-US" dirty="0" smtClean="0"/>
              </a:p>
              <a:p>
                <a:pPr lvl="1">
                  <a:buNone/>
                </a:pPr>
                <a:endParaRPr lang="en-US" dirty="0" smtClean="0"/>
              </a:p>
              <a:p>
                <a:pPr lvl="1">
                  <a:buNone/>
                </a:pPr>
                <a:r>
                  <a:rPr lang="en-US" dirty="0" smtClean="0"/>
                  <a:t>  </a:t>
                </a:r>
              </a:p>
              <a:p>
                <a:pPr lvl="1"/>
                <a:endParaRPr lang="en-US" dirty="0" smtClean="0"/>
              </a:p>
              <a:p>
                <a:pPr lvl="1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06" t="-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12</a:t>
            </a:fld>
            <a:endParaRPr lang="en-US" altLang="zh-CN" dirty="0" smtClean="0"/>
          </a:p>
        </p:txBody>
      </p:sp>
      <p:grpSp>
        <p:nvGrpSpPr>
          <p:cNvPr id="6" name="Group 5"/>
          <p:cNvGrpSpPr/>
          <p:nvPr/>
        </p:nvGrpSpPr>
        <p:grpSpPr>
          <a:xfrm>
            <a:off x="6553200" y="914400"/>
            <a:ext cx="2286000" cy="1981200"/>
            <a:chOff x="5943600" y="4191000"/>
            <a:chExt cx="2286000" cy="1981200"/>
          </a:xfrm>
        </p:grpSpPr>
        <p:sp>
          <p:nvSpPr>
            <p:cNvPr id="7" name="Rectangle 6"/>
            <p:cNvSpPr/>
            <p:nvPr/>
          </p:nvSpPr>
          <p:spPr>
            <a:xfrm>
              <a:off x="5943600" y="4191000"/>
              <a:ext cx="2286000" cy="1981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6096000" y="4343400"/>
              <a:ext cx="1143000" cy="10668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248400" y="4495800"/>
              <a:ext cx="555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6705600" y="4343400"/>
              <a:ext cx="1447800" cy="13716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67600" y="46482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43600" y="4267200"/>
              <a:ext cx="555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</a:t>
              </a:r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6096000" y="4876800"/>
              <a:ext cx="1143000" cy="1219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77000" y="54864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553200" y="4038600"/>
            <a:ext cx="2286000" cy="1981200"/>
            <a:chOff x="6629400" y="1981200"/>
            <a:chExt cx="2286000" cy="1981200"/>
          </a:xfrm>
        </p:grpSpPr>
        <p:sp>
          <p:nvSpPr>
            <p:cNvPr id="18" name="Rectangle 17"/>
            <p:cNvSpPr/>
            <p:nvPr/>
          </p:nvSpPr>
          <p:spPr>
            <a:xfrm>
              <a:off x="6629400" y="1981200"/>
              <a:ext cx="2286000" cy="1981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6781800" y="2133600"/>
              <a:ext cx="1143000" cy="1651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010400" y="2743199"/>
              <a:ext cx="555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153400" y="27432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Ā</a:t>
              </a:r>
              <a:endParaRPr 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629400" y="2057400"/>
              <a:ext cx="555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274264"/>
            <a:ext cx="3555546" cy="3121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619339" y="3930134"/>
                <a:ext cx="7411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339" y="3930134"/>
                <a:ext cx="741165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600965" y="4279410"/>
                <a:ext cx="7082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965" y="4279410"/>
                <a:ext cx="708271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1581008" y="4640114"/>
                <a:ext cx="10617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08" y="4640114"/>
                <a:ext cx="1061766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581008" y="5035785"/>
                <a:ext cx="12286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∪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08" y="5035785"/>
                <a:ext cx="1228670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1600965" y="5454885"/>
                <a:ext cx="12286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∩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965" y="5454885"/>
                <a:ext cx="1228670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4414" y="4824780"/>
            <a:ext cx="276225" cy="2667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19339" y="1612750"/>
            <a:ext cx="3206348" cy="315379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19339" y="1927059"/>
            <a:ext cx="3153370" cy="306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THEORY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Complement (Cont’d)</a:t>
            </a:r>
          </a:p>
          <a:p>
            <a:pPr lvl="1"/>
            <a:r>
              <a:rPr lang="en-US" dirty="0" smtClean="0"/>
              <a:t>If              , then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err="1" smtClean="0"/>
              <a:t>DeMorgan’s</a:t>
            </a:r>
            <a:r>
              <a:rPr lang="en-US" dirty="0" smtClean="0"/>
              <a:t> Laws</a:t>
            </a:r>
          </a:p>
          <a:p>
            <a:pPr lvl="1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13</a:t>
            </a:fld>
            <a:endParaRPr lang="en-US" altLang="zh-CN" dirty="0" smtClean="0"/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1676400" y="1295400"/>
          <a:ext cx="73025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6" name="Equation" r:id="rId3" imgW="431640" imgH="164880" progId="Equation.3">
                  <p:embed/>
                </p:oleObj>
              </mc:Choice>
              <mc:Fallback>
                <p:oleObj name="Equation" r:id="rId3" imgW="431640" imgH="1648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295400"/>
                        <a:ext cx="730250" cy="27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123595" y="1268968"/>
                <a:ext cx="4959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595" y="1268968"/>
                <a:ext cx="495905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759985" y="1247259"/>
                <a:ext cx="48102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985" y="1247259"/>
                <a:ext cx="481029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" y="3043237"/>
            <a:ext cx="2305050" cy="3905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" y="3544887"/>
            <a:ext cx="2305050" cy="3905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1512" y="3616324"/>
            <a:ext cx="200025" cy="247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7247" y="3614737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THEORY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Difference</a:t>
            </a:r>
          </a:p>
          <a:p>
            <a:pPr lvl="1"/>
            <a:r>
              <a:rPr lang="en-US" dirty="0" smtClean="0"/>
              <a:t>The difference of two sets, </a:t>
            </a:r>
            <a:r>
              <a:rPr lang="en-US" i="1" dirty="0" smtClean="0"/>
              <a:t>A-B</a:t>
            </a:r>
            <a:r>
              <a:rPr lang="en-US" dirty="0" smtClean="0"/>
              <a:t>, is a set consisting of the elements of A that are not in B. </a:t>
            </a:r>
          </a:p>
          <a:p>
            <a:pPr lvl="1"/>
            <a:endParaRPr lang="en-US" i="1" dirty="0" smtClean="0"/>
          </a:p>
          <a:p>
            <a:pPr lvl="1"/>
            <a:endParaRPr lang="en-US" i="1" dirty="0" smtClean="0"/>
          </a:p>
          <a:p>
            <a:pPr lvl="1"/>
            <a:r>
              <a:rPr lang="en-US" dirty="0" smtClean="0"/>
              <a:t>Examples</a:t>
            </a:r>
          </a:p>
          <a:p>
            <a:pPr lvl="1">
              <a:buNone/>
            </a:pPr>
            <a:endParaRPr lang="en-US" dirty="0" smtClean="0"/>
          </a:p>
          <a:p>
            <a:pPr lvl="2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14</a:t>
            </a:fld>
            <a:endParaRPr lang="en-US" altLang="zh-CN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6629400" y="1676400"/>
            <a:ext cx="2286000" cy="1981200"/>
            <a:chOff x="6629400" y="1981200"/>
            <a:chExt cx="2286000" cy="1981200"/>
          </a:xfrm>
        </p:grpSpPr>
        <p:sp>
          <p:nvSpPr>
            <p:cNvPr id="6" name="Rectangle 5"/>
            <p:cNvSpPr/>
            <p:nvPr/>
          </p:nvSpPr>
          <p:spPr>
            <a:xfrm>
              <a:off x="6629400" y="1981200"/>
              <a:ext cx="2286000" cy="1981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781800" y="2133600"/>
              <a:ext cx="1143000" cy="1651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934200" y="2667000"/>
              <a:ext cx="555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7391400" y="2133600"/>
              <a:ext cx="1447800" cy="1651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53400" y="2743200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629400" y="2057400"/>
              <a:ext cx="555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</a:t>
              </a:r>
              <a:endParaRPr lang="en-US" dirty="0"/>
            </a:p>
          </p:txBody>
        </p:sp>
      </p:grpSp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1905000" y="4343400"/>
          <a:ext cx="8159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3" name="Equation" r:id="rId3" imgW="482400" imgH="203040" progId="Equation.3">
                  <p:embed/>
                </p:oleObj>
              </mc:Choice>
              <mc:Fallback>
                <p:oleObj name="Equation" r:id="rId3" imgW="48240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343400"/>
                        <a:ext cx="815975" cy="33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/>
        </p:nvGraphicFramePr>
        <p:xfrm>
          <a:off x="1895475" y="4821238"/>
          <a:ext cx="836613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4" name="Equation" r:id="rId5" imgW="495000" imgH="177480" progId="Equation.3">
                  <p:embed/>
                </p:oleObj>
              </mc:Choice>
              <mc:Fallback>
                <p:oleObj name="Equation" r:id="rId5" imgW="495000" imgH="177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475" y="4821238"/>
                        <a:ext cx="836613" cy="293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/>
          <p:cNvGraphicFramePr>
            <a:graphicFrameLocks noChangeAspect="1"/>
          </p:cNvGraphicFramePr>
          <p:nvPr/>
        </p:nvGraphicFramePr>
        <p:xfrm>
          <a:off x="1905000" y="5181600"/>
          <a:ext cx="836613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5" name="Equation" r:id="rId7" imgW="495000" imgH="177480" progId="Equation.3">
                  <p:embed/>
                </p:oleObj>
              </mc:Choice>
              <mc:Fallback>
                <p:oleObj name="Equation" r:id="rId7" imgW="495000" imgH="177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181600"/>
                        <a:ext cx="836613" cy="293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7174" y="1870074"/>
            <a:ext cx="1838325" cy="3143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6149" y="3107618"/>
            <a:ext cx="1085850" cy="9563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THEORY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S = {1, 2, 3, 4, 5, 6}</a:t>
            </a:r>
          </a:p>
          <a:p>
            <a:pPr lvl="1"/>
            <a:r>
              <a:rPr lang="en-US" dirty="0" smtClean="0"/>
              <a:t>A = {2, 4, 6}, B = {1, 2, 3, 4}, C = {1, 3, 5}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15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356" y="2443382"/>
            <a:ext cx="1219200" cy="300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524000" y="3034268"/>
                <a:ext cx="12643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dirty="0" smtClean="0"/>
                  <a:t> = </a:t>
                </a:r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034268"/>
                <a:ext cx="1264385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449" t="-10000" r="-289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550420" y="3505755"/>
                <a:ext cx="11585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dirty="0" smtClean="0"/>
                  <a:t>=</a:t>
                </a:r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420" y="3505755"/>
                <a:ext cx="1158587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579" t="-8197" r="-368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7979" y="4165862"/>
            <a:ext cx="1864179" cy="8307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THEORY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If A and B are subset of the same  space S</a:t>
            </a:r>
          </a:p>
          <a:p>
            <a:pPr lvl="2"/>
            <a:r>
              <a:rPr lang="en-US" dirty="0" smtClean="0"/>
              <a:t>Simplify the following notation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16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638" y="2209800"/>
            <a:ext cx="1782762" cy="3303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417638" y="3293546"/>
                <a:ext cx="170656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= </a:t>
                </a:r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638" y="3293546"/>
                <a:ext cx="1706562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648200"/>
            <a:ext cx="1782762" cy="3345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17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Applications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Set Theory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Experiments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Probability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Conditional probability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Independence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err="1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Bayes</a:t>
            </a: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’ Formula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Bernoulli trials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EXPERIMENT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8534400" cy="5753100"/>
          </a:xfrm>
        </p:spPr>
        <p:txBody>
          <a:bodyPr>
            <a:normAutofit/>
          </a:bodyPr>
          <a:lstStyle/>
          <a:p>
            <a:r>
              <a:rPr lang="en-US" dirty="0" smtClean="0"/>
              <a:t>Experiment: </a:t>
            </a:r>
          </a:p>
          <a:p>
            <a:pPr lvl="1"/>
            <a:r>
              <a:rPr lang="en-US" dirty="0" smtClean="0"/>
              <a:t>An </a:t>
            </a:r>
            <a:r>
              <a:rPr lang="en-US" i="1" dirty="0" smtClean="0"/>
              <a:t>action</a:t>
            </a:r>
            <a:r>
              <a:rPr lang="en-US" dirty="0" smtClean="0"/>
              <a:t> that results in an </a:t>
            </a:r>
            <a:r>
              <a:rPr lang="en-US" i="1" dirty="0" smtClean="0"/>
              <a:t>outcome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Random experiment</a:t>
            </a:r>
          </a:p>
          <a:p>
            <a:pPr lvl="1"/>
            <a:r>
              <a:rPr lang="en-US" dirty="0" smtClean="0"/>
              <a:t>An experiment in which the outcome is </a:t>
            </a:r>
            <a:r>
              <a:rPr lang="en-US" i="1" dirty="0" smtClean="0"/>
              <a:t>uncertain</a:t>
            </a:r>
            <a:r>
              <a:rPr lang="en-US" dirty="0" smtClean="0"/>
              <a:t> before the experiment is performed.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Sample space S</a:t>
            </a:r>
            <a:r>
              <a:rPr lang="en-US" dirty="0" smtClean="0"/>
              <a:t>: the set of all possible outcomes of a random experiment</a:t>
            </a:r>
          </a:p>
          <a:p>
            <a:pPr lvl="1"/>
            <a:r>
              <a:rPr lang="en-US" dirty="0" smtClean="0"/>
              <a:t>Examples:</a:t>
            </a:r>
          </a:p>
          <a:p>
            <a:pPr lvl="2"/>
            <a:r>
              <a:rPr lang="en-US" dirty="0" smtClean="0"/>
              <a:t>Flipping a coin</a:t>
            </a:r>
          </a:p>
          <a:p>
            <a:pPr lvl="3"/>
            <a:r>
              <a:rPr lang="en-US" dirty="0" smtClean="0"/>
              <a:t>S = { H, T}</a:t>
            </a:r>
          </a:p>
          <a:p>
            <a:pPr lvl="2"/>
            <a:r>
              <a:rPr lang="en-US" dirty="0" smtClean="0"/>
              <a:t>Flipping two coins</a:t>
            </a:r>
          </a:p>
          <a:p>
            <a:pPr lvl="3"/>
            <a:r>
              <a:rPr lang="en-US" dirty="0" smtClean="0"/>
              <a:t>S = {(H, H), (H, T), (T, H), (T, T)}</a:t>
            </a:r>
          </a:p>
          <a:p>
            <a:pPr lvl="2"/>
            <a:r>
              <a:rPr lang="en-US" dirty="0" smtClean="0"/>
              <a:t>Throwing a die</a:t>
            </a:r>
          </a:p>
          <a:p>
            <a:pPr lvl="3"/>
            <a:r>
              <a:rPr lang="en-US" dirty="0" smtClean="0"/>
              <a:t>S = {1, 2, 3, 4, 5, 6}</a:t>
            </a:r>
          </a:p>
          <a:p>
            <a:pPr lvl="2"/>
            <a:r>
              <a:rPr lang="en-US" dirty="0" smtClean="0"/>
              <a:t>Lifetime of a car</a:t>
            </a:r>
          </a:p>
          <a:p>
            <a:pPr lvl="3"/>
            <a:r>
              <a:rPr lang="en-US" dirty="0" smtClean="0"/>
              <a:t>S =  [0,       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Outcome</a:t>
            </a:r>
            <a:r>
              <a:rPr lang="en-US" dirty="0" smtClean="0"/>
              <a:t>: each element in the sample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18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048000" y="5562600"/>
          <a:ext cx="304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562600"/>
                        <a:ext cx="3048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EXPERIMENT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Random events</a:t>
            </a:r>
            <a:r>
              <a:rPr lang="en-US" dirty="0" smtClean="0"/>
              <a:t>: any subset </a:t>
            </a:r>
            <a:r>
              <a:rPr lang="en-US" i="1" dirty="0" smtClean="0"/>
              <a:t>E</a:t>
            </a:r>
            <a:r>
              <a:rPr lang="en-US" dirty="0" smtClean="0"/>
              <a:t> of the sample space </a:t>
            </a:r>
            <a:r>
              <a:rPr lang="en-US" i="1" dirty="0" smtClean="0"/>
              <a:t>S</a:t>
            </a:r>
          </a:p>
          <a:p>
            <a:pPr lvl="1"/>
            <a:r>
              <a:rPr lang="en-US" dirty="0" smtClean="0"/>
              <a:t>E.g. throwing a die</a:t>
            </a:r>
          </a:p>
          <a:p>
            <a:pPr lvl="2"/>
            <a:r>
              <a:rPr lang="en-US" dirty="0" smtClean="0"/>
              <a:t>E1 = {3}: the event that 3 appears</a:t>
            </a:r>
          </a:p>
          <a:p>
            <a:pPr lvl="2"/>
            <a:r>
              <a:rPr lang="en-US" dirty="0" smtClean="0"/>
              <a:t>E2 = {2, 4, 6}: the event that an even number appears.</a:t>
            </a:r>
          </a:p>
          <a:p>
            <a:pPr lvl="1"/>
            <a:r>
              <a:rPr lang="en-US" dirty="0" smtClean="0"/>
              <a:t>Elementary random event:</a:t>
            </a:r>
          </a:p>
          <a:p>
            <a:pPr lvl="2"/>
            <a:r>
              <a:rPr lang="en-US" dirty="0" smtClean="0"/>
              <a:t>An elementary event is one for which there is only one element in the event</a:t>
            </a:r>
          </a:p>
          <a:p>
            <a:pPr lvl="3"/>
            <a:r>
              <a:rPr lang="en-US" dirty="0" smtClean="0"/>
              <a:t>E.g. flipping a coin, {H} is an elementary event</a:t>
            </a:r>
          </a:p>
          <a:p>
            <a:pPr lvl="3"/>
            <a:r>
              <a:rPr lang="en-US" dirty="0" smtClean="0"/>
              <a:t>E.g. tossing a dice, {4} is an elementary event</a:t>
            </a:r>
          </a:p>
          <a:p>
            <a:pPr lvl="3"/>
            <a:r>
              <a:rPr lang="en-US" dirty="0" smtClean="0"/>
              <a:t>E.g. measuring a voltage, {2.37} Volt is an elementary event</a:t>
            </a:r>
          </a:p>
          <a:p>
            <a:pPr lvl="1"/>
            <a:r>
              <a:rPr lang="en-US" dirty="0" smtClean="0"/>
              <a:t>Composite event</a:t>
            </a:r>
          </a:p>
          <a:p>
            <a:pPr lvl="2"/>
            <a:r>
              <a:rPr lang="en-US" dirty="0" smtClean="0"/>
              <a:t>An event that might have several possible outcomes</a:t>
            </a:r>
          </a:p>
          <a:p>
            <a:pPr lvl="3"/>
            <a:r>
              <a:rPr lang="en-US" dirty="0" smtClean="0"/>
              <a:t>E.g. tossing a die, “even” is a composite event, it includes the elementary outcomes {2, 4, 6}</a:t>
            </a:r>
          </a:p>
          <a:p>
            <a:pPr lvl="3"/>
            <a:r>
              <a:rPr lang="en-US" dirty="0" smtClean="0"/>
              <a:t>E.g. measuring a voltage, “greater than 0” is a composite event, in includes all the elementary outcomes (0,      )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19</a:t>
            </a:fld>
            <a:endParaRPr lang="en-US" altLang="zh-CN" dirty="0" smtClean="0"/>
          </a:p>
        </p:txBody>
      </p:sp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6248400" y="5715000"/>
          <a:ext cx="304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5715000"/>
                        <a:ext cx="3048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EXPERIMENT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8077200" cy="5600700"/>
          </a:xfrm>
        </p:spPr>
        <p:txBody>
          <a:bodyPr>
            <a:normAutofit/>
          </a:bodyPr>
          <a:lstStyle/>
          <a:p>
            <a:r>
              <a:rPr lang="en-US" dirty="0" smtClean="0"/>
              <a:t>Trial</a:t>
            </a:r>
          </a:p>
          <a:p>
            <a:pPr lvl="1"/>
            <a:r>
              <a:rPr lang="en-US" dirty="0" smtClean="0"/>
              <a:t>A single performance of an experiment</a:t>
            </a:r>
          </a:p>
          <a:p>
            <a:pPr lvl="1"/>
            <a:r>
              <a:rPr lang="en-US" dirty="0" smtClean="0"/>
              <a:t>Example: A coin is tossed 3 times, with outcomes H, H, T </a:t>
            </a:r>
            <a:r>
              <a:rPr lang="en-US" dirty="0" smtClean="0">
                <a:sym typeface="Wingdings" pitchFamily="2" charset="2"/>
              </a:rPr>
              <a:t> 3 trials.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The 1</a:t>
            </a:r>
            <a:r>
              <a:rPr lang="en-US" baseline="30000" dirty="0" smtClean="0">
                <a:sym typeface="Wingdings" pitchFamily="2" charset="2"/>
              </a:rPr>
              <a:t>st</a:t>
            </a:r>
            <a:r>
              <a:rPr lang="en-US" dirty="0" smtClean="0">
                <a:sym typeface="Wingdings" pitchFamily="2" charset="2"/>
              </a:rPr>
              <a:t> trial results in H, the 2</a:t>
            </a:r>
            <a:r>
              <a:rPr lang="en-US" baseline="30000" dirty="0" smtClean="0">
                <a:sym typeface="Wingdings" pitchFamily="2" charset="2"/>
              </a:rPr>
              <a:t>nd</a:t>
            </a:r>
            <a:r>
              <a:rPr lang="en-US" dirty="0" smtClean="0">
                <a:sym typeface="Wingdings" pitchFamily="2" charset="2"/>
              </a:rPr>
              <a:t> trial results in H, the 3</a:t>
            </a:r>
            <a:r>
              <a:rPr lang="en-US" baseline="30000" dirty="0" smtClean="0">
                <a:sym typeface="Wingdings" pitchFamily="2" charset="2"/>
              </a:rPr>
              <a:t>rd</a:t>
            </a:r>
            <a:r>
              <a:rPr lang="en-US" dirty="0" smtClean="0">
                <a:sym typeface="Wingdings" pitchFamily="2" charset="2"/>
              </a:rPr>
              <a:t> trial results in T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Example: Measure temperature twice, with outcomes 72.3 F, 71.8 F  2 trials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Once a trial is performed, the result of the trial is deterministic (not random)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20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EXPERIMENT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Classification: Discrete </a:t>
            </a:r>
            <a:r>
              <a:rPr lang="en-US" dirty="0" err="1" smtClean="0"/>
              <a:t>v.s</a:t>
            </a:r>
            <a:r>
              <a:rPr lang="en-US" dirty="0" smtClean="0"/>
              <a:t>. Continuous 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Discrete</a:t>
            </a:r>
            <a:r>
              <a:rPr lang="en-US" dirty="0" smtClean="0"/>
              <a:t> random experiment: the number of outcomes are countable (i.e., the outcomes can be put in a one-to-one correspondence with integers), </a:t>
            </a:r>
          </a:p>
          <a:p>
            <a:pPr lvl="2"/>
            <a:r>
              <a:rPr lang="en-US" dirty="0" smtClean="0"/>
              <a:t>E.g. flipping a coin {H, T}, </a:t>
            </a:r>
          </a:p>
          <a:p>
            <a:pPr lvl="2"/>
            <a:r>
              <a:rPr lang="en-US" dirty="0" smtClean="0"/>
              <a:t>It is possible a discrete random experiment has infinite possible outcomes</a:t>
            </a:r>
          </a:p>
          <a:p>
            <a:pPr lvl="3"/>
            <a:r>
              <a:rPr lang="en-US" dirty="0" smtClean="0"/>
              <a:t>E.g. count the number of atoms in an object: {1, 2, 3, …}</a:t>
            </a:r>
          </a:p>
          <a:p>
            <a:pPr lvl="3"/>
            <a:r>
              <a:rPr lang="en-US" dirty="0" smtClean="0"/>
              <a:t>E.g. count the number of stars: {1, 2, 3, …}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Continuous</a:t>
            </a:r>
            <a:r>
              <a:rPr lang="en-US" dirty="0" smtClean="0"/>
              <a:t> random experiment: the number of outcomes are not countable</a:t>
            </a:r>
          </a:p>
          <a:p>
            <a:pPr lvl="2"/>
            <a:r>
              <a:rPr lang="en-US" dirty="0" smtClean="0"/>
              <a:t>E.g. lifetime of a car [0,       )</a:t>
            </a:r>
          </a:p>
          <a:p>
            <a:pPr lvl="2"/>
            <a:r>
              <a:rPr lang="en-US" dirty="0" smtClean="0"/>
              <a:t>E.g. randomly pick a real number in the range between [0, 1]</a:t>
            </a:r>
          </a:p>
          <a:p>
            <a:pPr lvl="2"/>
            <a:r>
              <a:rPr lang="en-US" dirty="0" smtClean="0"/>
              <a:t>Continuous random experiment always has infinite outcomes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21</a:t>
            </a:fld>
            <a:endParaRPr lang="en-US" altLang="zh-CN" dirty="0" smtClean="0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4114800" y="4114800"/>
          <a:ext cx="304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114800"/>
                        <a:ext cx="3048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Applications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Set Theory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Experiments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Probability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Conditional probability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Independence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err="1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Bayes</a:t>
            </a: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’ Formula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Bernoulli trials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Probability</a:t>
            </a:r>
          </a:p>
          <a:p>
            <a:pPr lvl="1"/>
            <a:r>
              <a:rPr lang="en-US" dirty="0" smtClean="0"/>
              <a:t>Assign a </a:t>
            </a:r>
            <a:r>
              <a:rPr lang="en-US" dirty="0" smtClean="0">
                <a:solidFill>
                  <a:srgbClr val="FF0000"/>
                </a:solidFill>
              </a:rPr>
              <a:t>number</a:t>
            </a:r>
            <a:r>
              <a:rPr lang="en-US" dirty="0" smtClean="0"/>
              <a:t> between [0, 1] to each random </a:t>
            </a:r>
            <a:r>
              <a:rPr lang="en-US" dirty="0" smtClean="0">
                <a:solidFill>
                  <a:srgbClr val="FF0000"/>
                </a:solidFill>
              </a:rPr>
              <a:t>event</a:t>
            </a:r>
            <a:r>
              <a:rPr lang="en-US" dirty="0" smtClean="0"/>
              <a:t> of a sample space, such that the number is a measure of how likely the </a:t>
            </a:r>
            <a:r>
              <a:rPr lang="en-US" dirty="0" smtClean="0">
                <a:solidFill>
                  <a:srgbClr val="FF0000"/>
                </a:solidFill>
              </a:rPr>
              <a:t>event</a:t>
            </a:r>
            <a:r>
              <a:rPr lang="en-US" dirty="0" smtClean="0"/>
              <a:t> is. </a:t>
            </a:r>
          </a:p>
          <a:p>
            <a:pPr lvl="2"/>
            <a:r>
              <a:rPr lang="en-US" dirty="0" smtClean="0"/>
              <a:t>E.g. flipping a coin. Assign 0.5 to H, 0.5 to T</a:t>
            </a:r>
          </a:p>
          <a:p>
            <a:pPr lvl="3"/>
            <a:r>
              <a:rPr lang="en-US" dirty="0" smtClean="0"/>
              <a:t>0.5 is the probability of H, 0.5 is the probability of T</a:t>
            </a:r>
          </a:p>
          <a:p>
            <a:pPr lvl="2"/>
            <a:r>
              <a:rPr lang="en-US" dirty="0" smtClean="0"/>
              <a:t>E.g. tossing a die with events {1, 2} (2 or less)</a:t>
            </a:r>
          </a:p>
          <a:p>
            <a:pPr lvl="3"/>
            <a:r>
              <a:rPr lang="en-US" dirty="0" smtClean="0"/>
              <a:t>1/3 is the probability of “2 or less”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It is a mapping from a random event to a number between [0, 1]</a:t>
            </a:r>
          </a:p>
          <a:p>
            <a:pPr marL="914400" lvl="2" indent="0">
              <a:buNone/>
            </a:pPr>
            <a:endParaRPr lang="en-US" dirty="0" smtClean="0"/>
          </a:p>
          <a:p>
            <a:pPr marL="914400" lvl="2" indent="0">
              <a:buNone/>
            </a:pPr>
            <a:r>
              <a:rPr lang="en-US" dirty="0" smtClean="0"/>
              <a:t>	</a:t>
            </a:r>
            <a:r>
              <a:rPr lang="en-US" b="1" dirty="0" smtClean="0"/>
              <a:t>Random event (a subset of S) </a:t>
            </a:r>
            <a:r>
              <a:rPr lang="en-US" b="1" dirty="0" smtClean="0">
                <a:sym typeface="Wingdings" panose="05000000000000000000" pitchFamily="2" charset="2"/>
              </a:rPr>
              <a:t> [0, 1]</a:t>
            </a:r>
            <a:endParaRPr lang="en-US" b="1" dirty="0"/>
          </a:p>
          <a:p>
            <a:pPr marL="914400" lvl="2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There are several different definitions of probability</a:t>
            </a:r>
          </a:p>
          <a:p>
            <a:pPr lvl="2"/>
            <a:r>
              <a:rPr lang="en-US" dirty="0" smtClean="0"/>
              <a:t>Relative-frequency approach</a:t>
            </a:r>
          </a:p>
          <a:p>
            <a:pPr lvl="2"/>
            <a:r>
              <a:rPr lang="en-US" dirty="0" smtClean="0"/>
              <a:t>Axiomatic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23</a:t>
            </a:fld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PROBABILITY: RELATIVE-FREQUENCY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Relative-frequency</a:t>
            </a:r>
          </a:p>
          <a:p>
            <a:pPr lvl="1"/>
            <a:r>
              <a:rPr lang="en-US" dirty="0" smtClean="0"/>
              <a:t>Example: consider a random experiments with sample space: S ={A, B, C}. Perform the experiments for a total of N = 1,000 times</a:t>
            </a:r>
          </a:p>
          <a:p>
            <a:pPr lvl="2"/>
            <a:r>
              <a:rPr lang="en-US" dirty="0" smtClean="0"/>
              <a:t>Event {A} occurs </a:t>
            </a:r>
            <a:r>
              <a:rPr lang="en-US" i="1" dirty="0" smtClean="0"/>
              <a:t>N</a:t>
            </a:r>
            <a:r>
              <a:rPr lang="en-US" i="1" baseline="-25000" dirty="0" smtClean="0"/>
              <a:t>A</a:t>
            </a:r>
            <a:r>
              <a:rPr lang="en-US" dirty="0" smtClean="0"/>
              <a:t> = 500 times</a:t>
            </a:r>
          </a:p>
          <a:p>
            <a:pPr lvl="2"/>
            <a:r>
              <a:rPr lang="en-US" dirty="0" smtClean="0"/>
              <a:t>Event {B} occurs </a:t>
            </a:r>
            <a:r>
              <a:rPr lang="en-US" i="1" dirty="0" smtClean="0"/>
              <a:t>N</a:t>
            </a:r>
            <a:r>
              <a:rPr lang="en-US" i="1" baseline="-25000" dirty="0" smtClean="0"/>
              <a:t>B</a:t>
            </a:r>
            <a:r>
              <a:rPr lang="en-US" dirty="0" smtClean="0"/>
              <a:t> = 300 times</a:t>
            </a:r>
          </a:p>
          <a:p>
            <a:pPr lvl="2"/>
            <a:r>
              <a:rPr lang="en-US" dirty="0" smtClean="0"/>
              <a:t>Event {C} occurs </a:t>
            </a:r>
            <a:r>
              <a:rPr lang="en-US" i="1" dirty="0" smtClean="0"/>
              <a:t>N</a:t>
            </a:r>
            <a:r>
              <a:rPr lang="en-US" i="1" baseline="-25000" dirty="0" smtClean="0"/>
              <a:t>C</a:t>
            </a:r>
            <a:r>
              <a:rPr lang="en-US" dirty="0" smtClean="0"/>
              <a:t> = 200 times</a:t>
            </a:r>
          </a:p>
          <a:p>
            <a:pPr lvl="2"/>
            <a:endParaRPr lang="en-US" dirty="0" smtClean="0"/>
          </a:p>
          <a:p>
            <a:pPr lvl="2"/>
            <a:r>
              <a:rPr lang="en-US" i="1" dirty="0" smtClean="0"/>
              <a:t>N</a:t>
            </a:r>
            <a:r>
              <a:rPr lang="en-US" i="1" baseline="-25000" dirty="0" smtClean="0"/>
              <a:t>A </a:t>
            </a:r>
            <a:r>
              <a:rPr lang="en-US" dirty="0" smtClean="0"/>
              <a:t> +</a:t>
            </a:r>
            <a:r>
              <a:rPr lang="en-US" i="1" dirty="0" smtClean="0"/>
              <a:t> N</a:t>
            </a:r>
            <a:r>
              <a:rPr lang="en-US" i="1" baseline="-25000" dirty="0" smtClean="0"/>
              <a:t>B </a:t>
            </a:r>
            <a:r>
              <a:rPr lang="en-US" i="1" dirty="0" smtClean="0"/>
              <a:t>+</a:t>
            </a:r>
            <a:r>
              <a:rPr lang="en-US" i="1" dirty="0" err="1" smtClean="0"/>
              <a:t>N</a:t>
            </a:r>
            <a:r>
              <a:rPr lang="en-US" i="1" baseline="-25000" dirty="0" err="1" smtClean="0"/>
              <a:t>c</a:t>
            </a:r>
            <a:r>
              <a:rPr lang="en-US" i="1" baseline="-25000" dirty="0" smtClean="0"/>
              <a:t> </a:t>
            </a:r>
            <a:r>
              <a:rPr lang="en-US" dirty="0" smtClean="0"/>
              <a:t>= </a:t>
            </a:r>
            <a:r>
              <a:rPr lang="en-US" i="1" dirty="0" smtClean="0"/>
              <a:t>N</a:t>
            </a:r>
          </a:p>
          <a:p>
            <a:pPr lvl="2"/>
            <a:r>
              <a:rPr lang="en-US" dirty="0" smtClean="0"/>
              <a:t>The relative frequency of {A} is</a:t>
            </a:r>
          </a:p>
          <a:p>
            <a:pPr lvl="2"/>
            <a:r>
              <a:rPr lang="en-US" dirty="0" smtClean="0"/>
              <a:t>The relative frequency of {B} is</a:t>
            </a:r>
          </a:p>
          <a:p>
            <a:pPr lvl="2"/>
            <a:r>
              <a:rPr lang="en-US" dirty="0" smtClean="0"/>
              <a:t>The relative frequency of {C} is 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The more trials we perform, the more accurate the result is.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24</a:t>
            </a:fld>
            <a:endParaRPr lang="en-US" altLang="zh-CN" dirty="0" smtClean="0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004484"/>
              </p:ext>
            </p:extLst>
          </p:nvPr>
        </p:nvGraphicFramePr>
        <p:xfrm>
          <a:off x="5143500" y="3362742"/>
          <a:ext cx="762000" cy="428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1" name="Equation" r:id="rId3" imgW="698400" imgH="393480" progId="Equation.3">
                  <p:embed/>
                </p:oleObj>
              </mc:Choice>
              <mc:Fallback>
                <p:oleObj name="Equation" r:id="rId3" imgW="698400" imgH="3934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3362742"/>
                        <a:ext cx="762000" cy="4288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477040"/>
              </p:ext>
            </p:extLst>
          </p:nvPr>
        </p:nvGraphicFramePr>
        <p:xfrm>
          <a:off x="5105400" y="3821543"/>
          <a:ext cx="838200" cy="47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2" name="Equation" r:id="rId5" imgW="698400" imgH="393480" progId="Equation.3">
                  <p:embed/>
                </p:oleObj>
              </mc:Choice>
              <mc:Fallback>
                <p:oleObj name="Equation" r:id="rId5" imgW="69840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821543"/>
                        <a:ext cx="838200" cy="4717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760712"/>
              </p:ext>
            </p:extLst>
          </p:nvPr>
        </p:nvGraphicFramePr>
        <p:xfrm>
          <a:off x="5105400" y="4304739"/>
          <a:ext cx="838200" cy="463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3" name="Equation" r:id="rId7" imgW="711000" imgH="393480" progId="Equation.3">
                  <p:embed/>
                </p:oleObj>
              </mc:Choice>
              <mc:Fallback>
                <p:oleObj name="Equation" r:id="rId7" imgW="711000" imgH="393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304739"/>
                        <a:ext cx="838200" cy="4632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153400" cy="76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PROBABILITY: RELATIVE-FREQUENCY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Relative-frequency</a:t>
            </a:r>
          </a:p>
          <a:p>
            <a:pPr lvl="1"/>
            <a:r>
              <a:rPr lang="en-US" dirty="0" smtClean="0"/>
              <a:t>The probability of event {A}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 The sum of the probabilities of all the events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25</a:t>
            </a:fld>
            <a:endParaRPr lang="en-US" altLang="zh-CN" dirty="0" smtClean="0"/>
          </a:p>
        </p:txBody>
      </p:sp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3352800" y="1600200"/>
          <a:ext cx="13795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4" name="Equation" r:id="rId3" imgW="1015920" imgH="393480" progId="Equation.3">
                  <p:embed/>
                </p:oleObj>
              </mc:Choice>
              <mc:Fallback>
                <p:oleObj name="Equation" r:id="rId3" imgW="101592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600200"/>
                        <a:ext cx="1379538" cy="5334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9"/>
          <p:cNvGraphicFramePr>
            <a:graphicFrameLocks noChangeAspect="1"/>
          </p:cNvGraphicFramePr>
          <p:nvPr/>
        </p:nvGraphicFramePr>
        <p:xfrm>
          <a:off x="2514600" y="2667000"/>
          <a:ext cx="200025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5" name="Equation" r:id="rId5" imgW="1473120" imgH="203040" progId="Equation.3">
                  <p:embed/>
                </p:oleObj>
              </mc:Choice>
              <mc:Fallback>
                <p:oleObj name="Equation" r:id="rId5" imgW="147312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667000"/>
                        <a:ext cx="2000250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PROBABILITY: RELATIVE FREQUENCY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 bin contains 100 diodes. Among them, 20 are known to be bad.</a:t>
            </a:r>
          </a:p>
          <a:p>
            <a:pPr lvl="1"/>
            <a:r>
              <a:rPr lang="en-US" dirty="0" smtClean="0"/>
              <a:t>Pick 1 diode from the bin</a:t>
            </a:r>
          </a:p>
          <a:p>
            <a:pPr lvl="2"/>
            <a:r>
              <a:rPr lang="en-US" dirty="0" smtClean="0"/>
              <a:t>Sample space</a:t>
            </a:r>
          </a:p>
          <a:p>
            <a:pPr lvl="2"/>
            <a:r>
              <a:rPr lang="en-US" dirty="0" smtClean="0"/>
              <a:t>Probability that the picked one is bad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26</a:t>
            </a:fld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PROBABILITY: AXIOMATIC DEFINITION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Definition: Probability</a:t>
            </a:r>
          </a:p>
          <a:p>
            <a:pPr lvl="1"/>
            <a:r>
              <a:rPr lang="en-US" dirty="0" smtClean="0"/>
              <a:t>Consider a random experiment with sample space S. For each event </a:t>
            </a:r>
            <a:r>
              <a:rPr lang="en-US" i="1" dirty="0" smtClean="0"/>
              <a:t>E</a:t>
            </a:r>
            <a:r>
              <a:rPr lang="en-US" dirty="0" smtClean="0"/>
              <a:t> of the sample space </a:t>
            </a:r>
            <a:r>
              <a:rPr lang="en-US" i="1" dirty="0" smtClean="0"/>
              <a:t>S</a:t>
            </a:r>
            <a:r>
              <a:rPr lang="en-US" dirty="0" smtClean="0"/>
              <a:t>, we assign it a positive number Pr(</a:t>
            </a:r>
            <a:r>
              <a:rPr lang="en-US" i="1" dirty="0" smtClean="0"/>
              <a:t>E</a:t>
            </a:r>
            <a:r>
              <a:rPr lang="en-US" dirty="0" smtClean="0"/>
              <a:t>), which satisfies the following properties</a:t>
            </a:r>
          </a:p>
          <a:p>
            <a:pPr lvl="2"/>
            <a:r>
              <a:rPr lang="en-US" dirty="0" smtClean="0"/>
              <a:t>1. </a:t>
            </a:r>
          </a:p>
          <a:p>
            <a:pPr lvl="2"/>
            <a:r>
              <a:rPr lang="en-US" dirty="0" smtClean="0"/>
              <a:t>2. </a:t>
            </a:r>
          </a:p>
          <a:p>
            <a:pPr lvl="2"/>
            <a:r>
              <a:rPr lang="en-US" dirty="0" smtClean="0"/>
              <a:t>3. For any sequence of events                   that are </a:t>
            </a:r>
            <a:r>
              <a:rPr lang="en-US" dirty="0" smtClean="0">
                <a:solidFill>
                  <a:srgbClr val="FF0000"/>
                </a:solidFill>
              </a:rPr>
              <a:t>mutually exclusive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27</a:t>
            </a:fld>
            <a:endParaRPr lang="en-US" altLang="zh-CN" dirty="0" smtClean="0"/>
          </a:p>
        </p:txBody>
      </p:sp>
      <p:graphicFrame>
        <p:nvGraphicFramePr>
          <p:cNvPr id="19" name="Object 3"/>
          <p:cNvGraphicFramePr>
            <a:graphicFrameLocks noChangeAspect="1"/>
          </p:cNvGraphicFramePr>
          <p:nvPr/>
        </p:nvGraphicFramePr>
        <p:xfrm>
          <a:off x="2362200" y="2133600"/>
          <a:ext cx="122448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0" name="Equation" r:id="rId3" imgW="812520" imgH="203040" progId="Equation.3">
                  <p:embed/>
                </p:oleObj>
              </mc:Choice>
              <mc:Fallback>
                <p:oleObj name="Equation" r:id="rId3" imgW="81252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133600"/>
                        <a:ext cx="1224488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3" name="Object 3"/>
          <p:cNvGraphicFramePr>
            <a:graphicFrameLocks noChangeAspect="1"/>
          </p:cNvGraphicFramePr>
          <p:nvPr/>
        </p:nvGraphicFramePr>
        <p:xfrm>
          <a:off x="2362200" y="2514600"/>
          <a:ext cx="792163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1" name="Equation" r:id="rId5" imgW="583920" imgH="203040" progId="Equation.3">
                  <p:embed/>
                </p:oleObj>
              </mc:Choice>
              <mc:Fallback>
                <p:oleObj name="Equation" r:id="rId5" imgW="583920" imgH="20304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514600"/>
                        <a:ext cx="792163" cy="274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Content Placeholder 2"/>
          <p:cNvSpPr txBox="1">
            <a:spLocks/>
          </p:cNvSpPr>
          <p:nvPr/>
        </p:nvSpPr>
        <p:spPr>
          <a:xfrm>
            <a:off x="533400" y="4191000"/>
            <a:ext cx="7772400" cy="1981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6" name="Content Placeholder 2"/>
          <p:cNvSpPr txBox="1">
            <a:spLocks/>
          </p:cNvSpPr>
          <p:nvPr/>
        </p:nvSpPr>
        <p:spPr>
          <a:xfrm>
            <a:off x="609600" y="4191000"/>
            <a:ext cx="7772400" cy="533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Then</a:t>
            </a:r>
            <a:r>
              <a:rPr kumimoji="0" lang="en-US" sz="1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US" sz="18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</a:t>
            </a:r>
            <a:r>
              <a:rPr kumimoji="0" lang="en-US" sz="1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kumimoji="0" lang="en-US" sz="18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</a:t>
            </a:r>
            <a:r>
              <a:rPr kumimoji="0" lang="en-US" sz="1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) is called as the probability of event </a:t>
            </a:r>
            <a:r>
              <a:rPr kumimoji="0" lang="en-US" sz="18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E.</a:t>
            </a:r>
            <a:endParaRPr kumimoji="0" lang="en-US" sz="1800" b="0" i="1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823606"/>
            <a:ext cx="903513" cy="2874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" y="3089817"/>
            <a:ext cx="2133600" cy="2865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4363" y="3409515"/>
            <a:ext cx="2054756" cy="6182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Toss a die.</a:t>
            </a:r>
          </a:p>
          <a:p>
            <a:pPr lvl="2"/>
            <a:r>
              <a:rPr lang="en-US" dirty="0" smtClean="0"/>
              <a:t>Sample space</a:t>
            </a:r>
          </a:p>
          <a:p>
            <a:pPr lvl="2"/>
            <a:r>
              <a:rPr lang="en-US" dirty="0" smtClean="0"/>
              <a:t>The probability of getting a number 3</a:t>
            </a:r>
          </a:p>
          <a:p>
            <a:pPr lvl="2"/>
            <a:r>
              <a:rPr lang="en-US" dirty="0" smtClean="0"/>
              <a:t>The probability of getting an even number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28</a:t>
            </a:fld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Probability of complement events</a:t>
            </a:r>
          </a:p>
          <a:p>
            <a:pPr lvl="1"/>
            <a:r>
              <a:rPr lang="en-US" dirty="0" smtClean="0"/>
              <a:t>Events </a:t>
            </a:r>
            <a:r>
              <a:rPr lang="en-US" i="1" dirty="0" smtClean="0"/>
              <a:t>E</a:t>
            </a:r>
            <a:r>
              <a:rPr lang="en-US" dirty="0" smtClean="0"/>
              <a:t> and     are always mutually exclusive 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Probability of two events</a:t>
            </a:r>
          </a:p>
          <a:p>
            <a:pPr lvl="1"/>
            <a:r>
              <a:rPr lang="en-US" dirty="0" smtClean="0"/>
              <a:t>Consider a sample space </a:t>
            </a:r>
            <a:r>
              <a:rPr lang="en-US" i="1" dirty="0" smtClean="0"/>
              <a:t>S</a:t>
            </a:r>
            <a:r>
              <a:rPr lang="en-US" dirty="0" smtClean="0"/>
              <a:t> with two events </a:t>
            </a:r>
            <a:r>
              <a:rPr lang="en-US" i="1" dirty="0" smtClean="0"/>
              <a:t>E</a:t>
            </a:r>
            <a:r>
              <a:rPr lang="en-US" dirty="0" smtClean="0"/>
              <a:t> and </a:t>
            </a:r>
            <a:r>
              <a:rPr lang="en-US" i="1" dirty="0" smtClean="0"/>
              <a:t>F</a:t>
            </a:r>
            <a:r>
              <a:rPr lang="en-US" dirty="0" smtClean="0"/>
              <a:t>. The probability that </a:t>
            </a:r>
            <a:r>
              <a:rPr lang="en-US" dirty="0" smtClean="0">
                <a:solidFill>
                  <a:srgbClr val="FF0000"/>
                </a:solidFill>
              </a:rPr>
              <a:t>either</a:t>
            </a:r>
            <a:r>
              <a:rPr lang="en-US" dirty="0" smtClean="0"/>
              <a:t> </a:t>
            </a:r>
            <a:r>
              <a:rPr lang="en-US" i="1" dirty="0" smtClean="0"/>
              <a:t>E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or</a:t>
            </a:r>
            <a:r>
              <a:rPr lang="en-US" dirty="0" smtClean="0"/>
              <a:t> </a:t>
            </a:r>
            <a:r>
              <a:rPr lang="en-US" i="1" dirty="0" smtClean="0"/>
              <a:t>F</a:t>
            </a:r>
            <a:r>
              <a:rPr lang="en-US" dirty="0" smtClean="0"/>
              <a:t> happens (the probability of all outcomes either in </a:t>
            </a:r>
            <a:r>
              <a:rPr lang="en-US" i="1" dirty="0" smtClean="0"/>
              <a:t>E</a:t>
            </a:r>
            <a:r>
              <a:rPr lang="en-US" dirty="0" smtClean="0"/>
              <a:t> or </a:t>
            </a:r>
            <a:r>
              <a:rPr lang="en-US" i="1" dirty="0" smtClean="0"/>
              <a:t>F</a:t>
            </a:r>
            <a:r>
              <a:rPr lang="en-US" dirty="0" smtClean="0"/>
              <a:t>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29</a:t>
            </a:fld>
            <a:endParaRPr lang="en-US" altLang="zh-CN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48914" y="1305446"/>
                <a:ext cx="3060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914" y="1305446"/>
                <a:ext cx="306046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2000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785257" y="1638300"/>
                <a:ext cx="24570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257" y="1638300"/>
                <a:ext cx="2457083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4038600"/>
            <a:ext cx="1201396" cy="3067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probability of two events: consider </a:t>
            </a:r>
            <a:r>
              <a:rPr lang="en-US" dirty="0"/>
              <a:t>a sample space </a:t>
            </a:r>
            <a:r>
              <a:rPr lang="en-US" i="1" dirty="0"/>
              <a:t>S</a:t>
            </a:r>
            <a:r>
              <a:rPr lang="en-US" dirty="0"/>
              <a:t> with two events </a:t>
            </a:r>
            <a:r>
              <a:rPr lang="en-US" i="1" dirty="0"/>
              <a:t>E</a:t>
            </a:r>
            <a:r>
              <a:rPr lang="en-US" dirty="0"/>
              <a:t> and </a:t>
            </a:r>
            <a:r>
              <a:rPr lang="en-US" i="1" dirty="0"/>
              <a:t>F</a:t>
            </a:r>
            <a:endParaRPr lang="en-US" dirty="0" smtClean="0"/>
          </a:p>
          <a:p>
            <a:pPr lvl="1"/>
            <a:r>
              <a:rPr lang="en-US" dirty="0" smtClean="0"/>
              <a:t>The probability </a:t>
            </a:r>
            <a:r>
              <a:rPr lang="en-US" dirty="0">
                <a:solidFill>
                  <a:srgbClr val="FF0000"/>
                </a:solidFill>
              </a:rPr>
              <a:t>either</a:t>
            </a:r>
            <a:r>
              <a:rPr lang="en-US" dirty="0"/>
              <a:t> </a:t>
            </a:r>
            <a:r>
              <a:rPr lang="en-US" i="1" dirty="0"/>
              <a:t>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or</a:t>
            </a:r>
            <a:r>
              <a:rPr lang="en-US" dirty="0"/>
              <a:t> </a:t>
            </a:r>
            <a:r>
              <a:rPr lang="en-US" i="1" dirty="0"/>
              <a:t>F</a:t>
            </a:r>
            <a:r>
              <a:rPr lang="en-US" dirty="0"/>
              <a:t> happens (the probability </a:t>
            </a:r>
            <a:r>
              <a:rPr lang="en-US" dirty="0" smtClean="0"/>
              <a:t>that the outcome is either in </a:t>
            </a:r>
            <a:r>
              <a:rPr lang="en-US" i="1" dirty="0"/>
              <a:t>E</a:t>
            </a:r>
            <a:r>
              <a:rPr lang="en-US" dirty="0"/>
              <a:t> or </a:t>
            </a:r>
            <a:r>
              <a:rPr lang="en-US" i="1" dirty="0"/>
              <a:t>F</a:t>
            </a:r>
            <a:r>
              <a:rPr lang="en-US" dirty="0" smtClean="0"/>
              <a:t>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probability that </a:t>
            </a:r>
            <a:r>
              <a:rPr lang="en-US" dirty="0">
                <a:solidFill>
                  <a:srgbClr val="FF0000"/>
                </a:solidFill>
              </a:rPr>
              <a:t>both</a:t>
            </a:r>
            <a:r>
              <a:rPr lang="en-US" dirty="0"/>
              <a:t> </a:t>
            </a:r>
            <a:r>
              <a:rPr lang="en-US" i="1" dirty="0"/>
              <a:t>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and</a:t>
            </a:r>
            <a:r>
              <a:rPr lang="en-US" dirty="0"/>
              <a:t> </a:t>
            </a:r>
            <a:r>
              <a:rPr lang="en-US" i="1" dirty="0"/>
              <a:t>F</a:t>
            </a:r>
            <a:r>
              <a:rPr lang="en-US" dirty="0"/>
              <a:t> happens (the probability </a:t>
            </a:r>
            <a:r>
              <a:rPr lang="en-US" dirty="0" smtClean="0"/>
              <a:t>that the outcome is </a:t>
            </a:r>
            <a:r>
              <a:rPr lang="en-US" dirty="0"/>
              <a:t>in both </a:t>
            </a:r>
            <a:r>
              <a:rPr lang="en-US" i="1" dirty="0"/>
              <a:t>E</a:t>
            </a:r>
            <a:r>
              <a:rPr lang="en-US" dirty="0"/>
              <a:t> and </a:t>
            </a:r>
            <a:r>
              <a:rPr lang="en-US" i="1" dirty="0"/>
              <a:t>F</a:t>
            </a:r>
            <a:r>
              <a:rPr lang="en-US" dirty="0" smtClean="0"/>
              <a:t>)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Also denoted as 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Called the </a:t>
            </a:r>
            <a:r>
              <a:rPr lang="en-US" dirty="0" smtClean="0">
                <a:solidFill>
                  <a:srgbClr val="FF0000"/>
                </a:solidFill>
              </a:rPr>
              <a:t>joint probability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30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2286000"/>
            <a:ext cx="1099671" cy="304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1" y="3962400"/>
            <a:ext cx="1143000" cy="2919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8936" y="4825862"/>
            <a:ext cx="917335" cy="34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86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Property</a:t>
            </a:r>
          </a:p>
          <a:p>
            <a:pPr lvl="1"/>
            <a:r>
              <a:rPr lang="en-US" dirty="0"/>
              <a:t> </a:t>
            </a:r>
            <a:endParaRPr lang="en-US" dirty="0" smtClean="0"/>
          </a:p>
          <a:p>
            <a:pPr lvl="1"/>
            <a:endParaRPr lang="en-US" dirty="0"/>
          </a:p>
          <a:p>
            <a:pPr lvl="2"/>
            <a:r>
              <a:rPr lang="en-US" dirty="0" smtClean="0"/>
              <a:t>Proof: </a:t>
            </a:r>
          </a:p>
          <a:p>
            <a:pPr lvl="3"/>
            <a:endParaRPr lang="en-US" dirty="0" smtClean="0"/>
          </a:p>
          <a:p>
            <a:pPr lvl="3"/>
            <a:r>
              <a:rPr lang="en-US" dirty="0" smtClean="0"/>
              <a:t>Recall: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31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01145"/>
            <a:ext cx="3657600" cy="3371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651" y="2640759"/>
            <a:ext cx="2590800" cy="2836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651" y="3212239"/>
            <a:ext cx="2667000" cy="34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6635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Property</a:t>
            </a:r>
          </a:p>
          <a:p>
            <a:endParaRPr lang="en-US" dirty="0"/>
          </a:p>
          <a:p>
            <a:endParaRPr lang="en-US" dirty="0" smtClean="0"/>
          </a:p>
          <a:p>
            <a:pPr lvl="1"/>
            <a:r>
              <a:rPr lang="en-US" dirty="0" smtClean="0"/>
              <a:t>Proof: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32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485900"/>
            <a:ext cx="4876800" cy="32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1011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Toss 2 different coins, </a:t>
            </a:r>
          </a:p>
          <a:p>
            <a:pPr lvl="1"/>
            <a:r>
              <a:rPr lang="en-US" dirty="0" smtClean="0"/>
              <a:t>E = {(H, H), (H, T)}, F = {(H, H), (T, H)}, G={(T, T)}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33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362200"/>
            <a:ext cx="1069521" cy="2829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779" y="4671896"/>
            <a:ext cx="1488621" cy="2588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506" y="3476624"/>
            <a:ext cx="1314268" cy="2952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34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Applications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Set Theory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Experiments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Probability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Conditional probability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Independence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err="1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Bayes</a:t>
            </a: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’ Formula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Bernoulli trials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CONDITIONAL 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Joint probability</a:t>
            </a:r>
          </a:p>
          <a:p>
            <a:pPr lvl="1"/>
            <a:r>
              <a:rPr lang="en-US" dirty="0" smtClean="0"/>
              <a:t>Consider a sample space </a:t>
            </a:r>
            <a:r>
              <a:rPr lang="en-US" i="1" dirty="0" smtClean="0"/>
              <a:t>S</a:t>
            </a:r>
            <a:r>
              <a:rPr lang="en-US" dirty="0" smtClean="0"/>
              <a:t> with two events </a:t>
            </a:r>
            <a:r>
              <a:rPr lang="en-US" i="1" dirty="0" smtClean="0"/>
              <a:t>E</a:t>
            </a:r>
            <a:r>
              <a:rPr lang="en-US" dirty="0" smtClean="0"/>
              <a:t> and </a:t>
            </a:r>
            <a:r>
              <a:rPr lang="en-US" i="1" dirty="0" smtClean="0"/>
              <a:t>F</a:t>
            </a:r>
            <a:r>
              <a:rPr lang="en-US" dirty="0" smtClean="0"/>
              <a:t>. The probability that </a:t>
            </a:r>
            <a:r>
              <a:rPr lang="en-US" dirty="0" smtClean="0">
                <a:solidFill>
                  <a:srgbClr val="FF0000"/>
                </a:solidFill>
              </a:rPr>
              <a:t>both</a:t>
            </a:r>
            <a:r>
              <a:rPr lang="en-US" dirty="0" smtClean="0"/>
              <a:t> </a:t>
            </a:r>
            <a:r>
              <a:rPr lang="en-US" i="1" dirty="0" smtClean="0"/>
              <a:t>E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and</a:t>
            </a:r>
            <a:r>
              <a:rPr lang="en-US" dirty="0" smtClean="0"/>
              <a:t> </a:t>
            </a:r>
            <a:r>
              <a:rPr lang="en-US" i="1" dirty="0" smtClean="0"/>
              <a:t>F</a:t>
            </a:r>
            <a:r>
              <a:rPr lang="en-US" dirty="0" smtClean="0"/>
              <a:t> happens (the probability of all outcomes in both </a:t>
            </a:r>
            <a:r>
              <a:rPr lang="en-US" i="1" dirty="0" smtClean="0"/>
              <a:t>E</a:t>
            </a:r>
            <a:r>
              <a:rPr lang="en-US" dirty="0" smtClean="0"/>
              <a:t> and </a:t>
            </a:r>
            <a:r>
              <a:rPr lang="en-US" i="1" dirty="0" smtClean="0"/>
              <a:t>F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 Also denoted as</a:t>
            </a:r>
          </a:p>
          <a:p>
            <a:pPr lvl="1">
              <a:buNone/>
            </a:pPr>
            <a:r>
              <a:rPr lang="en-US" dirty="0" smtClean="0"/>
              <a:t>	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35</a:t>
            </a:fld>
            <a:endParaRPr lang="en-US" altLang="zh-CN" dirty="0" smtClean="0"/>
          </a:p>
        </p:txBody>
      </p:sp>
      <p:graphicFrame>
        <p:nvGraphicFramePr>
          <p:cNvPr id="31748" name="Object 4"/>
          <p:cNvGraphicFramePr>
            <a:graphicFrameLocks noChangeAspect="1"/>
          </p:cNvGraphicFramePr>
          <p:nvPr/>
        </p:nvGraphicFramePr>
        <p:xfrm>
          <a:off x="3505200" y="2209800"/>
          <a:ext cx="66992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1" name="Equation" r:id="rId3" imgW="495000" imgH="203040" progId="Equation.3">
                  <p:embed/>
                </p:oleObj>
              </mc:Choice>
              <mc:Fallback>
                <p:oleObj name="Equation" r:id="rId3" imgW="49500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209800"/>
                        <a:ext cx="669925" cy="27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905000"/>
            <a:ext cx="990600" cy="247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 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an urn contains 100 resistors of different resistance and power ratings. The number of the different types are listed as follows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Pick 1 resistor</a:t>
            </a:r>
          </a:p>
          <a:p>
            <a:pPr lvl="1"/>
            <a:r>
              <a:rPr lang="en-US" dirty="0" smtClean="0"/>
              <a:t>What is the probability that the resistor has a power rating of 1 W?</a:t>
            </a:r>
          </a:p>
          <a:p>
            <a:pPr lvl="1"/>
            <a:r>
              <a:rPr lang="en-US" dirty="0" smtClean="0"/>
              <a:t>What is the probability that the resistor has a resistance of 10 Ohm?</a:t>
            </a:r>
          </a:p>
          <a:p>
            <a:pPr lvl="1"/>
            <a:r>
              <a:rPr lang="en-US" dirty="0" smtClean="0"/>
              <a:t>What is the probability that the resistor is 10 Ohm with 1 W rating?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36</a:t>
            </a:fld>
            <a:endParaRPr lang="en-US" altLang="zh-CN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05000" y="1905000"/>
          <a:ext cx="5334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</a:tblGrid>
              <a:tr h="2857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Ohm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 Ohm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r>
                        <a:rPr lang="en-US" baseline="0" dirty="0" smtClean="0"/>
                        <a:t> Ohm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Totals</a:t>
                      </a:r>
                      <a:endParaRPr lang="en-US" dirty="0"/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lang="en-US" dirty="0" smtClean="0"/>
                        <a:t>1 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lang="en-US" dirty="0" smtClean="0"/>
                        <a:t>10 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lang="en-US" dirty="0" smtClean="0"/>
                        <a:t>Totals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 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Conditional Probability</a:t>
            </a:r>
          </a:p>
          <a:p>
            <a:pPr lvl="1"/>
            <a:r>
              <a:rPr lang="en-US" dirty="0" smtClean="0"/>
              <a:t>Pr(E|F): Given the condition that the event F occurred, the probability that E occurs. </a:t>
            </a:r>
          </a:p>
          <a:p>
            <a:pPr lvl="1"/>
            <a:r>
              <a:rPr lang="en-US" dirty="0" smtClean="0"/>
              <a:t>Example: </a:t>
            </a:r>
          </a:p>
          <a:p>
            <a:pPr lvl="2"/>
            <a:r>
              <a:rPr lang="en-US" dirty="0" smtClean="0"/>
              <a:t>(Cont’d from the previous example) Pick one resistor. If the picked resistor has a 1W rating, what is the probability that the resistor is 10 Ohm?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2"/>
            <a:r>
              <a:rPr lang="en-US" dirty="0" smtClean="0"/>
              <a:t>Pr(10 Ohm|1W) = 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Pr(10Ohm, 1W) =Pr(10 Ohm|1W)Pr(1W)</a:t>
            </a:r>
          </a:p>
          <a:p>
            <a:pPr lvl="2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37</a:t>
            </a:fld>
            <a:endParaRPr lang="en-US" altLang="zh-CN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81200" y="3048000"/>
          <a:ext cx="5334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</a:tblGrid>
              <a:tr h="2857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Ohm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 Ohm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r>
                        <a:rPr lang="en-US" baseline="0" dirty="0" smtClean="0"/>
                        <a:t> Ohm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Totals</a:t>
                      </a:r>
                      <a:endParaRPr lang="en-US" dirty="0"/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lang="en-US" dirty="0" smtClean="0"/>
                        <a:t>1 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lang="en-US" dirty="0" smtClean="0"/>
                        <a:t>10 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lang="en-US" dirty="0" smtClean="0"/>
                        <a:t>Totals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 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Conditional Probability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38</a:t>
            </a:fld>
            <a:endParaRPr lang="en-US" altLang="zh-CN" dirty="0" smtClean="0"/>
          </a:p>
        </p:txBody>
      </p:sp>
      <p:graphicFrame>
        <p:nvGraphicFramePr>
          <p:cNvPr id="32770" name="Object 2"/>
          <p:cNvGraphicFramePr>
            <a:graphicFrameLocks noChangeAspect="1"/>
          </p:cNvGraphicFramePr>
          <p:nvPr/>
        </p:nvGraphicFramePr>
        <p:xfrm>
          <a:off x="2971800" y="1371600"/>
          <a:ext cx="16319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0" name="Equation" r:id="rId3" imgW="1206360" imgH="419040" progId="Equation.3">
                  <p:embed/>
                </p:oleObj>
              </mc:Choice>
              <mc:Fallback>
                <p:oleObj name="Equation" r:id="rId3" imgW="120636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371600"/>
                        <a:ext cx="1631950" cy="5635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1828800" y="2133600"/>
          <a:ext cx="350520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1" name="Equation" r:id="rId5" imgW="2590560" imgH="203040" progId="Equation.3">
                  <p:embed/>
                </p:oleObj>
              </mc:Choice>
              <mc:Fallback>
                <p:oleObj name="Equation" r:id="rId5" imgW="259056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133600"/>
                        <a:ext cx="3505200" cy="2730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 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sz="1600" dirty="0" smtClean="0"/>
              <a:t>Consider a bin contains 100 diodes. Among them, 20 are known to be bad. Pick 2 diodes from the bin</a:t>
            </a:r>
          </a:p>
          <a:p>
            <a:pPr lvl="2"/>
            <a:r>
              <a:rPr lang="en-US" sz="1600" dirty="0" smtClean="0"/>
              <a:t>Sample space</a:t>
            </a:r>
          </a:p>
          <a:p>
            <a:pPr lvl="2"/>
            <a:r>
              <a:rPr lang="en-US" sz="1600" dirty="0" smtClean="0"/>
              <a:t>The probability that the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one is bad</a:t>
            </a:r>
          </a:p>
          <a:p>
            <a:pPr lvl="2"/>
            <a:r>
              <a:rPr lang="en-US" sz="1600" dirty="0" smtClean="0"/>
              <a:t>If the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one is bad, what is the probability that the 2</a:t>
            </a:r>
            <a:r>
              <a:rPr lang="en-US" sz="1600" baseline="30000" dirty="0" smtClean="0"/>
              <a:t>nd</a:t>
            </a:r>
            <a:r>
              <a:rPr lang="en-US" sz="1600" dirty="0" smtClean="0"/>
              <a:t> one is bad?</a:t>
            </a:r>
          </a:p>
          <a:p>
            <a:pPr lvl="2"/>
            <a:r>
              <a:rPr lang="en-US" sz="1600" dirty="0" smtClean="0"/>
              <a:t>If the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one is good, what is the probability that the 2</a:t>
            </a:r>
            <a:r>
              <a:rPr lang="en-US" sz="1600" baseline="30000" dirty="0" smtClean="0"/>
              <a:t>nd</a:t>
            </a:r>
            <a:r>
              <a:rPr lang="en-US" sz="1600" dirty="0" smtClean="0"/>
              <a:t> one is bad?</a:t>
            </a:r>
          </a:p>
          <a:p>
            <a:pPr lvl="2"/>
            <a:r>
              <a:rPr lang="en-US" sz="1600" dirty="0" smtClean="0"/>
              <a:t>The probability that both are bad.</a:t>
            </a:r>
          </a:p>
          <a:p>
            <a:pPr lvl="2"/>
            <a:r>
              <a:rPr lang="en-US" sz="1600" dirty="0" smtClean="0"/>
              <a:t>The probability that the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one is good, the 2</a:t>
            </a:r>
            <a:r>
              <a:rPr lang="en-US" sz="1600" baseline="30000" dirty="0" smtClean="0"/>
              <a:t>nd</a:t>
            </a:r>
            <a:r>
              <a:rPr lang="en-US" sz="1600" dirty="0" smtClean="0"/>
              <a:t> one is bad.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39</a:t>
            </a:fld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 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Cards numbered 1 through 10 are placed in a hat. Pick one card. If we are told that the number on the card is at least 5. What is the probability that the card is 10?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40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 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Suppose an urn contains 7 black balls and 5 white balls. We draw 2 balls from the urn without replacement. What is the probability that both balls are black?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41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 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Alice can take either Chemistry or Physics. If Alice takes Chemistry, the probability that she will get an A is 0.5. If she takes Physics, the probability that she will get an A is 0.6. If Alice decides which course to take by flipping a fair coin. What is the probability that Alice gets an A in Chemistry?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42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43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Applications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Set Theory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Experiments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Probability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Conditional probability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Independence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err="1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Bayes</a:t>
            </a: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’ Formula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Bernoulli trials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Independence</a:t>
            </a:r>
          </a:p>
          <a:p>
            <a:pPr lvl="1"/>
            <a:r>
              <a:rPr lang="en-US" dirty="0" smtClean="0"/>
              <a:t>Two events, A and B, are independent, if and only if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If A and B are independent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Independent        mutually exclusive</a:t>
            </a:r>
          </a:p>
          <a:p>
            <a:pPr lvl="2"/>
            <a:r>
              <a:rPr lang="en-US" dirty="0" smtClean="0"/>
              <a:t>A and B are independent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A and B are mutually exclusive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1"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44</a:t>
            </a:fld>
            <a:endParaRPr lang="en-US" altLang="zh-CN" dirty="0" smtClean="0"/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3048000" y="1752600"/>
          <a:ext cx="183832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1" name="Equation" r:id="rId3" imgW="1358640" imgH="203040" progId="Equation.3">
                  <p:embed/>
                </p:oleObj>
              </mc:Choice>
              <mc:Fallback>
                <p:oleObj name="Equation" r:id="rId3" imgW="135864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752600"/>
                        <a:ext cx="1838325" cy="2730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2133600" y="2667000"/>
          <a:ext cx="944562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2" name="Equation" r:id="rId5" imgW="698400" imgH="203040" progId="Equation.3">
                  <p:embed/>
                </p:oleObj>
              </mc:Choice>
              <mc:Fallback>
                <p:oleObj name="Equation" r:id="rId5" imgW="69840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667000"/>
                        <a:ext cx="944562" cy="27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2133600" y="3048000"/>
          <a:ext cx="944563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3" name="Equation" r:id="rId7" imgW="698400" imgH="203040" progId="Equation.3">
                  <p:embed/>
                </p:oleObj>
              </mc:Choice>
              <mc:Fallback>
                <p:oleObj name="Equation" r:id="rId7" imgW="69840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048000"/>
                        <a:ext cx="944563" cy="27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6"/>
          <p:cNvGraphicFramePr>
            <a:graphicFrameLocks noChangeAspect="1"/>
          </p:cNvGraphicFramePr>
          <p:nvPr/>
        </p:nvGraphicFramePr>
        <p:xfrm>
          <a:off x="2667000" y="3581400"/>
          <a:ext cx="30738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4" name="Equation" r:id="rId9" imgW="139680" imgH="139680" progId="Equation.3">
                  <p:embed/>
                </p:oleObj>
              </mc:Choice>
              <mc:Fallback>
                <p:oleObj name="Equation" r:id="rId9" imgW="139680" imgH="1396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581400"/>
                        <a:ext cx="30738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40429" y="4220780"/>
            <a:ext cx="2307771" cy="3023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81700" y="4212460"/>
            <a:ext cx="1197753" cy="2833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3496" y="4996909"/>
            <a:ext cx="2514600" cy="2765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6941" y="4935155"/>
            <a:ext cx="1374460" cy="312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Toss a fair coin twice. Are the two trials independent?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Suppose an urn contains 7 black balls and 5 white balls. We draw 2 balls from the urn without replacement. Are the result of the 1</a:t>
            </a:r>
            <a:r>
              <a:rPr lang="en-US" baseline="30000" dirty="0" smtClean="0"/>
              <a:t>st</a:t>
            </a:r>
            <a:r>
              <a:rPr lang="en-US" dirty="0" smtClean="0"/>
              <a:t> draw independent of the 2</a:t>
            </a:r>
            <a:r>
              <a:rPr lang="en-US" baseline="30000" dirty="0" smtClean="0"/>
              <a:t>nd</a:t>
            </a:r>
            <a:r>
              <a:rPr lang="en-US" dirty="0" smtClean="0"/>
              <a:t> draw?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45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Toss 2 dice. Define event A as getting a 5, and event B as getting a 7.</a:t>
            </a:r>
          </a:p>
          <a:p>
            <a:pPr lvl="2"/>
            <a:r>
              <a:rPr lang="en-US" dirty="0" smtClean="0"/>
              <a:t>Are A and B independent? </a:t>
            </a:r>
          </a:p>
          <a:p>
            <a:pPr lvl="2"/>
            <a:r>
              <a:rPr lang="en-US" dirty="0" smtClean="0"/>
              <a:t>Are A and B mutually exclusive?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Toss 2 dice. Define event A as getting an odd number, and event B as getting a 7.</a:t>
            </a:r>
          </a:p>
          <a:p>
            <a:pPr lvl="2"/>
            <a:r>
              <a:rPr lang="en-US" dirty="0" smtClean="0"/>
              <a:t>Are A and B independent?</a:t>
            </a:r>
          </a:p>
          <a:p>
            <a:pPr lvl="2"/>
            <a:r>
              <a:rPr lang="en-US" dirty="0" smtClean="0"/>
              <a:t>Are A and B mutually exclusive?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46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 deck of 52 cards. Let A be the event of selecting an Ace, and let B be the event of selecting a Heart. 1. Are A and B independent? Are A and B mutually exclusive?</a:t>
            </a:r>
          </a:p>
          <a:p>
            <a:pPr lvl="2"/>
            <a:r>
              <a:rPr lang="en-US" dirty="0" smtClean="0"/>
              <a:t>4 suits: {club, spade, heart, diamond}</a:t>
            </a:r>
          </a:p>
          <a:p>
            <a:pPr lvl="2"/>
            <a:r>
              <a:rPr lang="en-US" dirty="0" smtClean="0"/>
              <a:t>13 denominations: {Ace, 2, 3, 4, 5, 6, 7, 8, 9, 10, Jack, Queen, King}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47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Pairwise</a:t>
            </a:r>
            <a:r>
              <a:rPr lang="en-US" dirty="0" smtClean="0"/>
              <a:t> independence</a:t>
            </a:r>
          </a:p>
          <a:p>
            <a:pPr lvl="1"/>
            <a:r>
              <a:rPr lang="en-US" dirty="0" smtClean="0"/>
              <a:t>A sequence of events                     are called </a:t>
            </a:r>
            <a:r>
              <a:rPr lang="en-US" dirty="0" err="1" smtClean="0"/>
              <a:t>pairwise</a:t>
            </a:r>
            <a:r>
              <a:rPr lang="en-US" dirty="0" smtClean="0"/>
              <a:t> independent if </a:t>
            </a:r>
            <a:r>
              <a:rPr lang="en-US" dirty="0" smtClean="0">
                <a:solidFill>
                  <a:srgbClr val="FF0000"/>
                </a:solidFill>
              </a:rPr>
              <a:t>any pair of events</a:t>
            </a:r>
            <a:r>
              <a:rPr lang="en-US" dirty="0" smtClean="0"/>
              <a:t> are independent 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Independence</a:t>
            </a:r>
          </a:p>
          <a:p>
            <a:pPr lvl="1"/>
            <a:r>
              <a:rPr lang="en-US" dirty="0" smtClean="0"/>
              <a:t>A sequence of events                     are independent if any subset of the sequence are independent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Example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48</a:t>
            </a:fld>
            <a:endParaRPr lang="en-US" altLang="zh-CN" dirty="0" smtClean="0"/>
          </a:p>
        </p:txBody>
      </p:sp>
      <p:graphicFrame>
        <p:nvGraphicFramePr>
          <p:cNvPr id="59394" name="Object 2"/>
          <p:cNvGraphicFramePr>
            <a:graphicFrameLocks noChangeAspect="1"/>
          </p:cNvGraphicFramePr>
          <p:nvPr/>
        </p:nvGraphicFramePr>
        <p:xfrm>
          <a:off x="5791200" y="1905000"/>
          <a:ext cx="58420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24" name="Equation" r:id="rId3" imgW="431640" imgH="203040" progId="Equation.3">
                  <p:embed/>
                </p:oleObj>
              </mc:Choice>
              <mc:Fallback>
                <p:oleObj name="Equation" r:id="rId3" imgW="43164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905000"/>
                        <a:ext cx="584200" cy="27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5" name="Object 3"/>
          <p:cNvGraphicFramePr>
            <a:graphicFrameLocks noChangeAspect="1"/>
          </p:cNvGraphicFramePr>
          <p:nvPr/>
        </p:nvGraphicFramePr>
        <p:xfrm>
          <a:off x="2693988" y="1905000"/>
          <a:ext cx="209391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25" name="Equation" r:id="rId5" imgW="1549080" imgH="241200" progId="Equation.3">
                  <p:embed/>
                </p:oleObj>
              </mc:Choice>
              <mc:Fallback>
                <p:oleObj name="Equation" r:id="rId5" imgW="1549080" imgH="241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988" y="1905000"/>
                        <a:ext cx="2093912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6" name="Object 4"/>
          <p:cNvGraphicFramePr>
            <a:graphicFrameLocks noChangeAspect="1"/>
          </p:cNvGraphicFramePr>
          <p:nvPr/>
        </p:nvGraphicFramePr>
        <p:xfrm>
          <a:off x="3429000" y="1295400"/>
          <a:ext cx="1100137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26" name="Equation" r:id="rId7" imgW="812520" imgH="228600" progId="Equation.3">
                  <p:embed/>
                </p:oleObj>
              </mc:Choice>
              <mc:Fallback>
                <p:oleObj name="Equation" r:id="rId7" imgW="81252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295400"/>
                        <a:ext cx="1100137" cy="30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1" name="Object 9"/>
          <p:cNvGraphicFramePr>
            <a:graphicFrameLocks noChangeAspect="1"/>
          </p:cNvGraphicFramePr>
          <p:nvPr/>
        </p:nvGraphicFramePr>
        <p:xfrm>
          <a:off x="2362200" y="3886200"/>
          <a:ext cx="1117600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27" name="Equation" r:id="rId9" imgW="825480" imgH="228600" progId="Equation.3">
                  <p:embed/>
                </p:oleObj>
              </mc:Choice>
              <mc:Fallback>
                <p:oleObj name="Equation" r:id="rId9" imgW="825480" imgH="2286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886200"/>
                        <a:ext cx="1117600" cy="30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2918" y="2604708"/>
            <a:ext cx="1126219" cy="2689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31156" y="3169217"/>
            <a:ext cx="3595688" cy="3382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43223" y="3177071"/>
            <a:ext cx="1671977" cy="28172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Let a ball be drawn from an urn containing 4 balls, numbered 1, 2, 3, 4. Let E = {1, 2}, F = {1, 3}, G = {1, 4}. </a:t>
            </a:r>
          </a:p>
          <a:p>
            <a:pPr lvl="2"/>
            <a:r>
              <a:rPr lang="en-US" dirty="0" smtClean="0"/>
              <a:t>Are E, F, G </a:t>
            </a:r>
            <a:r>
              <a:rPr lang="en-US" dirty="0" err="1" smtClean="0"/>
              <a:t>pairwise</a:t>
            </a:r>
            <a:r>
              <a:rPr lang="en-US" dirty="0" smtClean="0"/>
              <a:t> independent?</a:t>
            </a:r>
          </a:p>
          <a:p>
            <a:pPr lvl="2"/>
            <a:r>
              <a:rPr lang="en-US" dirty="0" smtClean="0"/>
              <a:t>Are E, F, G independent?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49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INDEPENDENCE: COMBINED EXPERIMENT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Combined experiment</a:t>
            </a:r>
          </a:p>
          <a:p>
            <a:pPr lvl="1"/>
            <a:r>
              <a:rPr lang="en-US" dirty="0" smtClean="0"/>
              <a:t>Example: a combined experiment is performed in which a coin is flipped and a single die is rolled. </a:t>
            </a:r>
          </a:p>
          <a:p>
            <a:pPr lvl="2"/>
            <a:r>
              <a:rPr lang="en-US" dirty="0" smtClean="0"/>
              <a:t>Write the sample space.</a:t>
            </a:r>
          </a:p>
          <a:p>
            <a:pPr lvl="2"/>
            <a:r>
              <a:rPr lang="en-US" dirty="0" smtClean="0"/>
              <a:t>Let A be the event of obtaining a head and a number 3 or less. Find the probability of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50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INDEPENDENCE: COMBINED EXPERIMENT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Combined experiment</a:t>
            </a:r>
          </a:p>
          <a:p>
            <a:pPr lvl="1"/>
            <a:r>
              <a:rPr lang="en-US" dirty="0" smtClean="0"/>
              <a:t>Two or more experiments are performed together, forming a combined experiment.</a:t>
            </a:r>
          </a:p>
          <a:p>
            <a:pPr lvl="1"/>
            <a:r>
              <a:rPr lang="en-US" dirty="0" smtClean="0"/>
              <a:t>Experiment 1 has a sample space </a:t>
            </a:r>
          </a:p>
          <a:p>
            <a:pPr lvl="1"/>
            <a:r>
              <a:rPr lang="en-US" dirty="0" smtClean="0"/>
              <a:t>Experiment 2 has a sample space</a:t>
            </a:r>
          </a:p>
          <a:p>
            <a:pPr lvl="1"/>
            <a:r>
              <a:rPr lang="en-US" dirty="0" smtClean="0"/>
              <a:t>Then the sample space of the combined experiment is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                  is called the Cartesian product of        and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51</a:t>
            </a:fld>
            <a:endParaRPr lang="en-US" altLang="zh-CN" dirty="0" smtClean="0"/>
          </a:p>
        </p:txBody>
      </p:sp>
      <p:graphicFrame>
        <p:nvGraphicFramePr>
          <p:cNvPr id="60421" name="Object 5"/>
          <p:cNvGraphicFramePr>
            <a:graphicFrameLocks noChangeAspect="1"/>
          </p:cNvGraphicFramePr>
          <p:nvPr/>
        </p:nvGraphicFramePr>
        <p:xfrm>
          <a:off x="1905000" y="3505200"/>
          <a:ext cx="90963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3" name="Equation" r:id="rId3" imgW="672840" imgH="215640" progId="Equation.3">
                  <p:embed/>
                </p:oleObj>
              </mc:Choice>
              <mc:Fallback>
                <p:oleObj name="Equation" r:id="rId3" imgW="67284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505200"/>
                        <a:ext cx="909637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2" name="Object 6"/>
          <p:cNvGraphicFramePr>
            <a:graphicFrameLocks noChangeAspect="1"/>
          </p:cNvGraphicFramePr>
          <p:nvPr/>
        </p:nvGraphicFramePr>
        <p:xfrm>
          <a:off x="6019800" y="3505200"/>
          <a:ext cx="22383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4" name="Equation" r:id="rId5" imgW="164880" imgH="215640" progId="Equation.3">
                  <p:embed/>
                </p:oleObj>
              </mc:Choice>
              <mc:Fallback>
                <p:oleObj name="Equation" r:id="rId5" imgW="16488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505200"/>
                        <a:ext cx="223838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3" name="Object 7"/>
          <p:cNvGraphicFramePr>
            <a:graphicFrameLocks noChangeAspect="1"/>
          </p:cNvGraphicFramePr>
          <p:nvPr/>
        </p:nvGraphicFramePr>
        <p:xfrm>
          <a:off x="6858000" y="3505200"/>
          <a:ext cx="2397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5" name="Equation" r:id="rId7" imgW="177480" imgH="215640" progId="Equation.3">
                  <p:embed/>
                </p:oleObj>
              </mc:Choice>
              <mc:Fallback>
                <p:oleObj name="Equation" r:id="rId7" imgW="177480" imgH="215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505200"/>
                        <a:ext cx="239712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6800" y="1885686"/>
            <a:ext cx="1752600" cy="2981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9457" y="2241894"/>
            <a:ext cx="1719943" cy="2500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5400" y="2991310"/>
            <a:ext cx="6450012" cy="38968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Applications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Set Theory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Experiments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Probability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Conditional probability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Independence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err="1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Bayes</a:t>
            </a: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’ Formula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Bernoulli trials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BAYES’ FORMULA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Total probability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If we know P(A|B), how do we find out P(A) </a:t>
            </a:r>
          </a:p>
          <a:p>
            <a:pPr lvl="2"/>
            <a:r>
              <a:rPr lang="en-US" dirty="0" smtClean="0"/>
              <a:t>Conditional probability </a:t>
            </a:r>
            <a:r>
              <a:rPr lang="en-US" dirty="0" smtClean="0">
                <a:sym typeface="Wingdings" pitchFamily="2" charset="2"/>
              </a:rPr>
              <a:t> Unconditional probability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Suppose                      are mutually exclusive events and  </a:t>
            </a:r>
          </a:p>
          <a:p>
            <a:pPr marL="457200" lvl="1" indent="0">
              <a:buNone/>
            </a:pPr>
            <a:endParaRPr lang="en-US" dirty="0" smtClean="0">
              <a:sym typeface="Wingdings" pitchFamily="2" charset="2"/>
            </a:endParaRPr>
          </a:p>
          <a:p>
            <a:pPr lvl="2"/>
            <a:endParaRPr lang="en-US" dirty="0" smtClean="0">
              <a:sym typeface="Wingdings" pitchFamily="2" charset="2"/>
            </a:endParaRPr>
          </a:p>
          <a:p>
            <a:pPr lvl="2"/>
            <a:r>
              <a:rPr lang="en-US" dirty="0" smtClean="0">
                <a:sym typeface="Wingdings" pitchFamily="2" charset="2"/>
              </a:rPr>
              <a:t>Proof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53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958340"/>
            <a:ext cx="1828800" cy="2514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991168"/>
            <a:ext cx="1152525" cy="1965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2436728"/>
            <a:ext cx="5943600" cy="308143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BAYES’ FORMULA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sz="1600" dirty="0" smtClean="0"/>
              <a:t>Consider two urns. The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contains 3 white and 7 black balls. The 2</a:t>
            </a:r>
            <a:r>
              <a:rPr lang="en-US" sz="1600" baseline="30000" dirty="0" smtClean="0"/>
              <a:t>nd</a:t>
            </a:r>
            <a:r>
              <a:rPr lang="en-US" sz="1600" dirty="0" smtClean="0"/>
              <a:t> contains 8 white and 2 black balls. We flip a fair coin and then draw a ball from the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urn if the coin is head, and draw a ball from the 2</a:t>
            </a:r>
            <a:r>
              <a:rPr lang="en-US" sz="1600" baseline="30000" dirty="0" smtClean="0"/>
              <a:t>nd</a:t>
            </a:r>
            <a:r>
              <a:rPr lang="en-US" sz="1600" dirty="0" smtClean="0"/>
              <a:t> urn if the coin is tail. </a:t>
            </a:r>
          </a:p>
          <a:p>
            <a:pPr lvl="2"/>
            <a:r>
              <a:rPr lang="en-US" sz="1600" dirty="0" smtClean="0"/>
              <a:t>What is the probability drawing from the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urn?</a:t>
            </a:r>
          </a:p>
          <a:p>
            <a:pPr lvl="2"/>
            <a:r>
              <a:rPr lang="en-US" sz="1600" dirty="0" smtClean="0"/>
              <a:t>What is the probability of drawing a black ball from the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urn?</a:t>
            </a:r>
          </a:p>
          <a:p>
            <a:pPr lvl="2"/>
            <a:r>
              <a:rPr lang="en-US" sz="1600" dirty="0" smtClean="0"/>
              <a:t>What is the probability of drawing a black ball from the 2</a:t>
            </a:r>
            <a:r>
              <a:rPr lang="en-US" sz="1600" baseline="30000" dirty="0" smtClean="0"/>
              <a:t>nd</a:t>
            </a:r>
            <a:r>
              <a:rPr lang="en-US" sz="1600" dirty="0" smtClean="0"/>
              <a:t> urn?</a:t>
            </a:r>
          </a:p>
          <a:p>
            <a:pPr lvl="2"/>
            <a:r>
              <a:rPr lang="en-US" sz="1600" dirty="0" smtClean="0"/>
              <a:t>What is the probability of drawing a black ball?</a:t>
            </a:r>
          </a:p>
          <a:p>
            <a:pPr lvl="2">
              <a:buNone/>
            </a:pPr>
            <a:endParaRPr lang="en-US" sz="1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54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BAYES’ FORMULA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Bayes’ formula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>
                    <a:sym typeface="Wingdings" pitchFamily="2" charset="2"/>
                  </a:rPr>
                  <a:t>Suppose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 smtClean="0">
                    <a:sym typeface="Wingdings" pitchFamily="2" charset="2"/>
                  </a:rPr>
                  <a:t> are mutually exclusive events and</a:t>
                </a:r>
                <a:endParaRPr lang="en-US" dirty="0" smtClean="0"/>
              </a:p>
              <a:p>
                <a:endParaRPr lang="en-US" dirty="0" smtClean="0"/>
              </a:p>
              <a:p>
                <a:pPr lvl="1"/>
                <a:endParaRPr lang="en-US" dirty="0" smtClean="0"/>
              </a:p>
              <a:p>
                <a:pPr lvl="1"/>
                <a:endParaRPr lang="en-US" dirty="0" smtClean="0"/>
              </a:p>
              <a:p>
                <a:pPr lvl="1"/>
                <a:r>
                  <a:rPr lang="en-US" dirty="0" smtClean="0"/>
                  <a:t>Proof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706" t="-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55</a:t>
            </a:fld>
            <a:endParaRPr lang="en-US" altLang="zh-CN" dirty="0" smtClean="0"/>
          </a:p>
        </p:txBody>
      </p:sp>
      <p:graphicFrame>
        <p:nvGraphicFramePr>
          <p:cNvPr id="614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941323"/>
              </p:ext>
            </p:extLst>
          </p:nvPr>
        </p:nvGraphicFramePr>
        <p:xfrm>
          <a:off x="2385218" y="2110190"/>
          <a:ext cx="4221163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7" name="Equation" r:id="rId4" imgW="3124080" imgH="622080" progId="Equation.3">
                  <p:embed/>
                </p:oleObj>
              </mc:Choice>
              <mc:Fallback>
                <p:oleObj name="Equation" r:id="rId4" imgW="3124080" imgH="6220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5218" y="2110190"/>
                        <a:ext cx="4221163" cy="8350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248400" y="1586871"/>
                <a:ext cx="28374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∪…∪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1586871"/>
                <a:ext cx="2837443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BAYES’ FORMULA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sz="1600" dirty="0" smtClean="0"/>
              <a:t>Consider two urns. The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contains 3 white and 7 black balls. The 2</a:t>
            </a:r>
            <a:r>
              <a:rPr lang="en-US" sz="1600" baseline="30000" dirty="0" smtClean="0"/>
              <a:t>nd</a:t>
            </a:r>
            <a:r>
              <a:rPr lang="en-US" sz="1600" dirty="0" smtClean="0"/>
              <a:t> contains 8 white and 2 black balls. We flip a fair coin and then draw a ball from the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urn if the coin is head, and draw a ball from the 2</a:t>
            </a:r>
            <a:r>
              <a:rPr lang="en-US" sz="1600" baseline="30000" dirty="0" smtClean="0"/>
              <a:t>nd</a:t>
            </a:r>
            <a:r>
              <a:rPr lang="en-US" sz="1600" dirty="0" smtClean="0"/>
              <a:t> urn if the coin is tail. </a:t>
            </a:r>
          </a:p>
          <a:p>
            <a:pPr lvl="2"/>
            <a:r>
              <a:rPr lang="en-US" sz="1600" dirty="0" smtClean="0"/>
              <a:t>If we draw a black ball, what is the probability that we draw it from the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urn?</a:t>
            </a:r>
          </a:p>
          <a:p>
            <a:pPr lvl="2"/>
            <a:r>
              <a:rPr lang="en-US" sz="1600" dirty="0" smtClean="0"/>
              <a:t>If we draw a black ball, what is the probability that we draw it from the 2</a:t>
            </a:r>
            <a:r>
              <a:rPr lang="en-US" sz="1600" baseline="30000" dirty="0" smtClean="0"/>
              <a:t>nd</a:t>
            </a:r>
            <a:r>
              <a:rPr lang="en-US" sz="1600" dirty="0" smtClean="0"/>
              <a:t> urn?</a:t>
            </a:r>
          </a:p>
          <a:p>
            <a:pPr lvl="2">
              <a:buNone/>
            </a:pPr>
            <a:endParaRPr lang="en-US" sz="1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56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BAYES’ FORMULA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Alice can take either Chemistry or Physics. If Alice takes Chemistry, the probability that she will get an A is 0.5. If she takes Physics, the probability that she will get an A is 0.6. If Alice decides which course to take by flipping a fair coin. If Alice gets an A, what is the probability that she takes Chemistry?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57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BAYES’ FORMULA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Example</a:t>
            </a:r>
          </a:p>
          <a:p>
            <a:pPr lvl="1"/>
            <a:r>
              <a:rPr lang="en-US" sz="1600" dirty="0" smtClean="0"/>
              <a:t>A manufacture buys components in equal amount from 4 different suppliers. The probability that components from supplier 1 are bad is 0.05, that components from supplier 2 are bad is 0.1, that components from supplier 3 are bad is 0.2, that components from supplier 4 are bad is 0.15, </a:t>
            </a:r>
          </a:p>
          <a:p>
            <a:pPr lvl="2"/>
            <a:r>
              <a:rPr lang="en-US" sz="1600" dirty="0" smtClean="0"/>
              <a:t>The probability that a component is bad.</a:t>
            </a:r>
          </a:p>
          <a:p>
            <a:pPr lvl="2"/>
            <a:r>
              <a:rPr lang="en-US" sz="1600" dirty="0" smtClean="0"/>
              <a:t>If a component is bad, the probability that it is from supplier 2. 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58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BAYES’ FORMULA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Example</a:t>
            </a:r>
          </a:p>
          <a:p>
            <a:pPr lvl="1"/>
            <a:r>
              <a:rPr lang="en-US" sz="1600" dirty="0" smtClean="0"/>
              <a:t>A lab blood test to detect a certain disease. If the disease is present, the test can detect it 95% of the time. However, the test also gives a “false positive” result for 1% of the healthy person being tested (that is, if a healthy person is tested, then, with probability 0.01, the result will imply the person has the disease). Assume 0.5% of the population actually has the disease. If the test result of a person is positive, what is the probability that the person actually has the disease?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59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60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Applications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Set Theory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Experiments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Probability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Conditional probability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Independence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err="1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Bayes</a:t>
            </a: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’ Formula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Bernoulli trials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BERNOULLI TRIALS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Bernoulli trials</a:t>
            </a:r>
          </a:p>
          <a:p>
            <a:pPr lvl="1"/>
            <a:r>
              <a:rPr lang="en-US" dirty="0" smtClean="0"/>
              <a:t>Consider an experiment with event </a:t>
            </a:r>
            <a:r>
              <a:rPr lang="en-US" i="1" dirty="0" smtClean="0"/>
              <a:t>A</a:t>
            </a:r>
            <a:r>
              <a:rPr lang="en-US" dirty="0" smtClean="0"/>
              <a:t>, and Pr(</a:t>
            </a:r>
            <a:r>
              <a:rPr lang="en-US" i="1" dirty="0" smtClean="0"/>
              <a:t>A</a:t>
            </a:r>
            <a:r>
              <a:rPr lang="en-US" dirty="0" smtClean="0"/>
              <a:t>) = </a:t>
            </a:r>
            <a:r>
              <a:rPr lang="en-US" i="1" dirty="0" smtClean="0"/>
              <a:t>p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Repeat the experiment </a:t>
            </a:r>
            <a:r>
              <a:rPr lang="en-US" i="1" dirty="0" smtClean="0"/>
              <a:t>n</a:t>
            </a:r>
            <a:r>
              <a:rPr lang="en-US" dirty="0" smtClean="0"/>
              <a:t> times, what is the probability that event A happens exactly </a:t>
            </a:r>
            <a:r>
              <a:rPr lang="en-US" i="1" dirty="0" smtClean="0"/>
              <a:t>k</a:t>
            </a:r>
            <a:r>
              <a:rPr lang="en-US" dirty="0" smtClean="0"/>
              <a:t> times?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composite events that there are exactly </a:t>
            </a:r>
            <a:r>
              <a:rPr lang="en-US" i="1" dirty="0" smtClean="0"/>
              <a:t>k</a:t>
            </a:r>
            <a:r>
              <a:rPr lang="en-US" dirty="0" smtClean="0"/>
              <a:t> event </a:t>
            </a:r>
            <a:r>
              <a:rPr lang="en-US" i="1" dirty="0" smtClean="0"/>
              <a:t>A</a:t>
            </a:r>
            <a:r>
              <a:rPr lang="en-US" dirty="0" smtClean="0"/>
              <a:t> in </a:t>
            </a:r>
            <a:r>
              <a:rPr lang="en-US" i="1" dirty="0" smtClean="0"/>
              <a:t>n</a:t>
            </a:r>
            <a:r>
              <a:rPr lang="en-US" dirty="0" smtClean="0"/>
              <a:t> trials: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probability of one of the events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How many such events are there? </a:t>
            </a:r>
          </a:p>
          <a:p>
            <a:pPr lvl="2"/>
            <a:r>
              <a:rPr lang="en-US" dirty="0" smtClean="0"/>
              <a:t>Choose </a:t>
            </a:r>
            <a:r>
              <a:rPr lang="en-US" i="1" dirty="0" smtClean="0"/>
              <a:t>k</a:t>
            </a:r>
            <a:r>
              <a:rPr lang="en-US" dirty="0" smtClean="0"/>
              <a:t> position out of </a:t>
            </a:r>
            <a:r>
              <a:rPr lang="en-US" i="1" dirty="0" smtClean="0"/>
              <a:t>n</a:t>
            </a:r>
            <a:r>
              <a:rPr lang="en-US" dirty="0" smtClean="0"/>
              <a:t> positions (example, k = 2, n = 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61</a:t>
            </a:fld>
            <a:endParaRPr lang="en-US" altLang="zh-CN" dirty="0" smtClean="0"/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3810000" y="1905000"/>
          <a:ext cx="909637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6" name="Equation" r:id="rId4" imgW="672840" imgH="215640" progId="Equation.3">
                  <p:embed/>
                </p:oleObj>
              </mc:Choice>
              <mc:Fallback>
                <p:oleObj name="Equation" r:id="rId4" imgW="67284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905000"/>
                        <a:ext cx="909637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BERNOULLI TRIALS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7772400" cy="5600700"/>
          </a:xfrm>
        </p:spPr>
        <p:txBody>
          <a:bodyPr/>
          <a:lstStyle/>
          <a:p>
            <a:r>
              <a:rPr lang="en-US" dirty="0" smtClean="0"/>
              <a:t>Bernoulli trials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62</a:t>
            </a:fld>
            <a:endParaRPr lang="en-US" altLang="zh-CN" dirty="0" smtClean="0"/>
          </a:p>
        </p:txBody>
      </p:sp>
      <p:graphicFrame>
        <p:nvGraphicFramePr>
          <p:cNvPr id="64514" name="Object 2"/>
          <p:cNvGraphicFramePr>
            <a:graphicFrameLocks noChangeAspect="1"/>
          </p:cNvGraphicFramePr>
          <p:nvPr/>
        </p:nvGraphicFramePr>
        <p:xfrm>
          <a:off x="1981200" y="1524000"/>
          <a:ext cx="472122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4" name="Equation" r:id="rId3" imgW="3492360" imgH="457200" progId="Equation.3">
                  <p:embed/>
                </p:oleObj>
              </mc:Choice>
              <mc:Fallback>
                <p:oleObj name="Equation" r:id="rId3" imgW="349236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524000"/>
                        <a:ext cx="4721225" cy="6111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3505200" y="2819400"/>
          <a:ext cx="135572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5" name="Equation" r:id="rId5" imgW="1002960" imgH="457200" progId="Equation.3">
                  <p:embed/>
                </p:oleObj>
              </mc:Choice>
              <mc:Fallback>
                <p:oleObj name="Equation" r:id="rId5" imgW="1002960" imgH="457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819400"/>
                        <a:ext cx="1355725" cy="6111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BERNOULLI TRIALS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Toss an unfair coin 6 times. The probability of Head is 0.3. </a:t>
            </a:r>
          </a:p>
          <a:p>
            <a:pPr lvl="2"/>
            <a:r>
              <a:rPr lang="en-US" dirty="0" smtClean="0"/>
              <a:t>What is the probability that the head occurs twice?</a:t>
            </a:r>
          </a:p>
          <a:p>
            <a:pPr lvl="2"/>
            <a:r>
              <a:rPr lang="en-US" dirty="0" smtClean="0"/>
              <a:t>What is the probability that the head occurs more than once?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63</a:t>
            </a:fld>
            <a:endParaRPr lang="en-US" altLang="zh-CN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1439</TotalTime>
  <Words>3966</Words>
  <Application>Microsoft Office PowerPoint</Application>
  <PresentationFormat>On-screen Show (4:3)</PresentationFormat>
  <Paragraphs>827</Paragraphs>
  <Slides>63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2" baseType="lpstr">
      <vt:lpstr>宋体</vt:lpstr>
      <vt:lpstr>Arial</vt:lpstr>
      <vt:lpstr>Arial Black</vt:lpstr>
      <vt:lpstr>Calibri</vt:lpstr>
      <vt:lpstr>Cambria Math</vt:lpstr>
      <vt:lpstr>Times New Roman</vt:lpstr>
      <vt:lpstr>Wingdings</vt:lpstr>
      <vt:lpstr>Office Theme</vt:lpstr>
      <vt:lpstr>Equation</vt:lpstr>
      <vt:lpstr>ELEG 3143 Probability &amp; Stochastic Process Ch. 1 Probability</vt:lpstr>
      <vt:lpstr>OUTLINE</vt:lpstr>
      <vt:lpstr>APPLICARTIONS</vt:lpstr>
      <vt:lpstr>APPLICATIONS</vt:lpstr>
      <vt:lpstr>APPLICATIONS</vt:lpstr>
      <vt:lpstr>APPLICATIONS</vt:lpstr>
      <vt:lpstr>OUTLINE</vt:lpstr>
      <vt:lpstr>SET THEORY</vt:lpstr>
      <vt:lpstr>SET THEORY: VENN DIAGRAM</vt:lpstr>
      <vt:lpstr>SET THEORY</vt:lpstr>
      <vt:lpstr>SET THEORY</vt:lpstr>
      <vt:lpstr>SET THEORY</vt:lpstr>
      <vt:lpstr>SET THEORY</vt:lpstr>
      <vt:lpstr>SET THEORY</vt:lpstr>
      <vt:lpstr>SET THEORY</vt:lpstr>
      <vt:lpstr>SET THEORY</vt:lpstr>
      <vt:lpstr>OUTLINE</vt:lpstr>
      <vt:lpstr>RANDOM EXPERIMENT</vt:lpstr>
      <vt:lpstr>RANDOM EXPERIMENT</vt:lpstr>
      <vt:lpstr>RANDOM EXPERIMENT</vt:lpstr>
      <vt:lpstr>RANDOM EXPERIMENT</vt:lpstr>
      <vt:lpstr>OUTLINE</vt:lpstr>
      <vt:lpstr>PROBABILITY</vt:lpstr>
      <vt:lpstr>PROBABILITY: RELATIVE-FREQUENCY</vt:lpstr>
      <vt:lpstr>PROBABILITY: RELATIVE-FREQUENCY DEFINITION</vt:lpstr>
      <vt:lpstr>PROBABILITY: RELATIVE FREQUENCY</vt:lpstr>
      <vt:lpstr>PROBABILITY: AXIOMATIC DEFINITION </vt:lpstr>
      <vt:lpstr>PROBABILITY</vt:lpstr>
      <vt:lpstr>PROBABILITY</vt:lpstr>
      <vt:lpstr>PROBABILITY</vt:lpstr>
      <vt:lpstr>PROBABILITY</vt:lpstr>
      <vt:lpstr>PROBABILITY</vt:lpstr>
      <vt:lpstr>PROBABILITY</vt:lpstr>
      <vt:lpstr>OUTLINE</vt:lpstr>
      <vt:lpstr>CONDITIONAL PROBABILITY</vt:lpstr>
      <vt:lpstr>CONDITIONAL PROBABILITY</vt:lpstr>
      <vt:lpstr>CONDITIONAL PROBABILITY</vt:lpstr>
      <vt:lpstr>CONDITIONAL PROBABILITY</vt:lpstr>
      <vt:lpstr>CONDITIONAL PROBABILITY</vt:lpstr>
      <vt:lpstr>CONDITIONAL PROBABILITY</vt:lpstr>
      <vt:lpstr>CONDITIONAL PROBABILITY</vt:lpstr>
      <vt:lpstr>CONDITIONAL PROBABILITY</vt:lpstr>
      <vt:lpstr>OUTLINE</vt:lpstr>
      <vt:lpstr>INDEPENDENCE</vt:lpstr>
      <vt:lpstr>INDEPENDENCE</vt:lpstr>
      <vt:lpstr>INDEPENDENCE</vt:lpstr>
      <vt:lpstr>INDEPENDENCE</vt:lpstr>
      <vt:lpstr>INDEPENDENCE</vt:lpstr>
      <vt:lpstr>INDEPENDENCE</vt:lpstr>
      <vt:lpstr>INDEPENDENCE: COMBINED EXPERIMENT</vt:lpstr>
      <vt:lpstr>INDEPENDENCE: COMBINED EXPERIMENT</vt:lpstr>
      <vt:lpstr>OUTLINE</vt:lpstr>
      <vt:lpstr>BAYES’ FORMULA</vt:lpstr>
      <vt:lpstr>BAYES’ FORMULA</vt:lpstr>
      <vt:lpstr>BAYES’ FORMULA</vt:lpstr>
      <vt:lpstr>BAYES’ FORMULA</vt:lpstr>
      <vt:lpstr>BAYES’ FORMULA</vt:lpstr>
      <vt:lpstr>BAYES’ FORMULA</vt:lpstr>
      <vt:lpstr>BAYES’ FORMULA</vt:lpstr>
      <vt:lpstr>OUTLINE</vt:lpstr>
      <vt:lpstr>BERNOULLI TRIALS</vt:lpstr>
      <vt:lpstr>BERNOULLI TRIALS</vt:lpstr>
      <vt:lpstr>BERNOULLI TRIALS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Jingxian Wu</cp:lastModifiedBy>
  <cp:revision>341</cp:revision>
  <dcterms:created xsi:type="dcterms:W3CDTF">2006-08-16T00:00:00Z</dcterms:created>
  <dcterms:modified xsi:type="dcterms:W3CDTF">2018-02-01T18:56:48Z</dcterms:modified>
</cp:coreProperties>
</file>