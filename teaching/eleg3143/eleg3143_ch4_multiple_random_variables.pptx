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9"/>
  </p:notesMasterIdLst>
  <p:sldIdLst>
    <p:sldId id="256" r:id="rId2"/>
    <p:sldId id="360" r:id="rId3"/>
    <p:sldId id="332" r:id="rId4"/>
    <p:sldId id="366" r:id="rId5"/>
    <p:sldId id="333" r:id="rId6"/>
    <p:sldId id="336" r:id="rId7"/>
    <p:sldId id="338" r:id="rId8"/>
    <p:sldId id="367" r:id="rId9"/>
    <p:sldId id="383" r:id="rId10"/>
    <p:sldId id="334" r:id="rId11"/>
    <p:sldId id="337" r:id="rId12"/>
    <p:sldId id="339" r:id="rId13"/>
    <p:sldId id="335" r:id="rId14"/>
    <p:sldId id="368" r:id="rId15"/>
    <p:sldId id="341" r:id="rId16"/>
    <p:sldId id="340" r:id="rId17"/>
    <p:sldId id="342" r:id="rId18"/>
    <p:sldId id="346" r:id="rId19"/>
    <p:sldId id="343" r:id="rId20"/>
    <p:sldId id="344" r:id="rId21"/>
    <p:sldId id="361" r:id="rId22"/>
    <p:sldId id="362" r:id="rId23"/>
    <p:sldId id="382" r:id="rId24"/>
    <p:sldId id="348" r:id="rId25"/>
    <p:sldId id="349" r:id="rId26"/>
    <p:sldId id="350" r:id="rId27"/>
    <p:sldId id="351" r:id="rId28"/>
    <p:sldId id="352" r:id="rId29"/>
    <p:sldId id="353" r:id="rId30"/>
    <p:sldId id="354" r:id="rId31"/>
    <p:sldId id="359" r:id="rId32"/>
    <p:sldId id="381" r:id="rId33"/>
    <p:sldId id="356" r:id="rId34"/>
    <p:sldId id="357" r:id="rId35"/>
    <p:sldId id="358" r:id="rId36"/>
    <p:sldId id="363" r:id="rId37"/>
    <p:sldId id="364" r:id="rId38"/>
    <p:sldId id="365" r:id="rId39"/>
    <p:sldId id="380" r:id="rId40"/>
    <p:sldId id="370" r:id="rId41"/>
    <p:sldId id="371" r:id="rId42"/>
    <p:sldId id="375" r:id="rId43"/>
    <p:sldId id="372" r:id="rId44"/>
    <p:sldId id="373" r:id="rId45"/>
    <p:sldId id="374" r:id="rId46"/>
    <p:sldId id="376" r:id="rId47"/>
    <p:sldId id="377" r:id="rId4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00CC"/>
    <a:srgbClr val="0033CC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91" autoAdjust="0"/>
    <p:restoredTop sz="90086" autoAdjust="0"/>
  </p:normalViewPr>
  <p:slideViewPr>
    <p:cSldViewPr>
      <p:cViewPr varScale="1">
        <p:scale>
          <a:sx n="92" d="100"/>
          <a:sy n="92" d="100"/>
        </p:scale>
        <p:origin x="151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4" Type="http://schemas.openxmlformats.org/officeDocument/2006/relationships/image" Target="../media/image39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6" Type="http://schemas.openxmlformats.org/officeDocument/2006/relationships/image" Target="../media/image45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4" Type="http://schemas.openxmlformats.org/officeDocument/2006/relationships/image" Target="../media/image64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4" Type="http://schemas.openxmlformats.org/officeDocument/2006/relationships/image" Target="../media/image72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6.wmf"/><Relationship Id="rId1" Type="http://schemas.openxmlformats.org/officeDocument/2006/relationships/image" Target="../media/image75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9.wmf"/><Relationship Id="rId1" Type="http://schemas.openxmlformats.org/officeDocument/2006/relationships/image" Target="../media/image78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7" Type="http://schemas.openxmlformats.org/officeDocument/2006/relationships/image" Target="../media/image86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Relationship Id="rId6" Type="http://schemas.openxmlformats.org/officeDocument/2006/relationships/image" Target="../media/image85.wmf"/><Relationship Id="rId5" Type="http://schemas.openxmlformats.org/officeDocument/2006/relationships/image" Target="../media/image84.wmf"/><Relationship Id="rId4" Type="http://schemas.openxmlformats.org/officeDocument/2006/relationships/image" Target="../media/image83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A95B8-4588-46D8-8F50-86C1DF9AFA24}" type="datetimeFigureOut">
              <a:rPr lang="en-US" smtClean="0"/>
              <a:pPr/>
              <a:t>3/27/2018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7B99F5-9ED3-44CF-A144-70EBB5FD54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338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04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4572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ext Box 12"/>
          <p:cNvSpPr txBox="1">
            <a:spLocks noChangeArrowheads="1"/>
          </p:cNvSpPr>
          <p:nvPr userDrawn="1"/>
        </p:nvSpPr>
        <p:spPr bwMode="auto">
          <a:xfrm>
            <a:off x="2846479" y="1346200"/>
            <a:ext cx="3897221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zh-CN" sz="1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Department of Electrical Engineering</a:t>
            </a:r>
          </a:p>
          <a:p>
            <a:pPr algn="r">
              <a:defRPr/>
            </a:pPr>
            <a:r>
              <a:rPr lang="en-US" altLang="zh-CN" sz="16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University of Arkansas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</p:spPr>
        <p:txBody>
          <a:bodyPr/>
          <a:lstStyle>
            <a:lvl1pPr algn="r">
              <a:defRPr sz="3200">
                <a:latin typeface="Arial Black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3581400"/>
            <a:ext cx="6400800" cy="762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FontTx/>
              <a:buNone/>
              <a:defRPr sz="2200" b="0">
                <a:solidFill>
                  <a:srgbClr val="000099"/>
                </a:solidFill>
                <a:latin typeface="Arial Black" pitchFamily="34" charset="0"/>
              </a:defRPr>
            </a:lvl1pPr>
          </a:lstStyle>
          <a:p>
            <a:r>
              <a:rPr lang="en-US" altLang="zh-CN" dirty="0"/>
              <a:t>Click to edit Master subtitle style</a:t>
            </a:r>
          </a:p>
        </p:txBody>
      </p:sp>
      <p:pic>
        <p:nvPicPr>
          <p:cNvPr id="12" name="Picture 16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0" y="1447800"/>
            <a:ext cx="16383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152400" y="7620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7772400" cy="7620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defRPr>
            </a:lvl1pPr>
            <a:lvl2pPr>
              <a:defRPr sz="1800">
                <a:latin typeface="Times New Roman" pitchFamily="18" charset="0"/>
                <a:cs typeface="Times New Roman" pitchFamily="18" charset="0"/>
              </a:defRPr>
            </a:lvl2pPr>
            <a:lvl3pPr>
              <a:defRPr sz="1800">
                <a:latin typeface="Times New Roman" pitchFamily="18" charset="0"/>
                <a:cs typeface="Times New Roman" pitchFamily="18" charset="0"/>
              </a:defRPr>
            </a:lvl3pPr>
            <a:lvl4pPr>
              <a:defRPr sz="1800">
                <a:latin typeface="Times New Roman" pitchFamily="18" charset="0"/>
                <a:cs typeface="Times New Roman" pitchFamily="18" charset="0"/>
              </a:defRPr>
            </a:lvl4pPr>
            <a:lvl5pPr>
              <a:defRPr sz="180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6248400"/>
            <a:ext cx="1781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3"/>
          <p:cNvSpPr>
            <a:spLocks noGrp="1"/>
          </p:cNvSpPr>
          <p:nvPr userDrawn="1">
            <p:ph type="sldNum" sz="quarter" idx="10"/>
          </p:nvPr>
        </p:nvSpPr>
        <p:spPr>
          <a:xfrm>
            <a:off x="7239000" y="0"/>
            <a:ext cx="1905000" cy="457200"/>
          </a:xfrm>
          <a:prstGeom prst="rect">
            <a:avLst/>
          </a:prstGeom>
          <a:noFill/>
        </p:spPr>
        <p:txBody>
          <a:bodyPr/>
          <a:lstStyle>
            <a:lvl1pPr algn="r">
              <a:defRPr b="1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7A65BF99-0365-4788-A7C5-586C0382C80B}" type="slidenum">
              <a:rPr lang="zh-CN" altLang="en-US" smtClean="0"/>
              <a:pPr/>
              <a:t>‹#›</a:t>
            </a:fld>
            <a:endParaRPr lang="en-US" altLang="zh-CN" dirty="0" smtClean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8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wmf"/><Relationship Id="rId11" Type="http://schemas.openxmlformats.org/officeDocument/2006/relationships/image" Target="../media/image14.png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3.png"/><Relationship Id="rId4" Type="http://schemas.openxmlformats.org/officeDocument/2006/relationships/image" Target="../media/image9.wmf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5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7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9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2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3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32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18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39.wmf"/><Relationship Id="rId4" Type="http://schemas.openxmlformats.org/officeDocument/2006/relationships/image" Target="../media/image36.wmf"/><Relationship Id="rId9" Type="http://schemas.openxmlformats.org/officeDocument/2006/relationships/oleObject" Target="../embeddings/oleObject23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oleObject" Target="../embeddings/oleObject29.bin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4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25.bin"/><Relationship Id="rId10" Type="http://schemas.openxmlformats.org/officeDocument/2006/relationships/image" Target="../media/image43.wmf"/><Relationship Id="rId4" Type="http://schemas.openxmlformats.org/officeDocument/2006/relationships/image" Target="../media/image40.wmf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45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image" Target="../media/image35.png"/><Relationship Id="rId7" Type="http://schemas.openxmlformats.org/officeDocument/2006/relationships/image" Target="../media/image4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46.wmf"/><Relationship Id="rId4" Type="http://schemas.openxmlformats.org/officeDocument/2006/relationships/oleObject" Target="../embeddings/oleObject30.bin"/><Relationship Id="rId9" Type="http://schemas.openxmlformats.org/officeDocument/2006/relationships/image" Target="../media/image48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49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52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54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56.wmf"/><Relationship Id="rId9" Type="http://schemas.openxmlformats.org/officeDocument/2006/relationships/image" Target="../media/image5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60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2.wmf"/><Relationship Id="rId5" Type="http://schemas.openxmlformats.org/officeDocument/2006/relationships/oleObject" Target="../embeddings/oleObject45.bin"/><Relationship Id="rId10" Type="http://schemas.openxmlformats.org/officeDocument/2006/relationships/image" Target="../media/image64.wmf"/><Relationship Id="rId4" Type="http://schemas.openxmlformats.org/officeDocument/2006/relationships/image" Target="../media/image61.wmf"/><Relationship Id="rId9" Type="http://schemas.openxmlformats.org/officeDocument/2006/relationships/oleObject" Target="../embeddings/oleObject47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65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66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68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67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70.wmf"/><Relationship Id="rId5" Type="http://schemas.openxmlformats.org/officeDocument/2006/relationships/oleObject" Target="../embeddings/oleObject53.bin"/><Relationship Id="rId10" Type="http://schemas.openxmlformats.org/officeDocument/2006/relationships/image" Target="../media/image72.wmf"/><Relationship Id="rId4" Type="http://schemas.openxmlformats.org/officeDocument/2006/relationships/image" Target="../media/image69.wmf"/><Relationship Id="rId9" Type="http://schemas.openxmlformats.org/officeDocument/2006/relationships/oleObject" Target="../embeddings/oleObject55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73.w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7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59.bin"/><Relationship Id="rId5" Type="http://schemas.openxmlformats.org/officeDocument/2006/relationships/image" Target="../media/image75.wmf"/><Relationship Id="rId4" Type="http://schemas.openxmlformats.org/officeDocument/2006/relationships/oleObject" Target="../embeddings/oleObject58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77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79.wmf"/><Relationship Id="rId5" Type="http://schemas.openxmlformats.org/officeDocument/2006/relationships/oleObject" Target="../embeddings/oleObject62.bin"/><Relationship Id="rId4" Type="http://schemas.openxmlformats.org/officeDocument/2006/relationships/image" Target="../media/image78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13" Type="http://schemas.openxmlformats.org/officeDocument/2006/relationships/oleObject" Target="../embeddings/oleObject68.bin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84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6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81.wmf"/><Relationship Id="rId11" Type="http://schemas.openxmlformats.org/officeDocument/2006/relationships/oleObject" Target="../embeddings/oleObject67.bin"/><Relationship Id="rId5" Type="http://schemas.openxmlformats.org/officeDocument/2006/relationships/oleObject" Target="../embeddings/oleObject64.bin"/><Relationship Id="rId15" Type="http://schemas.openxmlformats.org/officeDocument/2006/relationships/oleObject" Target="../embeddings/oleObject69.bin"/><Relationship Id="rId10" Type="http://schemas.openxmlformats.org/officeDocument/2006/relationships/image" Target="../media/image83.wmf"/><Relationship Id="rId4" Type="http://schemas.openxmlformats.org/officeDocument/2006/relationships/image" Target="../media/image80.wmf"/><Relationship Id="rId9" Type="http://schemas.openxmlformats.org/officeDocument/2006/relationships/oleObject" Target="../embeddings/oleObject66.bin"/><Relationship Id="rId14" Type="http://schemas.openxmlformats.org/officeDocument/2006/relationships/image" Target="../media/image85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87.w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2200"/>
            <a:ext cx="7772400" cy="990600"/>
          </a:xfrm>
        </p:spPr>
        <p:txBody>
          <a:bodyPr/>
          <a:lstStyle/>
          <a:p>
            <a:r>
              <a:rPr lang="en-US" sz="2400" dirty="0" smtClean="0"/>
              <a:t>ELEG 3143 Probability &amp; Stochastic Process</a:t>
            </a:r>
            <a:br>
              <a:rPr lang="en-US" sz="2400" dirty="0" smtClean="0"/>
            </a:br>
            <a:r>
              <a:rPr lang="en-US" dirty="0" smtClean="0"/>
              <a:t>Ch. 4 Multiple Random Variables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2743200" y="3810000"/>
            <a:ext cx="5791200" cy="1752600"/>
          </a:xfrm>
          <a:prstGeom prst="rect">
            <a:avLst/>
          </a:prstGeom>
        </p:spPr>
        <p:txBody>
          <a:bodyPr/>
          <a:lstStyle/>
          <a:p>
            <a:pPr algn="r">
              <a:buNone/>
            </a:pPr>
            <a:r>
              <a:rPr lang="en-US" sz="2200" dirty="0" smtClean="0">
                <a:solidFill>
                  <a:srgbClr val="000099"/>
                </a:solidFill>
                <a:latin typeface="Arial Black" pitchFamily="34" charset="0"/>
              </a:rPr>
              <a:t>Dr. Jingxian Wu</a:t>
            </a:r>
          </a:p>
          <a:p>
            <a:pPr algn="r">
              <a:buNone/>
            </a:pPr>
            <a:r>
              <a:rPr lang="en-US" sz="2200" dirty="0" smtClean="0">
                <a:solidFill>
                  <a:srgbClr val="000099"/>
                </a:solidFill>
                <a:latin typeface="Arial Black" pitchFamily="34" charset="0"/>
              </a:rPr>
              <a:t>wuj@uark.edu</a:t>
            </a:r>
            <a:endParaRPr lang="en-US" sz="2200" dirty="0">
              <a:solidFill>
                <a:srgbClr val="000099"/>
              </a:solidFill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Two discrete random variables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Two continuous</a:t>
            </a: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random variables</a:t>
            </a: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Statistical independence and correlation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baseline="0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Functions</a:t>
            </a: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of two random variables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baseline="0" dirty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Moment generating function</a:t>
            </a: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DISCRETE RANDOM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8458200" cy="5600700"/>
          </a:xfrm>
        </p:spPr>
        <p:txBody>
          <a:bodyPr/>
          <a:lstStyle/>
          <a:p>
            <a:r>
              <a:rPr lang="en-US" dirty="0" smtClean="0"/>
              <a:t>Joint PMF of two discrete random variables</a:t>
            </a:r>
          </a:p>
          <a:p>
            <a:pPr lvl="1"/>
            <a:r>
              <a:rPr lang="en-US" dirty="0" smtClean="0"/>
              <a:t>Consider two discrete RVs, X and Y. The joint probability mass function (PMF) of X and Y is defined as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</a:t>
            </a:fld>
            <a:endParaRPr lang="en-US" altLang="zh-CN" dirty="0" smtClean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743200"/>
            <a:ext cx="8658225" cy="5143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DISCRETE RANDOM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Marginal PMF: </a:t>
            </a:r>
          </a:p>
          <a:p>
            <a:pPr lvl="1"/>
            <a:r>
              <a:rPr lang="en-US" dirty="0"/>
              <a:t>the PMF of each individual RV (exactly the same as in Ch. 2)</a:t>
            </a:r>
          </a:p>
          <a:p>
            <a:pPr lvl="1"/>
            <a:r>
              <a:rPr lang="en-US" dirty="0"/>
              <a:t>Joint PMF </a:t>
            </a:r>
            <a:r>
              <a:rPr lang="en-US" dirty="0">
                <a:sym typeface="Wingdings" pitchFamily="2" charset="2"/>
              </a:rPr>
              <a:t> marginal PMF (using the total probability equation)</a:t>
            </a:r>
          </a:p>
          <a:p>
            <a:pPr lvl="1"/>
            <a:endParaRPr lang="en-US" dirty="0">
              <a:sym typeface="Wingdings" pitchFamily="2" charset="2"/>
            </a:endParaRPr>
          </a:p>
          <a:p>
            <a:pPr lvl="2">
              <a:buNone/>
            </a:pPr>
            <a:r>
              <a:rPr lang="en-US" dirty="0">
                <a:sym typeface="Wingdings" pitchFamily="2" charset="2"/>
              </a:rPr>
              <a:t>                                                 </a:t>
            </a:r>
            <a:endParaRPr lang="en-US" dirty="0" smtClean="0">
              <a:sym typeface="Wingdings" pitchFamily="2" charset="2"/>
            </a:endParaRPr>
          </a:p>
          <a:p>
            <a:pPr lvl="2">
              <a:buNone/>
            </a:pPr>
            <a:endParaRPr lang="en-US" dirty="0">
              <a:sym typeface="Wingdings" pitchFamily="2" charset="2"/>
            </a:endParaRPr>
          </a:p>
          <a:p>
            <a:pPr lvl="2">
              <a:buNone/>
            </a:pPr>
            <a:r>
              <a:rPr lang="en-US" dirty="0" smtClean="0">
                <a:sym typeface="Wingdings" pitchFamily="2" charset="2"/>
              </a:rPr>
              <a:t>the </a:t>
            </a:r>
            <a:r>
              <a:rPr lang="en-US" dirty="0">
                <a:sym typeface="Wingdings" pitchFamily="2" charset="2"/>
              </a:rPr>
              <a:t>summation is over all the possible value of Y</a:t>
            </a:r>
          </a:p>
          <a:p>
            <a:pPr lvl="2">
              <a:buNone/>
            </a:pPr>
            <a:endParaRPr lang="en-US" dirty="0">
              <a:sym typeface="Wingdings" pitchFamily="2" charset="2"/>
            </a:endParaRPr>
          </a:p>
          <a:p>
            <a:pPr lvl="2">
              <a:buNone/>
            </a:pPr>
            <a:endParaRPr lang="en-US" dirty="0">
              <a:sym typeface="Wingdings" pitchFamily="2" charset="2"/>
            </a:endParaRPr>
          </a:p>
          <a:p>
            <a:pPr lvl="2">
              <a:buNone/>
            </a:pPr>
            <a:endParaRPr lang="en-US" dirty="0">
              <a:sym typeface="Wingdings" pitchFamily="2" charset="2"/>
            </a:endParaRPr>
          </a:p>
          <a:p>
            <a:pPr lvl="2">
              <a:buNone/>
            </a:pPr>
            <a:r>
              <a:rPr lang="en-US" dirty="0">
                <a:sym typeface="Wingdings" pitchFamily="2" charset="2"/>
              </a:rPr>
              <a:t>                                                 </a:t>
            </a:r>
          </a:p>
          <a:p>
            <a:pPr lvl="2">
              <a:buNone/>
            </a:pPr>
            <a:r>
              <a:rPr lang="en-US" dirty="0" smtClean="0">
                <a:sym typeface="Wingdings" pitchFamily="2" charset="2"/>
              </a:rPr>
              <a:t>the </a:t>
            </a:r>
            <a:r>
              <a:rPr lang="en-US" dirty="0">
                <a:sym typeface="Wingdings" pitchFamily="2" charset="2"/>
              </a:rPr>
              <a:t>summation is over all the possible value of X</a:t>
            </a:r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Recall: total probability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</a:t>
            </a:fld>
            <a:endParaRPr lang="en-US" altLang="zh-CN" dirty="0" smtClean="0"/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7122992"/>
              </p:ext>
            </p:extLst>
          </p:nvPr>
        </p:nvGraphicFramePr>
        <p:xfrm>
          <a:off x="1981200" y="2133600"/>
          <a:ext cx="401796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34" name="Equation" r:id="rId3" imgW="2120760" imgH="457200" progId="Equation.3">
                  <p:embed/>
                </p:oleObj>
              </mc:Choice>
              <mc:Fallback>
                <p:oleObj name="Equation" r:id="rId3" imgW="21207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133600"/>
                        <a:ext cx="4017962" cy="6858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5169524"/>
              </p:ext>
            </p:extLst>
          </p:nvPr>
        </p:nvGraphicFramePr>
        <p:xfrm>
          <a:off x="2105818" y="3648075"/>
          <a:ext cx="4017963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35" name="Equation" r:id="rId5" imgW="2120760" imgH="444240" progId="Equation.3">
                  <p:embed/>
                </p:oleObj>
              </mc:Choice>
              <mc:Fallback>
                <p:oleObj name="Equation" r:id="rId5" imgW="21207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5818" y="3648075"/>
                        <a:ext cx="4017963" cy="6667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5562600"/>
            <a:ext cx="3841075" cy="609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3378" y="5719499"/>
            <a:ext cx="2162175" cy="29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172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Consider an urn contains 4 white balls and 6 black balls. Pick two balls without replacement. Let X denote the result from the first pick, and Y the result from the 2</a:t>
            </a:r>
            <a:r>
              <a:rPr lang="en-US" baseline="30000" dirty="0" smtClean="0"/>
              <a:t>nd</a:t>
            </a:r>
            <a:r>
              <a:rPr lang="en-US" dirty="0" smtClean="0"/>
              <a:t> pick, i.e., define two random variables (X, Y) as</a:t>
            </a:r>
          </a:p>
          <a:p>
            <a:pPr lvl="1">
              <a:buNone/>
            </a:pPr>
            <a:r>
              <a:rPr lang="en-US" dirty="0" smtClean="0"/>
              <a:t>	{(B, B)} </a:t>
            </a:r>
            <a:r>
              <a:rPr lang="en-US" dirty="0" smtClean="0">
                <a:sym typeface="Wingdings" pitchFamily="2" charset="2"/>
              </a:rPr>
              <a:t> (X=0, Y=0), {(B, W)} (X=0, Y=1), </a:t>
            </a:r>
          </a:p>
          <a:p>
            <a:pPr lvl="1">
              <a:buNone/>
            </a:pPr>
            <a:r>
              <a:rPr lang="en-US" dirty="0" smtClean="0">
                <a:sym typeface="Wingdings" pitchFamily="2" charset="2"/>
              </a:rPr>
              <a:t>	{(W, B)} (X=1, Y=0), {(W, W)} (X = 1,Y = 1)</a:t>
            </a:r>
          </a:p>
          <a:p>
            <a:pPr lvl="1">
              <a:buNone/>
            </a:pPr>
            <a:r>
              <a:rPr lang="en-US" dirty="0" smtClean="0">
                <a:sym typeface="Wingdings" pitchFamily="2" charset="2"/>
              </a:rPr>
              <a:t>	(a) Find the joint PMF</a:t>
            </a:r>
          </a:p>
          <a:p>
            <a:pPr lvl="1">
              <a:buNone/>
            </a:pPr>
            <a:r>
              <a:rPr lang="en-US" dirty="0" smtClean="0">
                <a:sym typeface="Wingdings" pitchFamily="2" charset="2"/>
              </a:rPr>
              <a:t>	(b) Find the marginal PMF of X</a:t>
            </a:r>
          </a:p>
          <a:p>
            <a:pPr lvl="1">
              <a:buNone/>
            </a:pPr>
            <a:r>
              <a:rPr lang="en-US" dirty="0" smtClean="0">
                <a:sym typeface="Wingdings" pitchFamily="2" charset="2"/>
              </a:rPr>
              <a:t>	(c) Find the marginal PMF of 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</a:t>
            </a:fld>
            <a:endParaRPr lang="en-US" altLang="zh-CN" dirty="0" smtClean="0"/>
          </a:p>
        </p:txBody>
      </p:sp>
      <p:graphicFrame>
        <p:nvGraphicFramePr>
          <p:cNvPr id="10241" name="Object 1"/>
          <p:cNvGraphicFramePr>
            <a:graphicFrameLocks noChangeAspect="1"/>
          </p:cNvGraphicFramePr>
          <p:nvPr/>
        </p:nvGraphicFramePr>
        <p:xfrm>
          <a:off x="3657600" y="5943600"/>
          <a:ext cx="2382838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0" name="Equation" r:id="rId3" imgW="1257120" imgH="355320" progId="Equation.3">
                  <p:embed/>
                </p:oleObj>
              </mc:Choice>
              <mc:Fallback>
                <p:oleObj name="Equation" r:id="rId3" imgW="1257120" imgH="35532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5943600"/>
                        <a:ext cx="2382838" cy="6746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Review: conditional probability</a:t>
            </a:r>
          </a:p>
          <a:p>
            <a:pPr lvl="1"/>
            <a:r>
              <a:rPr lang="en-US" dirty="0" smtClean="0"/>
              <a:t>Two events A and B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Conditional PMF</a:t>
            </a:r>
          </a:p>
          <a:p>
            <a:pPr lvl="1"/>
            <a:r>
              <a:rPr lang="en-US" dirty="0" smtClean="0"/>
              <a:t>Given event B, what is the probability that               ?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E.g. two RV X and Y </a:t>
            </a:r>
          </a:p>
          <a:p>
            <a:pPr lvl="2"/>
            <a:r>
              <a:rPr lang="en-US" dirty="0" smtClean="0"/>
              <a:t>B:</a:t>
            </a:r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r>
              <a:rPr lang="en-US" dirty="0" smtClean="0"/>
              <a:t>B: </a:t>
            </a:r>
            <a:r>
              <a:rPr lang="en-US" i="1" dirty="0" smtClean="0"/>
              <a:t>Y</a:t>
            </a:r>
            <a:r>
              <a:rPr lang="en-US" dirty="0" smtClean="0"/>
              <a:t> &gt; 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6</a:t>
            </a:fld>
            <a:endParaRPr lang="en-US" altLang="zh-CN" dirty="0" smtClean="0"/>
          </a:p>
        </p:txBody>
      </p:sp>
      <p:graphicFrame>
        <p:nvGraphicFramePr>
          <p:cNvPr id="9217" name="Object 1"/>
          <p:cNvGraphicFramePr>
            <a:graphicFrameLocks noChangeAspect="1"/>
          </p:cNvGraphicFramePr>
          <p:nvPr/>
        </p:nvGraphicFramePr>
        <p:xfrm>
          <a:off x="3429000" y="1447800"/>
          <a:ext cx="188277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9" name="Equation" r:id="rId3" imgW="1130040" imgH="419040" progId="Equation.3">
                  <p:embed/>
                </p:oleObj>
              </mc:Choice>
              <mc:Fallback>
                <p:oleObj name="Equation" r:id="rId3" imgW="1130040" imgH="41904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447800"/>
                        <a:ext cx="1882775" cy="69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"/>
          <p:cNvGraphicFramePr>
            <a:graphicFrameLocks noChangeAspect="1"/>
          </p:cNvGraphicFramePr>
          <p:nvPr/>
        </p:nvGraphicFramePr>
        <p:xfrm>
          <a:off x="5410200" y="2667000"/>
          <a:ext cx="71913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0" name="Equation" r:id="rId5" imgW="431640" imgH="228600" progId="Equation.3">
                  <p:embed/>
                </p:oleObj>
              </mc:Choice>
              <mc:Fallback>
                <p:oleObj name="Equation" r:id="rId5" imgW="43164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2667000"/>
                        <a:ext cx="719137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5"/>
          <p:cNvGraphicFramePr>
            <a:graphicFrameLocks noChangeAspect="1"/>
          </p:cNvGraphicFramePr>
          <p:nvPr/>
        </p:nvGraphicFramePr>
        <p:xfrm>
          <a:off x="2209800" y="4343400"/>
          <a:ext cx="719138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1" name="Equation" r:id="rId7" imgW="431640" imgH="241200" progId="Equation.3">
                  <p:embed/>
                </p:oleObj>
              </mc:Choice>
              <mc:Fallback>
                <p:oleObj name="Equation" r:id="rId7" imgW="431640" imgH="2412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343400"/>
                        <a:ext cx="719138" cy="401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38399" y="3104801"/>
            <a:ext cx="3690938" cy="7544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02869" y="4232346"/>
            <a:ext cx="3968920" cy="58536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11956" y="5190846"/>
            <a:ext cx="3847364" cy="6401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Consider an urn contains 4 white balls and 6 black balls. Pick two balls without replacement. Let X denote the result from the first pick, and Y the result from the 2</a:t>
            </a:r>
            <a:r>
              <a:rPr lang="en-US" baseline="30000" dirty="0" smtClean="0"/>
              <a:t>nd</a:t>
            </a:r>
            <a:r>
              <a:rPr lang="en-US" dirty="0" smtClean="0"/>
              <a:t> pick, i.e., define two random variables (X, Y) as</a:t>
            </a:r>
          </a:p>
          <a:p>
            <a:pPr lvl="1">
              <a:buNone/>
            </a:pPr>
            <a:r>
              <a:rPr lang="en-US" dirty="0" smtClean="0"/>
              <a:t>	{(B, B)} </a:t>
            </a:r>
            <a:r>
              <a:rPr lang="en-US" dirty="0" smtClean="0">
                <a:sym typeface="Wingdings" pitchFamily="2" charset="2"/>
              </a:rPr>
              <a:t> (X=0, Y=0), {(B, W)} (X=0, Y=1), </a:t>
            </a:r>
          </a:p>
          <a:p>
            <a:pPr lvl="1">
              <a:buNone/>
            </a:pPr>
            <a:r>
              <a:rPr lang="en-US" dirty="0" smtClean="0">
                <a:sym typeface="Wingdings" pitchFamily="2" charset="2"/>
              </a:rPr>
              <a:t>	{(W, B)} (X=1, Y=0), {(W, W)} (X = 1,Y = 1)</a:t>
            </a:r>
          </a:p>
          <a:p>
            <a:pPr lvl="1"/>
            <a:r>
              <a:rPr lang="en-US" dirty="0" smtClean="0"/>
              <a:t>Find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7</a:t>
            </a:fld>
            <a:endParaRPr lang="en-US" altLang="zh-CN" dirty="0" smtClean="0"/>
          </a:p>
        </p:txBody>
      </p:sp>
      <p:graphicFrame>
        <p:nvGraphicFramePr>
          <p:cNvPr id="8195" name="Object 3"/>
          <p:cNvGraphicFramePr>
            <a:graphicFrameLocks noChangeAspect="1"/>
          </p:cNvGraphicFramePr>
          <p:nvPr/>
        </p:nvGraphicFramePr>
        <p:xfrm>
          <a:off x="1981200" y="2819400"/>
          <a:ext cx="1905000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3" name="Equation" r:id="rId3" imgW="1143000" imgH="241200" progId="Equation.3">
                  <p:embed/>
                </p:oleObj>
              </mc:Choice>
              <mc:Fallback>
                <p:oleObj name="Equation" r:id="rId3" imgW="1143000" imgH="2412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819400"/>
                        <a:ext cx="1905000" cy="401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4"/>
          <p:cNvGraphicFramePr>
            <a:graphicFrameLocks noChangeAspect="1"/>
          </p:cNvGraphicFramePr>
          <p:nvPr/>
        </p:nvGraphicFramePr>
        <p:xfrm>
          <a:off x="3657600" y="5867400"/>
          <a:ext cx="2052637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4" name="Equation" r:id="rId5" imgW="1231560" imgH="444240" progId="Equation.3">
                  <p:embed/>
                </p:oleObj>
              </mc:Choice>
              <mc:Fallback>
                <p:oleObj name="Equation" r:id="rId5" imgW="1231560" imgH="4442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5867400"/>
                        <a:ext cx="2052637" cy="74136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The joint PMF of two RV X and Y are given as follows. Find the marginal PMF and the conditional PMF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8</a:t>
            </a:fld>
            <a:endParaRPr lang="en-US" altLang="zh-CN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1605049"/>
            <a:ext cx="1893096" cy="3429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025" y="1914525"/>
            <a:ext cx="35623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528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9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Two discrete random variables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Two continuous</a:t>
            </a: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random variables</a:t>
            </a: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Statistical independence and correlation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baseline="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Functions</a:t>
            </a: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of two random variables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baseline="0" dirty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Moment generating function</a:t>
            </a: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267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CONTINUOUS RANDOM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Joint CDF</a:t>
            </a:r>
          </a:p>
          <a:p>
            <a:pPr lvl="1"/>
            <a:r>
              <a:rPr lang="en-US" dirty="0" smtClean="0"/>
              <a:t>The joint cumulative distribution function (CDF) of two random variables X and Y is defined as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The above definition is true for both discrete RV and continuous RV</a:t>
            </a:r>
          </a:p>
          <a:p>
            <a:r>
              <a:rPr lang="en-US" dirty="0" smtClean="0"/>
              <a:t>Marginal CDF</a:t>
            </a:r>
          </a:p>
          <a:p>
            <a:pPr lvl="1"/>
            <a:r>
              <a:rPr lang="en-US" dirty="0" smtClean="0"/>
              <a:t>The CDF of each individual RV (exactly the same as in Ch. 2)</a:t>
            </a:r>
          </a:p>
          <a:p>
            <a:pPr lvl="1"/>
            <a:r>
              <a:rPr lang="en-US" dirty="0" smtClean="0"/>
              <a:t>joint CDF </a:t>
            </a:r>
            <a:r>
              <a:rPr lang="en-US" dirty="0" smtClean="0">
                <a:sym typeface="Wingdings" pitchFamily="2" charset="2"/>
              </a:rPr>
              <a:t> marginal CDF</a:t>
            </a: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2"/>
            <a:r>
              <a:rPr lang="en-US" dirty="0" smtClean="0">
                <a:sym typeface="Wingdings" pitchFamily="2" charset="2"/>
              </a:rPr>
              <a:t>Why?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10</a:t>
            </a:fld>
            <a:endParaRPr lang="en-US" altLang="zh-CN" dirty="0" smtClean="0"/>
          </a:p>
        </p:txBody>
      </p:sp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1752600" y="4038600"/>
          <a:ext cx="216535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" name="Equation" r:id="rId3" imgW="1143000" imgH="215640" progId="Equation.3">
                  <p:embed/>
                </p:oleObj>
              </mc:Choice>
              <mc:Fallback>
                <p:oleObj name="Equation" r:id="rId3" imgW="1143000" imgH="215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038600"/>
                        <a:ext cx="2165350" cy="4079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4"/>
          <p:cNvGraphicFramePr>
            <a:graphicFrameLocks noChangeAspect="1"/>
          </p:cNvGraphicFramePr>
          <p:nvPr/>
        </p:nvGraphicFramePr>
        <p:xfrm>
          <a:off x="4953000" y="4038600"/>
          <a:ext cx="216535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1" name="Equation" r:id="rId5" imgW="1143000" imgH="215640" progId="Equation.3">
                  <p:embed/>
                </p:oleObj>
              </mc:Choice>
              <mc:Fallback>
                <p:oleObj name="Equation" r:id="rId5" imgW="1143000" imgH="215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038600"/>
                        <a:ext cx="2165350" cy="4079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9800" y="1872456"/>
            <a:ext cx="4276725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11</a:t>
            </a:fld>
            <a:endParaRPr lang="en-US" altLang="zh-CN" dirty="0" smtClean="0"/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1524000" y="1371600"/>
          <a:ext cx="1539875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" name="Equation" r:id="rId3" imgW="812520" imgH="215640" progId="Equation.3">
                  <p:embed/>
                </p:oleObj>
              </mc:Choice>
              <mc:Fallback>
                <p:oleObj name="Equation" r:id="rId3" imgW="812520" imgH="215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71600"/>
                        <a:ext cx="1539875" cy="407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3"/>
          <p:cNvGraphicFramePr>
            <a:graphicFrameLocks noChangeAspect="1"/>
          </p:cNvGraphicFramePr>
          <p:nvPr/>
        </p:nvGraphicFramePr>
        <p:xfrm>
          <a:off x="1600200" y="2209800"/>
          <a:ext cx="158750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2" name="Equation" r:id="rId5" imgW="838080" imgH="215640" progId="Equation.3">
                  <p:embed/>
                </p:oleObj>
              </mc:Choice>
              <mc:Fallback>
                <p:oleObj name="Equation" r:id="rId5" imgW="838080" imgH="215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209800"/>
                        <a:ext cx="1587500" cy="407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4"/>
          <p:cNvGraphicFramePr>
            <a:graphicFrameLocks noChangeAspect="1"/>
          </p:cNvGraphicFramePr>
          <p:nvPr/>
        </p:nvGraphicFramePr>
        <p:xfrm>
          <a:off x="1600200" y="3276600"/>
          <a:ext cx="146685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Equation" r:id="rId7" imgW="774360" imgH="215640" progId="Equation.3">
                  <p:embed/>
                </p:oleObj>
              </mc:Choice>
              <mc:Fallback>
                <p:oleObj name="Equation" r:id="rId7" imgW="774360" imgH="215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276600"/>
                        <a:ext cx="1466850" cy="407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Two RVs X and Y have a joint CDF as follows. Find the CDF of 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12</a:t>
            </a:fld>
            <a:endParaRPr lang="en-US" altLang="zh-CN" dirty="0" smtClean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1676400"/>
            <a:ext cx="3200400" cy="123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Joint pdf of two continuous RVs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lvl="1"/>
            <a:r>
              <a:rPr lang="en-US" dirty="0" smtClean="0"/>
              <a:t> 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/>
              <a:t> 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13</a:t>
            </a:fld>
            <a:endParaRPr lang="en-US" altLang="zh-CN" dirty="0" smtClean="0"/>
          </a:p>
        </p:txBody>
      </p:sp>
      <p:graphicFrame>
        <p:nvGraphicFramePr>
          <p:cNvPr id="14338" name="Object 12"/>
          <p:cNvGraphicFramePr>
            <a:graphicFrameLocks noChangeAspect="1"/>
          </p:cNvGraphicFramePr>
          <p:nvPr/>
        </p:nvGraphicFramePr>
        <p:xfrm>
          <a:off x="3048000" y="1447800"/>
          <a:ext cx="1827212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3" name="Equation" r:id="rId3" imgW="1257120" imgH="444240" progId="Equation.3">
                  <p:embed/>
                </p:oleObj>
              </mc:Choice>
              <mc:Fallback>
                <p:oleObj name="Equation" r:id="rId3" imgW="1257120" imgH="4442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447800"/>
                        <a:ext cx="1827212" cy="6540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400" y="3007620"/>
            <a:ext cx="5638800" cy="4935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2600" y="3987799"/>
            <a:ext cx="283845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Properties of joint pdf</a:t>
            </a:r>
          </a:p>
          <a:p>
            <a:pPr lvl="1"/>
            <a:r>
              <a:rPr lang="en-US" dirty="0"/>
              <a:t>Probability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CDF</a:t>
            </a:r>
          </a:p>
          <a:p>
            <a:pPr lvl="1">
              <a:buNone/>
            </a:pPr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Marginal </a:t>
            </a:r>
            <a:r>
              <a:rPr lang="en-US" dirty="0"/>
              <a:t>pdf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 smtClean="0"/>
          </a:p>
          <a:p>
            <a:pPr lvl="2"/>
            <a:r>
              <a:rPr lang="en-US" dirty="0" smtClean="0"/>
              <a:t>Recall</a:t>
            </a:r>
            <a:r>
              <a:rPr lang="en-US" dirty="0"/>
              <a:t>: marginal PMF for discrete RV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14</a:t>
            </a:fld>
            <a:endParaRPr lang="en-US" altLang="zh-CN" dirty="0" smtClean="0"/>
          </a:p>
        </p:txBody>
      </p:sp>
      <p:graphicFrame>
        <p:nvGraphicFramePr>
          <p:cNvPr id="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7198208"/>
              </p:ext>
            </p:extLst>
          </p:nvPr>
        </p:nvGraphicFramePr>
        <p:xfrm>
          <a:off x="2457796" y="1766701"/>
          <a:ext cx="4419600" cy="533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1" name="Equation" r:id="rId3" imgW="2984400" imgH="355320" progId="Equation.3">
                  <p:embed/>
                </p:oleObj>
              </mc:Choice>
              <mc:Fallback>
                <p:oleObj name="Equation" r:id="rId3" imgW="298440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796" y="1766701"/>
                        <a:ext cx="4419600" cy="533846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1642997"/>
              </p:ext>
            </p:extLst>
          </p:nvPr>
        </p:nvGraphicFramePr>
        <p:xfrm>
          <a:off x="2205037" y="4273781"/>
          <a:ext cx="21431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2" name="Equation" r:id="rId5" imgW="1447560" imgH="330120" progId="Equation.3">
                  <p:embed/>
                </p:oleObj>
              </mc:Choice>
              <mc:Fallback>
                <p:oleObj name="Equation" r:id="rId5" imgW="1447560" imgH="33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5037" y="4273781"/>
                        <a:ext cx="2143125" cy="4953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7102301"/>
              </p:ext>
            </p:extLst>
          </p:nvPr>
        </p:nvGraphicFramePr>
        <p:xfrm>
          <a:off x="3276599" y="3061509"/>
          <a:ext cx="2913063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3" name="Equation" r:id="rId7" imgW="1968480" imgH="330120" progId="Equation.3">
                  <p:embed/>
                </p:oleObj>
              </mc:Choice>
              <mc:Fallback>
                <p:oleObj name="Equation" r:id="rId7" imgW="1968480" imgH="33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599" y="3061509"/>
                        <a:ext cx="2913063" cy="4953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7081762"/>
              </p:ext>
            </p:extLst>
          </p:nvPr>
        </p:nvGraphicFramePr>
        <p:xfrm>
          <a:off x="5410200" y="4233603"/>
          <a:ext cx="212248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4" name="Equation" r:id="rId9" imgW="1434960" imgH="330120" progId="Equation.3">
                  <p:embed/>
                </p:oleObj>
              </mc:Choice>
              <mc:Fallback>
                <p:oleObj name="Equation" r:id="rId9" imgW="1434960" imgH="33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233603"/>
                        <a:ext cx="2122487" cy="4953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8258998"/>
              </p:ext>
            </p:extLst>
          </p:nvPr>
        </p:nvGraphicFramePr>
        <p:xfrm>
          <a:off x="3276600" y="5715000"/>
          <a:ext cx="30432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5" name="Equation" r:id="rId11" imgW="2057400" imgH="355320" progId="Equation.3">
                  <p:embed/>
                </p:oleObj>
              </mc:Choice>
              <mc:Fallback>
                <p:oleObj name="Equation" r:id="rId11" imgW="205740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715000"/>
                        <a:ext cx="3043238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36474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Two RVs with joint </a:t>
            </a:r>
            <a:r>
              <a:rPr lang="en-US" dirty="0" err="1" smtClean="0"/>
              <a:t>pdf</a:t>
            </a:r>
            <a:r>
              <a:rPr lang="en-US" dirty="0" smtClean="0"/>
              <a:t> given as follows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Find the marginal </a:t>
            </a:r>
            <a:r>
              <a:rPr lang="en-US" dirty="0" err="1" smtClean="0"/>
              <a:t>pdf</a:t>
            </a:r>
            <a:r>
              <a:rPr lang="en-US" dirty="0" smtClean="0"/>
              <a:t> of </a:t>
            </a:r>
            <a:r>
              <a:rPr lang="en-US" i="1" dirty="0" smtClean="0"/>
              <a:t>X</a:t>
            </a:r>
          </a:p>
          <a:p>
            <a:pPr lvl="2"/>
            <a:r>
              <a:rPr lang="en-US" dirty="0" smtClean="0"/>
              <a:t>The probability that X &gt; 0.5 and Y &lt; 0.3</a:t>
            </a:r>
          </a:p>
          <a:p>
            <a:pPr lvl="2">
              <a:buNone/>
            </a:pP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15</a:t>
            </a:fld>
            <a:endParaRPr lang="en-US" altLang="zh-CN" dirty="0" smtClean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1600200"/>
            <a:ext cx="3852672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Two RVs with the joint </a:t>
            </a:r>
            <a:r>
              <a:rPr lang="en-US" dirty="0" err="1" smtClean="0"/>
              <a:t>pdf</a:t>
            </a:r>
            <a:r>
              <a:rPr lang="en-US" dirty="0" smtClean="0"/>
              <a:t> as follows</a:t>
            </a: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lvl="2"/>
            <a:r>
              <a:rPr lang="en-US" dirty="0" smtClean="0"/>
              <a:t>Find the constant c</a:t>
            </a:r>
          </a:p>
          <a:p>
            <a:pPr lvl="2"/>
            <a:r>
              <a:rPr lang="en-US" dirty="0" smtClean="0"/>
              <a:t>Find the marginal </a:t>
            </a:r>
            <a:r>
              <a:rPr lang="en-US" dirty="0" err="1" smtClean="0"/>
              <a:t>pdf</a:t>
            </a:r>
            <a:r>
              <a:rPr lang="en-US" dirty="0" smtClean="0"/>
              <a:t> of </a:t>
            </a:r>
            <a:r>
              <a:rPr lang="en-US" i="1" dirty="0" smtClean="0"/>
              <a:t>x</a:t>
            </a:r>
            <a:r>
              <a:rPr lang="en-US" dirty="0" smtClean="0"/>
              <a:t> and </a:t>
            </a:r>
            <a:r>
              <a:rPr lang="en-US" i="1" dirty="0" smtClean="0"/>
              <a:t>y</a:t>
            </a: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16</a:t>
            </a:fld>
            <a:endParaRPr lang="en-US" altLang="zh-CN" dirty="0" smtClean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1676400"/>
            <a:ext cx="4128796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Conditional probability</a:t>
            </a: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lvl="1"/>
            <a:r>
              <a:rPr lang="en-US" dirty="0" smtClean="0"/>
              <a:t>Recall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17</a:t>
            </a:fld>
            <a:endParaRPr lang="en-US" altLang="zh-CN" dirty="0" smtClean="0"/>
          </a:p>
        </p:txBody>
      </p:sp>
      <p:graphicFrame>
        <p:nvGraphicFramePr>
          <p:cNvPr id="18434" name="Object 12"/>
          <p:cNvGraphicFramePr>
            <a:graphicFrameLocks noChangeAspect="1"/>
          </p:cNvGraphicFramePr>
          <p:nvPr/>
        </p:nvGraphicFramePr>
        <p:xfrm>
          <a:off x="2209800" y="1371600"/>
          <a:ext cx="1992313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0" name="Equation" r:id="rId3" imgW="1371600" imgH="431640" progId="Equation.3">
                  <p:embed/>
                </p:oleObj>
              </mc:Choice>
              <mc:Fallback>
                <p:oleObj name="Equation" r:id="rId3" imgW="1371600" imgH="4316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371600"/>
                        <a:ext cx="1992313" cy="6350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4997708"/>
              </p:ext>
            </p:extLst>
          </p:nvPr>
        </p:nvGraphicFramePr>
        <p:xfrm>
          <a:off x="2473325" y="2314171"/>
          <a:ext cx="164147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1" name="Equation" r:id="rId5" imgW="1130040" imgH="419040" progId="Equation.3">
                  <p:embed/>
                </p:oleObj>
              </mc:Choice>
              <mc:Fallback>
                <p:oleObj name="Equation" r:id="rId5" imgW="1130040" imgH="419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3325" y="2314171"/>
                        <a:ext cx="1641475" cy="615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12"/>
          <p:cNvGraphicFramePr>
            <a:graphicFrameLocks noChangeAspect="1"/>
          </p:cNvGraphicFramePr>
          <p:nvPr/>
        </p:nvGraphicFramePr>
        <p:xfrm>
          <a:off x="5105400" y="1524000"/>
          <a:ext cx="247173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2" name="Equation" r:id="rId7" imgW="1701720" imgH="241200" progId="Equation.3">
                  <p:embed/>
                </p:oleObj>
              </mc:Choice>
              <mc:Fallback>
                <p:oleObj name="Equation" r:id="rId7" imgW="1701720" imgH="241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1524000"/>
                        <a:ext cx="2471737" cy="3556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7094235"/>
              </p:ext>
            </p:extLst>
          </p:nvPr>
        </p:nvGraphicFramePr>
        <p:xfrm>
          <a:off x="5493789" y="2451100"/>
          <a:ext cx="2065337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3" name="Equation" r:id="rId9" imgW="1422360" imgH="203040" progId="Equation.3">
                  <p:embed/>
                </p:oleObj>
              </mc:Choice>
              <mc:Fallback>
                <p:oleObj name="Equation" r:id="rId9" imgW="1422360" imgH="2030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3789" y="2451100"/>
                        <a:ext cx="2065337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Conditional </a:t>
            </a:r>
            <a:r>
              <a:rPr lang="en-US" dirty="0" err="1" smtClean="0"/>
              <a:t>pdf</a:t>
            </a:r>
            <a:endParaRPr lang="en-US" dirty="0" smtClean="0"/>
          </a:p>
          <a:p>
            <a:pPr lvl="1"/>
            <a:r>
              <a:rPr lang="en-US" dirty="0" smtClean="0"/>
              <a:t>Conditional </a:t>
            </a:r>
            <a:r>
              <a:rPr lang="en-US" dirty="0" err="1" smtClean="0"/>
              <a:t>pdf</a:t>
            </a:r>
            <a:r>
              <a:rPr lang="en-US" dirty="0" smtClean="0"/>
              <a:t> is still a </a:t>
            </a:r>
            <a:r>
              <a:rPr lang="en-US" dirty="0" err="1" smtClean="0"/>
              <a:t>pdf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Difference between                                   and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18</a:t>
            </a:fld>
            <a:endParaRPr lang="en-US" altLang="zh-CN" dirty="0" smtClean="0"/>
          </a:p>
        </p:txBody>
      </p:sp>
      <p:graphicFrame>
        <p:nvGraphicFramePr>
          <p:cNvPr id="21506" name="Object 12"/>
          <p:cNvGraphicFramePr>
            <a:graphicFrameLocks noChangeAspect="1"/>
          </p:cNvGraphicFramePr>
          <p:nvPr/>
        </p:nvGraphicFramePr>
        <p:xfrm>
          <a:off x="2667000" y="1752600"/>
          <a:ext cx="168048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0" name="Equation" r:id="rId3" imgW="1079280" imgH="241200" progId="Equation.3">
                  <p:embed/>
                </p:oleObj>
              </mc:Choice>
              <mc:Fallback>
                <p:oleObj name="Equation" r:id="rId3" imgW="1079280" imgH="241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752600"/>
                        <a:ext cx="1680482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12"/>
          <p:cNvGraphicFramePr>
            <a:graphicFrameLocks noChangeAspect="1"/>
          </p:cNvGraphicFramePr>
          <p:nvPr/>
        </p:nvGraphicFramePr>
        <p:xfrm>
          <a:off x="2667000" y="2209800"/>
          <a:ext cx="1858963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1" name="Equation" r:id="rId5" imgW="1193760" imgH="330120" progId="Equation.3">
                  <p:embed/>
                </p:oleObj>
              </mc:Choice>
              <mc:Fallback>
                <p:oleObj name="Equation" r:id="rId5" imgW="1193760" imgH="33012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209800"/>
                        <a:ext cx="1858963" cy="522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12"/>
          <p:cNvGraphicFramePr>
            <a:graphicFrameLocks noChangeAspect="1"/>
          </p:cNvGraphicFramePr>
          <p:nvPr/>
        </p:nvGraphicFramePr>
        <p:xfrm>
          <a:off x="2667000" y="2819400"/>
          <a:ext cx="452755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2" name="Equation" r:id="rId7" imgW="2908080" imgH="330120" progId="Equation.3">
                  <p:embed/>
                </p:oleObj>
              </mc:Choice>
              <mc:Fallback>
                <p:oleObj name="Equation" r:id="rId7" imgW="2908080" imgH="33012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819400"/>
                        <a:ext cx="4527550" cy="522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9314721"/>
              </p:ext>
            </p:extLst>
          </p:nvPr>
        </p:nvGraphicFramePr>
        <p:xfrm>
          <a:off x="3429000" y="3598863"/>
          <a:ext cx="1620838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3" name="Equation" r:id="rId9" imgW="1041120" imgH="203040" progId="Equation.3">
                  <p:embed/>
                </p:oleObj>
              </mc:Choice>
              <mc:Fallback>
                <p:oleObj name="Equation" r:id="rId9" imgW="1041120" imgH="2030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598863"/>
                        <a:ext cx="1620838" cy="322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006356"/>
              </p:ext>
            </p:extLst>
          </p:nvPr>
        </p:nvGraphicFramePr>
        <p:xfrm>
          <a:off x="6324600" y="3610768"/>
          <a:ext cx="1600200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4" name="Equation" r:id="rId11" imgW="1028520" imgH="203040" progId="Equation.3">
                  <p:embed/>
                </p:oleObj>
              </mc:Choice>
              <mc:Fallback>
                <p:oleObj name="Equation" r:id="rId11" imgW="1028520" imgH="2030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3610768"/>
                        <a:ext cx="1600200" cy="322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4663431"/>
              </p:ext>
            </p:extLst>
          </p:nvPr>
        </p:nvGraphicFramePr>
        <p:xfrm>
          <a:off x="1767681" y="4492626"/>
          <a:ext cx="1798638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5" name="Equation" r:id="rId13" imgW="1155600" imgH="203040" progId="Equation.3">
                  <p:embed/>
                </p:oleObj>
              </mc:Choice>
              <mc:Fallback>
                <p:oleObj name="Equation" r:id="rId13" imgW="1155600" imgH="2030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7681" y="4492626"/>
                        <a:ext cx="1798638" cy="322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Two RVs with joint </a:t>
            </a:r>
            <a:r>
              <a:rPr lang="en-US" dirty="0" err="1" smtClean="0"/>
              <a:t>pdf</a:t>
            </a:r>
            <a:r>
              <a:rPr lang="en-US" dirty="0" smtClean="0"/>
              <a:t> as follows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Find</a:t>
            </a:r>
          </a:p>
          <a:p>
            <a:pPr lvl="1"/>
            <a:r>
              <a:rPr lang="en-US" dirty="0" smtClean="0"/>
              <a:t>Find</a:t>
            </a:r>
          </a:p>
          <a:p>
            <a:pPr lvl="1"/>
            <a:r>
              <a:rPr lang="en-US" dirty="0" smtClean="0"/>
              <a:t>Find</a:t>
            </a:r>
          </a:p>
          <a:p>
            <a:pPr lvl="1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19</a:t>
            </a:fld>
            <a:endParaRPr lang="en-US" altLang="zh-CN" dirty="0" smtClean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0" y="1600200"/>
            <a:ext cx="4128796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2133600" y="2209800"/>
          <a:ext cx="94138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7" name="Equation" r:id="rId4" imgW="647640" imgH="241200" progId="Equation.3">
                  <p:embed/>
                </p:oleObj>
              </mc:Choice>
              <mc:Fallback>
                <p:oleObj name="Equation" r:id="rId4" imgW="647640" imgH="241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209800"/>
                        <a:ext cx="941388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2133600" y="2590800"/>
          <a:ext cx="1458912" cy="30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8" name="Equation" r:id="rId6" imgW="1002960" imgH="203040" progId="Equation.3">
                  <p:embed/>
                </p:oleObj>
              </mc:Choice>
              <mc:Fallback>
                <p:oleObj name="Equation" r:id="rId6" imgW="100296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590800"/>
                        <a:ext cx="1458912" cy="300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6"/>
          <p:cNvGraphicFramePr>
            <a:graphicFrameLocks noChangeAspect="1"/>
          </p:cNvGraphicFramePr>
          <p:nvPr/>
        </p:nvGraphicFramePr>
        <p:xfrm>
          <a:off x="2209800" y="2895600"/>
          <a:ext cx="1458913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9" name="Equation" r:id="rId8" imgW="1002960" imgH="203040" progId="Equation.3">
                  <p:embed/>
                </p:oleObj>
              </mc:Choice>
              <mc:Fallback>
                <p:oleObj name="Equation" r:id="rId8" imgW="1002960" imgH="2030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895600"/>
                        <a:ext cx="1458913" cy="300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Two RVs with a joint </a:t>
            </a:r>
            <a:r>
              <a:rPr lang="en-US" dirty="0" err="1" smtClean="0"/>
              <a:t>pdf</a:t>
            </a:r>
            <a:r>
              <a:rPr lang="en-US" dirty="0" smtClean="0"/>
              <a:t> as follows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Find </a:t>
            </a:r>
          </a:p>
          <a:p>
            <a:pPr lvl="2"/>
            <a:r>
              <a:rPr lang="en-US" dirty="0" smtClean="0"/>
              <a:t>Verify that </a:t>
            </a:r>
          </a:p>
          <a:p>
            <a:pPr lvl="2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20</a:t>
            </a:fld>
            <a:endParaRPr lang="en-US" altLang="zh-CN" dirty="0" smtClean="0"/>
          </a:p>
        </p:txBody>
      </p:sp>
      <p:graphicFrame>
        <p:nvGraphicFramePr>
          <p:cNvPr id="20482" name="Object 2"/>
          <p:cNvGraphicFramePr>
            <a:graphicFrameLocks noChangeAspect="1"/>
          </p:cNvGraphicFramePr>
          <p:nvPr/>
        </p:nvGraphicFramePr>
        <p:xfrm>
          <a:off x="2057400" y="1600200"/>
          <a:ext cx="3933825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9" name="Equation" r:id="rId3" imgW="2705040" imgH="609480" progId="Equation.3">
                  <p:embed/>
                </p:oleObj>
              </mc:Choice>
              <mc:Fallback>
                <p:oleObj name="Equation" r:id="rId3" imgW="2705040" imgH="609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600200"/>
                        <a:ext cx="3933825" cy="900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3"/>
          <p:cNvGraphicFramePr>
            <a:graphicFrameLocks noChangeAspect="1"/>
          </p:cNvGraphicFramePr>
          <p:nvPr/>
        </p:nvGraphicFramePr>
        <p:xfrm>
          <a:off x="2514600" y="2590800"/>
          <a:ext cx="94138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0" name="Equation" r:id="rId5" imgW="647640" imgH="241200" progId="Equation.3">
                  <p:embed/>
                </p:oleObj>
              </mc:Choice>
              <mc:Fallback>
                <p:oleObj name="Equation" r:id="rId5" imgW="647640" imgH="2412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590800"/>
                        <a:ext cx="941388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4"/>
          <p:cNvGraphicFramePr>
            <a:graphicFrameLocks noChangeAspect="1"/>
          </p:cNvGraphicFramePr>
          <p:nvPr/>
        </p:nvGraphicFramePr>
        <p:xfrm>
          <a:off x="2895600" y="2819400"/>
          <a:ext cx="1735138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1" name="Equation" r:id="rId7" imgW="1193760" imgH="330120" progId="Equation.3">
                  <p:embed/>
                </p:oleObj>
              </mc:Choice>
              <mc:Fallback>
                <p:oleObj name="Equation" r:id="rId7" imgW="1193760" imgH="33012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819400"/>
                        <a:ext cx="1735138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CONTINUOUS RVS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Joint moment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Linearity of the expectation operator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Proof: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21</a:t>
            </a:fld>
            <a:endParaRPr lang="en-US" altLang="zh-CN" dirty="0" smtClean="0"/>
          </a:p>
        </p:txBody>
      </p:sp>
      <p:graphicFrame>
        <p:nvGraphicFramePr>
          <p:cNvPr id="37890" name="Object 2"/>
          <p:cNvGraphicFramePr>
            <a:graphicFrameLocks noChangeAspect="1"/>
          </p:cNvGraphicFramePr>
          <p:nvPr/>
        </p:nvGraphicFramePr>
        <p:xfrm>
          <a:off x="2209800" y="1295400"/>
          <a:ext cx="3656012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8" name="Equation" r:id="rId3" imgW="2514600" imgH="330120" progId="Equation.3">
                  <p:embed/>
                </p:oleObj>
              </mc:Choice>
              <mc:Fallback>
                <p:oleObj name="Equation" r:id="rId3" imgW="2514600" imgH="3301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295400"/>
                        <a:ext cx="3656012" cy="4873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1" name="Object 3"/>
          <p:cNvGraphicFramePr>
            <a:graphicFrameLocks noChangeAspect="1"/>
          </p:cNvGraphicFramePr>
          <p:nvPr/>
        </p:nvGraphicFramePr>
        <p:xfrm>
          <a:off x="2286000" y="2590800"/>
          <a:ext cx="2622550" cy="30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9" name="Equation" r:id="rId5" imgW="1803240" imgH="203040" progId="Equation.3">
                  <p:embed/>
                </p:oleObj>
              </mc:Choice>
              <mc:Fallback>
                <p:oleObj name="Equation" r:id="rId5" imgW="180324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590800"/>
                        <a:ext cx="2622550" cy="30003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CONTINUOUS RVS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Two RVs X and Y with mean              and               . Define Z = 2X + 5Y + 7. Find E[Z].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22</a:t>
            </a:fld>
            <a:endParaRPr lang="en-US" altLang="zh-CN" dirty="0" smtClean="0"/>
          </a:p>
        </p:txBody>
      </p:sp>
      <p:graphicFrame>
        <p:nvGraphicFramePr>
          <p:cNvPr id="38914" name="Object 2"/>
          <p:cNvGraphicFramePr>
            <a:graphicFrameLocks noChangeAspect="1"/>
          </p:cNvGraphicFramePr>
          <p:nvPr/>
        </p:nvGraphicFramePr>
        <p:xfrm>
          <a:off x="4191000" y="1295400"/>
          <a:ext cx="684213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2" name="Equation" r:id="rId3" imgW="469800" imgH="215640" progId="Equation.3">
                  <p:embed/>
                </p:oleObj>
              </mc:Choice>
              <mc:Fallback>
                <p:oleObj name="Equation" r:id="rId3" imgW="469800" imgH="215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295400"/>
                        <a:ext cx="684213" cy="319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5" name="Object 3"/>
          <p:cNvGraphicFramePr>
            <a:graphicFrameLocks noChangeAspect="1"/>
          </p:cNvGraphicFramePr>
          <p:nvPr/>
        </p:nvGraphicFramePr>
        <p:xfrm>
          <a:off x="5419725" y="1295400"/>
          <a:ext cx="665163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3" name="Equation" r:id="rId5" imgW="457200" imgH="215640" progId="Equation.3">
                  <p:embed/>
                </p:oleObj>
              </mc:Choice>
              <mc:Fallback>
                <p:oleObj name="Equation" r:id="rId5" imgW="457200" imgH="215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9725" y="1295400"/>
                        <a:ext cx="665163" cy="319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23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Two discrete random variables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Two continuous</a:t>
            </a: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random variables</a:t>
            </a: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Statistical independence and correlation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baseline="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Functions</a:t>
            </a: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of two random variables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baseline="0" dirty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Moment generating function</a:t>
            </a: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404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INDEPENDENCE AND CORRELATION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Independence</a:t>
            </a:r>
          </a:p>
          <a:p>
            <a:pPr lvl="1"/>
            <a:r>
              <a:rPr lang="en-US" dirty="0" smtClean="0"/>
              <a:t>Tow continuous RVs are called </a:t>
            </a:r>
            <a:r>
              <a:rPr lang="en-US" dirty="0" smtClean="0">
                <a:solidFill>
                  <a:srgbClr val="FF0000"/>
                </a:solidFill>
              </a:rPr>
              <a:t>independent</a:t>
            </a:r>
            <a:r>
              <a:rPr lang="en-US" dirty="0" smtClean="0"/>
              <a:t> if and only if</a:t>
            </a:r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Recall: for two RVs X and Y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Therefore, if X and Y are independent, then </a:t>
            </a:r>
          </a:p>
          <a:p>
            <a:pPr lvl="2"/>
            <a:endParaRPr lang="en-US" dirty="0"/>
          </a:p>
          <a:p>
            <a:pPr lvl="2"/>
            <a:endParaRPr lang="en-US" dirty="0" smtClean="0"/>
          </a:p>
          <a:p>
            <a:pPr lvl="2"/>
            <a:endParaRPr lang="en-US" dirty="0"/>
          </a:p>
          <a:p>
            <a:pPr lvl="2"/>
            <a:endParaRPr lang="en-US" dirty="0" smtClean="0"/>
          </a:p>
          <a:p>
            <a:pPr lvl="1"/>
            <a:r>
              <a:rPr lang="en-US" dirty="0" smtClean="0"/>
              <a:t>Recall: two events A and B are independent if and only if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24</a:t>
            </a:fld>
            <a:endParaRPr lang="en-US" altLang="zh-CN" dirty="0" smtClean="0"/>
          </a:p>
        </p:txBody>
      </p:sp>
      <p:graphicFrame>
        <p:nvGraphicFramePr>
          <p:cNvPr id="22530" name="Object 2"/>
          <p:cNvGraphicFramePr>
            <a:graphicFrameLocks noChangeAspect="1"/>
          </p:cNvGraphicFramePr>
          <p:nvPr/>
        </p:nvGraphicFramePr>
        <p:xfrm>
          <a:off x="2514600" y="1676400"/>
          <a:ext cx="3200400" cy="4787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7" name="Equation" r:id="rId3" imgW="1460160" imgH="215640" progId="Equation.3">
                  <p:embed/>
                </p:oleObj>
              </mc:Choice>
              <mc:Fallback>
                <p:oleObj name="Equation" r:id="rId3" imgW="1460160" imgH="215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676400"/>
                        <a:ext cx="3200400" cy="47874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3"/>
          <p:cNvGraphicFramePr>
            <a:graphicFrameLocks noChangeAspect="1"/>
          </p:cNvGraphicFramePr>
          <p:nvPr/>
        </p:nvGraphicFramePr>
        <p:xfrm>
          <a:off x="2362200" y="2895600"/>
          <a:ext cx="372903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8" name="Equation" r:id="rId5" imgW="1701720" imgH="241200" progId="Equation.3">
                  <p:embed/>
                </p:oleObj>
              </mc:Choice>
              <mc:Fallback>
                <p:oleObj name="Equation" r:id="rId5" imgW="1701720" imgH="2412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895600"/>
                        <a:ext cx="3729038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2895600" y="4114800"/>
          <a:ext cx="255905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9" name="Equation" r:id="rId7" imgW="1168200" imgH="241200" progId="Equation.3">
                  <p:embed/>
                </p:oleObj>
              </mc:Choice>
              <mc:Fallback>
                <p:oleObj name="Equation" r:id="rId7" imgW="1168200" imgH="241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114800"/>
                        <a:ext cx="2559050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38475" y="5638800"/>
            <a:ext cx="2676525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INDEPENDENCE AND CORRELATION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Two RVs with joint </a:t>
            </a:r>
            <a:r>
              <a:rPr lang="en-US" dirty="0" err="1" smtClean="0"/>
              <a:t>pdf</a:t>
            </a:r>
            <a:r>
              <a:rPr lang="en-US" dirty="0" smtClean="0"/>
              <a:t> as follows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Find the value of </a:t>
            </a:r>
            <a:r>
              <a:rPr lang="en-US" i="1" dirty="0" smtClean="0"/>
              <a:t>k</a:t>
            </a:r>
          </a:p>
          <a:p>
            <a:pPr lvl="2"/>
            <a:r>
              <a:rPr lang="en-US" dirty="0" smtClean="0"/>
              <a:t>Are they independent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25</a:t>
            </a:fld>
            <a:endParaRPr lang="en-US" altLang="zh-CN" dirty="0" smtClean="0"/>
          </a:p>
        </p:txBody>
      </p:sp>
      <p:graphicFrame>
        <p:nvGraphicFramePr>
          <p:cNvPr id="23554" name="Object 2"/>
          <p:cNvGraphicFramePr>
            <a:graphicFrameLocks noChangeAspect="1"/>
          </p:cNvGraphicFramePr>
          <p:nvPr/>
        </p:nvGraphicFramePr>
        <p:xfrm>
          <a:off x="2057400" y="1676400"/>
          <a:ext cx="3952875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3" name="Equation" r:id="rId3" imgW="2717640" imgH="482400" progId="Equation.3">
                  <p:embed/>
                </p:oleObj>
              </mc:Choice>
              <mc:Fallback>
                <p:oleObj name="Equation" r:id="rId3" imgW="2717640" imgH="4824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676400"/>
                        <a:ext cx="3952875" cy="712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INDEPENDENCE AND CORRELATION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Correlation</a:t>
            </a:r>
          </a:p>
          <a:p>
            <a:pPr lvl="1"/>
            <a:r>
              <a:rPr lang="en-US" dirty="0" smtClean="0"/>
              <a:t>The correlation between two RVs X and Y is defined as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r>
              <a:rPr lang="en-US" dirty="0" smtClean="0"/>
              <a:t>Covariance</a:t>
            </a:r>
          </a:p>
          <a:p>
            <a:pPr lvl="1"/>
            <a:r>
              <a:rPr lang="en-US" dirty="0" smtClean="0"/>
              <a:t>The covariance between two RVs </a:t>
            </a:r>
            <a:r>
              <a:rPr lang="en-US" i="1" dirty="0" smtClean="0"/>
              <a:t>X</a:t>
            </a:r>
            <a:r>
              <a:rPr lang="en-US" dirty="0" smtClean="0"/>
              <a:t> and </a:t>
            </a:r>
            <a:r>
              <a:rPr lang="en-US" i="1" dirty="0" smtClean="0"/>
              <a:t>Y</a:t>
            </a:r>
            <a:r>
              <a:rPr lang="en-US" dirty="0" smtClean="0"/>
              <a:t> is defined as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Recall: variance of </a:t>
            </a:r>
            <a:r>
              <a:rPr lang="en-US" i="1" dirty="0" smtClean="0"/>
              <a:t>X</a:t>
            </a:r>
            <a:r>
              <a:rPr lang="en-US" dirty="0" smtClean="0"/>
              <a:t>: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26</a:t>
            </a:fld>
            <a:endParaRPr lang="en-US" altLang="zh-CN" dirty="0" smtClean="0"/>
          </a:p>
        </p:txBody>
      </p:sp>
      <p:graphicFrame>
        <p:nvGraphicFramePr>
          <p:cNvPr id="24578" name="Object 2"/>
          <p:cNvGraphicFramePr>
            <a:graphicFrameLocks noChangeAspect="1"/>
          </p:cNvGraphicFramePr>
          <p:nvPr/>
        </p:nvGraphicFramePr>
        <p:xfrm>
          <a:off x="2438400" y="1752600"/>
          <a:ext cx="3764599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4" name="Equation" r:id="rId3" imgW="1942920" imgH="330120" progId="Equation.3">
                  <p:embed/>
                </p:oleObj>
              </mc:Choice>
              <mc:Fallback>
                <p:oleObj name="Equation" r:id="rId3" imgW="1942920" imgH="3301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752600"/>
                        <a:ext cx="3764599" cy="64928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9" name="Object 3"/>
          <p:cNvGraphicFramePr>
            <a:graphicFrameLocks noChangeAspect="1"/>
          </p:cNvGraphicFramePr>
          <p:nvPr/>
        </p:nvGraphicFramePr>
        <p:xfrm>
          <a:off x="2743200" y="3657600"/>
          <a:ext cx="2667000" cy="443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5" name="Equation" r:id="rId5" imgW="1320480" imgH="215640" progId="Equation.3">
                  <p:embed/>
                </p:oleObj>
              </mc:Choice>
              <mc:Fallback>
                <p:oleObj name="Equation" r:id="rId5" imgW="1320480" imgH="215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657600"/>
                        <a:ext cx="2667000" cy="443796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Object 4"/>
          <p:cNvGraphicFramePr>
            <a:graphicFrameLocks noChangeAspect="1"/>
          </p:cNvGraphicFramePr>
          <p:nvPr/>
        </p:nvGraphicFramePr>
        <p:xfrm>
          <a:off x="4038600" y="4267201"/>
          <a:ext cx="1295400" cy="349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6" name="Equation" r:id="rId7" imgW="863280" imgH="228600" progId="Equation.3">
                  <p:embed/>
                </p:oleObj>
              </mc:Choice>
              <mc:Fallback>
                <p:oleObj name="Equation" r:id="rId7" imgW="863280" imgH="228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267201"/>
                        <a:ext cx="1295400" cy="3490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Object 5"/>
          <p:cNvGraphicFramePr>
            <a:graphicFrameLocks noChangeAspect="1"/>
          </p:cNvGraphicFramePr>
          <p:nvPr/>
        </p:nvGraphicFramePr>
        <p:xfrm>
          <a:off x="1981200" y="4876800"/>
          <a:ext cx="482123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7" name="Equation" r:id="rId9" imgW="2387520" imgH="215640" progId="Equation.3">
                  <p:embed/>
                </p:oleObj>
              </mc:Choice>
              <mc:Fallback>
                <p:oleObj name="Equation" r:id="rId9" imgW="2387520" imgH="2156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876800"/>
                        <a:ext cx="4821238" cy="4445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INDEPENDENCE AND CORRELATION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Correlation coefficient (normalized covariance)</a:t>
            </a:r>
          </a:p>
          <a:p>
            <a:pPr lvl="1"/>
            <a:r>
              <a:rPr lang="en-US" dirty="0" smtClean="0"/>
              <a:t>The correlation coefficient of two RV X and Y is defined as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27</a:t>
            </a:fld>
            <a:endParaRPr lang="en-US" altLang="zh-CN" dirty="0" smtClean="0"/>
          </a:p>
        </p:txBody>
      </p:sp>
      <p:graphicFrame>
        <p:nvGraphicFramePr>
          <p:cNvPr id="28674" name="Object 2"/>
          <p:cNvGraphicFramePr>
            <a:graphicFrameLocks noChangeAspect="1"/>
          </p:cNvGraphicFramePr>
          <p:nvPr/>
        </p:nvGraphicFramePr>
        <p:xfrm>
          <a:off x="1981200" y="1752600"/>
          <a:ext cx="4953000" cy="8060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3" name="Equation" r:id="rId3" imgW="2705040" imgH="431640" progId="Equation.3">
                  <p:embed/>
                </p:oleObj>
              </mc:Choice>
              <mc:Fallback>
                <p:oleObj name="Equation" r:id="rId3" imgW="2705040" imgH="431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752600"/>
                        <a:ext cx="4953000" cy="80606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INDEPENDENCE AND CORRELATION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Consider two RVs with the joint </a:t>
            </a:r>
            <a:r>
              <a:rPr lang="en-US" dirty="0" err="1" smtClean="0"/>
              <a:t>pdf</a:t>
            </a:r>
            <a:r>
              <a:rPr lang="en-US" dirty="0" smtClean="0"/>
              <a:t> as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Find the correlation, covariance, and the correlation coefficient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28</a:t>
            </a:fld>
            <a:endParaRPr lang="en-US" altLang="zh-CN" dirty="0" smtClean="0"/>
          </a:p>
        </p:txBody>
      </p:sp>
      <p:graphicFrame>
        <p:nvGraphicFramePr>
          <p:cNvPr id="29698" name="Object 2"/>
          <p:cNvGraphicFramePr>
            <a:graphicFrameLocks noChangeAspect="1"/>
          </p:cNvGraphicFramePr>
          <p:nvPr/>
        </p:nvGraphicFramePr>
        <p:xfrm>
          <a:off x="2362200" y="1676400"/>
          <a:ext cx="3455987" cy="721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7" name="Equation" r:id="rId3" imgW="2234880" imgH="457200" progId="Equation.3">
                  <p:embed/>
                </p:oleObj>
              </mc:Choice>
              <mc:Fallback>
                <p:oleObj name="Equation" r:id="rId3" imgW="2234880" imgH="457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676400"/>
                        <a:ext cx="3455987" cy="7212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INDEPENDENCE AND CORRELATION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8382000" cy="5600700"/>
          </a:xfrm>
        </p:spPr>
        <p:txBody>
          <a:bodyPr/>
          <a:lstStyle/>
          <a:p>
            <a:r>
              <a:rPr lang="en-US" dirty="0" smtClean="0"/>
              <a:t>Uncorrelated</a:t>
            </a:r>
          </a:p>
          <a:p>
            <a:pPr lvl="1"/>
            <a:r>
              <a:rPr lang="en-US" dirty="0" smtClean="0"/>
              <a:t>Two RVs X and Y are said to be uncorrelated if </a:t>
            </a:r>
          </a:p>
          <a:p>
            <a:endParaRPr lang="en-US" dirty="0" smtClean="0"/>
          </a:p>
          <a:p>
            <a:pPr lvl="1"/>
            <a:r>
              <a:rPr lang="en-US" dirty="0" smtClean="0"/>
              <a:t>If two RVs are uncorrelated, then the covariance is       , their correlation coefficient is          .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Independence ≠ correlation</a:t>
            </a:r>
          </a:p>
          <a:p>
            <a:pPr lvl="1"/>
            <a:r>
              <a:rPr lang="en-US" dirty="0" smtClean="0"/>
              <a:t>Independent </a:t>
            </a:r>
            <a:r>
              <a:rPr lang="en-US" dirty="0" smtClean="0">
                <a:sym typeface="Wingdings" pitchFamily="2" charset="2"/>
              </a:rPr>
              <a:t> uncorrelated (it’s not true the other way around)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If X and Y are independent</a:t>
            </a:r>
          </a:p>
          <a:p>
            <a:pPr lvl="2">
              <a:buNone/>
            </a:pPr>
            <a:endParaRPr lang="en-US" dirty="0" smtClean="0"/>
          </a:p>
          <a:p>
            <a:pPr lvl="2">
              <a:buNone/>
            </a:pPr>
            <a:endParaRPr lang="en-US" dirty="0" smtClean="0"/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r>
              <a:rPr lang="en-US" dirty="0" smtClean="0">
                <a:sym typeface="Wingdings" pitchFamily="2" charset="2"/>
              </a:rPr>
              <a:t>If two RVs are uncorrelated, they might not be independent.</a:t>
            </a:r>
          </a:p>
          <a:p>
            <a:pPr lvl="2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29</a:t>
            </a:fld>
            <a:endParaRPr lang="en-US" altLang="zh-CN" dirty="0" smtClean="0"/>
          </a:p>
        </p:txBody>
      </p:sp>
      <p:graphicFrame>
        <p:nvGraphicFramePr>
          <p:cNvPr id="30722" name="Object 2"/>
          <p:cNvGraphicFramePr>
            <a:graphicFrameLocks noChangeAspect="1"/>
          </p:cNvGraphicFramePr>
          <p:nvPr/>
        </p:nvGraphicFramePr>
        <p:xfrm>
          <a:off x="2971800" y="4343400"/>
          <a:ext cx="884238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0" name="Equation" r:id="rId3" imgW="571320" imgH="215640" progId="Equation.3">
                  <p:embed/>
                </p:oleObj>
              </mc:Choice>
              <mc:Fallback>
                <p:oleObj name="Equation" r:id="rId3" imgW="571320" imgH="215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343400"/>
                        <a:ext cx="884238" cy="341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3" name="Object 3"/>
          <p:cNvGraphicFramePr>
            <a:graphicFrameLocks noChangeAspect="1"/>
          </p:cNvGraphicFramePr>
          <p:nvPr/>
        </p:nvGraphicFramePr>
        <p:xfrm>
          <a:off x="2432050" y="1600200"/>
          <a:ext cx="1965325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1" name="Equation" r:id="rId5" imgW="1269720" imgH="215640" progId="Equation.3">
                  <p:embed/>
                </p:oleObj>
              </mc:Choice>
              <mc:Fallback>
                <p:oleObj name="Equation" r:id="rId5" imgW="1269720" imgH="215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050" y="1600200"/>
                        <a:ext cx="1965325" cy="341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INDEPENDENCE AND CORRELATION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Let       be uniformly distributed in              .</a:t>
            </a:r>
          </a:p>
          <a:p>
            <a:pPr lvl="1">
              <a:buNone/>
            </a:pPr>
            <a:endParaRPr lang="en-US" dirty="0" smtClean="0"/>
          </a:p>
          <a:p>
            <a:pPr lvl="2"/>
            <a:r>
              <a:rPr lang="en-US" dirty="0" smtClean="0"/>
              <a:t>Are they uncorrelated? </a:t>
            </a:r>
          </a:p>
          <a:p>
            <a:pPr lvl="1">
              <a:buNone/>
            </a:pP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30</a:t>
            </a:fld>
            <a:endParaRPr lang="en-US" altLang="zh-CN" dirty="0" smtClean="0"/>
          </a:p>
        </p:txBody>
      </p:sp>
      <p:graphicFrame>
        <p:nvGraphicFramePr>
          <p:cNvPr id="31746" name="Object 2"/>
          <p:cNvGraphicFramePr>
            <a:graphicFrameLocks noChangeAspect="1"/>
          </p:cNvGraphicFramePr>
          <p:nvPr/>
        </p:nvGraphicFramePr>
        <p:xfrm>
          <a:off x="1828800" y="1295400"/>
          <a:ext cx="255588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2" name="Equation" r:id="rId3" imgW="164880" imgH="177480" progId="Equation.3">
                  <p:embed/>
                </p:oleObj>
              </mc:Choice>
              <mc:Fallback>
                <p:oleObj name="Equation" r:id="rId3" imgW="164880" imgH="177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295400"/>
                        <a:ext cx="255588" cy="282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7" name="Object 3"/>
          <p:cNvGraphicFramePr>
            <a:graphicFrameLocks noChangeAspect="1"/>
          </p:cNvGraphicFramePr>
          <p:nvPr/>
        </p:nvGraphicFramePr>
        <p:xfrm>
          <a:off x="4724400" y="1295400"/>
          <a:ext cx="649288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3" name="Equation" r:id="rId5" imgW="419040" imgH="203040" progId="Equation.3">
                  <p:embed/>
                </p:oleObj>
              </mc:Choice>
              <mc:Fallback>
                <p:oleObj name="Equation" r:id="rId5" imgW="41904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295400"/>
                        <a:ext cx="649288" cy="322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8" name="Object 4"/>
          <p:cNvGraphicFramePr>
            <a:graphicFrameLocks noChangeAspect="1"/>
          </p:cNvGraphicFramePr>
          <p:nvPr/>
        </p:nvGraphicFramePr>
        <p:xfrm>
          <a:off x="2209800" y="1600200"/>
          <a:ext cx="1160462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4" name="Equation" r:id="rId7" imgW="749160" imgH="203040" progId="Equation.3">
                  <p:embed/>
                </p:oleObj>
              </mc:Choice>
              <mc:Fallback>
                <p:oleObj name="Equation" r:id="rId7" imgW="749160" imgH="203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600200"/>
                        <a:ext cx="1160462" cy="322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9" name="Object 5"/>
          <p:cNvGraphicFramePr>
            <a:graphicFrameLocks noChangeAspect="1"/>
          </p:cNvGraphicFramePr>
          <p:nvPr/>
        </p:nvGraphicFramePr>
        <p:xfrm>
          <a:off x="4419600" y="1600200"/>
          <a:ext cx="1062037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5" name="Equation" r:id="rId9" imgW="685800" imgH="203040" progId="Equation.3">
                  <p:embed/>
                </p:oleObj>
              </mc:Choice>
              <mc:Fallback>
                <p:oleObj name="Equation" r:id="rId9" imgW="685800" imgH="2030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600200"/>
                        <a:ext cx="1062037" cy="322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INDEPENDENCE AND CORRELATION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Two independent RVs, X and Y, have variance                                 . Find the variance of U = 2X + 3Y.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31</a:t>
            </a:fld>
            <a:endParaRPr lang="en-US" altLang="zh-CN" dirty="0" smtClean="0"/>
          </a:p>
        </p:txBody>
      </p:sp>
      <p:graphicFrame>
        <p:nvGraphicFramePr>
          <p:cNvPr id="35842" name="Object 2"/>
          <p:cNvGraphicFramePr>
            <a:graphicFrameLocks noChangeAspect="1"/>
          </p:cNvGraphicFramePr>
          <p:nvPr/>
        </p:nvGraphicFramePr>
        <p:xfrm>
          <a:off x="5867400" y="1295400"/>
          <a:ext cx="785813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00" name="Equation" r:id="rId3" imgW="507960" imgH="228600" progId="Equation.3">
                  <p:embed/>
                </p:oleObj>
              </mc:Choice>
              <mc:Fallback>
                <p:oleObj name="Equation" r:id="rId3" imgW="507960" imgH="2286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295400"/>
                        <a:ext cx="785813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3" name="Object 3"/>
          <p:cNvGraphicFramePr>
            <a:graphicFrameLocks noChangeAspect="1"/>
          </p:cNvGraphicFramePr>
          <p:nvPr/>
        </p:nvGraphicFramePr>
        <p:xfrm>
          <a:off x="6743700" y="1295400"/>
          <a:ext cx="785813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01" name="Equation" r:id="rId5" imgW="507960" imgH="228600" progId="Equation.3">
                  <p:embed/>
                </p:oleObj>
              </mc:Choice>
              <mc:Fallback>
                <p:oleObj name="Equation" r:id="rId5" imgW="507960" imgH="2286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3700" y="1295400"/>
                        <a:ext cx="785813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32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Two discrete random variables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Two continuous</a:t>
            </a: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random variables</a:t>
            </a: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Statistical independence and correlation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baseline="0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Functions</a:t>
            </a: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of two random variables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baseline="0" dirty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Moment generating function</a:t>
            </a: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065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 OF TWO RVS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pdf</a:t>
            </a:r>
            <a:r>
              <a:rPr lang="en-US" dirty="0" smtClean="0"/>
              <a:t> of the sum of two RVs</a:t>
            </a:r>
          </a:p>
          <a:p>
            <a:pPr lvl="1"/>
            <a:r>
              <a:rPr lang="en-US" dirty="0" smtClean="0"/>
              <a:t>Consider two RVs X and Y, with the joint </a:t>
            </a:r>
            <a:r>
              <a:rPr lang="en-US" dirty="0" err="1" smtClean="0"/>
              <a:t>pdf</a:t>
            </a:r>
            <a:endParaRPr lang="en-US" dirty="0" smtClean="0"/>
          </a:p>
          <a:p>
            <a:pPr lvl="1"/>
            <a:r>
              <a:rPr lang="en-US" dirty="0" smtClean="0"/>
              <a:t>Define a new RV Z = X + Y. What is the </a:t>
            </a:r>
            <a:r>
              <a:rPr lang="en-US" dirty="0" err="1" smtClean="0"/>
              <a:t>pdf</a:t>
            </a:r>
            <a:r>
              <a:rPr lang="en-US" dirty="0" smtClean="0"/>
              <a:t> of Z?</a:t>
            </a:r>
          </a:p>
          <a:p>
            <a:pPr lvl="1"/>
            <a:r>
              <a:rPr lang="en-US" dirty="0" smtClean="0"/>
              <a:t>Sol: Find the CDF of Z, then differentiate it with respect to z.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33</a:t>
            </a:fld>
            <a:endParaRPr lang="en-US" altLang="zh-CN" dirty="0" smtClean="0"/>
          </a:p>
        </p:txBody>
      </p:sp>
      <p:graphicFrame>
        <p:nvGraphicFramePr>
          <p:cNvPr id="32770" name="Object 2"/>
          <p:cNvGraphicFramePr>
            <a:graphicFrameLocks noChangeAspect="1"/>
          </p:cNvGraphicFramePr>
          <p:nvPr/>
        </p:nvGraphicFramePr>
        <p:xfrm>
          <a:off x="5791200" y="1219200"/>
          <a:ext cx="9239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8" name="Equation" r:id="rId4" imgW="596880" imgH="215640" progId="Equation.3">
                  <p:embed/>
                </p:oleObj>
              </mc:Choice>
              <mc:Fallback>
                <p:oleObj name="Equation" r:id="rId4" imgW="596880" imgH="215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1219200"/>
                        <a:ext cx="92392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1" name="Object 3"/>
          <p:cNvGraphicFramePr>
            <a:graphicFrameLocks noChangeAspect="1"/>
          </p:cNvGraphicFramePr>
          <p:nvPr/>
        </p:nvGraphicFramePr>
        <p:xfrm>
          <a:off x="2762250" y="5486400"/>
          <a:ext cx="2516188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9" name="Equation" r:id="rId6" imgW="1625400" imgH="330120" progId="Equation.3">
                  <p:embed/>
                </p:oleObj>
              </mc:Choice>
              <mc:Fallback>
                <p:oleObj name="Equation" r:id="rId6" imgW="1625400" imgH="33012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2250" y="5486400"/>
                        <a:ext cx="2516188" cy="5254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 OF TWO RVS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Pdf</a:t>
            </a:r>
            <a:r>
              <a:rPr lang="en-US" dirty="0" smtClean="0"/>
              <a:t> of the sum of two independent RVs</a:t>
            </a:r>
          </a:p>
          <a:p>
            <a:pPr lvl="1"/>
            <a:r>
              <a:rPr lang="en-US" dirty="0" smtClean="0"/>
              <a:t>If X and Y are independent, then the </a:t>
            </a:r>
            <a:r>
              <a:rPr lang="en-US" dirty="0" err="1" smtClean="0"/>
              <a:t>pdf</a:t>
            </a:r>
            <a:r>
              <a:rPr lang="en-US" dirty="0" smtClean="0"/>
              <a:t> of Z = X+Y is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The </a:t>
            </a:r>
            <a:r>
              <a:rPr lang="en-US" dirty="0" err="1" smtClean="0"/>
              <a:t>pdf</a:t>
            </a:r>
            <a:r>
              <a:rPr lang="en-US" dirty="0" smtClean="0"/>
              <a:t> of Z is the convolution of the </a:t>
            </a:r>
            <a:r>
              <a:rPr lang="en-US" dirty="0" err="1" smtClean="0"/>
              <a:t>pdfs</a:t>
            </a:r>
            <a:r>
              <a:rPr lang="en-US" dirty="0" smtClean="0"/>
              <a:t> of X and 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34</a:t>
            </a:fld>
            <a:endParaRPr lang="en-US" altLang="zh-CN" dirty="0" smtClean="0"/>
          </a:p>
        </p:txBody>
      </p:sp>
      <p:graphicFrame>
        <p:nvGraphicFramePr>
          <p:cNvPr id="33794" name="Object 2"/>
          <p:cNvGraphicFramePr>
            <a:graphicFrameLocks noChangeAspect="1"/>
          </p:cNvGraphicFramePr>
          <p:nvPr/>
        </p:nvGraphicFramePr>
        <p:xfrm>
          <a:off x="1371600" y="1752600"/>
          <a:ext cx="6230937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3" name="Equation" r:id="rId3" imgW="4025880" imgH="330120" progId="Equation.3">
                  <p:embed/>
                </p:oleObj>
              </mc:Choice>
              <mc:Fallback>
                <p:oleObj name="Equation" r:id="rId3" imgW="4025880" imgH="3301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752600"/>
                        <a:ext cx="6230937" cy="5254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 OF TWO RVS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Two independent RVs have </a:t>
            </a:r>
            <a:r>
              <a:rPr lang="en-US" dirty="0" err="1" smtClean="0"/>
              <a:t>pdf</a:t>
            </a:r>
            <a:r>
              <a:rPr lang="en-US" dirty="0" smtClean="0"/>
              <a:t> as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Find the </a:t>
            </a:r>
            <a:r>
              <a:rPr lang="en-US" dirty="0" err="1" smtClean="0"/>
              <a:t>pdf</a:t>
            </a:r>
            <a:r>
              <a:rPr lang="en-US" dirty="0" smtClean="0"/>
              <a:t> of Z = X + Y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35</a:t>
            </a:fld>
            <a:endParaRPr lang="en-US" altLang="zh-CN" dirty="0" smtClean="0"/>
          </a:p>
        </p:txBody>
      </p:sp>
      <p:graphicFrame>
        <p:nvGraphicFramePr>
          <p:cNvPr id="34818" name="Object 2"/>
          <p:cNvGraphicFramePr>
            <a:graphicFrameLocks noChangeAspect="1"/>
          </p:cNvGraphicFramePr>
          <p:nvPr/>
        </p:nvGraphicFramePr>
        <p:xfrm>
          <a:off x="1524000" y="1676400"/>
          <a:ext cx="2319338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6" name="Equation" r:id="rId3" imgW="1498320" imgH="482400" progId="Equation.3">
                  <p:embed/>
                </p:oleObj>
              </mc:Choice>
              <mc:Fallback>
                <p:oleObj name="Equation" r:id="rId3" imgW="1498320" imgH="4824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676400"/>
                        <a:ext cx="2319338" cy="766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19" name="Object 3"/>
          <p:cNvGraphicFramePr>
            <a:graphicFrameLocks noChangeAspect="1"/>
          </p:cNvGraphicFramePr>
          <p:nvPr/>
        </p:nvGraphicFramePr>
        <p:xfrm>
          <a:off x="4800600" y="1676400"/>
          <a:ext cx="2378075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7" name="Equation" r:id="rId5" imgW="1536480" imgH="482400" progId="Equation.3">
                  <p:embed/>
                </p:oleObj>
              </mc:Choice>
              <mc:Fallback>
                <p:oleObj name="Equation" r:id="rId5" imgW="1536480" imgH="4824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676400"/>
                        <a:ext cx="2378075" cy="766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 OF TWO RVS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Pdf</a:t>
            </a:r>
            <a:r>
              <a:rPr lang="en-US" dirty="0" smtClean="0"/>
              <a:t> of functions of two RVs</a:t>
            </a:r>
          </a:p>
          <a:p>
            <a:pPr lvl="1"/>
            <a:r>
              <a:rPr lang="en-US" dirty="0" smtClean="0"/>
              <a:t>Consider two RVs, X and Y, with joint </a:t>
            </a:r>
            <a:r>
              <a:rPr lang="en-US" dirty="0" err="1" smtClean="0"/>
              <a:t>pdf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Let                          ,                           </a:t>
            </a:r>
          </a:p>
          <a:p>
            <a:pPr lvl="1"/>
            <a:r>
              <a:rPr lang="en-US" dirty="0" smtClean="0"/>
              <a:t>Or, inversely,  </a:t>
            </a:r>
          </a:p>
          <a:p>
            <a:pPr lvl="1"/>
            <a:r>
              <a:rPr lang="en-US" dirty="0" smtClean="0"/>
              <a:t>The joint </a:t>
            </a:r>
            <a:r>
              <a:rPr lang="en-US" dirty="0" err="1" smtClean="0"/>
              <a:t>pdf</a:t>
            </a:r>
            <a:r>
              <a:rPr lang="en-US" dirty="0" smtClean="0"/>
              <a:t> of  </a:t>
            </a:r>
            <a:r>
              <a:rPr lang="en-US" i="1" dirty="0" smtClean="0"/>
              <a:t>Z</a:t>
            </a:r>
            <a:r>
              <a:rPr lang="en-US" dirty="0" smtClean="0"/>
              <a:t> and </a:t>
            </a:r>
            <a:r>
              <a:rPr lang="en-US" i="1" dirty="0" smtClean="0"/>
              <a:t>W</a:t>
            </a:r>
            <a:r>
              <a:rPr lang="en-US" dirty="0" smtClean="0"/>
              <a:t> is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36</a:t>
            </a:fld>
            <a:endParaRPr lang="en-US" altLang="zh-CN" dirty="0" smtClean="0"/>
          </a:p>
        </p:txBody>
      </p:sp>
      <p:graphicFrame>
        <p:nvGraphicFramePr>
          <p:cNvPr id="44034" name="Object 2"/>
          <p:cNvGraphicFramePr>
            <a:graphicFrameLocks noChangeAspect="1"/>
          </p:cNvGraphicFramePr>
          <p:nvPr/>
        </p:nvGraphicFramePr>
        <p:xfrm>
          <a:off x="1905000" y="1600200"/>
          <a:ext cx="1277938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39" name="Equation" r:id="rId3" imgW="825480" imgH="215640" progId="Equation.3">
                  <p:embed/>
                </p:oleObj>
              </mc:Choice>
              <mc:Fallback>
                <p:oleObj name="Equation" r:id="rId3" imgW="825480" imgH="215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600200"/>
                        <a:ext cx="1277938" cy="344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5" name="Object 3"/>
          <p:cNvGraphicFramePr>
            <a:graphicFrameLocks noChangeAspect="1"/>
          </p:cNvGraphicFramePr>
          <p:nvPr/>
        </p:nvGraphicFramePr>
        <p:xfrm>
          <a:off x="5486400" y="1219200"/>
          <a:ext cx="923925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40" name="Equation" r:id="rId5" imgW="596880" imgH="215640" progId="Equation.3">
                  <p:embed/>
                </p:oleObj>
              </mc:Choice>
              <mc:Fallback>
                <p:oleObj name="Equation" r:id="rId5" imgW="596880" imgH="215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219200"/>
                        <a:ext cx="923925" cy="344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6" name="Object 4"/>
          <p:cNvGraphicFramePr>
            <a:graphicFrameLocks noChangeAspect="1"/>
          </p:cNvGraphicFramePr>
          <p:nvPr/>
        </p:nvGraphicFramePr>
        <p:xfrm>
          <a:off x="3429000" y="1600200"/>
          <a:ext cx="1355725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41" name="Equation" r:id="rId7" imgW="876240" imgH="215640" progId="Equation.3">
                  <p:embed/>
                </p:oleObj>
              </mc:Choice>
              <mc:Fallback>
                <p:oleObj name="Equation" r:id="rId7" imgW="876240" imgH="215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600200"/>
                        <a:ext cx="1355725" cy="344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9" name="Object 7"/>
          <p:cNvGraphicFramePr>
            <a:graphicFrameLocks noChangeAspect="1"/>
          </p:cNvGraphicFramePr>
          <p:nvPr/>
        </p:nvGraphicFramePr>
        <p:xfrm>
          <a:off x="2133600" y="2743200"/>
          <a:ext cx="337978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42" name="Equation" r:id="rId9" imgW="2184120" imgH="253800" progId="Equation.3">
                  <p:embed/>
                </p:oleObj>
              </mc:Choice>
              <mc:Fallback>
                <p:oleObj name="Equation" r:id="rId9" imgW="2184120" imgH="2538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743200"/>
                        <a:ext cx="3379787" cy="4064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0" name="Object 8"/>
          <p:cNvGraphicFramePr>
            <a:graphicFrameLocks noChangeAspect="1"/>
          </p:cNvGraphicFramePr>
          <p:nvPr/>
        </p:nvGraphicFramePr>
        <p:xfrm>
          <a:off x="2847975" y="1905000"/>
          <a:ext cx="1376363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43" name="Equation" r:id="rId11" imgW="888840" imgH="215640" progId="Equation.3">
                  <p:embed/>
                </p:oleObj>
              </mc:Choice>
              <mc:Fallback>
                <p:oleObj name="Equation" r:id="rId11" imgW="888840" imgH="2156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7975" y="1905000"/>
                        <a:ext cx="1376363" cy="344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1" name="Object 9"/>
          <p:cNvGraphicFramePr>
            <a:graphicFrameLocks noChangeAspect="1"/>
          </p:cNvGraphicFramePr>
          <p:nvPr/>
        </p:nvGraphicFramePr>
        <p:xfrm>
          <a:off x="4267200" y="1905000"/>
          <a:ext cx="1277938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44" name="Equation" r:id="rId13" imgW="825480" imgH="215640" progId="Equation.3">
                  <p:embed/>
                </p:oleObj>
              </mc:Choice>
              <mc:Fallback>
                <p:oleObj name="Equation" r:id="rId13" imgW="825480" imgH="21564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1905000"/>
                        <a:ext cx="1277938" cy="344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2" name="Object 10"/>
          <p:cNvGraphicFramePr>
            <a:graphicFrameLocks noChangeAspect="1"/>
          </p:cNvGraphicFramePr>
          <p:nvPr/>
        </p:nvGraphicFramePr>
        <p:xfrm>
          <a:off x="3124200" y="3505200"/>
          <a:ext cx="1316038" cy="1258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45" name="Equation" r:id="rId15" imgW="850680" imgH="787320" progId="Equation.3">
                  <p:embed/>
                </p:oleObj>
              </mc:Choice>
              <mc:Fallback>
                <p:oleObj name="Equation" r:id="rId15" imgW="850680" imgH="78732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505200"/>
                        <a:ext cx="1316038" cy="12588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OF TWO RVS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Two random variables X and Y have a joint </a:t>
            </a:r>
            <a:r>
              <a:rPr lang="en-US" dirty="0" err="1" smtClean="0"/>
              <a:t>pdf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Find the </a:t>
            </a:r>
            <a:r>
              <a:rPr lang="en-US" dirty="0" err="1" smtClean="0"/>
              <a:t>pdf</a:t>
            </a:r>
            <a:r>
              <a:rPr lang="en-US" dirty="0" smtClean="0"/>
              <a:t> of Z = XY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37</a:t>
            </a:fld>
            <a:endParaRPr lang="en-US" altLang="zh-CN" dirty="0" smtClean="0"/>
          </a:p>
        </p:txBody>
      </p:sp>
      <p:graphicFrame>
        <p:nvGraphicFramePr>
          <p:cNvPr id="45058" name="Object 2"/>
          <p:cNvGraphicFramePr>
            <a:graphicFrameLocks noChangeAspect="1"/>
          </p:cNvGraphicFramePr>
          <p:nvPr/>
        </p:nvGraphicFramePr>
        <p:xfrm>
          <a:off x="2057400" y="1600200"/>
          <a:ext cx="328295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87" name="Equation" r:id="rId3" imgW="2120760" imgH="457200" progId="Equation.3">
                  <p:embed/>
                </p:oleObj>
              </mc:Choice>
              <mc:Fallback>
                <p:oleObj name="Equation" r:id="rId3" imgW="2120760" imgH="457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600200"/>
                        <a:ext cx="3282950" cy="73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 OF TWO RVS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A box contains resistors whose values are independent and uniformly distributed between 10 Ohm and 20 Ohm. If two resistors are selected in random and connected in series</a:t>
            </a:r>
          </a:p>
          <a:p>
            <a:pPr lvl="2"/>
            <a:r>
              <a:rPr lang="en-US" dirty="0" smtClean="0"/>
              <a:t>The </a:t>
            </a:r>
            <a:r>
              <a:rPr lang="en-US" dirty="0" err="1" smtClean="0"/>
              <a:t>pdf</a:t>
            </a:r>
            <a:r>
              <a:rPr lang="en-US" dirty="0" smtClean="0"/>
              <a:t> of the resistance of the serial circuit.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38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39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Two discrete random variables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Two continuous</a:t>
            </a:r>
            <a:r>
              <a:rPr kumimoji="0" lang="en-US" altLang="zh-CN" b="1" i="0" u="none" strike="noStrike" kern="1200" cap="none" spc="0" normalizeH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random variables</a:t>
            </a: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Statistical independence and correlation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baseline="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Functions</a:t>
            </a: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of two random variables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baseline="0" dirty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Moment generating function</a:t>
            </a: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0542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 GENERATING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Moment generating function (MGF)</a:t>
            </a:r>
          </a:p>
          <a:p>
            <a:pPr lvl="1"/>
            <a:r>
              <a:rPr lang="en-US" dirty="0" smtClean="0"/>
              <a:t>The moment generating function of a random variable X is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r>
              <a:rPr lang="en-US" dirty="0" smtClean="0"/>
              <a:t>Calculation of MGF for a continuous RV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2"/>
            <a:r>
              <a:rPr lang="en-US" dirty="0" smtClean="0"/>
              <a:t>This is the </a:t>
            </a:r>
            <a:r>
              <a:rPr lang="en-US" dirty="0" smtClean="0">
                <a:solidFill>
                  <a:srgbClr val="FF0000"/>
                </a:solidFill>
              </a:rPr>
              <a:t>Laplace transform</a:t>
            </a:r>
            <a:r>
              <a:rPr lang="en-US" dirty="0" smtClean="0"/>
              <a:t> of the pdf.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Calculation </a:t>
            </a:r>
            <a:r>
              <a:rPr lang="en-US" dirty="0"/>
              <a:t>of MGF for a </a:t>
            </a:r>
            <a:r>
              <a:rPr lang="en-US" dirty="0" smtClean="0"/>
              <a:t>discrete </a:t>
            </a:r>
            <a:r>
              <a:rPr lang="en-US" dirty="0"/>
              <a:t>RV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40</a:t>
            </a:fld>
            <a:endParaRPr lang="en-US" altLang="zh-CN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828800"/>
            <a:ext cx="2057400" cy="63367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425" y="3035364"/>
            <a:ext cx="3714750" cy="8858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5334000"/>
            <a:ext cx="2982452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8668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MOMENT GENERATING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Example:</a:t>
            </a:r>
          </a:p>
          <a:p>
            <a:pPr lvl="1"/>
            <a:r>
              <a:rPr lang="en-US" dirty="0" smtClean="0"/>
              <a:t>Find the MGF of the exponential RV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41</a:t>
            </a:fld>
            <a:endParaRPr lang="en-US" altLang="zh-CN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1752600"/>
            <a:ext cx="3733800" cy="66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3935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MOMENT GENERATING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Find the MGF of a Bernoulli RV with parameter </a:t>
            </a:r>
            <a:r>
              <a:rPr lang="en-US" i="1" dirty="0" smtClean="0"/>
              <a:t>p</a:t>
            </a: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42</a:t>
            </a:fld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7459581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 GENERATING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Theorem</a:t>
            </a:r>
          </a:p>
          <a:p>
            <a:pPr lvl="1"/>
            <a:r>
              <a:rPr lang="en-US" dirty="0" smtClean="0"/>
              <a:t>We can calculate the n-</a:t>
            </a:r>
            <a:r>
              <a:rPr lang="en-US" dirty="0" err="1" smtClean="0"/>
              <a:t>th</a:t>
            </a:r>
            <a:r>
              <a:rPr lang="en-US" dirty="0" smtClean="0"/>
              <a:t> moment of a random variable X by using its MGF 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43</a:t>
            </a:fld>
            <a:endParaRPr lang="en-US" altLang="zh-CN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1981200"/>
            <a:ext cx="2943225" cy="774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0647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MOMENT GENERATING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Find the first and second moments of an exponential RV by using the MGF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44</a:t>
            </a:fld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8608294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MOMENT GENERATING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MGF of sum of independent RVs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 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45</a:t>
            </a:fld>
            <a:endParaRPr lang="en-US" altLang="zh-CN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88918"/>
            <a:ext cx="7048500" cy="54614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2088614"/>
            <a:ext cx="4800600" cy="53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3025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MOMENT GENERATING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marL="457200" lvl="1" indent="0">
              <a:buNone/>
            </a:pPr>
            <a:r>
              <a:rPr lang="en-US" dirty="0" smtClean="0"/>
              <a:t>For a Poisson RV with PMF </a:t>
            </a:r>
          </a:p>
          <a:p>
            <a:pPr lvl="1"/>
            <a:endParaRPr lang="en-US" dirty="0" smtClean="0"/>
          </a:p>
          <a:p>
            <a:pPr marL="914400" lvl="2" indent="0">
              <a:buNone/>
            </a:pPr>
            <a:endParaRPr lang="en-US" dirty="0" smtClean="0"/>
          </a:p>
          <a:p>
            <a:pPr marL="914400" lvl="2" indent="0">
              <a:buNone/>
            </a:pPr>
            <a:r>
              <a:rPr lang="en-US" dirty="0" smtClean="0"/>
              <a:t>The MGF is </a:t>
            </a:r>
          </a:p>
          <a:p>
            <a:pPr lvl="2"/>
            <a:endParaRPr lang="en-US" dirty="0"/>
          </a:p>
          <a:p>
            <a:pPr lvl="1"/>
            <a:r>
              <a:rPr lang="en-US" dirty="0" smtClean="0"/>
              <a:t>Find the distribution of the sum of N independent Poisson RVs 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46</a:t>
            </a:fld>
            <a:endParaRPr lang="en-US" altLang="zh-CN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2106237"/>
            <a:ext cx="1181100" cy="533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574394"/>
            <a:ext cx="4343400" cy="641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5774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MOMENT GENERATING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47</a:t>
            </a:fld>
            <a:endParaRPr lang="en-US" altLang="zh-CN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856" y="1404851"/>
            <a:ext cx="7539644" cy="654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817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9348</TotalTime>
  <Words>1286</Words>
  <Application>Microsoft Office PowerPoint</Application>
  <PresentationFormat>On-screen Show (4:3)</PresentationFormat>
  <Paragraphs>404</Paragraphs>
  <Slides>47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5" baseType="lpstr">
      <vt:lpstr>宋体</vt:lpstr>
      <vt:lpstr>Arial</vt:lpstr>
      <vt:lpstr>Arial Black</vt:lpstr>
      <vt:lpstr>Calibri</vt:lpstr>
      <vt:lpstr>Times New Roman</vt:lpstr>
      <vt:lpstr>Wingdings</vt:lpstr>
      <vt:lpstr>Office Theme</vt:lpstr>
      <vt:lpstr>Equation</vt:lpstr>
      <vt:lpstr>ELEG 3143 Probability &amp; Stochastic Process Ch. 4 Multiple Random Variables</vt:lpstr>
      <vt:lpstr>OUTLINE</vt:lpstr>
      <vt:lpstr>TWO DISCRETE RANDOM VARIABLES</vt:lpstr>
      <vt:lpstr>TWO DISCRETE RANDOM VARIABLES</vt:lpstr>
      <vt:lpstr>TWO DISCRETE RV</vt:lpstr>
      <vt:lpstr>TWO DISCRETE RV</vt:lpstr>
      <vt:lpstr>TWO DISCRETE RV</vt:lpstr>
      <vt:lpstr>TWO DISCRETE RV</vt:lpstr>
      <vt:lpstr>OUTLINE</vt:lpstr>
      <vt:lpstr>TWO CONTINUOUS RANDOM VARIABLES</vt:lpstr>
      <vt:lpstr>TWO CONTINUOUS RV</vt:lpstr>
      <vt:lpstr>TWO CONTINUOUS RV</vt:lpstr>
      <vt:lpstr>TWO CONTINUOUS RV</vt:lpstr>
      <vt:lpstr>TWO CONTINUOUS RV</vt:lpstr>
      <vt:lpstr>TWO CONTINUOUS RV</vt:lpstr>
      <vt:lpstr>TWO CONTINUOUS RV</vt:lpstr>
      <vt:lpstr>TWO CONTINUOUS RV</vt:lpstr>
      <vt:lpstr>TWO CONTINUOUS RV</vt:lpstr>
      <vt:lpstr>TWO CONTINUOUS RV</vt:lpstr>
      <vt:lpstr>TWO CONTINUOUS RV</vt:lpstr>
      <vt:lpstr>TWO CONTINUOUS RVS</vt:lpstr>
      <vt:lpstr>TWO CONTINUOUS RVS</vt:lpstr>
      <vt:lpstr>OUTLINE</vt:lpstr>
      <vt:lpstr>INDEPENDENCE AND CORRELATION</vt:lpstr>
      <vt:lpstr>INDEPENDENCE AND CORRELATION</vt:lpstr>
      <vt:lpstr>INDEPENDENCE AND CORRELATION</vt:lpstr>
      <vt:lpstr>INDEPENDENCE AND CORRELATION</vt:lpstr>
      <vt:lpstr>INDEPENDENCE AND CORRELATION</vt:lpstr>
      <vt:lpstr>INDEPENDENCE AND CORRELATION</vt:lpstr>
      <vt:lpstr>INDEPENDENCE AND CORRELATION</vt:lpstr>
      <vt:lpstr>INDEPENDENCE AND CORRELATION</vt:lpstr>
      <vt:lpstr>OUTLINE</vt:lpstr>
      <vt:lpstr>FUNCTIONS OF TWO RVS</vt:lpstr>
      <vt:lpstr>FUNCTIONS OF TWO RVS</vt:lpstr>
      <vt:lpstr>FUNCTIONS OF TWO RVS</vt:lpstr>
      <vt:lpstr>FUNCTIONS OF TWO RVS</vt:lpstr>
      <vt:lpstr>FUNCTION OF TWO RVS</vt:lpstr>
      <vt:lpstr>FUNCTIONS OF TWO RVS</vt:lpstr>
      <vt:lpstr>OUTLINE</vt:lpstr>
      <vt:lpstr>MOMENT GENERATING FUNCTION</vt:lpstr>
      <vt:lpstr>MOMENT GENERATING FUNCTION</vt:lpstr>
      <vt:lpstr>MOMENT GENERATING FUNCTION</vt:lpstr>
      <vt:lpstr>MOMENT GENERATING FUNCTION</vt:lpstr>
      <vt:lpstr>MOMENT GENERATING FUNCTION</vt:lpstr>
      <vt:lpstr>MOMENT GENERATING FUNCTION</vt:lpstr>
      <vt:lpstr>MOMENT GENERATING FUNCTION</vt:lpstr>
      <vt:lpstr>MOMENT GENERATING FUNCTION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wuj</dc:creator>
  <cp:lastModifiedBy>Jingxian Wu</cp:lastModifiedBy>
  <cp:revision>748</cp:revision>
  <dcterms:created xsi:type="dcterms:W3CDTF">2006-08-16T00:00:00Z</dcterms:created>
  <dcterms:modified xsi:type="dcterms:W3CDTF">2018-03-27T15:48:04Z</dcterms:modified>
</cp:coreProperties>
</file>