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261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10" r:id="rId12"/>
    <p:sldId id="311" r:id="rId13"/>
    <p:sldId id="313" r:id="rId14"/>
    <p:sldId id="314" r:id="rId15"/>
    <p:sldId id="307" r:id="rId16"/>
    <p:sldId id="308" r:id="rId17"/>
    <p:sldId id="317" r:id="rId18"/>
    <p:sldId id="315" r:id="rId19"/>
    <p:sldId id="316" r:id="rId20"/>
    <p:sldId id="318" r:id="rId21"/>
    <p:sldId id="319" r:id="rId22"/>
    <p:sldId id="320" r:id="rId23"/>
    <p:sldId id="321" r:id="rId24"/>
    <p:sldId id="322" r:id="rId25"/>
    <p:sldId id="323" r:id="rId26"/>
    <p:sldId id="325" r:id="rId27"/>
    <p:sldId id="324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6" r:id="rId38"/>
    <p:sldId id="335" r:id="rId39"/>
    <p:sldId id="337" r:id="rId40"/>
    <p:sldId id="338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FF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79" autoAdjust="0"/>
  </p:normalViewPr>
  <p:slideViewPr>
    <p:cSldViewPr>
      <p:cViewPr>
        <p:scale>
          <a:sx n="120" d="100"/>
          <a:sy n="120" d="100"/>
        </p:scale>
        <p:origin x="-370" y="48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16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15.wmf"/><Relationship Id="rId7" Type="http://schemas.openxmlformats.org/officeDocument/2006/relationships/image" Target="../media/image35.wmf"/><Relationship Id="rId2" Type="http://schemas.openxmlformats.org/officeDocument/2006/relationships/image" Target="../media/image31.wmf"/><Relationship Id="rId1" Type="http://schemas.openxmlformats.org/officeDocument/2006/relationships/image" Target="../media/image16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47.wmf"/><Relationship Id="rId1" Type="http://schemas.openxmlformats.org/officeDocument/2006/relationships/image" Target="../media/image52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12" Type="http://schemas.openxmlformats.org/officeDocument/2006/relationships/image" Target="../media/image77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3.wmf"/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12" Type="http://schemas.openxmlformats.org/officeDocument/2006/relationships/image" Target="../media/image92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11" Type="http://schemas.openxmlformats.org/officeDocument/2006/relationships/image" Target="../media/image91.wmf"/><Relationship Id="rId5" Type="http://schemas.openxmlformats.org/officeDocument/2006/relationships/image" Target="../media/image85.wmf"/><Relationship Id="rId10" Type="http://schemas.openxmlformats.org/officeDocument/2006/relationships/image" Target="../media/image90.wmf"/><Relationship Id="rId4" Type="http://schemas.openxmlformats.org/officeDocument/2006/relationships/image" Target="../media/image84.wmf"/><Relationship Id="rId9" Type="http://schemas.openxmlformats.org/officeDocument/2006/relationships/image" Target="../media/image89.wmf"/><Relationship Id="rId14" Type="http://schemas.openxmlformats.org/officeDocument/2006/relationships/image" Target="../media/image9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4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3/25/2013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a_1(1-q^N)/(1-q)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7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X(k) =</a:t>
            </a:r>
            <a:r>
              <a:rPr lang="en-US" baseline="0" dirty="0" smtClean="0"/>
              <a:t> [6 0 2 0]</a:t>
            </a:r>
          </a:p>
          <a:p>
            <a:r>
              <a:rPr lang="en-US" baseline="0" dirty="0" smtClean="0"/>
              <a:t>H(k) = [10, -2+2j, -2, -2-2j]</a:t>
            </a:r>
          </a:p>
          <a:p>
            <a:r>
              <a:rPr lang="en-US" baseline="0" dirty="0" smtClean="0"/>
              <a:t>Y(k) = [60, 0, -4, 0]</a:t>
            </a:r>
          </a:p>
          <a:p>
            <a:r>
              <a:rPr lang="en-US" baseline="0" dirty="0" smtClean="0"/>
              <a:t>y(n) = [14 16 14 16]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72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Y(n) = [6, 6, 5, 12]</a:t>
            </a:r>
          </a:p>
          <a:p>
            <a:r>
              <a:rPr lang="en-US" dirty="0" smtClean="0"/>
              <a:t>Y(k) = [29, 1+6j, -7, 1-6j]</a:t>
            </a:r>
          </a:p>
          <a:p>
            <a:r>
              <a:rPr lang="en-US" dirty="0" smtClean="0"/>
              <a:t>X(k) N H(k) = Y(k)*4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8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53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63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0.4/(1/8000) = 3200</a:t>
            </a:r>
          </a:p>
          <a:p>
            <a:pPr marL="228600" indent="-228600">
              <a:buAutoNum type="arabicPeriod"/>
            </a:pPr>
            <a:r>
              <a:rPr lang="en-US" dirty="0" smtClean="0"/>
              <a:t>Omega = 2*pi/N*</a:t>
            </a:r>
            <a:r>
              <a:rPr lang="en-US" dirty="0" err="1" smtClean="0"/>
              <a:t>Fs</a:t>
            </a:r>
            <a:r>
              <a:rPr lang="en-US" dirty="0" smtClean="0"/>
              <a:t>, F = Omega/(2pi)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Fs</a:t>
            </a:r>
            <a:r>
              <a:rPr lang="en-US" baseline="0" dirty="0" smtClean="0"/>
              <a:t>/N = 8000/3200 = 2.5 Hz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k/N*</a:t>
            </a:r>
            <a:r>
              <a:rPr lang="en-US" baseline="0" dirty="0" err="1" smtClean="0"/>
              <a:t>Fs</a:t>
            </a:r>
            <a:r>
              <a:rPr lang="en-US" baseline="0" dirty="0" smtClean="0"/>
              <a:t> = 308/3200*8000  = 770 Hz</a:t>
            </a:r>
          </a:p>
          <a:p>
            <a:pPr marL="0" indent="0">
              <a:buNone/>
            </a:pPr>
            <a:r>
              <a:rPr lang="en-US" baseline="0" dirty="0" smtClean="0"/>
              <a:t>k/N*</a:t>
            </a:r>
            <a:r>
              <a:rPr lang="en-US" baseline="0" dirty="0" err="1" smtClean="0"/>
              <a:t>Fs</a:t>
            </a:r>
            <a:r>
              <a:rPr lang="en-US" baseline="0" dirty="0" smtClean="0"/>
              <a:t> = 484/3200*8000 = 1210 Hz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85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 = 0.5*8000 = 4000</a:t>
            </a:r>
          </a:p>
          <a:p>
            <a:r>
              <a:rPr lang="en-US" dirty="0" smtClean="0"/>
              <a:t>F1 = 852</a:t>
            </a:r>
          </a:p>
          <a:p>
            <a:r>
              <a:rPr lang="en-US" dirty="0" smtClean="0"/>
              <a:t>F2 = 1477</a:t>
            </a:r>
          </a:p>
          <a:p>
            <a:endParaRPr lang="en-US" dirty="0" smtClean="0"/>
          </a:p>
          <a:p>
            <a:r>
              <a:rPr lang="en-US" dirty="0" smtClean="0"/>
              <a:t>F1 = k1/N*8000 </a:t>
            </a:r>
            <a:r>
              <a:rPr lang="en-US" dirty="0" smtClean="0">
                <a:sym typeface="Wingdings" pitchFamily="2" charset="2"/>
              </a:rPr>
              <a:t> k1 = F1*N/</a:t>
            </a:r>
            <a:r>
              <a:rPr lang="en-US" dirty="0" err="1" smtClean="0">
                <a:sym typeface="Wingdings" pitchFamily="2" charset="2"/>
              </a:rPr>
              <a:t>Fs</a:t>
            </a:r>
            <a:r>
              <a:rPr lang="en-US" baseline="0" dirty="0" smtClean="0">
                <a:sym typeface="Wingdings" pitchFamily="2" charset="2"/>
              </a:rPr>
              <a:t> = 852*4000/8000 = 426</a:t>
            </a:r>
          </a:p>
          <a:p>
            <a:r>
              <a:rPr lang="en-US" baseline="0" dirty="0" smtClean="0">
                <a:sym typeface="Wingdings" pitchFamily="2" charset="2"/>
              </a:rPr>
              <a:t>K2 = F2*N/</a:t>
            </a:r>
            <a:r>
              <a:rPr lang="en-US" baseline="0" dirty="0" err="1" smtClean="0">
                <a:sym typeface="Wingdings" pitchFamily="2" charset="2"/>
              </a:rPr>
              <a:t>Fs</a:t>
            </a:r>
            <a:r>
              <a:rPr lang="en-US" baseline="0" dirty="0" smtClean="0">
                <a:sym typeface="Wingdings" pitchFamily="2" charset="2"/>
              </a:rPr>
              <a:t> = 1477*4000/8000 = 738.5 = 739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0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 dirty="0" smtClean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0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5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7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2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2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jpeg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11" Type="http://schemas.openxmlformats.org/officeDocument/2006/relationships/image" Target="../media/image42.jpeg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4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4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5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7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4.bin"/><Relationship Id="rId25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1.bin"/><Relationship Id="rId24" Type="http://schemas.openxmlformats.org/officeDocument/2006/relationships/image" Target="../media/image76.wmf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23" Type="http://schemas.openxmlformats.org/officeDocument/2006/relationships/oleObject" Target="../embeddings/oleObject77.bin"/><Relationship Id="rId10" Type="http://schemas.openxmlformats.org/officeDocument/2006/relationships/image" Target="../media/image69.wmf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1.wmf"/><Relationship Id="rId22" Type="http://schemas.openxmlformats.org/officeDocument/2006/relationships/image" Target="../media/image7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7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8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8.wmf"/><Relationship Id="rId26" Type="http://schemas.openxmlformats.org/officeDocument/2006/relationships/image" Target="../media/image92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5.wmf"/><Relationship Id="rId17" Type="http://schemas.openxmlformats.org/officeDocument/2006/relationships/oleObject" Target="../embeddings/oleObject89.bin"/><Relationship Id="rId25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.wmf"/><Relationship Id="rId20" Type="http://schemas.openxmlformats.org/officeDocument/2006/relationships/image" Target="../media/image89.wmf"/><Relationship Id="rId29" Type="http://schemas.openxmlformats.org/officeDocument/2006/relationships/oleObject" Target="../embeddings/oleObject95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86.bin"/><Relationship Id="rId24" Type="http://schemas.openxmlformats.org/officeDocument/2006/relationships/image" Target="../media/image91.wmf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oleObject" Target="../embeddings/oleObject92.bin"/><Relationship Id="rId28" Type="http://schemas.openxmlformats.org/officeDocument/2006/relationships/image" Target="../media/image93.wmf"/><Relationship Id="rId10" Type="http://schemas.openxmlformats.org/officeDocument/2006/relationships/image" Target="../media/image84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1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6.wmf"/><Relationship Id="rId22" Type="http://schemas.openxmlformats.org/officeDocument/2006/relationships/image" Target="../media/image90.wmf"/><Relationship Id="rId27" Type="http://schemas.openxmlformats.org/officeDocument/2006/relationships/oleObject" Target="../embeddings/oleObject94.bin"/><Relationship Id="rId30" Type="http://schemas.openxmlformats.org/officeDocument/2006/relationships/image" Target="../media/image9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99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95.wmf"/><Relationship Id="rId4" Type="http://schemas.openxmlformats.org/officeDocument/2006/relationships/oleObject" Target="../embeddings/oleObject10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10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0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10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5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4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1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29.bin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24.wmf"/><Relationship Id="rId17" Type="http://schemas.openxmlformats.org/officeDocument/2006/relationships/image" Target="../media/image1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6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25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7" Type="http://schemas.openxmlformats.org/officeDocument/2006/relationships/image" Target="../media/image1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3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 smtClean="0"/>
              <a:t>ELEG 5173L Digital Signal Processing </a:t>
            </a:r>
            <a:br>
              <a:rPr lang="en-US" sz="2400" dirty="0" smtClean="0"/>
            </a:br>
            <a:r>
              <a:rPr lang="en-US" sz="2400" dirty="0" smtClean="0"/>
              <a:t>Ch. 4 The Discrete Fourier Transform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 smtClean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  <a:endParaRPr lang="en-US" sz="2200" dirty="0">
              <a:solidFill>
                <a:srgbClr val="000099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Discrete Fourier Transform (DFT)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Fast Fourier 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FOURIER TRANSFORM (DFT)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 DTFT: Discrete-time Fourier transform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Limitations for computer implementation:</a:t>
            </a:r>
          </a:p>
          <a:p>
            <a:pPr lvl="2"/>
            <a:r>
              <a:rPr lang="en-US" dirty="0" smtClean="0"/>
              <a:t>1. Infinite number of time domain samples</a:t>
            </a:r>
          </a:p>
          <a:p>
            <a:pPr lvl="3"/>
            <a:r>
              <a:rPr lang="en-US" dirty="0" smtClean="0"/>
              <a:t>Requires infinite memory</a:t>
            </a:r>
          </a:p>
          <a:p>
            <a:pPr lvl="2"/>
            <a:r>
              <a:rPr lang="en-US" dirty="0" smtClean="0"/>
              <a:t>2.      is a continuous variable </a:t>
            </a:r>
          </a:p>
          <a:p>
            <a:pPr lvl="3"/>
            <a:r>
              <a:rPr lang="en-US" dirty="0" smtClean="0"/>
              <a:t>We can only approximate             in a computer</a:t>
            </a:r>
          </a:p>
          <a:p>
            <a:pPr lvl="1"/>
            <a:r>
              <a:rPr lang="en-US" dirty="0" smtClean="0"/>
              <a:t>Possible solutions:</a:t>
            </a:r>
          </a:p>
          <a:p>
            <a:pPr lvl="2"/>
            <a:r>
              <a:rPr lang="en-US" dirty="0" smtClean="0"/>
              <a:t>1.  limit the number of time domain samples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2. Sample                 in the frequency domain: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 dirty="0" smtClean="0"/>
          </a:p>
        </p:txBody>
      </p:sp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2617788" y="1295400"/>
          <a:ext cx="20034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7" name="Equation" r:id="rId3" imgW="1320227" imgH="431613" progId="Equation.3">
                  <p:embed/>
                </p:oleObj>
              </mc:Choice>
              <mc:Fallback>
                <p:oleObj name="Equation" r:id="rId3" imgW="1320227" imgH="431613" progId="Equation.3">
                  <p:embed/>
                  <p:pic>
                    <p:nvPicPr>
                      <p:cNvPr id="0" name="Picture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295400"/>
                        <a:ext cx="2003425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7010400" y="2362200"/>
          <a:ext cx="1174750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8" name="Equation" r:id="rId5" imgW="774364" imgH="165028" progId="Equation.3">
                  <p:embed/>
                </p:oleObj>
              </mc:Choice>
              <mc:Fallback>
                <p:oleObj name="Equation" r:id="rId5" imgW="774364" imgH="165028" progId="Equation.3">
                  <p:embed/>
                  <p:pic>
                    <p:nvPicPr>
                      <p:cNvPr id="0" name="Picture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362200"/>
                        <a:ext cx="1174750" cy="246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6248400" y="2362200"/>
          <a:ext cx="4810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59" name="Equation" r:id="rId7" imgW="317225" imgH="203024" progId="Equation.3">
                  <p:embed/>
                </p:oleObj>
              </mc:Choice>
              <mc:Fallback>
                <p:oleObj name="Equation" r:id="rId7" imgW="317225" imgH="203024" progId="Equation.3">
                  <p:embed/>
                  <p:pic>
                    <p:nvPicPr>
                      <p:cNvPr id="0" name="Picture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362200"/>
                        <a:ext cx="48101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778123"/>
              </p:ext>
            </p:extLst>
          </p:nvPr>
        </p:nvGraphicFramePr>
        <p:xfrm>
          <a:off x="2057400" y="3048000"/>
          <a:ext cx="250825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0" name="Equation" r:id="rId9" imgW="164885" imgH="164885" progId="Equation.3">
                  <p:embed/>
                </p:oleObj>
              </mc:Choice>
              <mc:Fallback>
                <p:oleObj name="Equation" r:id="rId9" imgW="164885" imgH="164885" progId="Equation.3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048000"/>
                        <a:ext cx="250825" cy="246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7"/>
          <p:cNvGraphicFramePr>
            <a:graphicFrameLocks noChangeAspect="1"/>
          </p:cNvGraphicFramePr>
          <p:nvPr/>
        </p:nvGraphicFramePr>
        <p:xfrm>
          <a:off x="4724400" y="3352800"/>
          <a:ext cx="61595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1" name="Equation" r:id="rId11" imgW="406048" imgH="203024" progId="Equation.3">
                  <p:embed/>
                </p:oleObj>
              </mc:Choice>
              <mc:Fallback>
                <p:oleObj name="Equation" r:id="rId11" imgW="406048" imgH="203024" progId="Equation.3">
                  <p:embed/>
                  <p:pic>
                    <p:nvPicPr>
                      <p:cNvPr id="0" name="Picture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352800"/>
                        <a:ext cx="615950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Object 8"/>
          <p:cNvGraphicFramePr>
            <a:graphicFrameLocks noChangeAspect="1"/>
          </p:cNvGraphicFramePr>
          <p:nvPr/>
        </p:nvGraphicFramePr>
        <p:xfrm>
          <a:off x="6248400" y="3962400"/>
          <a:ext cx="4810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2" name="Equation" r:id="rId13" imgW="317225" imgH="203024" progId="Equation.3">
                  <p:embed/>
                </p:oleObj>
              </mc:Choice>
              <mc:Fallback>
                <p:oleObj name="Equation" r:id="rId13" imgW="317225" imgH="203024" progId="Equation.3">
                  <p:embed/>
                  <p:pic>
                    <p:nvPicPr>
                      <p:cNvPr id="0" name="Picture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962400"/>
                        <a:ext cx="48101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9"/>
          <p:cNvGraphicFramePr>
            <a:graphicFrameLocks noChangeAspect="1"/>
          </p:cNvGraphicFramePr>
          <p:nvPr/>
        </p:nvGraphicFramePr>
        <p:xfrm>
          <a:off x="7086600" y="3962400"/>
          <a:ext cx="12509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3" name="Equation" r:id="rId15" imgW="825142" imgH="177723" progId="Equation.3">
                  <p:embed/>
                </p:oleObj>
              </mc:Choice>
              <mc:Fallback>
                <p:oleObj name="Equation" r:id="rId15" imgW="825142" imgH="177723" progId="Equation.3">
                  <p:embed/>
                  <p:pic>
                    <p:nvPicPr>
                      <p:cNvPr id="0" name="Picture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962400"/>
                        <a:ext cx="12509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4" name="Object 10"/>
          <p:cNvGraphicFramePr>
            <a:graphicFrameLocks noChangeAspect="1"/>
          </p:cNvGraphicFramePr>
          <p:nvPr/>
        </p:nvGraphicFramePr>
        <p:xfrm>
          <a:off x="2819400" y="4267200"/>
          <a:ext cx="207962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4" name="Equation" r:id="rId17" imgW="1371600" imgH="431800" progId="Equation.3">
                  <p:embed/>
                </p:oleObj>
              </mc:Choice>
              <mc:Fallback>
                <p:oleObj name="Equation" r:id="rId17" imgW="1371600" imgH="431800" progId="Equation.3">
                  <p:embed/>
                  <p:pic>
                    <p:nvPicPr>
                      <p:cNvPr id="0" name="Picture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0"/>
                        <a:ext cx="2079625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5" name="Object 11"/>
          <p:cNvGraphicFramePr>
            <a:graphicFrameLocks noChangeAspect="1"/>
          </p:cNvGraphicFramePr>
          <p:nvPr/>
        </p:nvGraphicFramePr>
        <p:xfrm>
          <a:off x="2590800" y="5410200"/>
          <a:ext cx="3735387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5" name="Equation" r:id="rId19" imgW="2463800" imgH="444500" progId="Equation.3">
                  <p:embed/>
                </p:oleObj>
              </mc:Choice>
              <mc:Fallback>
                <p:oleObj name="Equation" r:id="rId19" imgW="2463800" imgH="444500" progId="Equation.3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410200"/>
                        <a:ext cx="3735387" cy="661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6" name="Object 12"/>
          <p:cNvGraphicFramePr>
            <a:graphicFrameLocks noChangeAspect="1"/>
          </p:cNvGraphicFramePr>
          <p:nvPr/>
        </p:nvGraphicFramePr>
        <p:xfrm>
          <a:off x="2895600" y="4953000"/>
          <a:ext cx="73183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6" name="Equation" r:id="rId21" imgW="482391" imgH="228501" progId="Equation.3">
                  <p:embed/>
                </p:oleObj>
              </mc:Choice>
              <mc:Fallback>
                <p:oleObj name="Equation" r:id="rId21" imgW="482391" imgH="228501" progId="Equation.3">
                  <p:embed/>
                  <p:pic>
                    <p:nvPicPr>
                      <p:cNvPr id="0" name="Picture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53000"/>
                        <a:ext cx="73183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7" name="Object 13"/>
          <p:cNvGraphicFramePr>
            <a:graphicFrameLocks noChangeAspect="1"/>
          </p:cNvGraphicFramePr>
          <p:nvPr/>
        </p:nvGraphicFramePr>
        <p:xfrm>
          <a:off x="6248400" y="4800600"/>
          <a:ext cx="9826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7" name="Equation" r:id="rId23" imgW="647419" imgH="393529" progId="Equation.3">
                  <p:embed/>
                </p:oleObj>
              </mc:Choice>
              <mc:Fallback>
                <p:oleObj name="Equation" r:id="rId23" imgW="647419" imgH="393529" progId="Equation.3">
                  <p:embed/>
                  <p:pic>
                    <p:nvPicPr>
                      <p:cNvPr id="0" name="Picture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800600"/>
                        <a:ext cx="982663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/>
        </p:nvGraphicFramePr>
        <p:xfrm>
          <a:off x="7543800" y="4953000"/>
          <a:ext cx="12509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8" name="Equation" r:id="rId25" imgW="825142" imgH="177723" progId="Equation.3">
                  <p:embed/>
                </p:oleObj>
              </mc:Choice>
              <mc:Fallback>
                <p:oleObj name="Equation" r:id="rId25" imgW="825142" imgH="177723" progId="Equation.3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953000"/>
                        <a:ext cx="12509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5334000" y="4495800"/>
          <a:ext cx="963613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69" name="Equation" r:id="rId27" imgW="634449" imgH="177646" progId="Equation.3">
                  <p:embed/>
                </p:oleObj>
              </mc:Choice>
              <mc:Fallback>
                <p:oleObj name="Equation" r:id="rId27" imgW="634449" imgH="177646" progId="Equation.3">
                  <p:embed/>
                  <p:pic>
                    <p:nvPicPr>
                      <p:cNvPr id="0" name="Picture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495800"/>
                        <a:ext cx="963613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/>
          <p:cNvGraphicFramePr>
            <a:graphicFrameLocks noChangeAspect="1"/>
          </p:cNvGraphicFramePr>
          <p:nvPr/>
        </p:nvGraphicFramePr>
        <p:xfrm>
          <a:off x="5105400" y="1447800"/>
          <a:ext cx="9636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0" name="Equation" r:id="rId29" imgW="634449" imgH="177646" progId="Equation.3">
                  <p:embed/>
                </p:oleObj>
              </mc:Choice>
              <mc:Fallback>
                <p:oleObj name="Equation" r:id="rId29" imgW="634449" imgH="177646" progId="Equation.3">
                  <p:embed/>
                  <p:pic>
                    <p:nvPicPr>
                      <p:cNvPr id="0" name="Picture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447800"/>
                        <a:ext cx="963613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DISCRETE FOURIER TRANSFORM (DFT)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Discrete Fourier Transform (DFT)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Finite number time domain samples</a:t>
            </a:r>
          </a:p>
          <a:p>
            <a:pPr lvl="1"/>
            <a:r>
              <a:rPr lang="en-US" dirty="0" smtClean="0"/>
              <a:t>Discrete frequency domain signal </a:t>
            </a:r>
          </a:p>
          <a:p>
            <a:r>
              <a:rPr lang="en-US" dirty="0" smtClean="0"/>
              <a:t>Inverse Discrete Fourier Transform (IDFT)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 dirty="0" smtClean="0"/>
          </a:p>
        </p:txBody>
      </p:sp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2819400" y="1371600"/>
          <a:ext cx="20224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1" name="Equation" r:id="rId3" imgW="1333500" imgH="444500" progId="Equation.3">
                  <p:embed/>
                </p:oleObj>
              </mc:Choice>
              <mc:Fallback>
                <p:oleObj name="Equation" r:id="rId3" imgW="1333500" imgH="44450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71600"/>
                        <a:ext cx="2022475" cy="661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5943600" y="2438400"/>
          <a:ext cx="4810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2" name="Equation" r:id="rId5" imgW="317225" imgH="203024" progId="Equation.3">
                  <p:embed/>
                </p:oleObj>
              </mc:Choice>
              <mc:Fallback>
                <p:oleObj name="Equation" r:id="rId5" imgW="317225" imgH="203024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438400"/>
                        <a:ext cx="48101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3" name="Object 5"/>
          <p:cNvGraphicFramePr>
            <a:graphicFrameLocks noChangeAspect="1"/>
          </p:cNvGraphicFramePr>
          <p:nvPr/>
        </p:nvGraphicFramePr>
        <p:xfrm>
          <a:off x="6781800" y="2438400"/>
          <a:ext cx="12509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3" name="Equation" r:id="rId7" imgW="825142" imgH="177723" progId="Equation.3">
                  <p:embed/>
                </p:oleObj>
              </mc:Choice>
              <mc:Fallback>
                <p:oleObj name="Equation" r:id="rId7" imgW="825142" imgH="177723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438400"/>
                        <a:ext cx="12509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4" name="Object 6"/>
          <p:cNvGraphicFramePr>
            <a:graphicFrameLocks noChangeAspect="1"/>
          </p:cNvGraphicFramePr>
          <p:nvPr/>
        </p:nvGraphicFramePr>
        <p:xfrm>
          <a:off x="5943600" y="2819400"/>
          <a:ext cx="5572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4" name="Equation" r:id="rId9" imgW="368140" imgH="203112" progId="Equation.3">
                  <p:embed/>
                </p:oleObj>
              </mc:Choice>
              <mc:Fallback>
                <p:oleObj name="Equation" r:id="rId9" imgW="368140" imgH="203112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819400"/>
                        <a:ext cx="55721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5" name="Object 7"/>
          <p:cNvGraphicFramePr>
            <a:graphicFrameLocks noChangeAspect="1"/>
          </p:cNvGraphicFramePr>
          <p:nvPr/>
        </p:nvGraphicFramePr>
        <p:xfrm>
          <a:off x="6781800" y="2819400"/>
          <a:ext cx="12509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5" name="Equation" r:id="rId11" imgW="825142" imgH="177723" progId="Equation.3">
                  <p:embed/>
                </p:oleObj>
              </mc:Choice>
              <mc:Fallback>
                <p:oleObj name="Equation" r:id="rId11" imgW="825142" imgH="177723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819400"/>
                        <a:ext cx="12509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825594"/>
              </p:ext>
            </p:extLst>
          </p:nvPr>
        </p:nvGraphicFramePr>
        <p:xfrm>
          <a:off x="2770188" y="3657600"/>
          <a:ext cx="21955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46" name="Equation" r:id="rId13" imgW="1447560" imgH="444240" progId="Equation.3">
                  <p:embed/>
                </p:oleObj>
              </mc:Choice>
              <mc:Fallback>
                <p:oleObj name="Equation" r:id="rId13" imgW="1447560" imgH="44424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3657600"/>
                        <a:ext cx="2195512" cy="661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Periodicity in the frequency domain</a:t>
            </a:r>
          </a:p>
          <a:p>
            <a:pPr lvl="1"/>
            <a:r>
              <a:rPr lang="en-US" dirty="0" smtClean="0"/>
              <a:t>Recall: the DTFT is periodic</a:t>
            </a:r>
          </a:p>
          <a:p>
            <a:pPr lvl="1"/>
            <a:r>
              <a:rPr lang="en-US" dirty="0" smtClean="0"/>
              <a:t>The DFT           is periodic with period </a:t>
            </a:r>
            <a:r>
              <a:rPr lang="en-US" i="1" dirty="0" smtClean="0"/>
              <a:t>N</a:t>
            </a:r>
          </a:p>
          <a:p>
            <a:pPr lvl="1">
              <a:buNone/>
            </a:pPr>
            <a:endParaRPr lang="en-US" dirty="0" smtClean="0"/>
          </a:p>
          <a:p>
            <a:pPr lvl="2"/>
            <a:r>
              <a:rPr lang="en-US" dirty="0" smtClean="0"/>
              <a:t>Proof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Time domain sampling leads to frequency domain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 dirty="0" smtClean="0"/>
          </a:p>
        </p:txBody>
      </p:sp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4419600" y="1295400"/>
          <a:ext cx="186372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2" name="Equation" r:id="rId3" imgW="1231366" imgH="203112" progId="Equation.3">
                  <p:embed/>
                </p:oleObj>
              </mc:Choice>
              <mc:Fallback>
                <p:oleObj name="Equation" r:id="rId3" imgW="1231366" imgH="203112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295400"/>
                        <a:ext cx="1863725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2895600" y="1981200"/>
          <a:ext cx="1690688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3" name="Equation" r:id="rId5" imgW="1117115" imgH="203112" progId="Equation.3">
                  <p:embed/>
                </p:oleObj>
              </mc:Choice>
              <mc:Fallback>
                <p:oleObj name="Equation" r:id="rId5" imgW="1117115" imgH="203112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981200"/>
                        <a:ext cx="1690688" cy="3032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9" name="Object 7"/>
          <p:cNvGraphicFramePr>
            <a:graphicFrameLocks noChangeAspect="1"/>
          </p:cNvGraphicFramePr>
          <p:nvPr/>
        </p:nvGraphicFramePr>
        <p:xfrm>
          <a:off x="2286000" y="1600200"/>
          <a:ext cx="557212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4" name="Equation" r:id="rId7" imgW="368140" imgH="203112" progId="Equation.3">
                  <p:embed/>
                </p:oleObj>
              </mc:Choice>
              <mc:Fallback>
                <p:oleObj name="Equation" r:id="rId7" imgW="368140" imgH="203112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0"/>
                        <a:ext cx="557212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Periodicity in the time domain</a:t>
            </a:r>
          </a:p>
          <a:p>
            <a:pPr lvl="1"/>
            <a:r>
              <a:rPr lang="en-US" dirty="0" smtClean="0"/>
              <a:t>The time domain signal         from the IDFT is also periodic with period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Proof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frequency domain sampling leads to time domain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 dirty="0" smtClean="0"/>
          </a:p>
        </p:txBody>
      </p:sp>
      <p:graphicFrame>
        <p:nvGraphicFramePr>
          <p:cNvPr id="1157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403522"/>
              </p:ext>
            </p:extLst>
          </p:nvPr>
        </p:nvGraphicFramePr>
        <p:xfrm>
          <a:off x="3048000" y="2362200"/>
          <a:ext cx="1538288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3" name="Equation" r:id="rId3" imgW="1016000" imgH="203200" progId="Equation.3">
                  <p:embed/>
                </p:oleObj>
              </mc:Choice>
              <mc:Fallback>
                <p:oleObj name="Equation" r:id="rId3" imgW="1016000" imgH="2032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362200"/>
                        <a:ext cx="1538288" cy="3032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3581400" y="1295400"/>
          <a:ext cx="481013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4" name="Equation" r:id="rId5" imgW="317225" imgH="203024" progId="Equation.3">
                  <p:embed/>
                </p:oleObj>
              </mc:Choice>
              <mc:Fallback>
                <p:oleObj name="Equation" r:id="rId5" imgW="317225" imgH="203024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481013" cy="30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866425"/>
              </p:ext>
            </p:extLst>
          </p:nvPr>
        </p:nvGraphicFramePr>
        <p:xfrm>
          <a:off x="2846388" y="1600200"/>
          <a:ext cx="21955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5" name="Equation" r:id="rId7" imgW="1447560" imgH="444240" progId="Equation.3">
                  <p:embed/>
                </p:oleObj>
              </mc:Choice>
              <mc:Fallback>
                <p:oleObj name="Equation" r:id="rId7" imgW="1447560" imgH="44424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1600200"/>
                        <a:ext cx="2195512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DTFT of </a:t>
            </a:r>
          </a:p>
          <a:p>
            <a:pPr lvl="1"/>
            <a:r>
              <a:rPr lang="en-US" dirty="0" smtClean="0"/>
              <a:t>Find the DFT of </a:t>
            </a:r>
          </a:p>
          <a:p>
            <a:pPr lvl="1"/>
            <a:r>
              <a:rPr lang="en-US" dirty="0" smtClean="0"/>
              <a:t>Plot the DTFT, and plot the DFT when N = 5, 10, 20, and 50, respectively.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 dirty="0" smtClean="0"/>
          </a:p>
        </p:txBody>
      </p:sp>
      <p:graphicFrame>
        <p:nvGraphicFramePr>
          <p:cNvPr id="115715" name="Object 3"/>
          <p:cNvGraphicFramePr>
            <a:graphicFrameLocks noChangeAspect="1"/>
          </p:cNvGraphicFramePr>
          <p:nvPr/>
        </p:nvGraphicFramePr>
        <p:xfrm>
          <a:off x="3171825" y="1600200"/>
          <a:ext cx="17303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89" name="Equation" r:id="rId4" imgW="1143000" imgH="228600" progId="Equation.3">
                  <p:embed/>
                </p:oleObj>
              </mc:Choice>
              <mc:Fallback>
                <p:oleObj name="Equation" r:id="rId4" imgW="1143000" imgH="22860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1600200"/>
                        <a:ext cx="173037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5" name="Object 5"/>
          <p:cNvGraphicFramePr>
            <a:graphicFrameLocks noChangeAspect="1"/>
          </p:cNvGraphicFramePr>
          <p:nvPr/>
        </p:nvGraphicFramePr>
        <p:xfrm>
          <a:off x="5181600" y="1676400"/>
          <a:ext cx="124936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90" name="Equation" r:id="rId6" imgW="825142" imgH="177723" progId="Equation.3">
                  <p:embed/>
                </p:oleObj>
              </mc:Choice>
              <mc:Fallback>
                <p:oleObj name="Equation" r:id="rId6" imgW="825142" imgH="177723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676400"/>
                        <a:ext cx="1249362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66" name="Object 6"/>
          <p:cNvGraphicFramePr>
            <a:graphicFrameLocks noChangeAspect="1"/>
          </p:cNvGraphicFramePr>
          <p:nvPr/>
        </p:nvGraphicFramePr>
        <p:xfrm>
          <a:off x="3200400" y="1295400"/>
          <a:ext cx="17303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91" name="Equation" r:id="rId8" imgW="1143000" imgH="228600" progId="Equation.3">
                  <p:embed/>
                </p:oleObj>
              </mc:Choice>
              <mc:Fallback>
                <p:oleObj name="Equation" r:id="rId8" imgW="1143000" imgH="22860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295400"/>
                        <a:ext cx="1730375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finite-duration sequence of length L is given as follows. Find the N-point DFT of this sequence for             . Plot the frequency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 dirty="0" smtClean="0"/>
          </a:p>
        </p:txBody>
      </p:sp>
      <p:graphicFrame>
        <p:nvGraphicFramePr>
          <p:cNvPr id="124929" name="Object 1"/>
          <p:cNvGraphicFramePr>
            <a:graphicFrameLocks noChangeAspect="1"/>
          </p:cNvGraphicFramePr>
          <p:nvPr/>
        </p:nvGraphicFramePr>
        <p:xfrm>
          <a:off x="2514600" y="1905000"/>
          <a:ext cx="23463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79" name="Equation" r:id="rId3" imgW="1549400" imgH="457200" progId="Equation.3">
                  <p:embed/>
                </p:oleObj>
              </mc:Choice>
              <mc:Fallback>
                <p:oleObj name="Equation" r:id="rId3" imgW="1549400" imgH="4572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05000"/>
                        <a:ext cx="2346325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4343400" y="1600200"/>
          <a:ext cx="6350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80" name="Equation" r:id="rId5" imgW="418918" imgH="165028" progId="Equation.3">
                  <p:embed/>
                </p:oleObj>
              </mc:Choice>
              <mc:Fallback>
                <p:oleObj name="Equation" r:id="rId5" imgW="418918" imgH="165028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600200"/>
                        <a:ext cx="6350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Relationship between DFT and DTFT</a:t>
            </a:r>
          </a:p>
          <a:p>
            <a:pPr lvl="1"/>
            <a:r>
              <a:rPr lang="en-US" dirty="0" smtClean="0"/>
              <a:t>DFT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DTFT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Relationship</a:t>
            </a:r>
          </a:p>
          <a:p>
            <a:pPr lvl="1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2"/>
            <a:r>
              <a:rPr lang="en-US" dirty="0" smtClean="0"/>
              <a:t>DFT index 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angular digital frequency                radians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DFT index </a:t>
            </a:r>
            <a:r>
              <a:rPr lang="en-US" i="1" dirty="0" smtClean="0">
                <a:sym typeface="Wingdings" pitchFamily="2" charset="2"/>
              </a:rPr>
              <a:t>k</a:t>
            </a:r>
            <a:r>
              <a:rPr lang="en-US" dirty="0" smtClean="0">
                <a:sym typeface="Wingdings" pitchFamily="2" charset="2"/>
              </a:rPr>
              <a:t>  angular analog frequency                radians/sec</a:t>
            </a:r>
          </a:p>
          <a:p>
            <a:pPr lvl="2"/>
            <a:endParaRPr lang="en-US" dirty="0" smtClean="0">
              <a:sym typeface="Wingdings" pitchFamily="2" charset="2"/>
            </a:endParaRPr>
          </a:p>
          <a:p>
            <a:pPr lvl="2"/>
            <a:r>
              <a:rPr lang="en-US" dirty="0" smtClean="0">
                <a:sym typeface="Wingdings" pitchFamily="2" charset="2"/>
              </a:rPr>
              <a:t> 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 dirty="0" smtClean="0"/>
          </a:p>
        </p:txBody>
      </p:sp>
      <p:graphicFrame>
        <p:nvGraphicFramePr>
          <p:cNvPr id="149506" name="Object 2"/>
          <p:cNvGraphicFramePr>
            <a:graphicFrameLocks noChangeAspect="1"/>
          </p:cNvGraphicFramePr>
          <p:nvPr/>
        </p:nvGraphicFramePr>
        <p:xfrm>
          <a:off x="2514600" y="1447800"/>
          <a:ext cx="2022475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07" name="Equation" r:id="rId3" imgW="1333500" imgH="444500" progId="Equation.3">
                  <p:embed/>
                </p:oleObj>
              </mc:Choice>
              <mc:Fallback>
                <p:oleObj name="Equation" r:id="rId3" imgW="1333500" imgH="44450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447800"/>
                        <a:ext cx="2022475" cy="661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7" name="Object 3"/>
          <p:cNvGraphicFramePr>
            <a:graphicFrameLocks noChangeAspect="1"/>
          </p:cNvGraphicFramePr>
          <p:nvPr/>
        </p:nvGraphicFramePr>
        <p:xfrm>
          <a:off x="2543175" y="2590800"/>
          <a:ext cx="19462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08" name="Equation" r:id="rId5" imgW="1282700" imgH="431800" progId="Equation.3">
                  <p:embed/>
                </p:oleObj>
              </mc:Choice>
              <mc:Fallback>
                <p:oleObj name="Equation" r:id="rId5" imgW="1282700" imgH="431800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2590800"/>
                        <a:ext cx="1946275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8" name="Object 4"/>
          <p:cNvGraphicFramePr>
            <a:graphicFrameLocks noChangeAspect="1"/>
          </p:cNvGraphicFramePr>
          <p:nvPr/>
        </p:nvGraphicFramePr>
        <p:xfrm>
          <a:off x="5029200" y="2743200"/>
          <a:ext cx="9636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09" name="Equation" r:id="rId7" imgW="634449" imgH="177646" progId="Equation.3">
                  <p:embed/>
                </p:oleObj>
              </mc:Choice>
              <mc:Fallback>
                <p:oleObj name="Equation" r:id="rId7" imgW="634449" imgH="177646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963613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9" name="Object 5"/>
          <p:cNvGraphicFramePr>
            <a:graphicFrameLocks noChangeAspect="1"/>
          </p:cNvGraphicFramePr>
          <p:nvPr/>
        </p:nvGraphicFramePr>
        <p:xfrm>
          <a:off x="2667000" y="3581400"/>
          <a:ext cx="175260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0" name="Equation" r:id="rId9" imgW="1155700" imgH="330200" progId="Equation.3">
                  <p:embed/>
                </p:oleObj>
              </mc:Choice>
              <mc:Fallback>
                <p:oleObj name="Equation" r:id="rId9" imgW="1155700" imgH="330200" progId="Equation.3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81400"/>
                        <a:ext cx="1752600" cy="4937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0" name="Object 6"/>
          <p:cNvGraphicFramePr>
            <a:graphicFrameLocks noChangeAspect="1"/>
          </p:cNvGraphicFramePr>
          <p:nvPr/>
        </p:nvGraphicFramePr>
        <p:xfrm>
          <a:off x="5037138" y="1524000"/>
          <a:ext cx="1252537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1" name="Equation" r:id="rId11" imgW="825142" imgH="177723" progId="Equation.3">
                  <p:embed/>
                </p:oleObj>
              </mc:Choice>
              <mc:Fallback>
                <p:oleObj name="Equation" r:id="rId11" imgW="825142" imgH="177723" progId="Equation.3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1524000"/>
                        <a:ext cx="1252537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/>
        </p:nvGraphicFramePr>
        <p:xfrm>
          <a:off x="5791200" y="3962400"/>
          <a:ext cx="5969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2" name="Equation" r:id="rId13" imgW="393529" imgH="393529" progId="Equation.3">
                  <p:embed/>
                </p:oleObj>
              </mc:Choice>
              <mc:Fallback>
                <p:oleObj name="Equation" r:id="rId13" imgW="393529" imgH="393529" progId="Equation.3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962400"/>
                        <a:ext cx="596900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3" name="Object 9"/>
          <p:cNvGraphicFramePr>
            <a:graphicFrameLocks noChangeAspect="1"/>
          </p:cNvGraphicFramePr>
          <p:nvPr/>
        </p:nvGraphicFramePr>
        <p:xfrm>
          <a:off x="5715000" y="4495800"/>
          <a:ext cx="76993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3" name="Equation" r:id="rId15" imgW="508000" imgH="431800" progId="Equation.3">
                  <p:embed/>
                </p:oleObj>
              </mc:Choice>
              <mc:Fallback>
                <p:oleObj name="Equation" r:id="rId15" imgW="508000" imgH="431800" progId="Equation.3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495800"/>
                        <a:ext cx="769938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4" name="Object 10"/>
          <p:cNvGraphicFramePr>
            <a:graphicFrameLocks noChangeAspect="1"/>
          </p:cNvGraphicFramePr>
          <p:nvPr/>
        </p:nvGraphicFramePr>
        <p:xfrm>
          <a:off x="2057400" y="5105400"/>
          <a:ext cx="2655888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14" name="Equation" r:id="rId17" imgW="1752600" imgH="393700" progId="Equation.3">
                  <p:embed/>
                </p:oleObj>
              </mc:Choice>
              <mc:Fallback>
                <p:oleObj name="Equation" r:id="rId17" imgW="1752600" imgH="393700" progId="Equation.3">
                  <p:embed/>
                  <p:pic>
                    <p:nvPicPr>
                      <p:cNvPr id="0" name="Picture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105400"/>
                        <a:ext cx="2655888" cy="58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8077200" cy="5600700"/>
          </a:xfrm>
        </p:spPr>
        <p:txBody>
          <a:bodyPr/>
          <a:lstStyle/>
          <a:p>
            <a:r>
              <a:rPr lang="en-US" dirty="0" smtClean="0"/>
              <a:t>Frequency domain resolution</a:t>
            </a:r>
          </a:p>
          <a:p>
            <a:pPr lvl="1"/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Freq. domain resolution: Space between 2 freq. domain samples                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Larger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smaller                  better frequency domain resolution  </a:t>
            </a:r>
            <a:endParaRPr lang="en-US" dirty="0" smtClean="0"/>
          </a:p>
          <a:p>
            <a:pPr lvl="1"/>
            <a:r>
              <a:rPr lang="en-US" dirty="0" smtClean="0"/>
              <a:t>Example: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10</a:t>
            </a:fld>
            <a:endParaRPr lang="en-US" altLang="zh-CN" dirty="0" smtClean="0"/>
          </a:p>
        </p:txBody>
      </p:sp>
      <p:graphicFrame>
        <p:nvGraphicFramePr>
          <p:cNvPr id="150531" name="Object 3"/>
          <p:cNvGraphicFramePr>
            <a:graphicFrameLocks noChangeAspect="1"/>
          </p:cNvGraphicFramePr>
          <p:nvPr/>
        </p:nvGraphicFramePr>
        <p:xfrm>
          <a:off x="1447800" y="1143000"/>
          <a:ext cx="914400" cy="48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0" name="Equation" r:id="rId3" imgW="736280" imgH="393529" progId="Equation.3">
                  <p:embed/>
                </p:oleObj>
              </mc:Choice>
              <mc:Fallback>
                <p:oleObj name="Equation" r:id="rId3" imgW="736280" imgH="393529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143000"/>
                        <a:ext cx="914400" cy="4805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2" name="Object 4"/>
          <p:cNvGraphicFramePr>
            <a:graphicFrameLocks noChangeAspect="1"/>
          </p:cNvGraphicFramePr>
          <p:nvPr/>
        </p:nvGraphicFramePr>
        <p:xfrm>
          <a:off x="3352800" y="2514600"/>
          <a:ext cx="7731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1" name="Equation" r:id="rId5" imgW="622030" imgH="393529" progId="Equation.3">
                  <p:embed/>
                </p:oleObj>
              </mc:Choice>
              <mc:Fallback>
                <p:oleObj name="Equation" r:id="rId5" imgW="622030" imgH="393529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14600"/>
                        <a:ext cx="7731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3" name="Object 5"/>
          <p:cNvGraphicFramePr>
            <a:graphicFrameLocks noChangeAspect="1"/>
          </p:cNvGraphicFramePr>
          <p:nvPr/>
        </p:nvGraphicFramePr>
        <p:xfrm>
          <a:off x="3124200" y="1981200"/>
          <a:ext cx="16875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2" name="Equation" r:id="rId7" imgW="1358310" imgH="393529" progId="Equation.3">
                  <p:embed/>
                </p:oleObj>
              </mc:Choice>
              <mc:Fallback>
                <p:oleObj name="Equation" r:id="rId7" imgW="1358310" imgH="393529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981200"/>
                        <a:ext cx="1687513" cy="4810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4" name="Object 6"/>
          <p:cNvGraphicFramePr>
            <a:graphicFrameLocks noChangeAspect="1"/>
          </p:cNvGraphicFramePr>
          <p:nvPr/>
        </p:nvGraphicFramePr>
        <p:xfrm>
          <a:off x="2782888" y="3048000"/>
          <a:ext cx="211455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3" name="Equation" r:id="rId9" imgW="1397000" imgH="457200" progId="Equation.3">
                  <p:embed/>
                </p:oleObj>
              </mc:Choice>
              <mc:Fallback>
                <p:oleObj name="Equation" r:id="rId9" imgW="1397000" imgH="45720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048000"/>
                        <a:ext cx="2114550" cy="68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0535" name="Picture 7" descr="H:\Dropbox\teaching\ELEG5173L\Spring2012\matlab\L8_dtft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-76200" y="4191000"/>
            <a:ext cx="2362200" cy="1771650"/>
          </a:xfrm>
          <a:prstGeom prst="rect">
            <a:avLst/>
          </a:prstGeom>
          <a:noFill/>
        </p:spPr>
      </p:pic>
      <p:pic>
        <p:nvPicPr>
          <p:cNvPr id="150536" name="Picture 8" descr="H:\Dropbox\teaching\ELEG5173L\Spring2012\matlab\L8N16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7400" y="4191000"/>
            <a:ext cx="2438400" cy="1828800"/>
          </a:xfrm>
          <a:prstGeom prst="rect">
            <a:avLst/>
          </a:prstGeom>
          <a:noFill/>
        </p:spPr>
      </p:pic>
      <p:pic>
        <p:nvPicPr>
          <p:cNvPr id="150537" name="Picture 9" descr="H:\Dropbox\teaching\ELEG5173L\Spring2012\matlab\L8N32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343400" y="4191000"/>
            <a:ext cx="2438400" cy="1828800"/>
          </a:xfrm>
          <a:prstGeom prst="rect">
            <a:avLst/>
          </a:prstGeom>
          <a:noFill/>
        </p:spPr>
      </p:pic>
      <p:pic>
        <p:nvPicPr>
          <p:cNvPr id="150538" name="Picture 10" descr="H:\Dropbox\teaching\ELEG5173L\Spring2012\matlab\L8N64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629400" y="4114800"/>
            <a:ext cx="2590800" cy="194310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533400" y="6019800"/>
            <a:ext cx="65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DTFT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048000" y="6248400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DFT N=16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53000" y="6096000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DFT N=32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0" y="6096000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DFT N=64</a:t>
            </a:r>
            <a:endParaRPr lang="en-US" dirty="0"/>
          </a:p>
        </p:txBody>
      </p:sp>
      <p:graphicFrame>
        <p:nvGraphicFramePr>
          <p:cNvPr id="150539" name="Object 11"/>
          <p:cNvGraphicFramePr>
            <a:graphicFrameLocks noChangeAspect="1"/>
          </p:cNvGraphicFramePr>
          <p:nvPr/>
        </p:nvGraphicFramePr>
        <p:xfrm>
          <a:off x="1828800" y="5867400"/>
          <a:ext cx="7731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14" name="Equation" r:id="rId15" imgW="622030" imgH="393529" progId="Equation.3">
                  <p:embed/>
                </p:oleObj>
              </mc:Choice>
              <mc:Fallback>
                <p:oleObj name="Equation" r:id="rId15" imgW="622030" imgH="393529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867400"/>
                        <a:ext cx="773113" cy="481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Straight Connector 20"/>
          <p:cNvCxnSpPr/>
          <p:nvPr/>
        </p:nvCxnSpPr>
        <p:spPr>
          <a:xfrm>
            <a:off x="2743200" y="579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895600" y="5791200"/>
            <a:ext cx="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590800" y="59436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2895600" y="5943600"/>
            <a:ext cx="152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Matrix representation of DFT</a:t>
            </a:r>
          </a:p>
          <a:p>
            <a:pPr lvl="1"/>
            <a:r>
              <a:rPr lang="en-US" dirty="0" smtClean="0"/>
              <a:t>DFT: let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Define DFT matrix</a:t>
            </a:r>
          </a:p>
          <a:p>
            <a:pPr lvl="2"/>
            <a:r>
              <a:rPr lang="en-US" dirty="0" smtClean="0"/>
              <a:t>The ( k+1, n+1)-</a:t>
            </a:r>
            <a:r>
              <a:rPr lang="en-US" dirty="0" err="1" smtClean="0"/>
              <a:t>th</a:t>
            </a:r>
            <a:r>
              <a:rPr lang="en-US" dirty="0" smtClean="0"/>
              <a:t> element is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11</a:t>
            </a:fld>
            <a:endParaRPr lang="en-US" altLang="zh-CN" dirty="0" smtClean="0"/>
          </a:p>
        </p:txBody>
      </p:sp>
      <p:graphicFrame>
        <p:nvGraphicFramePr>
          <p:cNvPr id="151554" name="Object 2"/>
          <p:cNvGraphicFramePr>
            <a:graphicFrameLocks noChangeAspect="1"/>
          </p:cNvGraphicFramePr>
          <p:nvPr/>
        </p:nvGraphicFramePr>
        <p:xfrm>
          <a:off x="2895600" y="1600200"/>
          <a:ext cx="18081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53" name="Equation" r:id="rId3" imgW="1193800" imgH="431800" progId="Equation.3">
                  <p:embed/>
                </p:oleObj>
              </mc:Choice>
              <mc:Fallback>
                <p:oleObj name="Equation" r:id="rId3" imgW="1193800" imgH="43180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1808163" cy="641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5" name="Object 3"/>
          <p:cNvGraphicFramePr>
            <a:graphicFrameLocks noChangeAspect="1"/>
          </p:cNvGraphicFramePr>
          <p:nvPr/>
        </p:nvGraphicFramePr>
        <p:xfrm>
          <a:off x="2362200" y="1143000"/>
          <a:ext cx="10779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54" name="Equation" r:id="rId5" imgW="710891" imgH="342751" progId="Equation.3">
                  <p:embed/>
                </p:oleObj>
              </mc:Choice>
              <mc:Fallback>
                <p:oleObj name="Equation" r:id="rId5" imgW="710891" imgH="342751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143000"/>
                        <a:ext cx="1077913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2286000" y="3200400"/>
          <a:ext cx="4175125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55" name="Equation" r:id="rId7" imgW="2755900" imgH="1168400" progId="Equation.3">
                  <p:embed/>
                </p:oleObj>
              </mc:Choice>
              <mc:Fallback>
                <p:oleObj name="Equation" r:id="rId7" imgW="2755900" imgH="116840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200400"/>
                        <a:ext cx="4175125" cy="17351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784791"/>
              </p:ext>
            </p:extLst>
          </p:nvPr>
        </p:nvGraphicFramePr>
        <p:xfrm>
          <a:off x="4648200" y="2514600"/>
          <a:ext cx="4222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856" name="Equation" r:id="rId9" imgW="279279" imgH="241195" progId="Equation.3">
                  <p:embed/>
                </p:oleObj>
              </mc:Choice>
              <mc:Fallback>
                <p:oleObj name="Equation" r:id="rId9" imgW="279279" imgH="241195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514600"/>
                        <a:ext cx="422275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Matrix representation of DFT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12</a:t>
            </a:fld>
            <a:endParaRPr lang="en-US" altLang="zh-CN" dirty="0" smtClean="0"/>
          </a:p>
        </p:txBody>
      </p:sp>
      <p:graphicFrame>
        <p:nvGraphicFramePr>
          <p:cNvPr id="152578" name="Object 2"/>
          <p:cNvGraphicFramePr>
            <a:graphicFrameLocks noChangeAspect="1"/>
          </p:cNvGraphicFramePr>
          <p:nvPr/>
        </p:nvGraphicFramePr>
        <p:xfrm>
          <a:off x="2895600" y="1371600"/>
          <a:ext cx="18081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0" name="Equation" r:id="rId3" imgW="1193800" imgH="431800" progId="Equation.3">
                  <p:embed/>
                </p:oleObj>
              </mc:Choice>
              <mc:Fallback>
                <p:oleObj name="Equation" r:id="rId3" imgW="1193800" imgH="4318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71600"/>
                        <a:ext cx="1808163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79" name="Object 3"/>
          <p:cNvGraphicFramePr>
            <a:graphicFrameLocks noChangeAspect="1"/>
          </p:cNvGraphicFramePr>
          <p:nvPr/>
        </p:nvGraphicFramePr>
        <p:xfrm>
          <a:off x="1295400" y="2209800"/>
          <a:ext cx="5945187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1" name="Equation" r:id="rId5" imgW="3924300" imgH="1168400" progId="Equation.3">
                  <p:embed/>
                </p:oleObj>
              </mc:Choice>
              <mc:Fallback>
                <p:oleObj name="Equation" r:id="rId5" imgW="3924300" imgH="116840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209800"/>
                        <a:ext cx="5945187" cy="173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0" name="Object 4"/>
          <p:cNvGraphicFramePr>
            <a:graphicFrameLocks noChangeAspect="1"/>
          </p:cNvGraphicFramePr>
          <p:nvPr/>
        </p:nvGraphicFramePr>
        <p:xfrm>
          <a:off x="3429000" y="4419600"/>
          <a:ext cx="846137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02" name="Equation" r:id="rId7" imgW="558558" imgH="165028" progId="Equation.3">
                  <p:embed/>
                </p:oleObj>
              </mc:Choice>
              <mc:Fallback>
                <p:oleObj name="Equation" r:id="rId7" imgW="558558" imgH="165028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419600"/>
                        <a:ext cx="846137" cy="244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Matrix representation of IDFT</a:t>
            </a:r>
          </a:p>
          <a:p>
            <a:pPr lvl="1"/>
            <a:r>
              <a:rPr lang="en-US" dirty="0" smtClean="0"/>
              <a:t>DFT: let</a:t>
            </a:r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/>
            <a:r>
              <a:rPr lang="en-US" dirty="0" smtClean="0"/>
              <a:t>Define IDFT matrix</a:t>
            </a:r>
          </a:p>
          <a:p>
            <a:pPr lvl="2"/>
            <a:r>
              <a:rPr lang="en-US" dirty="0" smtClean="0"/>
              <a:t>The ( k, n)-</a:t>
            </a:r>
            <a:r>
              <a:rPr lang="en-US" dirty="0" err="1" smtClean="0"/>
              <a:t>th</a:t>
            </a:r>
            <a:r>
              <a:rPr lang="en-US" dirty="0" smtClean="0"/>
              <a:t> element is 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>
              <a:buNone/>
            </a:pPr>
            <a:r>
              <a:rPr lang="en-US" dirty="0" smtClean="0"/>
              <a:t> : the complex transpose of </a:t>
            </a:r>
            <a:r>
              <a:rPr lang="en-US" b="1" dirty="0" smtClean="0"/>
              <a:t>W</a:t>
            </a:r>
            <a:r>
              <a:rPr lang="en-US" dirty="0" smtClean="0"/>
              <a:t> (transpose the matrix, then take the complex conjugate of all the elements)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13</a:t>
            </a:fld>
            <a:endParaRPr lang="en-US" altLang="zh-CN" dirty="0" smtClean="0"/>
          </a:p>
        </p:txBody>
      </p:sp>
      <p:graphicFrame>
        <p:nvGraphicFramePr>
          <p:cNvPr id="151554" name="Object 2"/>
          <p:cNvGraphicFramePr>
            <a:graphicFrameLocks noChangeAspect="1"/>
          </p:cNvGraphicFramePr>
          <p:nvPr/>
        </p:nvGraphicFramePr>
        <p:xfrm>
          <a:off x="2590800" y="1676400"/>
          <a:ext cx="232568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6" name="Equation" r:id="rId3" imgW="1536700" imgH="431800" progId="Equation.3">
                  <p:embed/>
                </p:oleObj>
              </mc:Choice>
              <mc:Fallback>
                <p:oleObj name="Equation" r:id="rId3" imgW="1536700" imgH="43180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76400"/>
                        <a:ext cx="2325688" cy="6413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5" name="Object 3"/>
          <p:cNvGraphicFramePr>
            <a:graphicFrameLocks noChangeAspect="1"/>
          </p:cNvGraphicFramePr>
          <p:nvPr/>
        </p:nvGraphicFramePr>
        <p:xfrm>
          <a:off x="2362200" y="1143000"/>
          <a:ext cx="10779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7" name="Equation" r:id="rId5" imgW="710891" imgH="342751" progId="Equation.3">
                  <p:embed/>
                </p:oleObj>
              </mc:Choice>
              <mc:Fallback>
                <p:oleObj name="Equation" r:id="rId5" imgW="710891" imgH="342751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143000"/>
                        <a:ext cx="1077913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2036763" y="3200400"/>
          <a:ext cx="4675187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8" name="Equation" r:id="rId7" imgW="3086100" imgH="1168400" progId="Equation.3">
                  <p:embed/>
                </p:oleObj>
              </mc:Choice>
              <mc:Fallback>
                <p:oleObj name="Equation" r:id="rId7" imgW="3086100" imgH="116840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3200400"/>
                        <a:ext cx="4675187" cy="17351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4343400" y="2514600"/>
          <a:ext cx="13049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9" name="Equation" r:id="rId9" imgW="863225" imgH="279279" progId="Equation.3">
                  <p:embed/>
                </p:oleObj>
              </mc:Choice>
              <mc:Fallback>
                <p:oleObj name="Equation" r:id="rId9" imgW="863225" imgH="279279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1304925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3933825" y="1143000"/>
          <a:ext cx="9826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0" name="Equation" r:id="rId11" imgW="647419" imgH="342751" progId="Equation.3">
                  <p:embed/>
                </p:oleObj>
              </mc:Choice>
              <mc:Fallback>
                <p:oleObj name="Equation" r:id="rId11" imgW="647419" imgH="342751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1143000"/>
                        <a:ext cx="982663" cy="509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7" name="Object 7"/>
          <p:cNvGraphicFramePr>
            <a:graphicFrameLocks noChangeAspect="1"/>
          </p:cNvGraphicFramePr>
          <p:nvPr/>
        </p:nvGraphicFramePr>
        <p:xfrm>
          <a:off x="1219200" y="5181600"/>
          <a:ext cx="4413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1" name="Equation" r:id="rId13" imgW="291973" imgH="203112" progId="Equation.3">
                  <p:embed/>
                </p:oleObj>
              </mc:Choice>
              <mc:Fallback>
                <p:oleObj name="Equation" r:id="rId13" imgW="291973" imgH="203112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81600"/>
                        <a:ext cx="441325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Matrix representation of IDFT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14</a:t>
            </a:fld>
            <a:endParaRPr lang="en-US" altLang="zh-CN" dirty="0" smtClean="0"/>
          </a:p>
        </p:txBody>
      </p:sp>
      <p:graphicFrame>
        <p:nvGraphicFramePr>
          <p:cNvPr id="152578" name="Object 2"/>
          <p:cNvGraphicFramePr>
            <a:graphicFrameLocks noChangeAspect="1"/>
          </p:cNvGraphicFramePr>
          <p:nvPr/>
        </p:nvGraphicFramePr>
        <p:xfrm>
          <a:off x="2722563" y="1371600"/>
          <a:ext cx="215423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8" name="Equation" r:id="rId3" imgW="1422400" imgH="431800" progId="Equation.3">
                  <p:embed/>
                </p:oleObj>
              </mc:Choice>
              <mc:Fallback>
                <p:oleObj name="Equation" r:id="rId3" imgW="1422400" imgH="4318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1371600"/>
                        <a:ext cx="2154237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79" name="Object 3"/>
          <p:cNvGraphicFramePr>
            <a:graphicFrameLocks noChangeAspect="1"/>
          </p:cNvGraphicFramePr>
          <p:nvPr/>
        </p:nvGraphicFramePr>
        <p:xfrm>
          <a:off x="989013" y="2209800"/>
          <a:ext cx="6559550" cy="173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9" name="Equation" r:id="rId5" imgW="4330700" imgH="1168400" progId="Equation.3">
                  <p:embed/>
                </p:oleObj>
              </mc:Choice>
              <mc:Fallback>
                <p:oleObj name="Equation" r:id="rId5" imgW="4330700" imgH="116840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2209800"/>
                        <a:ext cx="6559550" cy="173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0" name="Object 4"/>
          <p:cNvGraphicFramePr>
            <a:graphicFrameLocks noChangeAspect="1"/>
          </p:cNvGraphicFramePr>
          <p:nvPr/>
        </p:nvGraphicFramePr>
        <p:xfrm>
          <a:off x="3227388" y="4249738"/>
          <a:ext cx="12493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0" name="Equation" r:id="rId7" imgW="825500" imgH="393700" progId="Equation.3">
                  <p:embed/>
                </p:oleObj>
              </mc:Choice>
              <mc:Fallback>
                <p:oleObj name="Equation" r:id="rId7" imgW="825500" imgH="3937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4249738"/>
                        <a:ext cx="1249362" cy="584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15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Discrete Fourier Transform (DFT)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Fast Fourier 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Linearity</a:t>
            </a:r>
          </a:p>
          <a:p>
            <a:pPr lvl="1"/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Periodicity 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r>
              <a:rPr lang="en-US" dirty="0" smtClean="0"/>
              <a:t>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16</a:t>
            </a:fld>
            <a:endParaRPr lang="en-US" altLang="zh-CN" dirty="0" smtClean="0"/>
          </a:p>
        </p:txBody>
      </p:sp>
      <p:graphicFrame>
        <p:nvGraphicFramePr>
          <p:cNvPr id="155650" name="Object 2"/>
          <p:cNvGraphicFramePr>
            <a:graphicFrameLocks noChangeAspect="1"/>
          </p:cNvGraphicFramePr>
          <p:nvPr/>
        </p:nvGraphicFramePr>
        <p:xfrm>
          <a:off x="1600200" y="1295400"/>
          <a:ext cx="14224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97" name="Equation" r:id="rId3" imgW="939392" imgH="215806" progId="Equation.3">
                  <p:embed/>
                </p:oleObj>
              </mc:Choice>
              <mc:Fallback>
                <p:oleObj name="Equation" r:id="rId3" imgW="939392" imgH="215806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95400"/>
                        <a:ext cx="1422400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1" name="Object 3"/>
          <p:cNvGraphicFramePr>
            <a:graphicFrameLocks noChangeAspect="1"/>
          </p:cNvGraphicFramePr>
          <p:nvPr/>
        </p:nvGraphicFramePr>
        <p:xfrm>
          <a:off x="3733800" y="1295400"/>
          <a:ext cx="148113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98" name="Equation" r:id="rId5" imgW="977476" imgH="215806" progId="Equation.3">
                  <p:embed/>
                </p:oleObj>
              </mc:Choice>
              <mc:Fallback>
                <p:oleObj name="Equation" r:id="rId5" imgW="977476" imgH="215806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95400"/>
                        <a:ext cx="1481138" cy="320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2" name="Object 4"/>
          <p:cNvGraphicFramePr>
            <a:graphicFrameLocks noChangeAspect="1"/>
          </p:cNvGraphicFramePr>
          <p:nvPr/>
        </p:nvGraphicFramePr>
        <p:xfrm>
          <a:off x="2152650" y="1905000"/>
          <a:ext cx="330517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99" name="Equation" r:id="rId7" imgW="2183452" imgH="215806" progId="Equation.3">
                  <p:embed/>
                </p:oleObj>
              </mc:Choice>
              <mc:Fallback>
                <p:oleObj name="Equation" r:id="rId7" imgW="2183452" imgH="215806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1905000"/>
                        <a:ext cx="3305175" cy="320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6" name="Object 8"/>
          <p:cNvGraphicFramePr>
            <a:graphicFrameLocks noChangeAspect="1"/>
          </p:cNvGraphicFramePr>
          <p:nvPr/>
        </p:nvGraphicFramePr>
        <p:xfrm>
          <a:off x="1828800" y="2971800"/>
          <a:ext cx="13065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00" name="Equation" r:id="rId9" imgW="863225" imgH="203112" progId="Equation.3">
                  <p:embed/>
                </p:oleObj>
              </mc:Choice>
              <mc:Fallback>
                <p:oleObj name="Equation" r:id="rId9" imgW="863225" imgH="203112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971800"/>
                        <a:ext cx="1306513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7" name="Object 9"/>
          <p:cNvGraphicFramePr>
            <a:graphicFrameLocks noChangeAspect="1"/>
          </p:cNvGraphicFramePr>
          <p:nvPr/>
        </p:nvGraphicFramePr>
        <p:xfrm>
          <a:off x="2209800" y="3505200"/>
          <a:ext cx="15367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01" name="Equation" r:id="rId11" imgW="1016000" imgH="203200" progId="Equation.3">
                  <p:embed/>
                </p:oleObj>
              </mc:Choice>
              <mc:Fallback>
                <p:oleObj name="Equation" r:id="rId11" imgW="1016000" imgH="20320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05200"/>
                        <a:ext cx="1536700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8" name="Object 10"/>
          <p:cNvGraphicFramePr>
            <a:graphicFrameLocks noChangeAspect="1"/>
          </p:cNvGraphicFramePr>
          <p:nvPr/>
        </p:nvGraphicFramePr>
        <p:xfrm>
          <a:off x="2133600" y="3962400"/>
          <a:ext cx="1690688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102" name="Equation" r:id="rId13" imgW="1117115" imgH="203112" progId="Equation.3">
                  <p:embed/>
                </p:oleObj>
              </mc:Choice>
              <mc:Fallback>
                <p:oleObj name="Equation" r:id="rId13" imgW="1117115" imgH="203112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62400"/>
                        <a:ext cx="1690688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3779520"/>
            <a:ext cx="8305800" cy="53340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Circular shift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circular shifting</a:t>
            </a:r>
            <a:r>
              <a:rPr lang="en-US" dirty="0" smtClean="0"/>
              <a:t> a length-</a:t>
            </a:r>
            <a:r>
              <a:rPr lang="en-US" i="1" dirty="0" smtClean="0"/>
              <a:t>N</a:t>
            </a:r>
            <a:r>
              <a:rPr lang="en-US" dirty="0" smtClean="0"/>
              <a:t> signal,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), to the right by      positions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Example: N = 4 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3657600" lvl="8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</a:t>
            </a:r>
            <a:r>
              <a:rPr lang="en-US" dirty="0"/>
              <a:t>, where </a:t>
            </a:r>
            <a:r>
              <a:rPr lang="en-US" dirty="0" smtClean="0"/>
              <a:t>p is an integer chosen </a:t>
            </a:r>
            <a:r>
              <a:rPr lang="en-US" dirty="0"/>
              <a:t>such that </a:t>
            </a:r>
            <a:endParaRPr lang="en-US" dirty="0" smtClean="0"/>
          </a:p>
          <a:p>
            <a:pPr lvl="1"/>
            <a:r>
              <a:rPr lang="en-US" dirty="0" smtClean="0"/>
              <a:t>Why circular shift?</a:t>
            </a:r>
          </a:p>
          <a:p>
            <a:pPr lvl="2"/>
            <a:r>
              <a:rPr lang="en-US" dirty="0" smtClean="0"/>
              <a:t>Recall: in DFT,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is periodic in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17</a:t>
            </a:fld>
            <a:endParaRPr lang="en-US" altLang="zh-CN" dirty="0" smtClean="0"/>
          </a:p>
        </p:txBody>
      </p:sp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3505200" y="1676400"/>
          <a:ext cx="10175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2" name="Equation" r:id="rId3" imgW="672840" imgH="228600" progId="Equation.3">
                  <p:embed/>
                </p:oleObj>
              </mc:Choice>
              <mc:Fallback>
                <p:oleObj name="Equation" r:id="rId3" imgW="67284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0"/>
                        <a:ext cx="1017587" cy="336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4"/>
          <p:cNvGraphicFramePr>
            <a:graphicFrameLocks noChangeAspect="1"/>
          </p:cNvGraphicFramePr>
          <p:nvPr/>
        </p:nvGraphicFramePr>
        <p:xfrm>
          <a:off x="2514600" y="2362200"/>
          <a:ext cx="26622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3" name="Equation" r:id="rId5" imgW="1765080" imgH="203040" progId="Equation.3">
                  <p:embed/>
                </p:oleObj>
              </mc:Choice>
              <mc:Fallback>
                <p:oleObj name="Equation" r:id="rId5" imgW="17650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26622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2133600" y="2667000"/>
          <a:ext cx="30448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4" name="Equation" r:id="rId7" imgW="2019240" imgH="215640" progId="Equation.3">
                  <p:embed/>
                </p:oleObj>
              </mc:Choice>
              <mc:Fallback>
                <p:oleObj name="Equation" r:id="rId7" imgW="20192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667000"/>
                        <a:ext cx="304482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2133600" y="3276600"/>
          <a:ext cx="30654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5" name="Equation" r:id="rId9" imgW="2031840" imgH="215640" progId="Equation.3">
                  <p:embed/>
                </p:oleObj>
              </mc:Choice>
              <mc:Fallback>
                <p:oleObj name="Equation" r:id="rId9" imgW="20318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76600"/>
                        <a:ext cx="30654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Object 7"/>
          <p:cNvGraphicFramePr>
            <a:graphicFrameLocks noChangeAspect="1"/>
          </p:cNvGraphicFramePr>
          <p:nvPr/>
        </p:nvGraphicFramePr>
        <p:xfrm>
          <a:off x="2133600" y="2971800"/>
          <a:ext cx="30845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6" name="Equation" r:id="rId11" imgW="2044440" imgH="215640" progId="Equation.3">
                  <p:embed/>
                </p:oleObj>
              </mc:Choice>
              <mc:Fallback>
                <p:oleObj name="Equation" r:id="rId11" imgW="204444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971800"/>
                        <a:ext cx="308451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020129"/>
              </p:ext>
            </p:extLst>
          </p:nvPr>
        </p:nvGraphicFramePr>
        <p:xfrm>
          <a:off x="1371600" y="5169010"/>
          <a:ext cx="6096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7" name="Equation" r:id="rId13" imgW="4038600" imgH="203200" progId="Equation.3">
                  <p:embed/>
                </p:oleObj>
              </mc:Choice>
              <mc:Fallback>
                <p:oleObj name="Equation" r:id="rId13" imgW="4038600" imgH="203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169010"/>
                        <a:ext cx="60960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395883"/>
              </p:ext>
            </p:extLst>
          </p:nvPr>
        </p:nvGraphicFramePr>
        <p:xfrm>
          <a:off x="1828800" y="5778610"/>
          <a:ext cx="60960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8" name="Equation" r:id="rId15" imgW="4038600" imgH="203200" progId="Equation.3">
                  <p:embed/>
                </p:oleObj>
              </mc:Choice>
              <mc:Fallback>
                <p:oleObj name="Equation" r:id="rId15" imgW="4038600" imgH="203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778610"/>
                        <a:ext cx="60960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379233"/>
              </p:ext>
            </p:extLst>
          </p:nvPr>
        </p:nvGraphicFramePr>
        <p:xfrm>
          <a:off x="685800" y="5169010"/>
          <a:ext cx="571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59" name="Equation" r:id="rId17" imgW="380835" imgH="203112" progId="Equation.3">
                  <p:embed/>
                </p:oleObj>
              </mc:Choice>
              <mc:Fallback>
                <p:oleObj name="Equation" r:id="rId17" imgW="380835" imgH="203112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169010"/>
                        <a:ext cx="5715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368425"/>
              </p:ext>
            </p:extLst>
          </p:nvPr>
        </p:nvGraphicFramePr>
        <p:xfrm>
          <a:off x="381000" y="5778610"/>
          <a:ext cx="8572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60" name="Equation" r:id="rId19" imgW="571320" imgH="203040" progId="Equation.3">
                  <p:embed/>
                </p:oleObj>
              </mc:Choice>
              <mc:Fallback>
                <p:oleObj name="Equation" r:id="rId19" imgW="57132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778610"/>
                        <a:ext cx="85725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/>
          <p:cNvCxnSpPr/>
          <p:nvPr/>
        </p:nvCxnSpPr>
        <p:spPr>
          <a:xfrm>
            <a:off x="3505200" y="5169010"/>
            <a:ext cx="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410200" y="5092810"/>
            <a:ext cx="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469211"/>
              </p:ext>
            </p:extLst>
          </p:nvPr>
        </p:nvGraphicFramePr>
        <p:xfrm>
          <a:off x="6400800" y="1295400"/>
          <a:ext cx="2508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61" name="Equation" r:id="rId21" imgW="164880" imgH="228600" progId="Equation.3">
                  <p:embed/>
                </p:oleObj>
              </mc:Choice>
              <mc:Fallback>
                <p:oleObj name="Equation" r:id="rId21" imgW="1648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295400"/>
                        <a:ext cx="2508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003945"/>
              </p:ext>
            </p:extLst>
          </p:nvPr>
        </p:nvGraphicFramePr>
        <p:xfrm>
          <a:off x="609600" y="3962400"/>
          <a:ext cx="21891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62" name="Equation" r:id="rId23" imgW="1447560" imgH="228600" progId="Equation.3">
                  <p:embed/>
                </p:oleObj>
              </mc:Choice>
              <mc:Fallback>
                <p:oleObj name="Equation" r:id="rId23" imgW="144756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218916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098064"/>
              </p:ext>
            </p:extLst>
          </p:nvPr>
        </p:nvGraphicFramePr>
        <p:xfrm>
          <a:off x="6553200" y="3976370"/>
          <a:ext cx="21510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563" name="Equation" r:id="rId25" imgW="1422360" imgH="228600" progId="Equation.3">
                  <p:embed/>
                </p:oleObj>
              </mc:Choice>
              <mc:Fallback>
                <p:oleObj name="Equation" r:id="rId25" imgW="142236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3976370"/>
                        <a:ext cx="215106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shifting</a:t>
            </a:r>
          </a:p>
          <a:p>
            <a:pPr lvl="1"/>
            <a:r>
              <a:rPr lang="en-US" dirty="0" smtClean="0"/>
              <a:t>If </a:t>
            </a:r>
          </a:p>
          <a:p>
            <a:pPr lvl="1"/>
            <a:r>
              <a:rPr lang="en-US" dirty="0" smtClean="0"/>
              <a:t>Then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This is a </a:t>
            </a:r>
            <a:r>
              <a:rPr lang="en-US" dirty="0" smtClean="0">
                <a:solidFill>
                  <a:srgbClr val="FF0000"/>
                </a:solidFill>
              </a:rPr>
              <a:t>circular shift</a:t>
            </a:r>
          </a:p>
          <a:p>
            <a:pPr lvl="2"/>
            <a:r>
              <a:rPr lang="en-US" dirty="0" smtClean="0"/>
              <a:t>because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 smtClean="0"/>
              <a:t>) is periodic in </a:t>
            </a:r>
            <a:r>
              <a:rPr lang="en-US" i="1" dirty="0" smtClean="0"/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18</a:t>
            </a:fld>
            <a:endParaRPr lang="en-US" altLang="zh-CN" dirty="0" smtClean="0"/>
          </a:p>
        </p:txBody>
      </p:sp>
      <p:graphicFrame>
        <p:nvGraphicFramePr>
          <p:cNvPr id="156674" name="Object 2"/>
          <p:cNvGraphicFramePr>
            <a:graphicFrameLocks noChangeAspect="1"/>
          </p:cNvGraphicFramePr>
          <p:nvPr/>
        </p:nvGraphicFramePr>
        <p:xfrm>
          <a:off x="2209800" y="1219200"/>
          <a:ext cx="13065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72" name="Equation" r:id="rId3" imgW="863225" imgH="203112" progId="Equation.3">
                  <p:embed/>
                </p:oleObj>
              </mc:Choice>
              <mc:Fallback>
                <p:oleObj name="Equation" r:id="rId3" imgW="863225" imgH="203112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219200"/>
                        <a:ext cx="1306513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75" name="Object 3"/>
          <p:cNvGraphicFramePr>
            <a:graphicFrameLocks noChangeAspect="1"/>
          </p:cNvGraphicFramePr>
          <p:nvPr/>
        </p:nvGraphicFramePr>
        <p:xfrm>
          <a:off x="1990725" y="1600200"/>
          <a:ext cx="339883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73" name="Equation" r:id="rId5" imgW="2247840" imgH="431640" progId="Equation.3">
                  <p:embed/>
                </p:oleObj>
              </mc:Choice>
              <mc:Fallback>
                <p:oleObj name="Equation" r:id="rId5" imgW="2247840" imgH="43164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1600200"/>
                        <a:ext cx="3398838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a sequence</a:t>
            </a:r>
          </a:p>
          <a:p>
            <a:pPr lvl="1"/>
            <a:r>
              <a:rPr lang="en-US" dirty="0" smtClean="0"/>
              <a:t>Find the DFT</a:t>
            </a:r>
          </a:p>
          <a:p>
            <a:pPr lvl="1"/>
            <a:r>
              <a:rPr lang="en-US" dirty="0" smtClean="0"/>
              <a:t>If we circular shift x to the right by two locations, find the new sequence and its DFT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19</a:t>
            </a:fld>
            <a:endParaRPr lang="en-US" altLang="zh-CN" dirty="0" smtClean="0"/>
          </a:p>
        </p:txBody>
      </p:sp>
      <p:graphicFrame>
        <p:nvGraphicFramePr>
          <p:cNvPr id="157698" name="Object 2"/>
          <p:cNvGraphicFramePr>
            <a:graphicFrameLocks noChangeAspect="1"/>
          </p:cNvGraphicFramePr>
          <p:nvPr/>
        </p:nvGraphicFramePr>
        <p:xfrm>
          <a:off x="3505200" y="1295400"/>
          <a:ext cx="17303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72" name="Equation" r:id="rId3" imgW="1143000" imgH="203200" progId="Equation.3">
                  <p:embed/>
                </p:oleObj>
              </mc:Choice>
              <mc:Fallback>
                <p:oleObj name="Equation" r:id="rId3" imgW="1143000" imgH="203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295400"/>
                        <a:ext cx="1730375" cy="30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Circular convolution</a:t>
            </a:r>
          </a:p>
          <a:p>
            <a:pPr lvl="1"/>
            <a:r>
              <a:rPr lang="en-US" dirty="0" smtClean="0"/>
              <a:t>The circular convolution between two length-</a:t>
            </a:r>
            <a:r>
              <a:rPr lang="en-US" i="1" dirty="0" smtClean="0"/>
              <a:t>N</a:t>
            </a:r>
            <a:r>
              <a:rPr lang="en-US" dirty="0" smtClean="0"/>
              <a:t> sequences x(n) and h(n) is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Graphical interpretation for </a:t>
            </a:r>
            <a:r>
              <a:rPr lang="en-US" i="1" dirty="0" smtClean="0"/>
              <a:t>N</a:t>
            </a:r>
            <a:r>
              <a:rPr lang="en-US" dirty="0" smtClean="0"/>
              <a:t> = 4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20</a:t>
            </a:fld>
            <a:endParaRPr lang="en-US" altLang="zh-CN" dirty="0" smtClean="0"/>
          </a:p>
        </p:txBody>
      </p:sp>
      <p:graphicFrame>
        <p:nvGraphicFramePr>
          <p:cNvPr id="160770" name="Object 2"/>
          <p:cNvGraphicFramePr>
            <a:graphicFrameLocks noChangeAspect="1"/>
          </p:cNvGraphicFramePr>
          <p:nvPr/>
        </p:nvGraphicFramePr>
        <p:xfrm>
          <a:off x="2743200" y="1676400"/>
          <a:ext cx="23034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08" name="Equation" r:id="rId3" imgW="1523880" imgH="431640" progId="Equation.3">
                  <p:embed/>
                </p:oleObj>
              </mc:Choice>
              <mc:Fallback>
                <p:oleObj name="Equation" r:id="rId3" imgW="152388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76400"/>
                        <a:ext cx="2303462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1" name="Object 3"/>
          <p:cNvGraphicFramePr>
            <a:graphicFrameLocks noChangeAspect="1"/>
          </p:cNvGraphicFramePr>
          <p:nvPr/>
        </p:nvGraphicFramePr>
        <p:xfrm>
          <a:off x="1295400" y="2971800"/>
          <a:ext cx="26622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09" name="Equation" r:id="rId5" imgW="1765080" imgH="203040" progId="Equation.3">
                  <p:embed/>
                </p:oleObj>
              </mc:Choice>
              <mc:Fallback>
                <p:oleObj name="Equation" r:id="rId5" imgW="17650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971800"/>
                        <a:ext cx="26622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2" name="Object 4"/>
          <p:cNvGraphicFramePr>
            <a:graphicFrameLocks noChangeAspect="1"/>
          </p:cNvGraphicFramePr>
          <p:nvPr/>
        </p:nvGraphicFramePr>
        <p:xfrm>
          <a:off x="1000125" y="3352800"/>
          <a:ext cx="29114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0" name="Equation" r:id="rId7" imgW="1930320" imgH="228600" progId="Equation.3">
                  <p:embed/>
                </p:oleObj>
              </mc:Choice>
              <mc:Fallback>
                <p:oleObj name="Equation" r:id="rId7" imgW="19303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352800"/>
                        <a:ext cx="29114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3" name="Object 5"/>
          <p:cNvGraphicFramePr>
            <a:graphicFrameLocks noChangeAspect="1"/>
          </p:cNvGraphicFramePr>
          <p:nvPr/>
        </p:nvGraphicFramePr>
        <p:xfrm>
          <a:off x="304800" y="3352800"/>
          <a:ext cx="63182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1" name="Equation" r:id="rId9" imgW="419040" imgH="177480" progId="Equation.3">
                  <p:embed/>
                </p:oleObj>
              </mc:Choice>
              <mc:Fallback>
                <p:oleObj name="Equation" r:id="rId9" imgW="41904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352800"/>
                        <a:ext cx="631825" cy="255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/>
        </p:nvGraphicFramePr>
        <p:xfrm>
          <a:off x="4662487" y="3352800"/>
          <a:ext cx="44815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2" name="Equation" r:id="rId11" imgW="2971800" imgH="203040" progId="Equation.3">
                  <p:embed/>
                </p:oleObj>
              </mc:Choice>
              <mc:Fallback>
                <p:oleObj name="Equation" r:id="rId11" imgW="29718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7" y="3352800"/>
                        <a:ext cx="4481513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5" name="Object 7"/>
          <p:cNvGraphicFramePr>
            <a:graphicFrameLocks noChangeAspect="1"/>
          </p:cNvGraphicFramePr>
          <p:nvPr/>
        </p:nvGraphicFramePr>
        <p:xfrm>
          <a:off x="247650" y="3733800"/>
          <a:ext cx="5937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3" name="Equation" r:id="rId13" imgW="393480" imgH="177480" progId="Equation.3">
                  <p:embed/>
                </p:oleObj>
              </mc:Choice>
              <mc:Fallback>
                <p:oleObj name="Equation" r:id="rId13" imgW="393480" imgH="177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3733800"/>
                        <a:ext cx="593725" cy="25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6" name="Object 8"/>
          <p:cNvGraphicFramePr>
            <a:graphicFrameLocks noChangeAspect="1"/>
          </p:cNvGraphicFramePr>
          <p:nvPr/>
        </p:nvGraphicFramePr>
        <p:xfrm>
          <a:off x="838200" y="3733800"/>
          <a:ext cx="30638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4" name="Equation" r:id="rId15" imgW="2031840" imgH="228600" progId="Equation.3">
                  <p:embed/>
                </p:oleObj>
              </mc:Choice>
              <mc:Fallback>
                <p:oleObj name="Equation" r:id="rId15" imgW="203184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30638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7" name="Object 9"/>
          <p:cNvGraphicFramePr>
            <a:graphicFrameLocks noChangeAspect="1"/>
          </p:cNvGraphicFramePr>
          <p:nvPr/>
        </p:nvGraphicFramePr>
        <p:xfrm>
          <a:off x="838200" y="4114800"/>
          <a:ext cx="31019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5" name="Equation" r:id="rId17" imgW="2057400" imgH="228600" progId="Equation.3">
                  <p:embed/>
                </p:oleObj>
              </mc:Choice>
              <mc:Fallback>
                <p:oleObj name="Equation" r:id="rId17" imgW="205740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14800"/>
                        <a:ext cx="31019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8" name="Object 10"/>
          <p:cNvGraphicFramePr>
            <a:graphicFrameLocks noChangeAspect="1"/>
          </p:cNvGraphicFramePr>
          <p:nvPr/>
        </p:nvGraphicFramePr>
        <p:xfrm>
          <a:off x="4681538" y="3733800"/>
          <a:ext cx="44434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6" name="Equation" r:id="rId19" imgW="2946240" imgH="203040" progId="Equation.3">
                  <p:embed/>
                </p:oleObj>
              </mc:Choice>
              <mc:Fallback>
                <p:oleObj name="Equation" r:id="rId19" imgW="2946240" imgH="203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3733800"/>
                        <a:ext cx="444341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9" name="Object 11"/>
          <p:cNvGraphicFramePr>
            <a:graphicFrameLocks noChangeAspect="1"/>
          </p:cNvGraphicFramePr>
          <p:nvPr/>
        </p:nvGraphicFramePr>
        <p:xfrm>
          <a:off x="4681538" y="4114800"/>
          <a:ext cx="4481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7" name="Equation" r:id="rId21" imgW="2971800" imgH="203040" progId="Equation.3">
                  <p:embed/>
                </p:oleObj>
              </mc:Choice>
              <mc:Fallback>
                <p:oleObj name="Equation" r:id="rId21" imgW="297180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4114800"/>
                        <a:ext cx="448151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0" name="Object 12"/>
          <p:cNvGraphicFramePr>
            <a:graphicFrameLocks noChangeAspect="1"/>
          </p:cNvGraphicFramePr>
          <p:nvPr/>
        </p:nvGraphicFramePr>
        <p:xfrm>
          <a:off x="838200" y="4495800"/>
          <a:ext cx="31019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8" name="Equation" r:id="rId23" imgW="2057400" imgH="228600" progId="Equation.3">
                  <p:embed/>
                </p:oleObj>
              </mc:Choice>
              <mc:Fallback>
                <p:oleObj name="Equation" r:id="rId23" imgW="2057400" imgH="2286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95800"/>
                        <a:ext cx="3101975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1" name="Object 13"/>
          <p:cNvGraphicFramePr>
            <a:graphicFrameLocks noChangeAspect="1"/>
          </p:cNvGraphicFramePr>
          <p:nvPr/>
        </p:nvGraphicFramePr>
        <p:xfrm>
          <a:off x="4662488" y="4495800"/>
          <a:ext cx="4481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19" name="Equation" r:id="rId25" imgW="2971800" imgH="203040" progId="Equation.3">
                  <p:embed/>
                </p:oleObj>
              </mc:Choice>
              <mc:Fallback>
                <p:oleObj name="Equation" r:id="rId25" imgW="2971800" imgH="203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4495800"/>
                        <a:ext cx="4481512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2" name="Object 14"/>
          <p:cNvGraphicFramePr>
            <a:graphicFrameLocks noChangeAspect="1"/>
          </p:cNvGraphicFramePr>
          <p:nvPr/>
        </p:nvGraphicFramePr>
        <p:xfrm>
          <a:off x="228600" y="4114800"/>
          <a:ext cx="633413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20" name="Equation" r:id="rId27" imgW="419040" imgH="177480" progId="Equation.3">
                  <p:embed/>
                </p:oleObj>
              </mc:Choice>
              <mc:Fallback>
                <p:oleObj name="Equation" r:id="rId27" imgW="419040" imgH="177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114800"/>
                        <a:ext cx="633413" cy="25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83" name="Object 15"/>
          <p:cNvGraphicFramePr>
            <a:graphicFrameLocks noChangeAspect="1"/>
          </p:cNvGraphicFramePr>
          <p:nvPr/>
        </p:nvGraphicFramePr>
        <p:xfrm>
          <a:off x="238125" y="4495800"/>
          <a:ext cx="614363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721" name="Equation" r:id="rId29" imgW="406080" imgH="177480" progId="Equation.3">
                  <p:embed/>
                </p:oleObj>
              </mc:Choice>
              <mc:Fallback>
                <p:oleObj name="Equation" r:id="rId29" imgW="406080" imgH="177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" y="4495800"/>
                        <a:ext cx="614363" cy="255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circular convolution of the following two sequences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21</a:t>
            </a:fld>
            <a:endParaRPr lang="en-US" altLang="zh-CN" dirty="0" smtClean="0"/>
          </a:p>
        </p:txBody>
      </p:sp>
      <p:graphicFrame>
        <p:nvGraphicFramePr>
          <p:cNvPr id="161794" name="Object 2"/>
          <p:cNvGraphicFramePr>
            <a:graphicFrameLocks noChangeAspect="1"/>
          </p:cNvGraphicFramePr>
          <p:nvPr/>
        </p:nvGraphicFramePr>
        <p:xfrm>
          <a:off x="1828800" y="1676400"/>
          <a:ext cx="1417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28" name="Equation" r:id="rId3" imgW="939600" imgH="203040" progId="Equation.3">
                  <p:embed/>
                </p:oleObj>
              </mc:Choice>
              <mc:Fallback>
                <p:oleObj name="Equation" r:id="rId3" imgW="93960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76400"/>
                        <a:ext cx="14176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4572000" y="1676400"/>
          <a:ext cx="14366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29" name="Equation" r:id="rId5" imgW="952200" imgH="203040" progId="Equation.3">
                  <p:embed/>
                </p:oleObj>
              </mc:Choice>
              <mc:Fallback>
                <p:oleObj name="Equation" r:id="rId5" imgW="9522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143668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circular convolution of the two sequences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22</a:t>
            </a:fld>
            <a:endParaRPr lang="en-US" altLang="zh-CN" dirty="0" smtClean="0"/>
          </a:p>
        </p:txBody>
      </p:sp>
      <p:graphicFrame>
        <p:nvGraphicFramePr>
          <p:cNvPr id="162818" name="Object 2"/>
          <p:cNvGraphicFramePr>
            <a:graphicFrameLocks noChangeAspect="1"/>
          </p:cNvGraphicFramePr>
          <p:nvPr/>
        </p:nvGraphicFramePr>
        <p:xfrm>
          <a:off x="1743075" y="1676400"/>
          <a:ext cx="15906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2" name="Equation" r:id="rId3" imgW="1054080" imgH="203040" progId="Equation.3">
                  <p:embed/>
                </p:oleObj>
              </mc:Choice>
              <mc:Fallback>
                <p:oleObj name="Equation" r:id="rId3" imgW="105408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1676400"/>
                        <a:ext cx="1590675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4495800" y="1676400"/>
          <a:ext cx="15906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3" name="Equation" r:id="rId5" imgW="1054080" imgH="203040" progId="Equation.3">
                  <p:embed/>
                </p:oleObj>
              </mc:Choice>
              <mc:Fallback>
                <p:oleObj name="Equation" r:id="rId5" imgW="10540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76400"/>
                        <a:ext cx="1590675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Circular convolution and DFT</a:t>
            </a:r>
          </a:p>
          <a:p>
            <a:pPr lvl="1"/>
            <a:r>
              <a:rPr lang="en-US" dirty="0" smtClean="0"/>
              <a:t>Consider two length-N sequences x(n) and h(n). There N-point DFTs are X(k) and H(k), respectively.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Circular convolution in the time domain is equivalent to multiplication in the discrete frequency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23</a:t>
            </a:fld>
            <a:endParaRPr lang="en-US" altLang="zh-CN" dirty="0" smtClean="0"/>
          </a:p>
        </p:txBody>
      </p:sp>
      <p:graphicFrame>
        <p:nvGraphicFramePr>
          <p:cNvPr id="163842" name="Object 2"/>
          <p:cNvGraphicFramePr>
            <a:graphicFrameLocks noChangeAspect="1"/>
          </p:cNvGraphicFramePr>
          <p:nvPr/>
        </p:nvGraphicFramePr>
        <p:xfrm>
          <a:off x="2667000" y="2057400"/>
          <a:ext cx="30718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9" name="Equation" r:id="rId3" imgW="2031840" imgH="431640" progId="Equation.3">
                  <p:embed/>
                </p:oleObj>
              </mc:Choice>
              <mc:Fallback>
                <p:oleObj name="Equation" r:id="rId3" imgW="203184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057400"/>
                        <a:ext cx="3071813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Find the circular convolution of the two sequences by using DFT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24</a:t>
            </a:fld>
            <a:endParaRPr lang="en-US" altLang="zh-CN" dirty="0" smtClean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Example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Find the circular convolution of the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828800" y="1676400"/>
          <a:ext cx="1417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02" name="Equation" r:id="rId4" imgW="939600" imgH="203040" progId="Equation.3">
                  <p:embed/>
                </p:oleObj>
              </mc:Choice>
              <mc:Fallback>
                <p:oleObj name="Equation" r:id="rId4" imgW="93960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676400"/>
                        <a:ext cx="14176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4572000" y="1676400"/>
          <a:ext cx="14366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03" name="Equation" r:id="rId6" imgW="952200" imgH="203040" progId="Equation.3">
                  <p:embed/>
                </p:oleObj>
              </mc:Choice>
              <mc:Fallback>
                <p:oleObj name="Equation" r:id="rId6" imgW="9522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143668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Multiplication of two sequences</a:t>
            </a:r>
          </a:p>
          <a:p>
            <a:pPr lvl="1"/>
            <a:r>
              <a:rPr lang="en-US" dirty="0" smtClean="0"/>
              <a:t>Consider two length-N sequences x(n) and h(n). </a:t>
            </a:r>
            <a:r>
              <a:rPr lang="en-US" smtClean="0"/>
              <a:t>Their </a:t>
            </a:r>
            <a:r>
              <a:rPr lang="en-US" dirty="0" smtClean="0"/>
              <a:t>N-point DFTs are X(k) and H(k), respectively.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Multiplication in the time domain is equivalent to circular convolution in the discrete frequency domain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25</a:t>
            </a:fld>
            <a:endParaRPr lang="en-US" altLang="zh-CN" dirty="0" smtClean="0"/>
          </a:p>
        </p:txBody>
      </p:sp>
      <p:graphicFrame>
        <p:nvGraphicFramePr>
          <p:cNvPr id="165890" name="Object 2"/>
          <p:cNvGraphicFramePr>
            <a:graphicFrameLocks noChangeAspect="1"/>
          </p:cNvGraphicFramePr>
          <p:nvPr/>
        </p:nvGraphicFramePr>
        <p:xfrm>
          <a:off x="2543175" y="2057400"/>
          <a:ext cx="33210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7" name="Equation" r:id="rId3" imgW="2197080" imgH="431640" progId="Equation.3">
                  <p:embed/>
                </p:oleObj>
              </mc:Choice>
              <mc:Fallback>
                <p:oleObj name="Equation" r:id="rId3" imgW="219708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2057400"/>
                        <a:ext cx="3321050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Consider two length-</a:t>
            </a:r>
            <a:r>
              <a:rPr lang="en-US" i="1" dirty="0" smtClean="0"/>
              <a:t>N</a:t>
            </a:r>
            <a:r>
              <a:rPr lang="en-US" dirty="0" smtClean="0"/>
              <a:t> sequences. Find the circular convolution of their 4-point DFTs.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26</a:t>
            </a:fld>
            <a:endParaRPr lang="en-US" altLang="zh-CN" dirty="0" smtClean="0"/>
          </a:p>
        </p:txBody>
      </p:sp>
      <p:graphicFrame>
        <p:nvGraphicFramePr>
          <p:cNvPr id="167938" name="Object 2"/>
          <p:cNvGraphicFramePr>
            <a:graphicFrameLocks noChangeAspect="1"/>
          </p:cNvGraphicFramePr>
          <p:nvPr/>
        </p:nvGraphicFramePr>
        <p:xfrm>
          <a:off x="1828800" y="1905000"/>
          <a:ext cx="1417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72" name="Equation" r:id="rId4" imgW="939600" imgH="203040" progId="Equation.3">
                  <p:embed/>
                </p:oleObj>
              </mc:Choice>
              <mc:Fallback>
                <p:oleObj name="Equation" r:id="rId4" imgW="93960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14176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4572000" y="1905000"/>
          <a:ext cx="1417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73" name="Equation" r:id="rId6" imgW="939600" imgH="203040" progId="Equation.3">
                  <p:embed/>
                </p:oleObj>
              </mc:Choice>
              <mc:Fallback>
                <p:oleObj name="Equation" r:id="rId6" imgW="93960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905000"/>
                        <a:ext cx="1417638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Time-reversal</a:t>
            </a:r>
          </a:p>
          <a:p>
            <a:pPr lvl="1"/>
            <a:r>
              <a:rPr lang="en-US" dirty="0" smtClean="0"/>
              <a:t>If the N-point DFT of x(n) is X(k), then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If the 6-point DFT of x(n) is X(k) = [3, -2, 4, -1, 5]. Find the DFT of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27</a:t>
            </a:fld>
            <a:endParaRPr lang="en-US" altLang="zh-CN" dirty="0" smtClean="0"/>
          </a:p>
        </p:txBody>
      </p:sp>
      <p:graphicFrame>
        <p:nvGraphicFramePr>
          <p:cNvPr id="166914" name="Object 2"/>
          <p:cNvGraphicFramePr>
            <a:graphicFrameLocks noChangeAspect="1"/>
          </p:cNvGraphicFramePr>
          <p:nvPr/>
        </p:nvGraphicFramePr>
        <p:xfrm>
          <a:off x="3124200" y="1752600"/>
          <a:ext cx="184308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48" name="Equation" r:id="rId4" imgW="1218960" imgH="228600" progId="Equation.3">
                  <p:embed/>
                </p:oleObj>
              </mc:Choice>
              <mc:Fallback>
                <p:oleObj name="Equation" r:id="rId4" imgW="121896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1843087" cy="3365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5" name="Object 3"/>
          <p:cNvGraphicFramePr>
            <a:graphicFrameLocks noChangeAspect="1"/>
          </p:cNvGraphicFramePr>
          <p:nvPr/>
        </p:nvGraphicFramePr>
        <p:xfrm>
          <a:off x="8229600" y="2590800"/>
          <a:ext cx="7493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49" name="Equation" r:id="rId6" imgW="495000" imgH="228600" progId="Equation.3">
                  <p:embed/>
                </p:oleObj>
              </mc:Choice>
              <mc:Fallback>
                <p:oleObj name="Equation" r:id="rId6" imgW="49500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2590800"/>
                        <a:ext cx="749300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Parseval’s</a:t>
            </a:r>
            <a:r>
              <a:rPr lang="en-US" dirty="0" smtClean="0"/>
              <a:t> theorem</a:t>
            </a:r>
          </a:p>
          <a:p>
            <a:pPr lvl="1"/>
            <a:r>
              <a:rPr lang="en-US" dirty="0" smtClean="0"/>
              <a:t>If the N-point DFT of x(n) is X(k), then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If                                         , find 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28</a:t>
            </a:fld>
            <a:endParaRPr lang="en-US" altLang="zh-CN" dirty="0" smtClean="0"/>
          </a:p>
        </p:txBody>
      </p:sp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2743200" y="1676400"/>
          <a:ext cx="2514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3" name="Equation" r:id="rId3" imgW="1663560" imgH="431640" progId="Equation.3">
                  <p:embed/>
                </p:oleObj>
              </mc:Choice>
              <mc:Fallback>
                <p:oleObj name="Equation" r:id="rId3" imgW="166356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76400"/>
                        <a:ext cx="2514600" cy="6350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3" name="Object 3"/>
          <p:cNvGraphicFramePr>
            <a:graphicFrameLocks noChangeAspect="1"/>
          </p:cNvGraphicFramePr>
          <p:nvPr/>
        </p:nvGraphicFramePr>
        <p:xfrm>
          <a:off x="2209800" y="2895600"/>
          <a:ext cx="2054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4" name="Equation" r:id="rId5" imgW="1358640" imgH="203040" progId="Equation.3">
                  <p:embed/>
                </p:oleObj>
              </mc:Choice>
              <mc:Fallback>
                <p:oleObj name="Equation" r:id="rId5" imgW="13586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895600"/>
                        <a:ext cx="2054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5029200" y="2743200"/>
          <a:ext cx="10747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65" name="Equation" r:id="rId7" imgW="711000" imgH="431640" progId="Equation.3">
                  <p:embed/>
                </p:oleObj>
              </mc:Choice>
              <mc:Fallback>
                <p:oleObj name="Equation" r:id="rId7" imgW="7110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1074737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29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Discrete Fourier Transform (DFT)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Fast Fourier 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Fast Fourier Transform (FFT)</a:t>
            </a:r>
          </a:p>
          <a:p>
            <a:pPr lvl="1"/>
            <a:r>
              <a:rPr lang="en-US" dirty="0" smtClean="0"/>
              <a:t>A faster implementation of DFT (NOT a new transform!)</a:t>
            </a:r>
          </a:p>
          <a:p>
            <a:pPr lvl="1"/>
            <a:r>
              <a:rPr lang="en-US" dirty="0" smtClean="0"/>
              <a:t>The result is exactly the same as DFT, just the implementation is faster. </a:t>
            </a:r>
          </a:p>
          <a:p>
            <a:r>
              <a:rPr lang="en-US" dirty="0" smtClean="0"/>
              <a:t>Complexity of DFT</a:t>
            </a:r>
          </a:p>
          <a:p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/>
              <a:t>For each k, there are </a:t>
            </a:r>
            <a:r>
              <a:rPr lang="en-US" i="1" dirty="0" smtClean="0"/>
              <a:t>N</a:t>
            </a:r>
            <a:r>
              <a:rPr lang="en-US" dirty="0" smtClean="0"/>
              <a:t> complex multiplications</a:t>
            </a:r>
          </a:p>
          <a:p>
            <a:pPr lvl="1"/>
            <a:r>
              <a:rPr lang="en-US" dirty="0" smtClean="0"/>
              <a:t>The above formula needs to be performed </a:t>
            </a:r>
            <a:r>
              <a:rPr lang="en-US" i="1" dirty="0" smtClean="0"/>
              <a:t>N</a:t>
            </a:r>
            <a:r>
              <a:rPr lang="en-US" dirty="0" smtClean="0"/>
              <a:t> times for </a:t>
            </a:r>
            <a:r>
              <a:rPr lang="en-US" i="1" dirty="0" smtClean="0"/>
              <a:t>k</a:t>
            </a:r>
            <a:r>
              <a:rPr lang="en-US" dirty="0" smtClean="0"/>
              <a:t> = 0, 1, …, </a:t>
            </a:r>
            <a:r>
              <a:rPr lang="en-US" i="1" dirty="0" smtClean="0"/>
              <a:t>N</a:t>
            </a:r>
            <a:r>
              <a:rPr lang="en-US" dirty="0" smtClean="0"/>
              <a:t>-1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Total number of complex multiplications: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Total number of complex multiplications for FFT: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30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301959"/>
              </p:ext>
            </p:extLst>
          </p:nvPr>
        </p:nvGraphicFramePr>
        <p:xfrm>
          <a:off x="2819400" y="2362200"/>
          <a:ext cx="1808163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80" name="Equation" r:id="rId3" imgW="1193800" imgH="431800" progId="Equation.3">
                  <p:embed/>
                </p:oleObj>
              </mc:Choice>
              <mc:Fallback>
                <p:oleObj name="Equation" r:id="rId3" imgW="11938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362200"/>
                        <a:ext cx="1808163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789714"/>
              </p:ext>
            </p:extLst>
          </p:nvPr>
        </p:nvGraphicFramePr>
        <p:xfrm>
          <a:off x="5410200" y="4038600"/>
          <a:ext cx="344487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81" name="Equation" r:id="rId5" imgW="228600" imgH="203040" progId="Equation.3">
                  <p:embed/>
                </p:oleObj>
              </mc:Choice>
              <mc:Fallback>
                <p:oleObj name="Equation" r:id="rId5" imgW="22860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038600"/>
                        <a:ext cx="344487" cy="3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213427"/>
              </p:ext>
            </p:extLst>
          </p:nvPr>
        </p:nvGraphicFramePr>
        <p:xfrm>
          <a:off x="6096000" y="4648200"/>
          <a:ext cx="10334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82" name="Equation" r:id="rId7" imgW="685800" imgH="215640" progId="Equation.3">
                  <p:embed/>
                </p:oleObj>
              </mc:Choice>
              <mc:Fallback>
                <p:oleObj name="Equation" r:id="rId7" imgW="68580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48200"/>
                        <a:ext cx="1033462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933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</a:t>
            </a:r>
          </a:p>
          <a:p>
            <a:pPr lvl="1"/>
            <a:r>
              <a:rPr lang="en-US" dirty="0" smtClean="0"/>
              <a:t>There are many different ways of implementing FFT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D</a:t>
            </a:r>
            <a:r>
              <a:rPr lang="en-US" dirty="0" smtClean="0">
                <a:solidFill>
                  <a:srgbClr val="FF0000"/>
                </a:solidFill>
              </a:rPr>
              <a:t>ecimation in time</a:t>
            </a:r>
          </a:p>
          <a:p>
            <a:pPr lvl="2"/>
            <a:r>
              <a:rPr lang="en-US" dirty="0" smtClean="0"/>
              <a:t>Decimation in frequency</a:t>
            </a:r>
          </a:p>
          <a:p>
            <a:pPr lvl="2"/>
            <a:r>
              <a:rPr lang="en-US" dirty="0" smtClean="0"/>
              <a:t>…</a:t>
            </a:r>
          </a:p>
          <a:p>
            <a:pPr lvl="1"/>
            <a:r>
              <a:rPr lang="en-US" dirty="0" smtClean="0"/>
              <a:t>It utilizes the following property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31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97626"/>
              </p:ext>
            </p:extLst>
          </p:nvPr>
        </p:nvGraphicFramePr>
        <p:xfrm>
          <a:off x="838200" y="3200400"/>
          <a:ext cx="69786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13" name="Equation" r:id="rId3" imgW="3886200" imgH="495000" progId="Equation.3">
                  <p:embed/>
                </p:oleObj>
              </mc:Choice>
              <mc:Fallback>
                <p:oleObj name="Equation" r:id="rId3" imgW="3886200" imgH="495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00400"/>
                        <a:ext cx="69786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510684"/>
              </p:ext>
            </p:extLst>
          </p:nvPr>
        </p:nvGraphicFramePr>
        <p:xfrm>
          <a:off x="3733800" y="4267200"/>
          <a:ext cx="12319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14" name="Equation" r:id="rId5" imgW="685800" imgH="241200" progId="Equation.3">
                  <p:embed/>
                </p:oleObj>
              </mc:Choice>
              <mc:Fallback>
                <p:oleObj name="Equation" r:id="rId5" imgW="68580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267200"/>
                        <a:ext cx="1231900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422846"/>
              </p:ext>
            </p:extLst>
          </p:nvPr>
        </p:nvGraphicFramePr>
        <p:xfrm>
          <a:off x="3687763" y="5105400"/>
          <a:ext cx="13239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215" name="Equation" r:id="rId7" imgW="736560" imgH="241200" progId="Equation.3">
                  <p:embed/>
                </p:oleObj>
              </mc:Choice>
              <mc:Fallback>
                <p:oleObj name="Equation" r:id="rId7" imgW="7365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5105400"/>
                        <a:ext cx="1323975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44059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FFT: decimation in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32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590725"/>
              </p:ext>
            </p:extLst>
          </p:nvPr>
        </p:nvGraphicFramePr>
        <p:xfrm>
          <a:off x="2514600" y="1524000"/>
          <a:ext cx="315595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1" name="Equation" r:id="rId3" imgW="2082600" imgH="444240" progId="Equation.3">
                  <p:embed/>
                </p:oleObj>
              </mc:Choice>
              <mc:Fallback>
                <p:oleObj name="Equation" r:id="rId3" imgW="20826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24000"/>
                        <a:ext cx="315595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416534"/>
              </p:ext>
            </p:extLst>
          </p:nvPr>
        </p:nvGraphicFramePr>
        <p:xfrm>
          <a:off x="2236788" y="2362200"/>
          <a:ext cx="40989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2" name="Equation" r:id="rId5" imgW="2705040" imgH="431640" progId="Equation.3">
                  <p:embed/>
                </p:oleObj>
              </mc:Choice>
              <mc:Fallback>
                <p:oleObj name="Equation" r:id="rId5" imgW="270504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2362200"/>
                        <a:ext cx="40989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777609"/>
              </p:ext>
            </p:extLst>
          </p:nvPr>
        </p:nvGraphicFramePr>
        <p:xfrm>
          <a:off x="2133600" y="3733800"/>
          <a:ext cx="4310471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3" name="Equation" r:id="rId7" imgW="2400120" imgH="431640" progId="Equation.3">
                  <p:embed/>
                </p:oleObj>
              </mc:Choice>
              <mc:Fallback>
                <p:oleObj name="Equation" r:id="rId7" imgW="240012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733800"/>
                        <a:ext cx="4310471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5491050"/>
              </p:ext>
            </p:extLst>
          </p:nvPr>
        </p:nvGraphicFramePr>
        <p:xfrm>
          <a:off x="1905000" y="3253859"/>
          <a:ext cx="14605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4" name="Equation" r:id="rId9" imgW="812520" imgH="203040" progId="Equation.3">
                  <p:embed/>
                </p:oleObj>
              </mc:Choice>
              <mc:Fallback>
                <p:oleObj name="Equation" r:id="rId9" imgW="8125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253859"/>
                        <a:ext cx="14605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830325"/>
              </p:ext>
            </p:extLst>
          </p:nvPr>
        </p:nvGraphicFramePr>
        <p:xfrm>
          <a:off x="4724400" y="3264416"/>
          <a:ext cx="17795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5" name="Equation" r:id="rId11" imgW="990360" imgH="203040" progId="Equation.3">
                  <p:embed/>
                </p:oleObj>
              </mc:Choice>
              <mc:Fallback>
                <p:oleObj name="Equation" r:id="rId11" imgW="99036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264416"/>
                        <a:ext cx="17795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19200" y="3253859"/>
            <a:ext cx="42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let</a:t>
            </a:r>
            <a:endParaRPr lang="en-US" dirty="0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813673"/>
              </p:ext>
            </p:extLst>
          </p:nvPr>
        </p:nvGraphicFramePr>
        <p:xfrm>
          <a:off x="2133600" y="4419600"/>
          <a:ext cx="43100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6" name="Equation" r:id="rId13" imgW="2400120" imgH="431640" progId="Equation.3">
                  <p:embed/>
                </p:oleObj>
              </mc:Choice>
              <mc:Fallback>
                <p:oleObj name="Equation" r:id="rId13" imgW="240012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19600"/>
                        <a:ext cx="43100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243238"/>
              </p:ext>
            </p:extLst>
          </p:nvPr>
        </p:nvGraphicFramePr>
        <p:xfrm>
          <a:off x="3000375" y="5410200"/>
          <a:ext cx="2667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437" name="Equation" r:id="rId15" imgW="1485720" imgH="241200" progId="Equation.3">
                  <p:embed/>
                </p:oleObj>
              </mc:Choice>
              <mc:Fallback>
                <p:oleObj name="Equation" r:id="rId15" imgW="148572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5410200"/>
                        <a:ext cx="2667000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val 12"/>
          <p:cNvSpPr/>
          <p:nvPr/>
        </p:nvSpPr>
        <p:spPr>
          <a:xfrm>
            <a:off x="2971800" y="4343400"/>
            <a:ext cx="1524000" cy="838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733800" y="51054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029200" y="4343400"/>
            <a:ext cx="1524000" cy="838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6" idx="4"/>
          </p:cNvCxnSpPr>
          <p:nvPr/>
        </p:nvCxnSpPr>
        <p:spPr>
          <a:xfrm flipH="1">
            <a:off x="5334000" y="51816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840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FFT: decimation in time (cont’d)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lvl="1"/>
            <a:r>
              <a:rPr lang="en-US" i="1" dirty="0" smtClean="0"/>
              <a:t>G</a:t>
            </a:r>
            <a:r>
              <a:rPr lang="en-US" dirty="0" smtClean="0"/>
              <a:t>(</a:t>
            </a:r>
            <a:r>
              <a:rPr lang="en-US" i="1" dirty="0" smtClean="0"/>
              <a:t>k</a:t>
            </a:r>
            <a:r>
              <a:rPr lang="en-US" dirty="0" smtClean="0"/>
              <a:t>) is the </a:t>
            </a:r>
            <a:r>
              <a:rPr lang="en-US" i="1" dirty="0" smtClean="0"/>
              <a:t>N/2</a:t>
            </a:r>
            <a:r>
              <a:rPr lang="en-US" dirty="0" smtClean="0"/>
              <a:t>-point DFT of the even-indexed samples</a:t>
            </a:r>
          </a:p>
          <a:p>
            <a:pPr lvl="1"/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k</a:t>
            </a:r>
            <a:r>
              <a:rPr lang="en-US" dirty="0"/>
              <a:t>) is the </a:t>
            </a:r>
            <a:r>
              <a:rPr lang="en-US" i="1" dirty="0"/>
              <a:t>N/2</a:t>
            </a:r>
            <a:r>
              <a:rPr lang="en-US" dirty="0"/>
              <a:t>-point DFT of the </a:t>
            </a:r>
            <a:r>
              <a:rPr lang="en-US" dirty="0" smtClean="0"/>
              <a:t>odd-indexed samples</a:t>
            </a:r>
          </a:p>
          <a:p>
            <a:pPr lvl="1"/>
            <a:r>
              <a:rPr lang="en-US" dirty="0" smtClean="0"/>
              <a:t>Based on periodicity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Butterfly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33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164585"/>
              </p:ext>
            </p:extLst>
          </p:nvPr>
        </p:nvGraphicFramePr>
        <p:xfrm>
          <a:off x="2133600" y="1371600"/>
          <a:ext cx="431006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35" name="Equation" r:id="rId3" imgW="2400120" imgH="431640" progId="Equation.3">
                  <p:embed/>
                </p:oleObj>
              </mc:Choice>
              <mc:Fallback>
                <p:oleObj name="Equation" r:id="rId3" imgW="2400120" imgH="4316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371600"/>
                        <a:ext cx="431006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297994"/>
              </p:ext>
            </p:extLst>
          </p:nvPr>
        </p:nvGraphicFramePr>
        <p:xfrm>
          <a:off x="2971800" y="2295525"/>
          <a:ext cx="26670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36" name="Equation" r:id="rId5" imgW="1485720" imgH="241200" progId="Equation.3">
                  <p:embed/>
                </p:oleObj>
              </mc:Choice>
              <mc:Fallback>
                <p:oleObj name="Equation" r:id="rId5" imgW="1485720" imgH="241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95525"/>
                        <a:ext cx="2667000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2971800" y="1295400"/>
            <a:ext cx="1524000" cy="838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733800" y="20574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0" y="1295400"/>
            <a:ext cx="1524000" cy="8382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9" idx="4"/>
          </p:cNvCxnSpPr>
          <p:nvPr/>
        </p:nvCxnSpPr>
        <p:spPr>
          <a:xfrm flipH="1">
            <a:off x="5334000" y="21336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69143"/>
              </p:ext>
            </p:extLst>
          </p:nvPr>
        </p:nvGraphicFramePr>
        <p:xfrm>
          <a:off x="6629400" y="2667000"/>
          <a:ext cx="14605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37" name="Equation" r:id="rId7" imgW="812520" imgH="203040" progId="Equation.3">
                  <p:embed/>
                </p:oleObj>
              </mc:Choice>
              <mc:Fallback>
                <p:oleObj name="Equation" r:id="rId7" imgW="81252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667000"/>
                        <a:ext cx="14605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153604"/>
              </p:ext>
            </p:extLst>
          </p:nvPr>
        </p:nvGraphicFramePr>
        <p:xfrm>
          <a:off x="6629400" y="3048000"/>
          <a:ext cx="17795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38" name="Equation" r:id="rId9" imgW="990360" imgH="203040" progId="Equation.3">
                  <p:embed/>
                </p:oleObj>
              </mc:Choice>
              <mc:Fallback>
                <p:oleObj name="Equation" r:id="rId9" imgW="990360" imgH="203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048000"/>
                        <a:ext cx="17795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796164"/>
              </p:ext>
            </p:extLst>
          </p:nvPr>
        </p:nvGraphicFramePr>
        <p:xfrm>
          <a:off x="2262187" y="3733800"/>
          <a:ext cx="22336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39" name="Equation" r:id="rId11" imgW="1244520" imgH="203040" progId="Equation.3">
                  <p:embed/>
                </p:oleObj>
              </mc:Choice>
              <mc:Fallback>
                <p:oleObj name="Equation" r:id="rId11" imgW="124452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7" y="3733800"/>
                        <a:ext cx="2233613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060445"/>
              </p:ext>
            </p:extLst>
          </p:nvPr>
        </p:nvGraphicFramePr>
        <p:xfrm>
          <a:off x="5038725" y="3733800"/>
          <a:ext cx="230346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40" name="Equation" r:id="rId13" imgW="1282680" imgH="203040" progId="Equation.3">
                  <p:embed/>
                </p:oleObj>
              </mc:Choice>
              <mc:Fallback>
                <p:oleObj name="Equation" r:id="rId13" imgW="1282680" imgH="203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3733800"/>
                        <a:ext cx="2303463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28170"/>
              </p:ext>
            </p:extLst>
          </p:nvPr>
        </p:nvGraphicFramePr>
        <p:xfrm>
          <a:off x="2971800" y="4267200"/>
          <a:ext cx="3852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41" name="Equation" r:id="rId15" imgW="2145960" imgH="241200" progId="Equation.3">
                  <p:embed/>
                </p:oleObj>
              </mc:Choice>
              <mc:Fallback>
                <p:oleObj name="Equation" r:id="rId15" imgW="21459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267200"/>
                        <a:ext cx="3852862" cy="4254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3301" name="Picture 245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5105400"/>
            <a:ext cx="2867025" cy="1574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883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FFT: decimation in time</a:t>
            </a:r>
          </a:p>
          <a:p>
            <a:pPr lvl="1"/>
            <a:r>
              <a:rPr lang="en-US" dirty="0" smtClean="0"/>
              <a:t>The N-point DFT is decomposed into:</a:t>
            </a:r>
          </a:p>
          <a:p>
            <a:pPr lvl="2"/>
            <a:r>
              <a:rPr lang="en-US" dirty="0" smtClean="0"/>
              <a:t>2 N/2-point DFTs</a:t>
            </a:r>
          </a:p>
          <a:p>
            <a:pPr lvl="2"/>
            <a:r>
              <a:rPr lang="en-US" dirty="0" smtClean="0"/>
              <a:t>N complex multiplications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34</a:t>
            </a:fld>
            <a:endParaRPr lang="en-US" altLang="zh-CN" dirty="0" smtClean="0"/>
          </a:p>
        </p:txBody>
      </p:sp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362200"/>
            <a:ext cx="4648200" cy="438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492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FFT: decimation in time</a:t>
            </a:r>
          </a:p>
          <a:p>
            <a:pPr lvl="1"/>
            <a:r>
              <a:rPr lang="en-US" dirty="0" smtClean="0"/>
              <a:t>Each N/2-point DFT can be decomposed into</a:t>
            </a:r>
          </a:p>
          <a:p>
            <a:pPr lvl="2"/>
            <a:r>
              <a:rPr lang="en-US" dirty="0" smtClean="0"/>
              <a:t>2 N/4-point DFTs</a:t>
            </a:r>
          </a:p>
          <a:p>
            <a:pPr lvl="2"/>
            <a:r>
              <a:rPr lang="en-US" dirty="0" smtClean="0"/>
              <a:t>N/2 complex multiplications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35</a:t>
            </a:fld>
            <a:endParaRPr lang="en-US" altLang="zh-CN" dirty="0" smtClean="0"/>
          </a:p>
        </p:txBody>
      </p:sp>
      <p:pic>
        <p:nvPicPr>
          <p:cNvPr id="177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26062"/>
            <a:ext cx="3886200" cy="423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7113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FFT: Decimation in time</a:t>
            </a:r>
          </a:p>
          <a:p>
            <a:pPr lvl="1"/>
            <a:r>
              <a:rPr lang="en-US" dirty="0" smtClean="0"/>
              <a:t>Example 8-point FFT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r>
              <a:rPr lang="en-US" dirty="0" smtClean="0"/>
              <a:t>Each stage requires </a:t>
            </a:r>
            <a:r>
              <a:rPr lang="en-US" i="1" dirty="0" smtClean="0"/>
              <a:t>N</a:t>
            </a:r>
            <a:r>
              <a:rPr lang="en-US" dirty="0" smtClean="0"/>
              <a:t> complex multiplications</a:t>
            </a:r>
          </a:p>
          <a:p>
            <a:pPr lvl="1"/>
            <a:r>
              <a:rPr lang="en-US" dirty="0" smtClean="0"/>
              <a:t>There are                   stages</a:t>
            </a:r>
          </a:p>
          <a:p>
            <a:pPr lvl="1"/>
            <a:r>
              <a:rPr lang="en-US" dirty="0" smtClean="0"/>
              <a:t>Total number of complex multiplications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36</a:t>
            </a:fld>
            <a:endParaRPr lang="en-US" altLang="zh-CN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662229"/>
              </p:ext>
            </p:extLst>
          </p:nvPr>
        </p:nvGraphicFramePr>
        <p:xfrm>
          <a:off x="2438400" y="5562600"/>
          <a:ext cx="981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0" name="Equation" r:id="rId3" imgW="545760" imgH="215640" progId="Equation.3">
                  <p:embed/>
                </p:oleObj>
              </mc:Choice>
              <mc:Fallback>
                <p:oleObj name="Equation" r:id="rId3" imgW="545760" imgH="2156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562600"/>
                        <a:ext cx="9810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488353"/>
              </p:ext>
            </p:extLst>
          </p:nvPr>
        </p:nvGraphicFramePr>
        <p:xfrm>
          <a:off x="5284788" y="5867400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1" name="Equation" r:id="rId5" imgW="685800" imgH="215640" progId="Equation.3">
                  <p:embed/>
                </p:oleObj>
              </mc:Choice>
              <mc:Fallback>
                <p:oleObj name="Equation" r:id="rId5" imgW="68580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8" y="5867400"/>
                        <a:ext cx="1231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5155" name="Picture 5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676400"/>
            <a:ext cx="4724400" cy="341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7242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37</a:t>
            </a:fld>
            <a:endParaRPr lang="en-US" altLang="zh-CN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The Discrete Fourier Transform (DFT)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Properties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Fast Fourier Transform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 smtClean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Applications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 smtClean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indent="-457200">
              <a:spcBef>
                <a:spcPct val="20000"/>
              </a:spcBef>
              <a:defRPr/>
            </a:pPr>
            <a:endParaRPr lang="en-US" altLang="zh-CN" sz="2000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337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Dual-tone multi-frequency (DTMF)</a:t>
            </a:r>
          </a:p>
          <a:p>
            <a:pPr lvl="1"/>
            <a:r>
              <a:rPr lang="en-US" dirty="0" smtClean="0"/>
              <a:t>In the touch tone telephone, pressing each key on the telephone will generate a DTMF signal</a:t>
            </a:r>
          </a:p>
          <a:p>
            <a:pPr lvl="2"/>
            <a:r>
              <a:rPr lang="en-US" dirty="0" smtClean="0"/>
              <a:t>The signal contains two frequencies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38</a:t>
            </a:fld>
            <a:endParaRPr lang="en-US" altLang="zh-CN" dirty="0" smtClean="0"/>
          </a:p>
        </p:txBody>
      </p:sp>
      <p:pic>
        <p:nvPicPr>
          <p:cNvPr id="17612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382905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3207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DTMF</a:t>
            </a:r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 smtClean="0"/>
              <a:t>There is a DTMF signal with sampling frequency </a:t>
            </a:r>
            <a:r>
              <a:rPr lang="en-US" dirty="0" err="1" smtClean="0"/>
              <a:t>Fs</a:t>
            </a:r>
            <a:r>
              <a:rPr lang="en-US" dirty="0" smtClean="0"/>
              <a:t> = 8 KHz. The duration of the signal is 0.4 s. Performing FFT on the signal, and there are two peaks in the frequency domain at k = 308 and k = 484</a:t>
            </a:r>
          </a:p>
          <a:p>
            <a:pPr lvl="2"/>
            <a:r>
              <a:rPr lang="en-US" dirty="0" smtClean="0"/>
              <a:t>How many samples are in the signal?</a:t>
            </a:r>
          </a:p>
          <a:p>
            <a:pPr lvl="2"/>
            <a:r>
              <a:rPr lang="en-US" dirty="0" smtClean="0"/>
              <a:t>What is the resolution of the analog </a:t>
            </a:r>
            <a:r>
              <a:rPr lang="en-US" dirty="0" err="1" smtClean="0"/>
              <a:t>freuqency</a:t>
            </a:r>
            <a:r>
              <a:rPr lang="en-US" dirty="0" smtClean="0"/>
              <a:t> (in Hz)?</a:t>
            </a:r>
          </a:p>
          <a:p>
            <a:pPr lvl="2"/>
            <a:r>
              <a:rPr lang="en-US" dirty="0" smtClean="0"/>
              <a:t>What are the analog frequencies (in Hz) corresponding to the two peaks?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39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3773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DTMF</a:t>
            </a:r>
          </a:p>
          <a:p>
            <a:pPr lvl="1"/>
            <a:r>
              <a:rPr lang="en-US" dirty="0" smtClean="0"/>
              <a:t>Example</a:t>
            </a:r>
          </a:p>
          <a:p>
            <a:pPr lvl="2"/>
            <a:r>
              <a:rPr lang="en-US" dirty="0"/>
              <a:t>There is a DTMF signal with sampling frequency </a:t>
            </a:r>
            <a:r>
              <a:rPr lang="en-US" dirty="0" err="1"/>
              <a:t>Fs</a:t>
            </a:r>
            <a:r>
              <a:rPr lang="en-US" dirty="0"/>
              <a:t> = 8 KHz. The duration of the signal is </a:t>
            </a:r>
            <a:r>
              <a:rPr lang="en-US" dirty="0" smtClean="0"/>
              <a:t>0.5 </a:t>
            </a:r>
            <a:r>
              <a:rPr lang="en-US" dirty="0"/>
              <a:t>s</a:t>
            </a:r>
            <a:r>
              <a:rPr lang="en-US" dirty="0" smtClean="0"/>
              <a:t>. The signal is generated by pressing the key ‘9’. Performing </a:t>
            </a:r>
            <a:r>
              <a:rPr lang="en-US" dirty="0"/>
              <a:t>FFT on the </a:t>
            </a:r>
            <a:r>
              <a:rPr lang="en-US" dirty="0" smtClean="0"/>
              <a:t>signal. Which digital frequency indices (k) corresponding to the peaks in the frequency domain?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40</a:t>
            </a:fld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551252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6128</TotalTime>
  <Words>1282</Words>
  <Application>Microsoft Office PowerPoint</Application>
  <PresentationFormat>On-screen Show (4:3)</PresentationFormat>
  <Paragraphs>414</Paragraphs>
  <Slides>40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Office Theme</vt:lpstr>
      <vt:lpstr>Equation</vt:lpstr>
      <vt:lpstr>ELEG 5173L Digital Signal Processing  Ch. 4 The Discrete Fourier Transform</vt:lpstr>
      <vt:lpstr>OUTLINE</vt:lpstr>
      <vt:lpstr>DISCRETE FOURIER TRANSFORM (DFT)</vt:lpstr>
      <vt:lpstr>DISCRETE FOURIER TRANSFORM (DFT)</vt:lpstr>
      <vt:lpstr>DFT</vt:lpstr>
      <vt:lpstr>DFT</vt:lpstr>
      <vt:lpstr>DFT</vt:lpstr>
      <vt:lpstr>DFT</vt:lpstr>
      <vt:lpstr>DFT</vt:lpstr>
      <vt:lpstr>DFT</vt:lpstr>
      <vt:lpstr>DFT</vt:lpstr>
      <vt:lpstr>DFT</vt:lpstr>
      <vt:lpstr>DFT</vt:lpstr>
      <vt:lpstr>DFT</vt:lpstr>
      <vt:lpstr>OUTLINE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PROPERTIES</vt:lpstr>
      <vt:lpstr>OUTLINE</vt:lpstr>
      <vt:lpstr>FFT</vt:lpstr>
      <vt:lpstr>FFT</vt:lpstr>
      <vt:lpstr>FFT</vt:lpstr>
      <vt:lpstr>FFT</vt:lpstr>
      <vt:lpstr>FFT</vt:lpstr>
      <vt:lpstr>FFT</vt:lpstr>
      <vt:lpstr>FFT</vt:lpstr>
      <vt:lpstr>OUTLINE</vt:lpstr>
      <vt:lpstr>APPLICATIONS</vt:lpstr>
      <vt:lpstr>APPLICATIONS</vt:lpstr>
      <vt:lpstr>APPLICATIONS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558</cp:revision>
  <dcterms:created xsi:type="dcterms:W3CDTF">2006-08-16T00:00:00Z</dcterms:created>
  <dcterms:modified xsi:type="dcterms:W3CDTF">2013-03-25T19:24:37Z</dcterms:modified>
</cp:coreProperties>
</file>