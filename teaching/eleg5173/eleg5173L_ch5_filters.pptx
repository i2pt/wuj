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290" r:id="rId3"/>
    <p:sldId id="262" r:id="rId4"/>
    <p:sldId id="263" r:id="rId5"/>
    <p:sldId id="264" r:id="rId6"/>
    <p:sldId id="270" r:id="rId7"/>
    <p:sldId id="271" r:id="rId8"/>
    <p:sldId id="289" r:id="rId9"/>
    <p:sldId id="266" r:id="rId10"/>
    <p:sldId id="267" r:id="rId11"/>
    <p:sldId id="268" r:id="rId12"/>
    <p:sldId id="269" r:id="rId13"/>
    <p:sldId id="272" r:id="rId14"/>
    <p:sldId id="273" r:id="rId15"/>
    <p:sldId id="291" r:id="rId16"/>
    <p:sldId id="274" r:id="rId17"/>
    <p:sldId id="275" r:id="rId18"/>
    <p:sldId id="276" r:id="rId19"/>
    <p:sldId id="277" r:id="rId20"/>
    <p:sldId id="278" r:id="rId21"/>
    <p:sldId id="292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3" r:id="rId32"/>
    <p:sldId id="294" r:id="rId33"/>
    <p:sldId id="300" r:id="rId34"/>
    <p:sldId id="295" r:id="rId35"/>
    <p:sldId id="296" r:id="rId36"/>
    <p:sldId id="297" r:id="rId37"/>
    <p:sldId id="298" r:id="rId38"/>
    <p:sldId id="301" r:id="rId39"/>
    <p:sldId id="299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9696"/>
    <a:srgbClr val="000099"/>
    <a:srgbClr val="FFFF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10" autoAdjust="0"/>
    <p:restoredTop sz="73502" autoAdjust="0"/>
  </p:normalViewPr>
  <p:slideViewPr>
    <p:cSldViewPr>
      <p:cViewPr>
        <p:scale>
          <a:sx n="100" d="100"/>
          <a:sy n="100" d="100"/>
        </p:scale>
        <p:origin x="-1099" y="3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22.wmf"/><Relationship Id="rId5" Type="http://schemas.openxmlformats.org/officeDocument/2006/relationships/image" Target="../media/image28.wmf"/><Relationship Id="rId4" Type="http://schemas.openxmlformats.org/officeDocument/2006/relationships/image" Target="../media/image2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4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4" Type="http://schemas.openxmlformats.org/officeDocument/2006/relationships/image" Target="../media/image5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4/29/2013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99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1/(1-az^{-1})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 </a:t>
            </a:r>
            <a:r>
              <a:rPr lang="en-US" baseline="0" dirty="0" err="1" smtClean="0">
                <a:sym typeface="Wingdings" pitchFamily="2" charset="2"/>
              </a:rPr>
              <a:t>a^n</a:t>
            </a:r>
            <a:r>
              <a:rPr lang="en-US" baseline="0" dirty="0" smtClean="0">
                <a:sym typeface="Wingdings" pitchFamily="2" charset="2"/>
              </a:rPr>
              <a:t> u(n)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67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1/(1-1/4*z^(-2))</a:t>
            </a:r>
          </a:p>
          <a:p>
            <a:endParaRPr lang="en-US" dirty="0" smtClean="0"/>
          </a:p>
          <a:p>
            <a:r>
              <a:rPr lang="en-US" dirty="0" smtClean="0"/>
              <a:t>stable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2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H(z) = 1-2z^(-2)+5z^(-3)</a:t>
            </a:r>
          </a:p>
          <a:p>
            <a:r>
              <a:rPr lang="en-US" dirty="0" smtClean="0"/>
              <a:t>H(n) = delta(n) – 2 delta(n-2) + 5 delta(n-3)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78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5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W(z) = X(z)+1/2*W(z)/z </a:t>
            </a:r>
            <a:r>
              <a:rPr lang="en-US" dirty="0" smtClean="0">
                <a:sym typeface="Wingdings" pitchFamily="2" charset="2"/>
              </a:rPr>
              <a:t> W(z) = X(z)/(1-1/2*1/z)</a:t>
            </a:r>
            <a:endParaRPr lang="en-US" dirty="0" smtClean="0"/>
          </a:p>
          <a:p>
            <a:r>
              <a:rPr lang="en-US" dirty="0" smtClean="0"/>
              <a:t>Y(z)</a:t>
            </a:r>
            <a:r>
              <a:rPr lang="en-US" baseline="0" dirty="0" smtClean="0"/>
              <a:t> = 2*W(z)/z+2(3X(z)+</a:t>
            </a:r>
            <a:r>
              <a:rPr lang="en-US" baseline="0" smtClean="0"/>
              <a:t>W(z))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67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H(w)</a:t>
            </a:r>
            <a:r>
              <a:rPr lang="en-US" baseline="0" dirty="0" smtClean="0"/>
              <a:t> = \sum_{n=0}^{N/2-1} h(n)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(-j2 pi n w) + \sum_{n=N/2}^{N-1} h(n)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(-j2 pi n w)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= \sum_{n=0}^{N/2-1} h(n)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(-j2 pi n w) + \sum_{m=0}^{N/2-1} h(N-1-m)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(-j2 pi (N-1-m) w)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= \sum_{n=0}^{N/2-1} h(n)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(-j2 pi n w) + \sum_{n=0}^{N/2-1} h(n)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(j2 pi n w)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(-j2 pi (N-1) w)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= \sum_{n=0}^{N/2-1} h(n) [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(-j2 pi n w) +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(j2 pi n w)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(-j2 pi (N-1) w) ]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= 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 2 pi (N-1)/2 w) \sum_{n=0}^{N/2-1} h(n) [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(-j2 pi n w)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(j2 pi (N-1)/2 w) +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(j2 pi n w)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(-j2 pi (N-1)/2 w)]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=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 2 pi (N-1)/2 w) \sum_{n=0}^{N/2-1} h(n)  2 </a:t>
            </a:r>
            <a:r>
              <a:rPr lang="en-US" baseline="0" dirty="0" err="1" smtClean="0"/>
              <a:t>cos</a:t>
            </a:r>
            <a:r>
              <a:rPr lang="en-US" baseline="0" dirty="0" smtClean="0"/>
              <a:t> (2 pi (n+(N-1)/2) w)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Phase(H(w)) =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(-j 2 pi (</a:t>
            </a:r>
            <a:r>
              <a:rPr lang="en-US" baseline="0" smtClean="0"/>
              <a:t>N-1)/2 </a:t>
            </a:r>
            <a:r>
              <a:rPr lang="en-US" baseline="0" dirty="0" smtClean="0"/>
              <a:t>w)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96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0.2sinc(0.2n)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69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Omega = </a:t>
            </a:r>
            <a:r>
              <a:rPr lang="en-US" dirty="0" err="1" smtClean="0"/>
              <a:t>wT</a:t>
            </a:r>
            <a:endParaRPr lang="en-US" dirty="0" smtClean="0"/>
          </a:p>
          <a:p>
            <a:r>
              <a:rPr lang="en-US" dirty="0" smtClean="0"/>
              <a:t>Z = </a:t>
            </a:r>
            <a:r>
              <a:rPr lang="en-US" dirty="0" err="1" smtClean="0"/>
              <a:t>exp</a:t>
            </a:r>
            <a:r>
              <a:rPr lang="en-US" dirty="0" smtClean="0"/>
              <a:t>(j</a:t>
            </a:r>
            <a:r>
              <a:rPr lang="en-US" baseline="0" dirty="0" smtClean="0"/>
              <a:t> Omega) =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(j w T) = </a:t>
            </a:r>
            <a:r>
              <a:rPr lang="en-US" baseline="0" dirty="0" err="1" smtClean="0"/>
              <a:t>exp</a:t>
            </a:r>
            <a:r>
              <a:rPr lang="en-US" baseline="0" dirty="0" smtClean="0"/>
              <a:t>(</a:t>
            </a:r>
            <a:r>
              <a:rPr lang="en-US" baseline="0" dirty="0" err="1" smtClean="0"/>
              <a:t>sT</a:t>
            </a:r>
            <a:r>
              <a:rPr lang="en-US" baseline="0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60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png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3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2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8.wmf"/><Relationship Id="rId11" Type="http://schemas.openxmlformats.org/officeDocument/2006/relationships/image" Target="../media/image41.png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43.png"/><Relationship Id="rId4" Type="http://schemas.openxmlformats.org/officeDocument/2006/relationships/image" Target="../media/image4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4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3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5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52.wmf"/><Relationship Id="rId4" Type="http://schemas.openxmlformats.org/officeDocument/2006/relationships/oleObject" Target="../embeddings/oleObject4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5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48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70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59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77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78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5173L Digital Signal Processing </a:t>
            </a:r>
            <a:br>
              <a:rPr lang="en-US" sz="2400" dirty="0" smtClean="0"/>
            </a:br>
            <a:r>
              <a:rPr lang="en-US" sz="2400" dirty="0" smtClean="0"/>
              <a:t>Ch. 5 Digital Filters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FIR and IIR Filters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Filter Structures</a:t>
            </a:r>
          </a:p>
          <a:p>
            <a:pPr lvl="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Analog Filters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FIR Filter Design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IIR Filter Design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83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 V.S. IIR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LTI discrete-time system</a:t>
            </a:r>
          </a:p>
          <a:p>
            <a:pPr lvl="1"/>
            <a:r>
              <a:rPr lang="en-US" dirty="0" smtClean="0"/>
              <a:t>Difference equation in time domain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Transfer function in z-domain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044360"/>
              </p:ext>
            </p:extLst>
          </p:nvPr>
        </p:nvGraphicFramePr>
        <p:xfrm>
          <a:off x="1981200" y="1752600"/>
          <a:ext cx="389096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38" name="Equation" r:id="rId3" imgW="2286000" imgH="431640" progId="Equation.3">
                  <p:embed/>
                </p:oleObj>
              </mc:Choice>
              <mc:Fallback>
                <p:oleObj name="Equation" r:id="rId3" imgW="22860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52600"/>
                        <a:ext cx="3890962" cy="7334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589874"/>
              </p:ext>
            </p:extLst>
          </p:nvPr>
        </p:nvGraphicFramePr>
        <p:xfrm>
          <a:off x="1960563" y="3505200"/>
          <a:ext cx="39338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39" name="Equation" r:id="rId5" imgW="2311200" imgH="431640" progId="Equation.3">
                  <p:embed/>
                </p:oleObj>
              </mc:Choice>
              <mc:Fallback>
                <p:oleObj name="Equation" r:id="rId5" imgW="23112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3505200"/>
                        <a:ext cx="39338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810203"/>
              </p:ext>
            </p:extLst>
          </p:nvPr>
        </p:nvGraphicFramePr>
        <p:xfrm>
          <a:off x="2522538" y="4343400"/>
          <a:ext cx="2940050" cy="142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40" name="Equation" r:id="rId7" imgW="1726920" imgH="838080" progId="Equation.3">
                  <p:embed/>
                </p:oleObj>
              </mc:Choice>
              <mc:Fallback>
                <p:oleObj name="Equation" r:id="rId7" imgW="1726920" imgH="838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4343400"/>
                        <a:ext cx="2940050" cy="1423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360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 V.S. IIR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Finite impulse response (FIR)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difference equation in the time domain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Transfer function in the Z-domain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Impulse response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impulse response is of </a:t>
            </a:r>
            <a:r>
              <a:rPr lang="en-US" dirty="0" smtClean="0">
                <a:solidFill>
                  <a:srgbClr val="FF0000"/>
                </a:solidFill>
              </a:rPr>
              <a:t>finite</a:t>
            </a:r>
            <a:r>
              <a:rPr lang="en-US" dirty="0" smtClean="0"/>
              <a:t> length </a:t>
            </a:r>
            <a:r>
              <a:rPr lang="en-US" dirty="0" smtClean="0">
                <a:sym typeface="Wingdings" pitchFamily="2" charset="2"/>
              </a:rPr>
              <a:t> finite impulse response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659746"/>
              </p:ext>
            </p:extLst>
          </p:nvPr>
        </p:nvGraphicFramePr>
        <p:xfrm>
          <a:off x="2819400" y="1752600"/>
          <a:ext cx="21399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51" name="Equation" r:id="rId3" imgW="1257120" imgH="431640" progId="Equation.3">
                  <p:embed/>
                </p:oleObj>
              </mc:Choice>
              <mc:Fallback>
                <p:oleObj name="Equation" r:id="rId3" imgW="125712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752600"/>
                        <a:ext cx="2139950" cy="7334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504148"/>
              </p:ext>
            </p:extLst>
          </p:nvPr>
        </p:nvGraphicFramePr>
        <p:xfrm>
          <a:off x="2667000" y="3124200"/>
          <a:ext cx="25717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52" name="Equation" r:id="rId5" imgW="1511280" imgH="431640" progId="Equation.3">
                  <p:embed/>
                </p:oleObj>
              </mc:Choice>
              <mc:Fallback>
                <p:oleObj name="Equation" r:id="rId5" imgW="151128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124200"/>
                        <a:ext cx="2571750" cy="7334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844317"/>
              </p:ext>
            </p:extLst>
          </p:nvPr>
        </p:nvGraphicFramePr>
        <p:xfrm>
          <a:off x="2895600" y="4343400"/>
          <a:ext cx="21621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53" name="Equation" r:id="rId7" imgW="1269720" imgH="228600" progId="Equation.3">
                  <p:embed/>
                </p:oleObj>
              </mc:Choice>
              <mc:Fallback>
                <p:oleObj name="Equation" r:id="rId7" imgW="12697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343400"/>
                        <a:ext cx="2162175" cy="3873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813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 V.S. IIR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Infinite impulse response (IIR)</a:t>
            </a:r>
          </a:p>
          <a:p>
            <a:pPr lvl="1"/>
            <a:r>
              <a:rPr lang="en-US" dirty="0" smtClean="0"/>
              <a:t>Difference equation in the time domain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Transfer function in the z-domain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Impulse response can be obtained through inverse-z transform, and it has </a:t>
            </a:r>
            <a:r>
              <a:rPr lang="en-US" dirty="0" smtClean="0">
                <a:solidFill>
                  <a:srgbClr val="FF0000"/>
                </a:solidFill>
              </a:rPr>
              <a:t>infinite</a:t>
            </a:r>
            <a:r>
              <a:rPr lang="en-US" dirty="0" smtClean="0"/>
              <a:t> length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044360"/>
              </p:ext>
            </p:extLst>
          </p:nvPr>
        </p:nvGraphicFramePr>
        <p:xfrm>
          <a:off x="1981200" y="1752600"/>
          <a:ext cx="389096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32" name="Equation" r:id="rId4" imgW="2286000" imgH="431640" progId="Equation.3">
                  <p:embed/>
                </p:oleObj>
              </mc:Choice>
              <mc:Fallback>
                <p:oleObj name="Equation" r:id="rId4" imgW="22860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52600"/>
                        <a:ext cx="3890963" cy="7334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088100"/>
              </p:ext>
            </p:extLst>
          </p:nvPr>
        </p:nvGraphicFramePr>
        <p:xfrm>
          <a:off x="2514600" y="2971800"/>
          <a:ext cx="2940050" cy="142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33" name="Equation" r:id="rId6" imgW="1726920" imgH="838080" progId="Equation.3">
                  <p:embed/>
                </p:oleObj>
              </mc:Choice>
              <mc:Fallback>
                <p:oleObj name="Equation" r:id="rId6" imgW="1726920" imgH="838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971800"/>
                        <a:ext cx="2940050" cy="1423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5926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 V.S. IIR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impulse response of the following system. Is it a FIR or IIR filter? Is it stable?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283499"/>
              </p:ext>
            </p:extLst>
          </p:nvPr>
        </p:nvGraphicFramePr>
        <p:xfrm>
          <a:off x="2743200" y="1752600"/>
          <a:ext cx="250825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37" name="Equation" r:id="rId4" imgW="1473120" imgH="393480" progId="Equation.3">
                  <p:embed/>
                </p:oleObj>
              </mc:Choice>
              <mc:Fallback>
                <p:oleObj name="Equation" r:id="rId4" imgW="147312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52600"/>
                        <a:ext cx="250825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4465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 V.S. IIR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impulse response of the following system. Is it a FIR or IIR filter? Is it stable?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455884"/>
              </p:ext>
            </p:extLst>
          </p:nvPr>
        </p:nvGraphicFramePr>
        <p:xfrm>
          <a:off x="2190750" y="2057400"/>
          <a:ext cx="35687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59" name="Equation" r:id="rId4" imgW="2095200" imgH="203040" progId="Equation.3">
                  <p:embed/>
                </p:oleObj>
              </mc:Choice>
              <mc:Fallback>
                <p:oleObj name="Equation" r:id="rId4" imgW="20952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2057400"/>
                        <a:ext cx="356870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790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FIR and IIR Filters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Filter Structures</a:t>
            </a:r>
          </a:p>
          <a:p>
            <a:pPr lvl="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Analog Filters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FIR Filter Design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IIR Filter Design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837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STRUCTURE: FIR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FIR filter can be implemented in different structures</a:t>
            </a:r>
          </a:p>
          <a:p>
            <a:pPr lvl="1"/>
            <a:r>
              <a:rPr lang="en-US" dirty="0" smtClean="0"/>
              <a:t>Direct-form structure</a:t>
            </a:r>
          </a:p>
          <a:p>
            <a:pPr lvl="1"/>
            <a:r>
              <a:rPr lang="en-US" dirty="0" smtClean="0"/>
              <a:t>Cascade-form structure</a:t>
            </a:r>
          </a:p>
          <a:p>
            <a:pPr lvl="1"/>
            <a:r>
              <a:rPr lang="en-US" dirty="0" smtClean="0"/>
              <a:t>Lattice structure</a:t>
            </a:r>
          </a:p>
          <a:p>
            <a:pPr lvl="1"/>
            <a:r>
              <a:rPr lang="en-US" dirty="0" smtClean="0"/>
              <a:t>Frequency sampling</a:t>
            </a:r>
          </a:p>
          <a:p>
            <a:pPr lvl="1"/>
            <a:r>
              <a:rPr lang="en-US" dirty="0" smtClean="0"/>
              <a:t>……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1615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STRUCTURE: FIR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FIR: Direct-form</a:t>
            </a:r>
          </a:p>
          <a:p>
            <a:pPr lvl="1"/>
            <a:r>
              <a:rPr lang="en-US" dirty="0" smtClean="0"/>
              <a:t>Also called tapped-delay-line filter, or transversal filter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467168"/>
              </p:ext>
            </p:extLst>
          </p:nvPr>
        </p:nvGraphicFramePr>
        <p:xfrm>
          <a:off x="2755900" y="1676400"/>
          <a:ext cx="244316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02" name="Equation" r:id="rId3" imgW="1434960" imgH="431640" progId="Equation.3">
                  <p:embed/>
                </p:oleObj>
              </mc:Choice>
              <mc:Fallback>
                <p:oleObj name="Equation" r:id="rId3" imgW="143496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1676400"/>
                        <a:ext cx="2443163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1944" name="Picture 8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0" y="2743200"/>
            <a:ext cx="6521450" cy="1804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200" y="4914383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Order of the filter: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418516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STRUCTURE: FIR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FIR: Cascade-form</a:t>
            </a:r>
          </a:p>
          <a:p>
            <a:pPr lvl="1"/>
            <a:r>
              <a:rPr lang="en-US" dirty="0" smtClean="0"/>
              <a:t>Factor the transfer function into the product of second-order FIR systems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Where 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579768"/>
              </p:ext>
            </p:extLst>
          </p:nvPr>
        </p:nvGraphicFramePr>
        <p:xfrm>
          <a:off x="2438400" y="1752600"/>
          <a:ext cx="306863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3" name="Equation" r:id="rId3" imgW="1803240" imgH="215640" progId="Equation.3">
                  <p:embed/>
                </p:oleObj>
              </mc:Choice>
              <mc:Fallback>
                <p:oleObj name="Equation" r:id="rId3" imgW="180324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752600"/>
                        <a:ext cx="306863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318495"/>
              </p:ext>
            </p:extLst>
          </p:nvPr>
        </p:nvGraphicFramePr>
        <p:xfrm>
          <a:off x="2667000" y="2570163"/>
          <a:ext cx="29162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4" name="Equation" r:id="rId5" imgW="1714320" imgH="241200" progId="Equation.3">
                  <p:embed/>
                </p:oleObj>
              </mc:Choice>
              <mc:Fallback>
                <p:oleObj name="Equation" r:id="rId5" imgW="171432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570163"/>
                        <a:ext cx="291623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042" name="Picture 16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276600"/>
            <a:ext cx="5962650" cy="243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897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STRUCTURE: FIR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Draw the direct-form and cascade-form structures of the following filter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117807"/>
              </p:ext>
            </p:extLst>
          </p:nvPr>
        </p:nvGraphicFramePr>
        <p:xfrm>
          <a:off x="2308225" y="1676400"/>
          <a:ext cx="35020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80" name="Equation" r:id="rId3" imgW="2057400" imgH="228600" progId="Equation.3">
                  <p:embed/>
                </p:oleObj>
              </mc:Choice>
              <mc:Fallback>
                <p:oleObj name="Equation" r:id="rId3" imgW="20574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5" y="1676400"/>
                        <a:ext cx="35020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8095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STRUCTURE: IIR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IIR filter can be implemented in various structures</a:t>
            </a:r>
          </a:p>
          <a:p>
            <a:pPr lvl="1"/>
            <a:r>
              <a:rPr lang="en-US" dirty="0" smtClean="0"/>
              <a:t>Direct-form I</a:t>
            </a:r>
          </a:p>
          <a:p>
            <a:pPr lvl="1"/>
            <a:r>
              <a:rPr lang="en-US" dirty="0" smtClean="0"/>
              <a:t>Direct-form II</a:t>
            </a:r>
          </a:p>
          <a:p>
            <a:pPr lvl="1"/>
            <a:r>
              <a:rPr lang="en-US" dirty="0" smtClean="0"/>
              <a:t>Transposed structure</a:t>
            </a:r>
          </a:p>
          <a:p>
            <a:pPr lvl="1"/>
            <a:r>
              <a:rPr lang="en-US" dirty="0" smtClean="0"/>
              <a:t>Cascade-form structure</a:t>
            </a:r>
          </a:p>
          <a:p>
            <a:pPr lvl="1"/>
            <a:r>
              <a:rPr lang="en-US" dirty="0" smtClean="0"/>
              <a:t>Parallel-form structure</a:t>
            </a:r>
          </a:p>
          <a:p>
            <a:pPr lvl="1"/>
            <a:r>
              <a:rPr lang="en-US" dirty="0" smtClean="0"/>
              <a:t>Lattice structure</a:t>
            </a:r>
          </a:p>
          <a:p>
            <a:pPr lvl="1"/>
            <a:r>
              <a:rPr lang="en-US" dirty="0" smtClean="0"/>
              <a:t>……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5991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STRUCTURE: IIR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IIR: Direct-form I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20746"/>
              </p:ext>
            </p:extLst>
          </p:nvPr>
        </p:nvGraphicFramePr>
        <p:xfrm>
          <a:off x="1524000" y="2286000"/>
          <a:ext cx="17938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338" name="Equation" r:id="rId3" imgW="1054080" imgH="431640" progId="Equation.3">
                  <p:embed/>
                </p:oleObj>
              </mc:Choice>
              <mc:Fallback>
                <p:oleObj name="Equation" r:id="rId3" imgW="105408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86000"/>
                        <a:ext cx="179387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056587"/>
              </p:ext>
            </p:extLst>
          </p:nvPr>
        </p:nvGraphicFramePr>
        <p:xfrm>
          <a:off x="4876800" y="2286000"/>
          <a:ext cx="2205037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339" name="Equation" r:id="rId5" imgW="1295280" imgH="622080" progId="Equation.3">
                  <p:embed/>
                </p:oleObj>
              </mc:Choice>
              <mc:Fallback>
                <p:oleObj name="Equation" r:id="rId5" imgW="1295280" imgH="622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286000"/>
                        <a:ext cx="2205037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478692"/>
              </p:ext>
            </p:extLst>
          </p:nvPr>
        </p:nvGraphicFramePr>
        <p:xfrm>
          <a:off x="2590800" y="990600"/>
          <a:ext cx="3609975" cy="142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340" name="Equation" r:id="rId7" imgW="2120760" imgH="838080" progId="Equation.3">
                  <p:embed/>
                </p:oleObj>
              </mc:Choice>
              <mc:Fallback>
                <p:oleObj name="Equation" r:id="rId7" imgW="2120760" imgH="838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990600"/>
                        <a:ext cx="3609975" cy="142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3674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STRUCTURE: IIR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IIR: Direct-form I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87500"/>
            <a:ext cx="5892800" cy="514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672795"/>
              </p:ext>
            </p:extLst>
          </p:nvPr>
        </p:nvGraphicFramePr>
        <p:xfrm>
          <a:off x="685800" y="1905000"/>
          <a:ext cx="17938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05" name="Equation" r:id="rId4" imgW="1054080" imgH="431640" progId="Equation.3">
                  <p:embed/>
                </p:oleObj>
              </mc:Choice>
              <mc:Fallback>
                <p:oleObj name="Equation" r:id="rId4" imgW="105408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05000"/>
                        <a:ext cx="179387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687037"/>
              </p:ext>
            </p:extLst>
          </p:nvPr>
        </p:nvGraphicFramePr>
        <p:xfrm>
          <a:off x="609600" y="3200400"/>
          <a:ext cx="2205038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06" name="Equation" r:id="rId6" imgW="1295280" imgH="622080" progId="Equation.3">
                  <p:embed/>
                </p:oleObj>
              </mc:Choice>
              <mc:Fallback>
                <p:oleObj name="Equation" r:id="rId6" imgW="1295280" imgH="6220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200400"/>
                        <a:ext cx="2205038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8117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STRUCTURE: IIR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IIR: Direct-form II</a:t>
            </a:r>
          </a:p>
          <a:p>
            <a:pPr lvl="1"/>
            <a:r>
              <a:rPr lang="en-US" dirty="0" smtClean="0"/>
              <a:t>Put              before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Difference equation of 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2"/>
            <a:r>
              <a:rPr lang="en-US" dirty="0" smtClean="0"/>
              <a:t>Difference equation of 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r>
              <a:rPr lang="en-US" dirty="0" smtClean="0"/>
              <a:t>Both involve the delay of w(n)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78774"/>
              </p:ext>
            </p:extLst>
          </p:nvPr>
        </p:nvGraphicFramePr>
        <p:xfrm>
          <a:off x="2971800" y="1752600"/>
          <a:ext cx="21177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96" name="Equation" r:id="rId3" imgW="1244520" imgH="215640" progId="Equation.3">
                  <p:embed/>
                </p:oleObj>
              </mc:Choice>
              <mc:Fallback>
                <p:oleObj name="Equation" r:id="rId3" imgW="124452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752600"/>
                        <a:ext cx="2117725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527077"/>
              </p:ext>
            </p:extLst>
          </p:nvPr>
        </p:nvGraphicFramePr>
        <p:xfrm>
          <a:off x="1828800" y="1219200"/>
          <a:ext cx="71278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97" name="Equation" r:id="rId5" imgW="419040" imgH="215640" progId="Equation.3">
                  <p:embed/>
                </p:oleObj>
              </mc:Choice>
              <mc:Fallback>
                <p:oleObj name="Equation" r:id="rId5" imgW="41904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19200"/>
                        <a:ext cx="71278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070564"/>
              </p:ext>
            </p:extLst>
          </p:nvPr>
        </p:nvGraphicFramePr>
        <p:xfrm>
          <a:off x="3211513" y="1219200"/>
          <a:ext cx="69056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98" name="Equation" r:id="rId7" imgW="406080" imgH="215640" progId="Equation.3">
                  <p:embed/>
                </p:oleObj>
              </mc:Choice>
              <mc:Fallback>
                <p:oleObj name="Equation" r:id="rId7" imgW="40608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3" y="1219200"/>
                        <a:ext cx="69056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3298"/>
              </p:ext>
            </p:extLst>
          </p:nvPr>
        </p:nvGraphicFramePr>
        <p:xfrm>
          <a:off x="4495800" y="2133600"/>
          <a:ext cx="2205038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99" name="Equation" r:id="rId9" imgW="1295280" imgH="622080" progId="Equation.3">
                  <p:embed/>
                </p:oleObj>
              </mc:Choice>
              <mc:Fallback>
                <p:oleObj name="Equation" r:id="rId9" imgW="1295280" imgH="6220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133600"/>
                        <a:ext cx="2205038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829991"/>
              </p:ext>
            </p:extLst>
          </p:nvPr>
        </p:nvGraphicFramePr>
        <p:xfrm>
          <a:off x="2362200" y="3048000"/>
          <a:ext cx="30480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800" name="Equation" r:id="rId11" imgW="1790640" imgH="431640" progId="Equation.3">
                  <p:embed/>
                </p:oleObj>
              </mc:Choice>
              <mc:Fallback>
                <p:oleObj name="Equation" r:id="rId11" imgW="179064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048000"/>
                        <a:ext cx="30480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685233"/>
              </p:ext>
            </p:extLst>
          </p:nvPr>
        </p:nvGraphicFramePr>
        <p:xfrm>
          <a:off x="4495800" y="3733800"/>
          <a:ext cx="17938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801" name="Equation" r:id="rId13" imgW="1054080" imgH="431640" progId="Equation.3">
                  <p:embed/>
                </p:oleObj>
              </mc:Choice>
              <mc:Fallback>
                <p:oleObj name="Equation" r:id="rId13" imgW="105408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733800"/>
                        <a:ext cx="179387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957231"/>
              </p:ext>
            </p:extLst>
          </p:nvPr>
        </p:nvGraphicFramePr>
        <p:xfrm>
          <a:off x="2362200" y="4495800"/>
          <a:ext cx="218281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802" name="Equation" r:id="rId15" imgW="1282680" imgH="431640" progId="Equation.3">
                  <p:embed/>
                </p:oleObj>
              </mc:Choice>
              <mc:Fallback>
                <p:oleObj name="Equation" r:id="rId15" imgW="128268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495800"/>
                        <a:ext cx="2182813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0319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STRUCTURE: IIR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IIR: Direct-form II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76400"/>
            <a:ext cx="5353149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2668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STRUCTURE: IIR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IIR: Transposed structure</a:t>
            </a:r>
          </a:p>
          <a:p>
            <a:pPr lvl="1"/>
            <a:r>
              <a:rPr lang="en-US" dirty="0" smtClean="0"/>
              <a:t>Transposition theorem: For a given filter structure, if we apply the following transposition: (1) reverse the direction of all signal flows; (2) replace all the adders with intersections, and vice versa; and (3) interchange the input and output, then the transposed system is the same as the original system.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048000"/>
            <a:ext cx="3286125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429000"/>
            <a:ext cx="3575050" cy="1650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0279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STRUCTURE: IIR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IIR: transposed structure of direct-form II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219200"/>
            <a:ext cx="2851150" cy="51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28800"/>
            <a:ext cx="4282519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7467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Draw the direct-form I, direct-form II, and transposed direct-form II of the filter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430015"/>
              </p:ext>
            </p:extLst>
          </p:nvPr>
        </p:nvGraphicFramePr>
        <p:xfrm>
          <a:off x="2130425" y="1677988"/>
          <a:ext cx="380365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32" name="Equation" r:id="rId3" imgW="2234880" imgH="393480" progId="Equation.3">
                  <p:embed/>
                </p:oleObj>
              </mc:Choice>
              <mc:Fallback>
                <p:oleObj name="Equation" r:id="rId3" imgW="223488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1677988"/>
                        <a:ext cx="3803650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914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difference equation and transfer function of the filter</a:t>
            </a:r>
          </a:p>
          <a:p>
            <a:pPr lvl="1"/>
            <a:r>
              <a:rPr lang="en-US" dirty="0" smtClean="0"/>
              <a:t>Represent the filter in direct-form II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524000"/>
            <a:ext cx="3057525" cy="1416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8703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FIR and IIR Filters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Filter Structures</a:t>
            </a:r>
          </a:p>
          <a:p>
            <a:pPr lvl="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Analog Filters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FIR Filter Design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IIR Filter Design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2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ANALOG 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Ideal filter</a:t>
            </a:r>
          </a:p>
          <a:p>
            <a:pPr lvl="1"/>
            <a:r>
              <a:rPr lang="en-US" dirty="0" smtClean="0"/>
              <a:t>Ideal analog filter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Ideal digital filter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In practice, we cannot implement filter characteristics with abrupt transitions</a:t>
            </a:r>
          </a:p>
          <a:p>
            <a:pPr lvl="2"/>
            <a:r>
              <a:rPr lang="en-US" dirty="0" smtClean="0"/>
              <a:t>E.g. the impulse response of ideal low pass filter is </a:t>
            </a:r>
            <a:r>
              <a:rPr lang="en-US" dirty="0" err="1" smtClean="0"/>
              <a:t>sinc</a:t>
            </a:r>
            <a:r>
              <a:rPr lang="en-US" dirty="0" smtClean="0"/>
              <a:t>(t), which is non-causal.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3272726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1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447800"/>
            <a:ext cx="3962400" cy="136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1316" name="Picture 4"/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11" y="3383514"/>
            <a:ext cx="4515104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1317" name="Picture 5"/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505200"/>
            <a:ext cx="3942046" cy="792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1348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ANALOG </a:t>
            </a:r>
            <a:r>
              <a:rPr lang="en-US" dirty="0"/>
              <a:t>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Practical low pass filter</a:t>
            </a:r>
          </a:p>
          <a:p>
            <a:pPr lvl="1"/>
            <a:r>
              <a:rPr lang="en-US" dirty="0" err="1" smtClean="0"/>
              <a:t>Passband</a:t>
            </a:r>
            <a:r>
              <a:rPr lang="en-US" dirty="0" smtClean="0"/>
              <a:t> cutoff frequency:</a:t>
            </a:r>
          </a:p>
          <a:p>
            <a:pPr lvl="1"/>
            <a:r>
              <a:rPr lang="en-US" dirty="0" smtClean="0"/>
              <a:t>Stop band cutoff frequency: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865543"/>
              </p:ext>
            </p:extLst>
          </p:nvPr>
        </p:nvGraphicFramePr>
        <p:xfrm>
          <a:off x="4038600" y="1219200"/>
          <a:ext cx="3460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31" name="Equation" r:id="rId3" imgW="203040" imgH="241200" progId="Equation.3">
                  <p:embed/>
                </p:oleObj>
              </mc:Choice>
              <mc:Fallback>
                <p:oleObj name="Equation" r:id="rId3" imgW="20304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219200"/>
                        <a:ext cx="3460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172855"/>
              </p:ext>
            </p:extLst>
          </p:nvPr>
        </p:nvGraphicFramePr>
        <p:xfrm>
          <a:off x="4202113" y="1533525"/>
          <a:ext cx="3238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32" name="Equation" r:id="rId5" imgW="190440" imgH="228600" progId="Equation.3">
                  <p:embed/>
                </p:oleObj>
              </mc:Choice>
              <mc:Fallback>
                <p:oleObj name="Equation" r:id="rId5" imgW="1904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1533525"/>
                        <a:ext cx="32385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801564"/>
              </p:ext>
            </p:extLst>
          </p:nvPr>
        </p:nvGraphicFramePr>
        <p:xfrm>
          <a:off x="2189163" y="2057400"/>
          <a:ext cx="317341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33" name="Equation" r:id="rId7" imgW="1866600" imgH="253800" progId="Equation.3">
                  <p:embed/>
                </p:oleObj>
              </mc:Choice>
              <mc:Fallback>
                <p:oleObj name="Equation" r:id="rId7" imgW="1866600" imgH="253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2057400"/>
                        <a:ext cx="3173412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728876"/>
              </p:ext>
            </p:extLst>
          </p:nvPr>
        </p:nvGraphicFramePr>
        <p:xfrm>
          <a:off x="3048000" y="2590800"/>
          <a:ext cx="20732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434" name="Equation" r:id="rId9" imgW="1218960" imgH="253800" progId="Equation.3">
                  <p:embed/>
                </p:oleObj>
              </mc:Choice>
              <mc:Fallback>
                <p:oleObj name="Equation" r:id="rId9" imgW="1218960" imgH="253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90800"/>
                        <a:ext cx="20732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0234" name="Picture 18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124200"/>
            <a:ext cx="4948237" cy="3058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3122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ANALOG 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Butterworth filter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782359"/>
              </p:ext>
            </p:extLst>
          </p:nvPr>
        </p:nvGraphicFramePr>
        <p:xfrm>
          <a:off x="2693988" y="1252538"/>
          <a:ext cx="1900237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68" name="Equation" r:id="rId3" imgW="1117440" imgH="393480" progId="Equation.3">
                  <p:embed/>
                </p:oleObj>
              </mc:Choice>
              <mc:Fallback>
                <p:oleObj name="Equation" r:id="rId3" imgW="111744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1252538"/>
                        <a:ext cx="1900237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1118" name="Picture 4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50" y="2209800"/>
            <a:ext cx="5454650" cy="392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2478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ANALOG 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Chebyshev</a:t>
            </a:r>
            <a:r>
              <a:rPr lang="en-US" dirty="0" smtClean="0"/>
              <a:t> Filter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768529"/>
              </p:ext>
            </p:extLst>
          </p:nvPr>
        </p:nvGraphicFramePr>
        <p:xfrm>
          <a:off x="2419350" y="1339850"/>
          <a:ext cx="23971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76" name="Equation" r:id="rId3" imgW="1409400" imgH="431640" progId="Equation.3">
                  <p:embed/>
                </p:oleObj>
              </mc:Choice>
              <mc:Fallback>
                <p:oleObj name="Equation" r:id="rId3" imgW="14094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1339850"/>
                        <a:ext cx="23971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271606"/>
              </p:ext>
            </p:extLst>
          </p:nvPr>
        </p:nvGraphicFramePr>
        <p:xfrm>
          <a:off x="1905000" y="2286000"/>
          <a:ext cx="386556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77" name="Equation" r:id="rId5" imgW="2273040" imgH="482400" progId="Equation.3">
                  <p:embed/>
                </p:oleObj>
              </mc:Choice>
              <mc:Fallback>
                <p:oleObj name="Equation" r:id="rId5" imgW="227304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86000"/>
                        <a:ext cx="386556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2177" name="Picture 8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581400"/>
            <a:ext cx="6477000" cy="261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1402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FIR and IIR Filters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Filter Structures</a:t>
            </a:r>
          </a:p>
          <a:p>
            <a:pPr lvl="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Analog Filters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FIR Filter Design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IIR Filter Design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075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 FILTER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Linear phase filter</a:t>
            </a:r>
          </a:p>
          <a:p>
            <a:pPr lvl="1"/>
            <a:r>
              <a:rPr lang="en-US" dirty="0" smtClean="0"/>
              <a:t>A filter is called a linear phase filter if its transfer function can be expressed as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Where A is a constant</a:t>
            </a:r>
          </a:p>
          <a:p>
            <a:pPr lvl="2"/>
            <a:r>
              <a:rPr lang="en-US" dirty="0" smtClean="0"/>
              <a:t>The phase:                   , is a linear function of </a:t>
            </a:r>
          </a:p>
          <a:p>
            <a:pPr lvl="1"/>
            <a:r>
              <a:rPr lang="en-US" dirty="0" smtClean="0"/>
              <a:t>Example </a:t>
            </a:r>
          </a:p>
          <a:p>
            <a:pPr lvl="2"/>
            <a:r>
              <a:rPr lang="en-US" dirty="0" smtClean="0"/>
              <a:t>Is the following filter a linear phase filter?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123519"/>
              </p:ext>
            </p:extLst>
          </p:nvPr>
        </p:nvGraphicFramePr>
        <p:xfrm>
          <a:off x="2743200" y="1905000"/>
          <a:ext cx="22447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7" name="Equation" r:id="rId3" imgW="1320480" imgH="228600" progId="Equation.3">
                  <p:embed/>
                </p:oleObj>
              </mc:Choice>
              <mc:Fallback>
                <p:oleObj name="Equation" r:id="rId3" imgW="13204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05000"/>
                        <a:ext cx="22447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105897"/>
              </p:ext>
            </p:extLst>
          </p:nvPr>
        </p:nvGraphicFramePr>
        <p:xfrm>
          <a:off x="2895600" y="2895600"/>
          <a:ext cx="1014412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8" name="Equation" r:id="rId5" imgW="596880" imgH="177480" progId="Equation.3">
                  <p:embed/>
                </p:oleObj>
              </mc:Choice>
              <mc:Fallback>
                <p:oleObj name="Equation" r:id="rId5" imgW="59688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95600"/>
                        <a:ext cx="1014412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281069"/>
              </p:ext>
            </p:extLst>
          </p:nvPr>
        </p:nvGraphicFramePr>
        <p:xfrm>
          <a:off x="6096000" y="2895600"/>
          <a:ext cx="280987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9" name="Equation" r:id="rId7" imgW="164880" imgH="164880" progId="Equation.3">
                  <p:embed/>
                </p:oleObj>
              </mc:Choice>
              <mc:Fallback>
                <p:oleObj name="Equation" r:id="rId7" imgW="164880" imgH="164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895600"/>
                        <a:ext cx="280987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903423"/>
              </p:ext>
            </p:extLst>
          </p:nvPr>
        </p:nvGraphicFramePr>
        <p:xfrm>
          <a:off x="2819400" y="3886200"/>
          <a:ext cx="170021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0" name="Equation" r:id="rId9" imgW="1002960" imgH="228600" progId="Equation.3">
                  <p:embed/>
                </p:oleObj>
              </mc:Choice>
              <mc:Fallback>
                <p:oleObj name="Equation" r:id="rId9" imgW="10029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86200"/>
                        <a:ext cx="1700213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8078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 FILTER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Linear phase filter (Cont’d)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A linear phase filter introduces the same amount of delay, </a:t>
            </a:r>
            <a:r>
              <a:rPr lang="en-US" i="1" dirty="0" smtClean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, to all the frequencies</a:t>
            </a:r>
            <a:r>
              <a:rPr lang="en-US" dirty="0"/>
              <a:t> </a:t>
            </a:r>
            <a:r>
              <a:rPr lang="en-US" dirty="0" smtClean="0">
                <a:solidFill>
                  <a:srgbClr val="FF0000"/>
                </a:solidFill>
              </a:rPr>
              <a:t>(the same </a:t>
            </a:r>
            <a:r>
              <a:rPr lang="en-US" dirty="0" smtClean="0">
                <a:solidFill>
                  <a:srgbClr val="00B050"/>
                </a:solidFill>
              </a:rPr>
              <a:t>group delay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lvl="2"/>
            <a:r>
              <a:rPr lang="en-US" dirty="0" smtClean="0"/>
              <a:t>If  the phase is not linear, then frequency components at different frequencies will experience different delays </a:t>
            </a:r>
            <a:r>
              <a:rPr lang="en-US" dirty="0" smtClean="0">
                <a:sym typeface="Wingdings" pitchFamily="2" charset="2"/>
              </a:rPr>
              <a:t> phase distortion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 subset of FIR filters can have linear phase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IIR filters do not have linear phase  IIR filter will introduce phase distortion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Not all FIR filters have linear phase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907365"/>
              </p:ext>
            </p:extLst>
          </p:nvPr>
        </p:nvGraphicFramePr>
        <p:xfrm>
          <a:off x="2514600" y="1295400"/>
          <a:ext cx="22447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19" name="Equation" r:id="rId3" imgW="1320480" imgH="228600" progId="Equation.3">
                  <p:embed/>
                </p:oleObj>
              </mc:Choice>
              <mc:Fallback>
                <p:oleObj name="Equation" r:id="rId3" imgW="13204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95400"/>
                        <a:ext cx="22447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4900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 FILTER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Linear phase filter</a:t>
            </a:r>
          </a:p>
          <a:p>
            <a:pPr lvl="1"/>
            <a:r>
              <a:rPr lang="en-US" dirty="0" smtClean="0"/>
              <a:t>If a length-</a:t>
            </a:r>
            <a:r>
              <a:rPr lang="en-US" i="1" dirty="0" smtClean="0"/>
              <a:t>N</a:t>
            </a:r>
            <a:r>
              <a:rPr lang="en-US" dirty="0" smtClean="0"/>
              <a:t> FIR filter is symmetric with the middle of the filter, i.e.</a:t>
            </a:r>
          </a:p>
          <a:p>
            <a:pPr lvl="1"/>
            <a:endParaRPr lang="en-US" dirty="0"/>
          </a:p>
          <a:p>
            <a:pPr lvl="2"/>
            <a:r>
              <a:rPr lang="en-US" dirty="0" smtClean="0"/>
              <a:t>Then the filter has linear phase</a:t>
            </a:r>
          </a:p>
          <a:p>
            <a:pPr lvl="1"/>
            <a:r>
              <a:rPr lang="en-US" dirty="0" smtClean="0"/>
              <a:t>Example</a:t>
            </a: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     h(n) = [1 2 3 3 2 1], h(n) = [1 2 3 4 3 2 1], h(n) = [2, 0, 0, 2]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Proof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57423"/>
              </p:ext>
            </p:extLst>
          </p:nvPr>
        </p:nvGraphicFramePr>
        <p:xfrm>
          <a:off x="2895600" y="1600200"/>
          <a:ext cx="1985962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36" name="Equation" r:id="rId4" imgW="1168200" imgH="203040" progId="Equation.3">
                  <p:embed/>
                </p:oleObj>
              </mc:Choice>
              <mc:Fallback>
                <p:oleObj name="Equation" r:id="rId4" imgW="116820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00200"/>
                        <a:ext cx="1985962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9003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 FILTER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229600" cy="5600700"/>
          </a:xfrm>
        </p:spPr>
        <p:txBody>
          <a:bodyPr/>
          <a:lstStyle/>
          <a:p>
            <a:r>
              <a:rPr lang="en-US" dirty="0" smtClean="0"/>
              <a:t>FIR filter design with window</a:t>
            </a:r>
          </a:p>
          <a:p>
            <a:pPr lvl="1"/>
            <a:r>
              <a:rPr lang="en-US" dirty="0" smtClean="0"/>
              <a:t>1. Find the desired frequency response (DTFT)</a:t>
            </a:r>
          </a:p>
          <a:p>
            <a:pPr lvl="1"/>
            <a:r>
              <a:rPr lang="en-US" dirty="0" smtClean="0"/>
              <a:t>2. Perform Inverse DTFT, find the impulse response</a:t>
            </a:r>
          </a:p>
          <a:p>
            <a:pPr lvl="2"/>
            <a:r>
              <a:rPr lang="en-US" dirty="0" smtClean="0"/>
              <a:t>The impulse response usually has infinite length</a:t>
            </a:r>
          </a:p>
          <a:p>
            <a:pPr lvl="1"/>
            <a:r>
              <a:rPr lang="en-US" dirty="0" smtClean="0"/>
              <a:t>3. truncate            to finite length by multiplying it with a window function</a:t>
            </a:r>
          </a:p>
          <a:p>
            <a:pPr lvl="2"/>
            <a:r>
              <a:rPr lang="en-US" dirty="0" smtClean="0"/>
              <a:t>E.g. rectangular window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r>
              <a:rPr lang="en-US" dirty="0" smtClean="0"/>
              <a:t>Different windows can be used to reduce the negative effects of truncation</a:t>
            </a:r>
          </a:p>
          <a:p>
            <a:pPr lvl="3"/>
            <a:r>
              <a:rPr lang="en-US" dirty="0" smtClean="0"/>
              <a:t>Rectangular window, Hamming window, </a:t>
            </a:r>
            <a:r>
              <a:rPr lang="en-US" dirty="0" err="1" smtClean="0"/>
              <a:t>Hanning</a:t>
            </a:r>
            <a:r>
              <a:rPr lang="en-US" dirty="0" smtClean="0"/>
              <a:t> window, Bartlett window, Kaiser window, etc.</a:t>
            </a:r>
          </a:p>
          <a:p>
            <a:pPr lvl="3"/>
            <a:r>
              <a:rPr lang="en-US" dirty="0" smtClean="0"/>
              <a:t>Hamming window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536797"/>
              </p:ext>
            </p:extLst>
          </p:nvPr>
        </p:nvGraphicFramePr>
        <p:xfrm>
          <a:off x="5943600" y="1219200"/>
          <a:ext cx="79851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09" name="Equation" r:id="rId3" imgW="469800" imgH="228600" progId="Equation.3">
                  <p:embed/>
                </p:oleObj>
              </mc:Choice>
              <mc:Fallback>
                <p:oleObj name="Equation" r:id="rId3" imgW="4698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219200"/>
                        <a:ext cx="798513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055710"/>
              </p:ext>
            </p:extLst>
          </p:nvPr>
        </p:nvGraphicFramePr>
        <p:xfrm>
          <a:off x="6324600" y="1600200"/>
          <a:ext cx="6477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10" name="Equation" r:id="rId5" imgW="380880" imgH="228600" progId="Equation.3">
                  <p:embed/>
                </p:oleObj>
              </mc:Choice>
              <mc:Fallback>
                <p:oleObj name="Equation" r:id="rId5" imgW="38088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600200"/>
                        <a:ext cx="6477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481769"/>
              </p:ext>
            </p:extLst>
          </p:nvPr>
        </p:nvGraphicFramePr>
        <p:xfrm>
          <a:off x="2438400" y="2209800"/>
          <a:ext cx="6477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11" name="Equation" r:id="rId7" imgW="380880" imgH="228600" progId="Equation.3">
                  <p:embed/>
                </p:oleObj>
              </mc:Choice>
              <mc:Fallback>
                <p:oleObj name="Equation" r:id="rId7" imgW="3808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09800"/>
                        <a:ext cx="6477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457493"/>
              </p:ext>
            </p:extLst>
          </p:nvPr>
        </p:nvGraphicFramePr>
        <p:xfrm>
          <a:off x="8305800" y="2286000"/>
          <a:ext cx="56197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12" name="Equation" r:id="rId9" imgW="330120" imgH="203040" progId="Equation.3">
                  <p:embed/>
                </p:oleObj>
              </mc:Choice>
              <mc:Fallback>
                <p:oleObj name="Equation" r:id="rId9" imgW="33012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2286000"/>
                        <a:ext cx="561975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911432"/>
              </p:ext>
            </p:extLst>
          </p:nvPr>
        </p:nvGraphicFramePr>
        <p:xfrm>
          <a:off x="4572000" y="2590800"/>
          <a:ext cx="2681287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13" name="Equation" r:id="rId11" imgW="1574640" imgH="457200" progId="Equation.3">
                  <p:embed/>
                </p:oleObj>
              </mc:Choice>
              <mc:Fallback>
                <p:oleObj name="Equation" r:id="rId11" imgW="157464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590800"/>
                        <a:ext cx="2681287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497750"/>
              </p:ext>
            </p:extLst>
          </p:nvPr>
        </p:nvGraphicFramePr>
        <p:xfrm>
          <a:off x="2590800" y="3657600"/>
          <a:ext cx="30019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14" name="Equation" r:id="rId13" imgW="1765080" imgH="228600" progId="Equation.3">
                  <p:embed/>
                </p:oleObj>
              </mc:Choice>
              <mc:Fallback>
                <p:oleObj name="Equation" r:id="rId13" imgW="17650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657600"/>
                        <a:ext cx="3001962" cy="3905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790574"/>
              </p:ext>
            </p:extLst>
          </p:nvPr>
        </p:nvGraphicFramePr>
        <p:xfrm>
          <a:off x="2743200" y="5715000"/>
          <a:ext cx="46926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15" name="Equation" r:id="rId15" imgW="2755800" imgH="609480" progId="Equation.3">
                  <p:embed/>
                </p:oleObj>
              </mc:Choice>
              <mc:Fallback>
                <p:oleObj name="Equation" r:id="rId15" imgW="2755800" imgH="609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715000"/>
                        <a:ext cx="4692650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3255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 FILTER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Design a 9-point FIR filter to approximate a low pass filter with cut-off frequency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923230"/>
              </p:ext>
            </p:extLst>
          </p:nvPr>
        </p:nvGraphicFramePr>
        <p:xfrm>
          <a:off x="2362200" y="1524000"/>
          <a:ext cx="11445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82" name="Equation" r:id="rId4" imgW="672840" imgH="228600" progId="Equation.3">
                  <p:embed/>
                </p:oleObj>
              </mc:Choice>
              <mc:Fallback>
                <p:oleObj name="Equation" r:id="rId4" imgW="6728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524000"/>
                        <a:ext cx="11445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996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 FILTER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sp>
        <p:nvSpPr>
          <p:cNvPr id="6" name="Rectangle 5"/>
          <p:cNvSpPr/>
          <p:nvPr/>
        </p:nvSpPr>
        <p:spPr>
          <a:xfrm>
            <a:off x="2057400" y="1524000"/>
            <a:ext cx="6096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8B22"/>
                </a:solidFill>
                <a:latin typeface="Courier New"/>
              </a:rPr>
              <a:t>% order of the filter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N = 9;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lang="en-US" dirty="0">
                <a:solidFill>
                  <a:srgbClr val="228B22"/>
                </a:solidFill>
                <a:latin typeface="Courier New"/>
              </a:rPr>
              <a:t>% cut-off frequency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/>
              </a:rPr>
              <a:t>Omega_c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= 0.2*pi;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n = [-(N-1)/2:(N-1)/2];</a:t>
            </a:r>
          </a:p>
          <a:p>
            <a:r>
              <a:rPr lang="en-US" dirty="0">
                <a:solidFill>
                  <a:srgbClr val="228B22"/>
                </a:solidFill>
                <a:latin typeface="Courier New"/>
              </a:rPr>
              <a:t>% impulse response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/>
              </a:rPr>
              <a:t>hdn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Omega_c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/pi*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sinc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Omega_c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/pi*n);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lang="en-US" dirty="0">
                <a:solidFill>
                  <a:srgbClr val="228B22"/>
                </a:solidFill>
                <a:latin typeface="Courier New"/>
              </a:rPr>
              <a:t>%</a:t>
            </a:r>
            <a:r>
              <a:rPr lang="en-US" dirty="0" err="1">
                <a:solidFill>
                  <a:srgbClr val="228B22"/>
                </a:solidFill>
                <a:latin typeface="Courier New"/>
              </a:rPr>
              <a:t>wd</a:t>
            </a:r>
            <a:r>
              <a:rPr lang="en-US" dirty="0">
                <a:solidFill>
                  <a:srgbClr val="228B22"/>
                </a:solidFill>
                <a:latin typeface="Courier New"/>
              </a:rPr>
              <a:t> = window(@</a:t>
            </a:r>
            <a:r>
              <a:rPr lang="en-US" dirty="0" err="1">
                <a:solidFill>
                  <a:srgbClr val="228B22"/>
                </a:solidFill>
                <a:latin typeface="Courier New"/>
              </a:rPr>
              <a:t>rectwin</a:t>
            </a:r>
            <a:r>
              <a:rPr lang="en-US" dirty="0">
                <a:solidFill>
                  <a:srgbClr val="228B22"/>
                </a:solidFill>
                <a:latin typeface="Courier New"/>
              </a:rPr>
              <a:t>, </a:t>
            </a:r>
            <a:r>
              <a:rPr lang="en-US" dirty="0" smtClean="0">
                <a:solidFill>
                  <a:srgbClr val="228B22"/>
                </a:solidFill>
                <a:latin typeface="Courier New"/>
              </a:rPr>
              <a:t>N).';</a:t>
            </a:r>
            <a:endParaRPr lang="en-US" dirty="0">
              <a:solidFill>
                <a:srgbClr val="228B22"/>
              </a:solidFill>
              <a:latin typeface="Courier New"/>
            </a:endParaRPr>
          </a:p>
          <a:p>
            <a:r>
              <a:rPr lang="en-US" dirty="0" err="1">
                <a:solidFill>
                  <a:srgbClr val="000000"/>
                </a:solidFill>
                <a:latin typeface="Courier New"/>
              </a:rPr>
              <a:t>wd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= window(@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hamming, N).';</a:t>
            </a:r>
            <a:endParaRPr lang="en-US" dirty="0">
              <a:solidFill>
                <a:srgbClr val="000000"/>
              </a:solidFill>
              <a:latin typeface="Courier New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/>
              </a:rPr>
              <a:t>hn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hdn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.*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wd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62275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FIR and IIR Filters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Filter Structures</a:t>
            </a:r>
          </a:p>
          <a:p>
            <a:pPr lvl="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Analog Filters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969696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FIR Filter Design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IIR Filter Design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824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IIR FILTER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IIR Filter design methods</a:t>
            </a:r>
          </a:p>
          <a:p>
            <a:pPr lvl="1"/>
            <a:r>
              <a:rPr lang="en-US" dirty="0" smtClean="0"/>
              <a:t>1. impulse invariance</a:t>
            </a:r>
          </a:p>
          <a:p>
            <a:pPr lvl="1"/>
            <a:r>
              <a:rPr lang="en-US" dirty="0" smtClean="0"/>
              <a:t>2. bilinear transformation</a:t>
            </a:r>
          </a:p>
          <a:p>
            <a:r>
              <a:rPr lang="en-US" dirty="0" smtClean="0"/>
              <a:t>Method 1: Impulse invariance</a:t>
            </a:r>
          </a:p>
          <a:p>
            <a:pPr lvl="1"/>
            <a:r>
              <a:rPr lang="en-US" dirty="0" smtClean="0"/>
              <a:t>Directly sample the impulse response of an analog filter</a:t>
            </a:r>
          </a:p>
          <a:p>
            <a:pPr lvl="1"/>
            <a:r>
              <a:rPr lang="en-US" dirty="0" smtClean="0"/>
              <a:t>If the impulse response and frequency response of the analog filter are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Then the impulse response and DTFT of the IIR filter are 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3"/>
            <a:r>
              <a:rPr lang="en-US" dirty="0" smtClean="0"/>
              <a:t>It will cause spectrum aliasing if the analog filter has a bandwidth larger than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955991"/>
              </p:ext>
            </p:extLst>
          </p:nvPr>
        </p:nvGraphicFramePr>
        <p:xfrm>
          <a:off x="2514600" y="3048000"/>
          <a:ext cx="5826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36" name="Equation" r:id="rId3" imgW="342720" imgH="228600" progId="Equation.3">
                  <p:embed/>
                </p:oleObj>
              </mc:Choice>
              <mc:Fallback>
                <p:oleObj name="Equation" r:id="rId3" imgW="3427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48000"/>
                        <a:ext cx="58261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535058"/>
              </p:ext>
            </p:extLst>
          </p:nvPr>
        </p:nvGraphicFramePr>
        <p:xfrm>
          <a:off x="4191000" y="3048000"/>
          <a:ext cx="7762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37" name="Equation" r:id="rId5" imgW="457200" imgH="228600" progId="Equation.3">
                  <p:embed/>
                </p:oleObj>
              </mc:Choice>
              <mc:Fallback>
                <p:oleObj name="Equation" r:id="rId5" imgW="457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048000"/>
                        <a:ext cx="77628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376313"/>
              </p:ext>
            </p:extLst>
          </p:nvPr>
        </p:nvGraphicFramePr>
        <p:xfrm>
          <a:off x="2971800" y="3962400"/>
          <a:ext cx="150971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38" name="Equation" r:id="rId7" imgW="888840" imgH="228600" progId="Equation.3">
                  <p:embed/>
                </p:oleObj>
              </mc:Choice>
              <mc:Fallback>
                <p:oleObj name="Equation" r:id="rId7" imgW="8888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962400"/>
                        <a:ext cx="1509713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080395"/>
              </p:ext>
            </p:extLst>
          </p:nvPr>
        </p:nvGraphicFramePr>
        <p:xfrm>
          <a:off x="2667000" y="4495800"/>
          <a:ext cx="30622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39" name="Equation" r:id="rId9" imgW="1803240" imgH="431640" progId="Equation.3">
                  <p:embed/>
                </p:oleObj>
              </mc:Choice>
              <mc:Fallback>
                <p:oleObj name="Equation" r:id="rId9" imgW="180324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95800"/>
                        <a:ext cx="306228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624124"/>
              </p:ext>
            </p:extLst>
          </p:nvPr>
        </p:nvGraphicFramePr>
        <p:xfrm>
          <a:off x="4572000" y="5791200"/>
          <a:ext cx="4095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440" name="Equation" r:id="rId11" imgW="241200" imgH="393480" progId="Equation.3">
                  <p:embed/>
                </p:oleObj>
              </mc:Choice>
              <mc:Fallback>
                <p:oleObj name="Equation" r:id="rId11" imgW="24120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791200"/>
                        <a:ext cx="4095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22451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IIR FILTER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Method 1: Impulse invariance</a:t>
            </a:r>
          </a:p>
          <a:p>
            <a:pPr lvl="1"/>
            <a:r>
              <a:rPr lang="en-US" dirty="0" smtClean="0"/>
              <a:t>Analog filter:</a:t>
            </a:r>
          </a:p>
          <a:p>
            <a:pPr lvl="1"/>
            <a:r>
              <a:rPr lang="en-US" dirty="0" smtClean="0"/>
              <a:t>Digital filter:  </a:t>
            </a:r>
          </a:p>
          <a:p>
            <a:pPr lvl="1"/>
            <a:r>
              <a:rPr lang="en-US" dirty="0" smtClean="0"/>
              <a:t>Relationship between s and 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945805"/>
              </p:ext>
            </p:extLst>
          </p:nvPr>
        </p:nvGraphicFramePr>
        <p:xfrm>
          <a:off x="2819400" y="1295400"/>
          <a:ext cx="3238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94" name="Equation" r:id="rId4" imgW="190440" imgH="164880" progId="Equation.3">
                  <p:embed/>
                </p:oleObj>
              </mc:Choice>
              <mc:Fallback>
                <p:oleObj name="Equation" r:id="rId4" imgW="190440" imgH="164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295400"/>
                        <a:ext cx="3238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755764"/>
              </p:ext>
            </p:extLst>
          </p:nvPr>
        </p:nvGraphicFramePr>
        <p:xfrm>
          <a:off x="3352800" y="1219200"/>
          <a:ext cx="12319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95" name="Equation" r:id="rId6" imgW="723600" imgH="190440" progId="Equation.3">
                  <p:embed/>
                </p:oleObj>
              </mc:Choice>
              <mc:Fallback>
                <p:oleObj name="Equation" r:id="rId6" imgW="723600" imgH="1904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219200"/>
                        <a:ext cx="123190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221499"/>
              </p:ext>
            </p:extLst>
          </p:nvPr>
        </p:nvGraphicFramePr>
        <p:xfrm>
          <a:off x="2808288" y="1568450"/>
          <a:ext cx="34607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96" name="Equation" r:id="rId8" imgW="203040" imgH="203040" progId="Equation.3">
                  <p:embed/>
                </p:oleObj>
              </mc:Choice>
              <mc:Fallback>
                <p:oleObj name="Equation" r:id="rId8" imgW="20304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1568450"/>
                        <a:ext cx="34607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367192"/>
              </p:ext>
            </p:extLst>
          </p:nvPr>
        </p:nvGraphicFramePr>
        <p:xfrm>
          <a:off x="3352800" y="1524000"/>
          <a:ext cx="77946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97" name="Equation" r:id="rId10" imgW="457200" imgH="203040" progId="Equation.3">
                  <p:embed/>
                </p:oleObj>
              </mc:Choice>
              <mc:Fallback>
                <p:oleObj name="Equation" r:id="rId10" imgW="45720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524000"/>
                        <a:ext cx="779463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035096"/>
              </p:ext>
            </p:extLst>
          </p:nvPr>
        </p:nvGraphicFramePr>
        <p:xfrm>
          <a:off x="2581275" y="2505075"/>
          <a:ext cx="12525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98" name="Equation" r:id="rId12" imgW="736560" imgH="203040" progId="Equation.3">
                  <p:embed/>
                </p:oleObj>
              </mc:Choice>
              <mc:Fallback>
                <p:oleObj name="Equation" r:id="rId12" imgW="73656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2505075"/>
                        <a:ext cx="1252538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043983"/>
              </p:ext>
            </p:extLst>
          </p:nvPr>
        </p:nvGraphicFramePr>
        <p:xfrm>
          <a:off x="2698750" y="2962275"/>
          <a:ext cx="118745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99" name="Equation" r:id="rId14" imgW="698400" imgH="393480" progId="Equation.3">
                  <p:embed/>
                </p:oleObj>
              </mc:Choice>
              <mc:Fallback>
                <p:oleObj name="Equation" r:id="rId14" imgW="69840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2962275"/>
                        <a:ext cx="118745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1921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IIR FILTER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Method 2: Bilinear transformation</a:t>
            </a:r>
          </a:p>
          <a:p>
            <a:pPr lvl="1"/>
            <a:r>
              <a:rPr lang="en-US" dirty="0" smtClean="0"/>
              <a:t>Use bilinear transformation to overcome aliasing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Procedure:</a:t>
            </a:r>
          </a:p>
          <a:p>
            <a:pPr lvl="2"/>
            <a:r>
              <a:rPr lang="en-US" dirty="0" smtClean="0"/>
              <a:t>1. From the digital filter specifications, find the corresponding analog filter specifications by using the bilinear transformation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2. Find the corresponding analog filter </a:t>
            </a:r>
          </a:p>
          <a:p>
            <a:pPr lvl="2"/>
            <a:r>
              <a:rPr lang="en-US" dirty="0" smtClean="0"/>
              <a:t>3. Find the equivalent digital filter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962515"/>
              </p:ext>
            </p:extLst>
          </p:nvPr>
        </p:nvGraphicFramePr>
        <p:xfrm>
          <a:off x="2819400" y="1676400"/>
          <a:ext cx="889000" cy="465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11" name="Equation" r:id="rId3" imgW="799920" imgH="419040" progId="Equation.3">
                  <p:embed/>
                </p:oleObj>
              </mc:Choice>
              <mc:Fallback>
                <p:oleObj name="Equation" r:id="rId3" imgW="799920" imgH="419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9400" y="1676400"/>
                        <a:ext cx="889000" cy="465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587169"/>
              </p:ext>
            </p:extLst>
          </p:nvPr>
        </p:nvGraphicFramePr>
        <p:xfrm>
          <a:off x="4356100" y="1676400"/>
          <a:ext cx="10160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12" name="Equation" r:id="rId5" imgW="914400" imgH="419040" progId="Equation.3">
                  <p:embed/>
                </p:oleObj>
              </mc:Choice>
              <mc:Fallback>
                <p:oleObj name="Equation" r:id="rId5" imgW="91440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676400"/>
                        <a:ext cx="10160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227176"/>
              </p:ext>
            </p:extLst>
          </p:nvPr>
        </p:nvGraphicFramePr>
        <p:xfrm>
          <a:off x="3276600" y="2300288"/>
          <a:ext cx="8890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13" name="Equation" r:id="rId7" imgW="799920" imgH="393480" progId="Equation.3">
                  <p:embed/>
                </p:oleObj>
              </mc:Choice>
              <mc:Fallback>
                <p:oleObj name="Equation" r:id="rId7" imgW="79992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300288"/>
                        <a:ext cx="8890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955409"/>
              </p:ext>
            </p:extLst>
          </p:nvPr>
        </p:nvGraphicFramePr>
        <p:xfrm>
          <a:off x="3505200" y="3886200"/>
          <a:ext cx="8890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14" name="Equation" r:id="rId9" imgW="799920" imgH="393480" progId="Equation.3">
                  <p:embed/>
                </p:oleObj>
              </mc:Choice>
              <mc:Fallback>
                <p:oleObj name="Equation" r:id="rId9" imgW="79992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886200"/>
                        <a:ext cx="8890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795435"/>
              </p:ext>
            </p:extLst>
          </p:nvPr>
        </p:nvGraphicFramePr>
        <p:xfrm>
          <a:off x="5773738" y="4511675"/>
          <a:ext cx="466725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15" name="Equation" r:id="rId11" imgW="419040" imgH="228600" progId="Equation.3">
                  <p:embed/>
                </p:oleObj>
              </mc:Choice>
              <mc:Fallback>
                <p:oleObj name="Equation" r:id="rId11" imgW="4190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8" y="4511675"/>
                        <a:ext cx="466725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436316"/>
              </p:ext>
            </p:extLst>
          </p:nvPr>
        </p:nvGraphicFramePr>
        <p:xfrm>
          <a:off x="3452813" y="5334000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16" name="Equation" r:id="rId13" imgW="1333440" imgH="368280" progId="Equation.3">
                  <p:embed/>
                </p:oleObj>
              </mc:Choice>
              <mc:Fallback>
                <p:oleObj name="Equation" r:id="rId13" imgW="1333440" imgH="3682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5334000"/>
                        <a:ext cx="1485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9221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IIR FILTER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If the transfer function of an analog filter is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equivalent digital filter by using bilinear transformation. Assume the sampling </a:t>
            </a:r>
            <a:r>
              <a:rPr lang="en-US" smtClean="0"/>
              <a:t>frequency is 1000 Hz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052174"/>
              </p:ext>
            </p:extLst>
          </p:nvPr>
        </p:nvGraphicFramePr>
        <p:xfrm>
          <a:off x="3208338" y="1600200"/>
          <a:ext cx="136048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43" name="Equation" r:id="rId3" imgW="799920" imgH="393480" progId="Equation.3">
                  <p:embed/>
                </p:oleObj>
              </mc:Choice>
              <mc:Fallback>
                <p:oleObj name="Equation" r:id="rId3" imgW="79992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8" y="1600200"/>
                        <a:ext cx="1360487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02938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IIR FILTER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39</a:t>
            </a:fld>
            <a:endParaRPr lang="en-US" altLang="zh-CN" dirty="0" smtClean="0"/>
          </a:p>
        </p:txBody>
      </p:sp>
      <p:sp>
        <p:nvSpPr>
          <p:cNvPr id="6" name="Rectangle 5"/>
          <p:cNvSpPr/>
          <p:nvPr/>
        </p:nvSpPr>
        <p:spPr>
          <a:xfrm>
            <a:off x="723900" y="1219200"/>
            <a:ext cx="7620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228B22"/>
                </a:solidFill>
                <a:latin typeface="Courier New"/>
              </a:rPr>
              <a:t>% </a:t>
            </a:r>
            <a:r>
              <a:rPr lang="en-US" sz="1600" dirty="0">
                <a:solidFill>
                  <a:srgbClr val="228B22"/>
                </a:solidFill>
                <a:latin typeface="Courier New"/>
              </a:rPr>
              <a:t>analog Butterworth filter, in the form of zeros and poles</a:t>
            </a:r>
          </a:p>
          <a:p>
            <a:r>
              <a:rPr lang="en-US" sz="1600" dirty="0">
                <a:solidFill>
                  <a:srgbClr val="228B22"/>
                </a:solidFill>
                <a:latin typeface="Courier New"/>
              </a:rPr>
              <a:t>% cut-off frequency 1 rad/s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z,p,k</a:t>
            </a:r>
            <a:r>
              <a:rPr lang="en-US" sz="1600" dirty="0">
                <a:solidFill>
                  <a:srgbClr val="000000"/>
                </a:solidFill>
                <a:latin typeface="Courier New"/>
              </a:rPr>
              <a:t>] = </a:t>
            </a:r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buttap</a:t>
            </a:r>
            <a:r>
              <a:rPr lang="en-US" sz="1600" dirty="0">
                <a:solidFill>
                  <a:srgbClr val="000000"/>
                </a:solidFill>
                <a:latin typeface="Courier New"/>
              </a:rPr>
              <a:t>(2); </a:t>
            </a:r>
            <a:r>
              <a:rPr lang="en-US" sz="1600" dirty="0">
                <a:solidFill>
                  <a:srgbClr val="228B22"/>
                </a:solidFill>
                <a:latin typeface="Courier New"/>
              </a:rPr>
              <a:t>% creates a 2-pole Butterworth filter</a:t>
            </a:r>
          </a:p>
          <a:p>
            <a:r>
              <a:rPr lang="en-US" sz="1600" dirty="0">
                <a:solidFill>
                  <a:srgbClr val="228B22"/>
                </a:solidFill>
                <a:latin typeface="Courier New"/>
              </a:rPr>
              <a:t> </a:t>
            </a:r>
          </a:p>
          <a:p>
            <a:r>
              <a:rPr lang="en-US" sz="1600" dirty="0">
                <a:solidFill>
                  <a:srgbClr val="228B22"/>
                </a:solidFill>
                <a:latin typeface="Courier New"/>
              </a:rPr>
              <a:t>% transfer function</a:t>
            </a:r>
          </a:p>
          <a:p>
            <a:r>
              <a:rPr lang="pt-BR" sz="1600" dirty="0">
                <a:solidFill>
                  <a:srgbClr val="000000"/>
                </a:solidFill>
                <a:latin typeface="Courier New"/>
              </a:rPr>
              <a:t>[num,den] = zp2tf(z,p,k); </a:t>
            </a:r>
            <a:r>
              <a:rPr lang="pt-BR" sz="1600" dirty="0">
                <a:solidFill>
                  <a:srgbClr val="228B22"/>
                </a:solidFill>
                <a:latin typeface="Courier New"/>
              </a:rPr>
              <a:t>% poles &amp; zeros to transfer function</a:t>
            </a:r>
          </a:p>
          <a:p>
            <a:r>
              <a:rPr lang="en-US" sz="1600" dirty="0">
                <a:solidFill>
                  <a:srgbClr val="228B22"/>
                </a:solidFill>
                <a:latin typeface="Courier New"/>
              </a:rPr>
              <a:t> </a:t>
            </a:r>
          </a:p>
          <a:p>
            <a:r>
              <a:rPr lang="en-US" sz="1600" dirty="0">
                <a:solidFill>
                  <a:srgbClr val="228B22"/>
                </a:solidFill>
                <a:latin typeface="Courier New"/>
              </a:rPr>
              <a:t>% need to transform the cutoff frequency to 100 Hz (200 rad/sec)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wc</a:t>
            </a:r>
            <a:r>
              <a:rPr lang="en-US" sz="1600" dirty="0">
                <a:solidFill>
                  <a:srgbClr val="000000"/>
                </a:solidFill>
                <a:latin typeface="Courier New"/>
              </a:rPr>
              <a:t> = 200*pi;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num,den</a:t>
            </a:r>
            <a:r>
              <a:rPr lang="en-US" sz="1600" dirty="0">
                <a:solidFill>
                  <a:srgbClr val="000000"/>
                </a:solidFill>
                <a:latin typeface="Courier New"/>
              </a:rPr>
              <a:t>] = lp2lp(</a:t>
            </a:r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num,den,wc</a:t>
            </a:r>
            <a:r>
              <a:rPr lang="en-US" sz="1600" dirty="0">
                <a:solidFill>
                  <a:srgbClr val="000000"/>
                </a:solidFill>
                <a:latin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lang="en-US" sz="1600" dirty="0">
                <a:solidFill>
                  <a:srgbClr val="228B22"/>
                </a:solidFill>
                <a:latin typeface="Courier New"/>
              </a:rPr>
              <a:t>% sampling frequency 1000 Hz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Fs</a:t>
            </a:r>
            <a:r>
              <a:rPr lang="en-US" sz="1600" dirty="0">
                <a:solidFill>
                  <a:srgbClr val="000000"/>
                </a:solidFill>
                <a:latin typeface="Courier New"/>
              </a:rPr>
              <a:t> = 1000;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lang="en-US" sz="1600" dirty="0">
                <a:solidFill>
                  <a:srgbClr val="228B22"/>
                </a:solidFill>
                <a:latin typeface="Courier New"/>
              </a:rPr>
              <a:t>% generate the digital filter with the bilinear transformation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numd,dend</a:t>
            </a:r>
            <a:r>
              <a:rPr lang="en-US" sz="1600" dirty="0">
                <a:solidFill>
                  <a:srgbClr val="000000"/>
                </a:solidFill>
                <a:latin typeface="Courier New"/>
              </a:rPr>
              <a:t>] = bilinear(</a:t>
            </a:r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num,den,Fs</a:t>
            </a:r>
            <a:r>
              <a:rPr lang="en-US" sz="1600" dirty="0">
                <a:solidFill>
                  <a:srgbClr val="000000"/>
                </a:solidFill>
                <a:latin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freqz</a:t>
            </a:r>
            <a:r>
              <a:rPr lang="en-US"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numd</a:t>
            </a:r>
            <a:r>
              <a:rPr lang="en-US" sz="1600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</a:rPr>
              <a:t>dend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</a:rPr>
              <a:t>)</a:t>
            </a:r>
            <a:endParaRPr lang="en-US" sz="1600" dirty="0">
              <a:solidFill>
                <a:srgbClr val="00000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5210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4812</TotalTime>
  <Words>1561</Words>
  <Application>Microsoft Office PowerPoint</Application>
  <PresentationFormat>On-screen Show (4:3)</PresentationFormat>
  <Paragraphs>395</Paragraphs>
  <Slides>39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Office Theme</vt:lpstr>
      <vt:lpstr>Equation</vt:lpstr>
      <vt:lpstr>Microsoft Equation 3.0</vt:lpstr>
      <vt:lpstr>ELEG 5173L Digital Signal Processing  Ch. 5 Digital Filters</vt:lpstr>
      <vt:lpstr>OUTLINE</vt:lpstr>
      <vt:lpstr>FIR V.S. IIR</vt:lpstr>
      <vt:lpstr>FIR V.S. IIR</vt:lpstr>
      <vt:lpstr>FIR V.S. IIR</vt:lpstr>
      <vt:lpstr>FIR V.S. IIR</vt:lpstr>
      <vt:lpstr>FIR V.S. IIR</vt:lpstr>
      <vt:lpstr>OUTLINE</vt:lpstr>
      <vt:lpstr>FILTER STRUCTURE: FIR</vt:lpstr>
      <vt:lpstr>FILTER STRUCTURE: FIR</vt:lpstr>
      <vt:lpstr>FILTER STRUCTURE: FIR</vt:lpstr>
      <vt:lpstr>FILTER STRUCTURE: FIR</vt:lpstr>
      <vt:lpstr>FILTER STRUCTURE: IIR</vt:lpstr>
      <vt:lpstr>FILTER STRUCTURE: IIR</vt:lpstr>
      <vt:lpstr>FILTER STRUCTURE: IIR</vt:lpstr>
      <vt:lpstr>FILTER STRUCTURE: IIR</vt:lpstr>
      <vt:lpstr>FILTER STRUCTURE: IIR</vt:lpstr>
      <vt:lpstr>FILTER STRUCTURE: IIR</vt:lpstr>
      <vt:lpstr>FILTER STRUCTURE: IIR</vt:lpstr>
      <vt:lpstr>FILTER STRUCTURE</vt:lpstr>
      <vt:lpstr>FILTER STRUCTURE</vt:lpstr>
      <vt:lpstr>OUTLINE</vt:lpstr>
      <vt:lpstr>ANALOG FILTERS</vt:lpstr>
      <vt:lpstr>ANALOG FILTERS</vt:lpstr>
      <vt:lpstr>ANALOG FILTERS</vt:lpstr>
      <vt:lpstr>ANALOG FILTERS</vt:lpstr>
      <vt:lpstr>OUTLINE</vt:lpstr>
      <vt:lpstr>FIR FILTER DESIGN</vt:lpstr>
      <vt:lpstr>FIR FILTER DESIGN</vt:lpstr>
      <vt:lpstr>FIR FILTER DESIGN</vt:lpstr>
      <vt:lpstr>FIR FILTER DESIGN</vt:lpstr>
      <vt:lpstr>FIR FILTER DESIGN</vt:lpstr>
      <vt:lpstr>FIR FILTER DESIGN</vt:lpstr>
      <vt:lpstr>OUTLINE</vt:lpstr>
      <vt:lpstr>IIR FILTER DESIGN</vt:lpstr>
      <vt:lpstr>IIR FILTER DESIGN</vt:lpstr>
      <vt:lpstr>IIR FILTER DESIGN</vt:lpstr>
      <vt:lpstr>IIR FILTER DESIGN</vt:lpstr>
      <vt:lpstr>IIR FILTER DESIGN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548</cp:revision>
  <dcterms:created xsi:type="dcterms:W3CDTF">2006-08-16T00:00:00Z</dcterms:created>
  <dcterms:modified xsi:type="dcterms:W3CDTF">2013-04-29T21:32:28Z</dcterms:modified>
</cp:coreProperties>
</file>