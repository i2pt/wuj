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56" r:id="rId2"/>
    <p:sldId id="261" r:id="rId3"/>
    <p:sldId id="262" r:id="rId4"/>
    <p:sldId id="263" r:id="rId5"/>
    <p:sldId id="266" r:id="rId6"/>
    <p:sldId id="265" r:id="rId7"/>
    <p:sldId id="264" r:id="rId8"/>
    <p:sldId id="268" r:id="rId9"/>
    <p:sldId id="269" r:id="rId10"/>
    <p:sldId id="270" r:id="rId11"/>
    <p:sldId id="271" r:id="rId12"/>
    <p:sldId id="267" r:id="rId13"/>
    <p:sldId id="272" r:id="rId14"/>
    <p:sldId id="273" r:id="rId15"/>
    <p:sldId id="275" r:id="rId16"/>
    <p:sldId id="274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6" r:id="rId27"/>
    <p:sldId id="287" r:id="rId28"/>
    <p:sldId id="296" r:id="rId29"/>
    <p:sldId id="297" r:id="rId30"/>
    <p:sldId id="288" r:id="rId31"/>
    <p:sldId id="289" r:id="rId32"/>
    <p:sldId id="290" r:id="rId33"/>
    <p:sldId id="292" r:id="rId34"/>
    <p:sldId id="291" r:id="rId35"/>
    <p:sldId id="293" r:id="rId36"/>
    <p:sldId id="294" r:id="rId37"/>
    <p:sldId id="295" r:id="rId38"/>
    <p:sldId id="298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FFFF99"/>
    <a:srgbClr val="0000CC"/>
    <a:srgbClr val="0033CC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392" autoAdjust="0"/>
  </p:normalViewPr>
  <p:slideViewPr>
    <p:cSldViewPr>
      <p:cViewPr varScale="1">
        <p:scale>
          <a:sx n="79" d="100"/>
          <a:sy n="79" d="100"/>
        </p:scale>
        <p:origin x="9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10" Type="http://schemas.openxmlformats.org/officeDocument/2006/relationships/image" Target="../media/image50.wmf"/><Relationship Id="rId4" Type="http://schemas.openxmlformats.org/officeDocument/2006/relationships/image" Target="../media/image44.wmf"/><Relationship Id="rId9" Type="http://schemas.openxmlformats.org/officeDocument/2006/relationships/image" Target="../media/image49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4" Type="http://schemas.openxmlformats.org/officeDocument/2006/relationships/image" Target="../media/image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2/10/2016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99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1). 1</a:t>
            </a:r>
          </a:p>
          <a:p>
            <a:r>
              <a:rPr lang="en-US" dirty="0" smtClean="0"/>
              <a:t>2).</a:t>
            </a:r>
            <a:r>
              <a:rPr lang="en-US" baseline="0" dirty="0" smtClean="0"/>
              <a:t> X(z) = z/(z-1/2), |z| &gt;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87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 = -n</a:t>
            </a:r>
          </a:p>
          <a:p>
            <a:r>
              <a:rPr lang="en-US" dirty="0" smtClean="0"/>
              <a:t>X(z) = -2z/(2z-1) = z/(z-1/2), |z| &lt;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59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1/(1-2z) + z/(z-1/3),</a:t>
            </a:r>
            <a:r>
              <a:rPr lang="en-US" baseline="0" dirty="0" smtClean="0"/>
              <a:t> 1/3&lt;|z|&lt;1/2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99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(3/z)/(1-z/3)+1/(3z)*1/(3z-1)</a:t>
            </a:r>
          </a:p>
          <a:p>
            <a:r>
              <a:rPr lang="en-US" dirty="0" smtClean="0"/>
              <a:t>1/3 &lt; |z| &lt;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84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\sum_{n=0}^\</a:t>
            </a:r>
            <a:r>
              <a:rPr lang="en-US" dirty="0" err="1" smtClean="0"/>
              <a:t>infty</a:t>
            </a:r>
            <a:r>
              <a:rPr lang="en-US" baseline="0" dirty="0" smtClean="0"/>
              <a:t> x(n+n0) z^{-n}</a:t>
            </a:r>
          </a:p>
          <a:p>
            <a:endParaRPr lang="en-US" baseline="0" dirty="0" smtClean="0"/>
          </a:p>
          <a:p>
            <a:r>
              <a:rPr lang="en-US" baseline="0" dirty="0" smtClean="0"/>
              <a:t>m = n+n0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31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y(n-1) </a:t>
            </a:r>
            <a:r>
              <a:rPr lang="en-US" dirty="0" smtClean="0">
                <a:sym typeface="Wingdings" pitchFamily="2" charset="2"/>
              </a:rPr>
              <a:t> Y(z)z^{-1} + y(-1) z^{-2}</a:t>
            </a:r>
          </a:p>
          <a:p>
            <a:endParaRPr lang="en-US" dirty="0" smtClean="0">
              <a:sym typeface="Wingdings" pitchFamily="2" charset="2"/>
            </a:endParaRPr>
          </a:p>
          <a:p>
            <a:r>
              <a:rPr lang="en-US" dirty="0" smtClean="0">
                <a:sym typeface="Wingdings" pitchFamily="2" charset="2"/>
              </a:rPr>
              <a:t>Y(z) = (1+ 3/2 z^(-2))/(1-1/2</a:t>
            </a:r>
            <a:r>
              <a:rPr lang="en-US" baseline="0" dirty="0" smtClean="0">
                <a:sym typeface="Wingdings" pitchFamily="2" charset="2"/>
              </a:rPr>
              <a:t> z^(-1)) = 1/(1-1/2 z^(-1)) + 3/2 z^(-2)/(1 – ½ z^{-1})</a:t>
            </a:r>
          </a:p>
          <a:p>
            <a:endParaRPr lang="en-US" baseline="0" dirty="0" smtClean="0">
              <a:sym typeface="Wingdings" pitchFamily="2" charset="2"/>
            </a:endParaRPr>
          </a:p>
          <a:p>
            <a:r>
              <a:rPr lang="en-US" baseline="0" dirty="0" err="1" smtClean="0">
                <a:sym typeface="Wingdings" pitchFamily="2" charset="2"/>
              </a:rPr>
              <a:t>a^n</a:t>
            </a:r>
            <a:r>
              <a:rPr lang="en-US" baseline="0" dirty="0" smtClean="0">
                <a:sym typeface="Wingdings" pitchFamily="2" charset="2"/>
              </a:rPr>
              <a:t> u(n)  1/(1-az^{-1})</a:t>
            </a:r>
          </a:p>
          <a:p>
            <a:r>
              <a:rPr lang="en-US" baseline="0" dirty="0" err="1" smtClean="0">
                <a:sym typeface="Wingdings" pitchFamily="2" charset="2"/>
              </a:rPr>
              <a:t>a^n</a:t>
            </a:r>
            <a:r>
              <a:rPr lang="en-US" baseline="0" dirty="0" smtClean="0">
                <a:sym typeface="Wingdings" pitchFamily="2" charset="2"/>
              </a:rPr>
              <a:t> u(n-2)  a^2 z^{-2}/(1- </a:t>
            </a:r>
            <a:r>
              <a:rPr lang="en-US" baseline="0" dirty="0" err="1" smtClean="0">
                <a:sym typeface="Wingdings" pitchFamily="2" charset="2"/>
              </a:rPr>
              <a:t>az</a:t>
            </a:r>
            <a:r>
              <a:rPr lang="en-US" baseline="0" dirty="0" smtClean="0">
                <a:sym typeface="Wingdings" pitchFamily="2" charset="2"/>
              </a:rPr>
              <a:t>^{-1})</a:t>
            </a:r>
          </a:p>
          <a:p>
            <a:endParaRPr lang="en-US" baseline="0" dirty="0" smtClean="0">
              <a:sym typeface="Wingdings" pitchFamily="2" charset="2"/>
            </a:endParaRPr>
          </a:p>
          <a:p>
            <a:r>
              <a:rPr lang="en-US" baseline="0" dirty="0" smtClean="0">
                <a:sym typeface="Wingdings" pitchFamily="2" charset="2"/>
              </a:rPr>
              <a:t>y(n) = (1/2)^n u(n) + 6 (1/2)^n u(n-2)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05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y(n+2) </a:t>
            </a:r>
            <a:r>
              <a:rPr lang="en-US" dirty="0" smtClean="0">
                <a:sym typeface="Wingdings" pitchFamily="2" charset="2"/>
              </a:rPr>
              <a:t>z^2 Y(z)-z^2-z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y(n+1) </a:t>
            </a:r>
            <a:r>
              <a:rPr lang="en-US" dirty="0" smtClean="0">
                <a:sym typeface="Wingdings" pitchFamily="2" charset="2"/>
              </a:rPr>
              <a:t>z Y(z)-z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70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a^n</a:t>
            </a:r>
            <a:r>
              <a:rPr lang="en-US" dirty="0" smtClean="0"/>
              <a:t> u(n) </a:t>
            </a:r>
            <a:r>
              <a:rPr lang="en-US" dirty="0" smtClean="0">
                <a:sym typeface="Wingdings" pitchFamily="2" charset="2"/>
              </a:rPr>
              <a:t> 1/(1-az^(-1))</a:t>
            </a:r>
          </a:p>
          <a:p>
            <a:endParaRPr lang="en-US" dirty="0" smtClean="0">
              <a:sym typeface="Wingdings" pitchFamily="2" charset="2"/>
            </a:endParaRPr>
          </a:p>
          <a:p>
            <a:r>
              <a:rPr lang="en-US" dirty="0" smtClean="0">
                <a:sym typeface="Wingdings" pitchFamily="2" charset="2"/>
              </a:rPr>
              <a:t>Cos(</a:t>
            </a:r>
            <a:r>
              <a:rPr lang="en-US" dirty="0" err="1" smtClean="0">
                <a:sym typeface="Wingdings" pitchFamily="2" charset="2"/>
              </a:rPr>
              <a:t>wn</a:t>
            </a:r>
            <a:r>
              <a:rPr lang="en-US" dirty="0" smtClean="0">
                <a:sym typeface="Wingdings" pitchFamily="2" charset="2"/>
              </a:rPr>
              <a:t>)  ½*1/(1-e^(</a:t>
            </a:r>
            <a:r>
              <a:rPr lang="en-US" dirty="0" err="1" smtClean="0">
                <a:sym typeface="Wingdings" pitchFamily="2" charset="2"/>
              </a:rPr>
              <a:t>jw</a:t>
            </a:r>
            <a:r>
              <a:rPr lang="en-US" dirty="0" smtClean="0">
                <a:sym typeface="Wingdings" pitchFamily="2" charset="2"/>
              </a:rPr>
              <a:t>) z^(-1)) + ½*1/(1-e^(-</a:t>
            </a:r>
            <a:r>
              <a:rPr lang="en-US" dirty="0" err="1" smtClean="0">
                <a:sym typeface="Wingdings" pitchFamily="2" charset="2"/>
              </a:rPr>
              <a:t>jw</a:t>
            </a:r>
            <a:r>
              <a:rPr lang="en-US" dirty="0" smtClean="0">
                <a:sym typeface="Wingdings" pitchFamily="2" charset="2"/>
              </a:rPr>
              <a:t>)</a:t>
            </a:r>
            <a:r>
              <a:rPr lang="en-US" baseline="0" dirty="0" smtClean="0">
                <a:sym typeface="Wingdings" pitchFamily="2" charset="2"/>
              </a:rPr>
              <a:t> z^(-1)) = z(z-</a:t>
            </a:r>
            <a:r>
              <a:rPr lang="en-US" baseline="0" dirty="0" err="1" smtClean="0">
                <a:sym typeface="Wingdings" pitchFamily="2" charset="2"/>
              </a:rPr>
              <a:t>cosw</a:t>
            </a:r>
            <a:r>
              <a:rPr lang="en-US" baseline="0" dirty="0" smtClean="0">
                <a:sym typeface="Wingdings" pitchFamily="2" charset="2"/>
              </a:rPr>
              <a:t>)/(z^2 – 2z </a:t>
            </a:r>
            <a:r>
              <a:rPr lang="en-US" baseline="0" dirty="0" err="1" smtClean="0">
                <a:sym typeface="Wingdings" pitchFamily="2" charset="2"/>
              </a:rPr>
              <a:t>cosw</a:t>
            </a:r>
            <a:r>
              <a:rPr lang="en-US" baseline="0" dirty="0" smtClean="0">
                <a:sym typeface="Wingdings" pitchFamily="2" charset="2"/>
              </a:rPr>
              <a:t> + 1), |z|&gt;1</a:t>
            </a:r>
          </a:p>
          <a:p>
            <a:endParaRPr lang="en-US" baseline="0" dirty="0" smtClean="0">
              <a:sym typeface="Wingdings" pitchFamily="2" charset="2"/>
            </a:endParaRPr>
          </a:p>
          <a:p>
            <a:r>
              <a:rPr lang="en-US" dirty="0" err="1" smtClean="0"/>
              <a:t>a^n</a:t>
            </a:r>
            <a:r>
              <a:rPr lang="en-US" dirty="0" smtClean="0"/>
              <a:t> </a:t>
            </a:r>
            <a:r>
              <a:rPr lang="en-US" dirty="0" err="1" smtClean="0"/>
              <a:t>cos</a:t>
            </a:r>
            <a:r>
              <a:rPr lang="en-US" dirty="0" smtClean="0"/>
              <a:t>(</a:t>
            </a:r>
            <a:r>
              <a:rPr lang="en-US" dirty="0" err="1" smtClean="0"/>
              <a:t>wn</a:t>
            </a:r>
            <a:r>
              <a:rPr lang="en-US" dirty="0" smtClean="0"/>
              <a:t>)</a:t>
            </a:r>
            <a:r>
              <a:rPr lang="en-US" baseline="0" dirty="0" smtClean="0"/>
              <a:t> </a:t>
            </a:r>
            <a:r>
              <a:rPr lang="en-US" baseline="0" dirty="0" smtClean="0">
                <a:sym typeface="Wingdings" pitchFamily="2" charset="2"/>
              </a:rPr>
              <a:t> (z -&gt; a^-1 z)  </a:t>
            </a:r>
          </a:p>
          <a:p>
            <a:endParaRPr lang="en-US" baseline="0" dirty="0" smtClean="0">
              <a:sym typeface="Wingdings" pitchFamily="2" charset="2"/>
            </a:endParaRPr>
          </a:p>
          <a:p>
            <a:r>
              <a:rPr lang="en-US" baseline="0" dirty="0" smtClean="0">
                <a:sym typeface="Wingdings" pitchFamily="2" charset="2"/>
              </a:rPr>
              <a:t>|a^(-1) z| &gt; 1 |z| &gt;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30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Nu(n)  =</a:t>
            </a:r>
            <a:r>
              <a:rPr lang="en-US" baseline="0" dirty="0" smtClean="0"/>
              <a:t> </a:t>
            </a:r>
            <a:r>
              <a:rPr lang="en-US" baseline="0" dirty="0" smtClean="0"/>
              <a:t>z</a:t>
            </a:r>
            <a:r>
              <a:rPr lang="en-US" baseline="0" dirty="0" smtClean="0"/>
              <a:t>/(</a:t>
            </a:r>
            <a:r>
              <a:rPr lang="en-US" baseline="0" dirty="0" smtClean="0"/>
              <a:t>z-1</a:t>
            </a:r>
            <a:r>
              <a:rPr lang="en-US" baseline="0" dirty="0" smtClean="0"/>
              <a:t>)^2</a:t>
            </a:r>
          </a:p>
          <a:p>
            <a:r>
              <a:rPr lang="en-US" baseline="0" dirty="0" smtClean="0"/>
              <a:t>N^2 u(n) = </a:t>
            </a:r>
            <a:r>
              <a:rPr lang="en-US" baseline="0" dirty="0" smtClean="0"/>
              <a:t>z(z+1</a:t>
            </a:r>
            <a:r>
              <a:rPr lang="en-US" baseline="0" dirty="0" smtClean="0"/>
              <a:t>)/(</a:t>
            </a:r>
            <a:r>
              <a:rPr lang="en-US" baseline="0" dirty="0" smtClean="0"/>
              <a:t>z-1</a:t>
            </a:r>
            <a:r>
              <a:rPr lang="en-US" baseline="0" dirty="0" smtClean="0"/>
              <a:t>)^3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94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X(0)</a:t>
            </a:r>
            <a:r>
              <a:rPr lang="en-US" baseline="0" dirty="0" smtClean="0"/>
              <a:t> = 0</a:t>
            </a:r>
          </a:p>
          <a:p>
            <a:r>
              <a:rPr lang="en-US" baseline="0" dirty="0" smtClean="0"/>
              <a:t>X(</a:t>
            </a:r>
            <a:r>
              <a:rPr lang="en-US" baseline="0" dirty="0" err="1" smtClean="0"/>
              <a:t>inf</a:t>
            </a:r>
            <a:r>
              <a:rPr lang="en-US" baseline="0" dirty="0" smtClean="0"/>
              <a:t>) = 4/3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22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[1 5 5 -5 -6 4 1 -2]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86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A0 = 8, A1 = 8, A2 = -16</a:t>
            </a:r>
          </a:p>
          <a:p>
            <a:r>
              <a:rPr lang="en-US" dirty="0" smtClean="0"/>
              <a:t>8 delta(n) + 8*(1/2)^n</a:t>
            </a:r>
            <a:r>
              <a:rPr lang="en-US" baseline="0" dirty="0" smtClean="0"/>
              <a:t> u(n) – 16 (1/4)^n u(n)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594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Y(z)</a:t>
            </a:r>
            <a:r>
              <a:rPr lang="en-US" baseline="0" dirty="0" smtClean="0"/>
              <a:t> = z^2/(z^2 – ¾ z + 1/8) = z^2/[(z-1/4)(z-1/2)] </a:t>
            </a:r>
          </a:p>
          <a:p>
            <a:r>
              <a:rPr lang="en-US" baseline="0" dirty="0" smtClean="0"/>
              <a:t>Y(z)/z = z/[(z-1/4)(z-1/2)]  = A/(z-1/4) + B/(z-1/2)</a:t>
            </a:r>
          </a:p>
          <a:p>
            <a:r>
              <a:rPr lang="en-US" baseline="0" dirty="0" smtClean="0"/>
              <a:t>A = -1</a:t>
            </a:r>
          </a:p>
          <a:p>
            <a:r>
              <a:rPr lang="en-US" baseline="0" dirty="0" smtClean="0"/>
              <a:t>B = 2</a:t>
            </a:r>
          </a:p>
          <a:p>
            <a:r>
              <a:rPr lang="en-US" baseline="0" dirty="0" smtClean="0"/>
              <a:t>Y(z) = -z/(z-1/4) + 2 z/(z-1/2)</a:t>
            </a:r>
          </a:p>
          <a:p>
            <a:r>
              <a:rPr lang="en-US" baseline="0" dirty="0" smtClean="0"/>
              <a:t>y(n) = -(1/4)^n u(n) + 2 (1/2)^n u(n)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020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X(z) = Z^2/[(z-a)(z-b)]</a:t>
            </a:r>
          </a:p>
          <a:p>
            <a:r>
              <a:rPr lang="en-US" dirty="0" smtClean="0"/>
              <a:t>X(z)/z = z/[(z-a)(z-b)]</a:t>
            </a:r>
          </a:p>
          <a:p>
            <a:endParaRPr lang="en-US" dirty="0" smtClean="0"/>
          </a:p>
          <a:p>
            <a:r>
              <a:rPr lang="en-US" dirty="0" smtClean="0"/>
              <a:t>[a^(n+1) – b^(n+1)]/(a-b) u(n)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52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381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Y(z) = 6/5z/(z-1) –</a:t>
            </a:r>
            <a:r>
              <a:rPr lang="en-US" baseline="0" dirty="0" smtClean="0"/>
              <a:t> ½ z/(z-1/2) + 2/15 z/(z+1/4)</a:t>
            </a:r>
          </a:p>
          <a:p>
            <a:r>
              <a:rPr lang="en-US" baseline="0" dirty="0" smtClean="0"/>
              <a:t>X(z) = z/(z-1)</a:t>
            </a:r>
          </a:p>
          <a:p>
            <a:endParaRPr lang="en-US" baseline="0" dirty="0" smtClean="0"/>
          </a:p>
          <a:p>
            <a:r>
              <a:rPr lang="en-US" baseline="0" dirty="0" smtClean="0"/>
              <a:t>H(z) = Y(z)/X(z) = 6/5 – ½ (z-1)/(z-1/2) + 2/15 (z-1)/(z+1/4)</a:t>
            </a:r>
          </a:p>
          <a:p>
            <a:endParaRPr lang="en-US" baseline="0" dirty="0" smtClean="0"/>
          </a:p>
          <a:p>
            <a:r>
              <a:rPr lang="en-US" baseline="0" dirty="0" smtClean="0"/>
              <a:t>(Z-1)/(z-1/2) = z/(z-1/2) – 1/(z-1/2) = z/(z-1/2) – z^(-1) z/(z-1/2) </a:t>
            </a:r>
            <a:r>
              <a:rPr lang="en-US" baseline="0" dirty="0" smtClean="0">
                <a:sym typeface="Wingdings" pitchFamily="2" charset="2"/>
              </a:rPr>
              <a:t> (1/2)^n u(n) – (½)^(n-1) u(n-1)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20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H(z) = z(z+1/2)/[(z-(1+j))(z-(1-j))]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511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Y(z)/X(z)</a:t>
            </a:r>
            <a:r>
              <a:rPr lang="en-US" baseline="0" dirty="0" smtClean="0"/>
              <a:t> = H(z)/[H(z) + 1] = 0.8kz/[z^2 – (1.3-0.8k)z + 0.4]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970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17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 dirty="0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png"/><Relationship Id="rId5" Type="http://schemas.openxmlformats.org/officeDocument/2006/relationships/image" Target="../media/image7.w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9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6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9.w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8.wmf"/><Relationship Id="rId5" Type="http://schemas.openxmlformats.org/officeDocument/2006/relationships/image" Target="../media/image35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7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41.bin"/><Relationship Id="rId18" Type="http://schemas.openxmlformats.org/officeDocument/2006/relationships/image" Target="../media/image48.wmf"/><Relationship Id="rId3" Type="http://schemas.openxmlformats.org/officeDocument/2006/relationships/oleObject" Target="../embeddings/oleObject36.bin"/><Relationship Id="rId21" Type="http://schemas.openxmlformats.org/officeDocument/2006/relationships/oleObject" Target="../embeddings/oleObject45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5.wmf"/><Relationship Id="rId17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7.wmf"/><Relationship Id="rId20" Type="http://schemas.openxmlformats.org/officeDocument/2006/relationships/image" Target="../media/image49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2.bin"/><Relationship Id="rId10" Type="http://schemas.openxmlformats.org/officeDocument/2006/relationships/image" Target="../media/image44.wmf"/><Relationship Id="rId19" Type="http://schemas.openxmlformats.org/officeDocument/2006/relationships/oleObject" Target="../embeddings/oleObject44.bin"/><Relationship Id="rId4" Type="http://schemas.openxmlformats.org/officeDocument/2006/relationships/image" Target="../media/image41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6.wmf"/><Relationship Id="rId22" Type="http://schemas.openxmlformats.org/officeDocument/2006/relationships/image" Target="../media/image50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46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53.wmf"/><Relationship Id="rId4" Type="http://schemas.openxmlformats.org/officeDocument/2006/relationships/oleObject" Target="../embeddings/oleObject48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54.wmf"/><Relationship Id="rId4" Type="http://schemas.openxmlformats.org/officeDocument/2006/relationships/oleObject" Target="../embeddings/oleObject49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50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57.bin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6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62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63.wmf"/><Relationship Id="rId4" Type="http://schemas.openxmlformats.org/officeDocument/2006/relationships/oleObject" Target="../embeddings/oleObject58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64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67.wmf"/><Relationship Id="rId4" Type="http://schemas.openxmlformats.org/officeDocument/2006/relationships/oleObject" Target="../embeddings/oleObject62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70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70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7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42.wmf"/><Relationship Id="rId5" Type="http://schemas.openxmlformats.org/officeDocument/2006/relationships/image" Target="../media/image72.wmf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7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 smtClean="0"/>
              <a:t>ELEG 5173L Digital Signal Processing </a:t>
            </a:r>
            <a:br>
              <a:rPr lang="en-US" sz="2400" dirty="0" smtClean="0"/>
            </a:br>
            <a:r>
              <a:rPr lang="en-US" sz="2400" dirty="0" smtClean="0"/>
              <a:t>Ch. 2 The Z-Transform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  <a:endParaRPr lang="en-US" sz="2200" dirty="0">
              <a:solidFill>
                <a:srgbClr val="000099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The Z-Transform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Properties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Inverse Z-Transform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Z-Transform of LTI system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Z-TRANSFORM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7772400" cy="482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Bilateral Z-transform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3022600" y="1379538"/>
          <a:ext cx="2109788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46" name="Equation" r:id="rId3" imgW="1155700" imgH="431800" progId="Equation.3">
                  <p:embed/>
                </p:oleObj>
              </mc:Choice>
              <mc:Fallback>
                <p:oleObj name="Equation" r:id="rId3" imgW="1155700" imgH="431800" progId="Equation.3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1379538"/>
                        <a:ext cx="2109788" cy="7858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47700" y="2235200"/>
            <a:ext cx="77724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Unilateral Z-transform</a:t>
            </a:r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3095625" y="2751138"/>
          <a:ext cx="206375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47" name="Equation" r:id="rId5" imgW="1129810" imgH="431613" progId="Equation.3">
                  <p:embed/>
                </p:oleObj>
              </mc:Choice>
              <mc:Fallback>
                <p:oleObj name="Equation" r:id="rId5" imgW="1129810" imgH="431613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2751138"/>
                        <a:ext cx="2063750" cy="7858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685800" y="3810000"/>
            <a:ext cx="7772400" cy="229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Z-transform: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 smtClean="0">
                <a:latin typeface="Times New Roman" pitchFamily="18" charset="0"/>
                <a:cs typeface="Times New Roman" pitchFamily="18" charset="0"/>
              </a:rPr>
              <a:t>Can simplify the analysis of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discrete-time LTI systems</a:t>
            </a:r>
          </a:p>
          <a:p>
            <a:pPr marL="1200150" lvl="2" indent="-285750">
              <a:spcBef>
                <a:spcPct val="20000"/>
              </a:spcBef>
              <a:buFontTx/>
              <a:buChar char="–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Analyze the system in z-domain instead of time domain</a:t>
            </a:r>
            <a:endParaRPr lang="en-US" sz="2000" b="0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Doesn’t have any physical meaning (the frequency domain representation of discrete-time signal can be obtained through discrete-time Fourier transform)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Counterpart for continuous-time systems: Laplace transform.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0876E3C-FCEB-401E-9967-D09C51DB72F7}" type="slidenum">
              <a:rPr lang="zh-CN" altLang="en-US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143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Z-TRANSFORM</a:t>
            </a:r>
          </a:p>
        </p:txBody>
      </p:sp>
      <p:sp>
        <p:nvSpPr>
          <p:cNvPr id="143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863600"/>
          </a:xfrm>
        </p:spPr>
        <p:txBody>
          <a:bodyPr/>
          <a:lstStyle/>
          <a:p>
            <a:pPr eaLnBrk="1" hangingPunct="1"/>
            <a:r>
              <a:rPr lang="en-US" smtClean="0"/>
              <a:t>Example: find Z-transforms</a:t>
            </a:r>
          </a:p>
          <a:p>
            <a:pPr lvl="1" eaLnBrk="1" hangingPunct="1"/>
            <a:r>
              <a:rPr lang="en-US" smtClean="0"/>
              <a:t>1. </a:t>
            </a:r>
          </a:p>
        </p:txBody>
      </p:sp>
      <p:graphicFrame>
        <p:nvGraphicFramePr>
          <p:cNvPr id="14338" name="Object 4"/>
          <p:cNvGraphicFramePr>
            <a:graphicFrameLocks noChangeAspect="1"/>
          </p:cNvGraphicFramePr>
          <p:nvPr/>
        </p:nvGraphicFramePr>
        <p:xfrm>
          <a:off x="1868488" y="1346200"/>
          <a:ext cx="1344612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0" name="Equation" r:id="rId4" imgW="736600" imgH="203200" progId="Equation.3">
                  <p:embed/>
                </p:oleObj>
              </mc:Choice>
              <mc:Fallback>
                <p:oleObj name="Equation" r:id="rId4" imgW="736600" imgH="203200" progId="Equation.3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8488" y="1346200"/>
                        <a:ext cx="1344612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Rectangle 5"/>
          <p:cNvSpPr>
            <a:spLocks noChangeArrowheads="1"/>
          </p:cNvSpPr>
          <p:nvPr/>
        </p:nvSpPr>
        <p:spPr bwMode="auto">
          <a:xfrm>
            <a:off x="558800" y="2895600"/>
            <a:ext cx="77724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/>
              <a:t>2.  </a:t>
            </a:r>
          </a:p>
        </p:txBody>
      </p:sp>
      <p:graphicFrame>
        <p:nvGraphicFramePr>
          <p:cNvPr id="14339" name="Object 6"/>
          <p:cNvGraphicFramePr>
            <a:graphicFrameLocks noChangeAspect="1"/>
          </p:cNvGraphicFramePr>
          <p:nvPr/>
        </p:nvGraphicFramePr>
        <p:xfrm>
          <a:off x="1730375" y="2716213"/>
          <a:ext cx="190023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1" name="Equation" r:id="rId6" imgW="1040948" imgH="469696" progId="Equation.3">
                  <p:embed/>
                </p:oleObj>
              </mc:Choice>
              <mc:Fallback>
                <p:oleObj name="Equation" r:id="rId6" imgW="1040948" imgH="469696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75" y="2716213"/>
                        <a:ext cx="1900238" cy="855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B3AADC-9E94-431E-889C-B3D2E02D3508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153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Z-TRANSFORM</a:t>
            </a:r>
          </a:p>
        </p:txBody>
      </p:sp>
      <p:sp>
        <p:nvSpPr>
          <p:cNvPr id="1536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smtClean="0"/>
              <a:t>Example</a:t>
            </a:r>
          </a:p>
          <a:p>
            <a:pPr lvl="1" eaLnBrk="1" hangingPunct="1"/>
            <a:r>
              <a:rPr lang="en-US" smtClean="0"/>
              <a:t>3.  </a:t>
            </a:r>
          </a:p>
        </p:txBody>
      </p:sp>
      <p:graphicFrame>
        <p:nvGraphicFramePr>
          <p:cNvPr id="15362" name="Object 5"/>
          <p:cNvGraphicFramePr>
            <a:graphicFrameLocks noChangeAspect="1"/>
          </p:cNvGraphicFramePr>
          <p:nvPr/>
        </p:nvGraphicFramePr>
        <p:xfrm>
          <a:off x="1905000" y="990600"/>
          <a:ext cx="2551113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0" name="Equation" r:id="rId4" imgW="1397000" imgH="469900" progId="Equation.3">
                  <p:embed/>
                </p:oleObj>
              </mc:Choice>
              <mc:Fallback>
                <p:oleObj name="Equation" r:id="rId4" imgW="1397000" imgH="46990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990600"/>
                        <a:ext cx="2551113" cy="855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Rectangle 6"/>
          <p:cNvSpPr>
            <a:spLocks noChangeArrowheads="1"/>
          </p:cNvSpPr>
          <p:nvPr/>
        </p:nvSpPr>
        <p:spPr bwMode="auto">
          <a:xfrm>
            <a:off x="609600" y="38100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Region of convergence (ROC</a:t>
            </a:r>
            <a:r>
              <a:rPr lang="en-US" sz="20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9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647373" y="4289425"/>
            <a:ext cx="2873375" cy="256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607E26-AF6E-4B09-BB6A-285ADBC14EAB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163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Z-TRANSFORM: CONVERGENCE</a:t>
            </a:r>
          </a:p>
        </p:txBody>
      </p:sp>
      <p:sp>
        <p:nvSpPr>
          <p:cNvPr id="163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508000"/>
          </a:xfrm>
        </p:spPr>
        <p:txBody>
          <a:bodyPr/>
          <a:lstStyle/>
          <a:p>
            <a:pPr eaLnBrk="1" hangingPunct="1"/>
            <a:r>
              <a:rPr lang="en-US" dirty="0" smtClean="0"/>
              <a:t>ROC of causal signal</a:t>
            </a:r>
          </a:p>
        </p:txBody>
      </p:sp>
      <p:graphicFrame>
        <p:nvGraphicFramePr>
          <p:cNvPr id="16386" name="Object 4"/>
          <p:cNvGraphicFramePr>
            <a:graphicFrameLocks noChangeAspect="1"/>
          </p:cNvGraphicFramePr>
          <p:nvPr/>
        </p:nvGraphicFramePr>
        <p:xfrm>
          <a:off x="1641475" y="1398588"/>
          <a:ext cx="162401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94" name="Equation" r:id="rId3" imgW="889000" imgH="228600" progId="Equation.3">
                  <p:embed/>
                </p:oleObj>
              </mc:Choice>
              <mc:Fallback>
                <p:oleObj name="Equation" r:id="rId3" imgW="889000" imgH="228600" progId="Equation.3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475" y="1398588"/>
                        <a:ext cx="1624013" cy="417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Rectangle 5"/>
          <p:cNvSpPr>
            <a:spLocks noChangeArrowheads="1"/>
          </p:cNvSpPr>
          <p:nvPr/>
        </p:nvSpPr>
        <p:spPr bwMode="auto">
          <a:xfrm>
            <a:off x="609600" y="2946400"/>
            <a:ext cx="777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ROC </a:t>
            </a:r>
            <a:r>
              <a:rPr lang="en-US" sz="2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of anti-causal signal</a:t>
            </a:r>
          </a:p>
        </p:txBody>
      </p:sp>
      <p:graphicFrame>
        <p:nvGraphicFramePr>
          <p:cNvPr id="16387" name="Object 6"/>
          <p:cNvGraphicFramePr>
            <a:graphicFrameLocks noChangeAspect="1"/>
          </p:cNvGraphicFramePr>
          <p:nvPr/>
        </p:nvGraphicFramePr>
        <p:xfrm>
          <a:off x="1476375" y="3481388"/>
          <a:ext cx="21336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95" name="Equation" r:id="rId5" imgW="1168400" imgH="228600" progId="Equation.3">
                  <p:embed/>
                </p:oleObj>
              </mc:Choice>
              <mc:Fallback>
                <p:oleObj name="Equation" r:id="rId5" imgW="1168400" imgH="228600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481388"/>
                        <a:ext cx="2133600" cy="417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Z-TRANSFORM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Example: find the Z-transforms for the following signals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 dirty="0" smtClean="0"/>
          </a:p>
        </p:txBody>
      </p:sp>
      <p:graphicFrame>
        <p:nvGraphicFramePr>
          <p:cNvPr id="522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70300"/>
              </p:ext>
            </p:extLst>
          </p:nvPr>
        </p:nvGraphicFramePr>
        <p:xfrm>
          <a:off x="1836738" y="1371600"/>
          <a:ext cx="3360737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4" name="Equation" r:id="rId4" imgW="1841500" imgH="469900" progId="Equation.3">
                  <p:embed/>
                </p:oleObj>
              </mc:Choice>
              <mc:Fallback>
                <p:oleObj name="Equation" r:id="rId4" imgW="1841500" imgH="46990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1371600"/>
                        <a:ext cx="3360737" cy="855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Z-TRANSFORM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Example: find the Z-transforms for the following signals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 dirty="0" smtClean="0"/>
          </a:p>
        </p:txBody>
      </p:sp>
      <p:graphicFrame>
        <p:nvGraphicFramePr>
          <p:cNvPr id="52226" name="Object 4"/>
          <p:cNvGraphicFramePr>
            <a:graphicFrameLocks noChangeAspect="1"/>
          </p:cNvGraphicFramePr>
          <p:nvPr/>
        </p:nvGraphicFramePr>
        <p:xfrm>
          <a:off x="2514600" y="1295400"/>
          <a:ext cx="2057400" cy="1045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8" name="Equation" r:id="rId4" imgW="1346200" imgH="685800" progId="Equation.3">
                  <p:embed/>
                </p:oleObj>
              </mc:Choice>
              <mc:Fallback>
                <p:oleObj name="Equation" r:id="rId4" imgW="1346200" imgH="68580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95400"/>
                        <a:ext cx="2057400" cy="10459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682820-9B93-4762-8687-EA8FEEA2F75B}" type="slidenum">
              <a:rPr lang="zh-CN" altLang="en-US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Z-TRANSFORM: TRANSFORM TABLE</a:t>
            </a:r>
          </a:p>
        </p:txBody>
      </p:sp>
      <p:pic>
        <p:nvPicPr>
          <p:cNvPr id="3994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0400" y="882650"/>
            <a:ext cx="7932738" cy="513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85CFBC-B7EC-4A5C-8A9F-9EF395B372BB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Z-TRANSFORM: TRANSFORM TABLE</a:t>
            </a:r>
          </a:p>
        </p:txBody>
      </p:sp>
      <p:pic>
        <p:nvPicPr>
          <p:cNvPr id="40966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09600" y="1017588"/>
            <a:ext cx="7772400" cy="4960937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11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The Z-Transform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Properties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Inverse Z-Transform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Z-Transform of LTI system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PROPERTIES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Linearity</a:t>
            </a:r>
          </a:p>
          <a:p>
            <a:pPr lvl="1"/>
            <a:r>
              <a:rPr lang="en-US" dirty="0" smtClean="0"/>
              <a:t> If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Then </a:t>
            </a:r>
          </a:p>
          <a:p>
            <a:pPr lvl="2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12</a:t>
            </a:fld>
            <a:endParaRPr lang="en-US" altLang="zh-CN" dirty="0" smtClean="0"/>
          </a:p>
        </p:txBody>
      </p:sp>
      <p:graphicFrame>
        <p:nvGraphicFramePr>
          <p:cNvPr id="60418" name="Object 4"/>
          <p:cNvGraphicFramePr>
            <a:graphicFrameLocks noChangeAspect="1"/>
          </p:cNvGraphicFramePr>
          <p:nvPr/>
        </p:nvGraphicFramePr>
        <p:xfrm>
          <a:off x="1909763" y="1654175"/>
          <a:ext cx="159067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92" name="Equation" r:id="rId3" imgW="1040948" imgH="215806" progId="Equation.3">
                  <p:embed/>
                </p:oleObj>
              </mc:Choice>
              <mc:Fallback>
                <p:oleObj name="Equation" r:id="rId3" imgW="1040948" imgH="215806" progId="Equation.3">
                  <p:embed/>
                  <p:pic>
                    <p:nvPicPr>
                      <p:cNvPr id="0" name="Picture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763" y="1654175"/>
                        <a:ext cx="1590675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9" name="Object 4"/>
          <p:cNvGraphicFramePr>
            <a:graphicFrameLocks noChangeAspect="1"/>
          </p:cNvGraphicFramePr>
          <p:nvPr/>
        </p:nvGraphicFramePr>
        <p:xfrm>
          <a:off x="4800600" y="1676400"/>
          <a:ext cx="162877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93" name="Equation" r:id="rId5" imgW="1066337" imgH="215806" progId="Equation.3">
                  <p:embed/>
                </p:oleObj>
              </mc:Choice>
              <mc:Fallback>
                <p:oleObj name="Equation" r:id="rId5" imgW="1066337" imgH="215806" progId="Equation.3">
                  <p:embed/>
                  <p:pic>
                    <p:nvPicPr>
                      <p:cNvPr id="0" name="Picture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676400"/>
                        <a:ext cx="1628775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1981201" y="2819400"/>
          <a:ext cx="5257799" cy="454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94" name="Equation" r:id="rId7" imgW="2489200" imgH="215900" progId="Equation.3">
                  <p:embed/>
                </p:oleObj>
              </mc:Choice>
              <mc:Fallback>
                <p:oleObj name="Equation" r:id="rId7" imgW="2489200" imgH="215900" progId="Equation.3">
                  <p:embed/>
                  <p:pic>
                    <p:nvPicPr>
                      <p:cNvPr id="0" name="Picture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1" y="2819400"/>
                        <a:ext cx="5257799" cy="45443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Time Shifting</a:t>
            </a:r>
          </a:p>
          <a:p>
            <a:pPr lvl="1"/>
            <a:r>
              <a:rPr lang="en-US" dirty="0" smtClean="0"/>
              <a:t>Let           be a causal sequence with the Z-transform</a:t>
            </a:r>
          </a:p>
          <a:p>
            <a:pPr lvl="1"/>
            <a:r>
              <a:rPr lang="en-US" dirty="0" smtClean="0"/>
              <a:t>Then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13</a:t>
            </a:fld>
            <a:endParaRPr lang="en-US" altLang="zh-CN" dirty="0" smtClean="0"/>
          </a:p>
        </p:txBody>
      </p:sp>
      <p:graphicFrame>
        <p:nvGraphicFramePr>
          <p:cNvPr id="61442" name="Object 4"/>
          <p:cNvGraphicFramePr>
            <a:graphicFrameLocks noChangeAspect="1"/>
          </p:cNvGraphicFramePr>
          <p:nvPr/>
        </p:nvGraphicFramePr>
        <p:xfrm>
          <a:off x="1828800" y="1295400"/>
          <a:ext cx="484188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4" name="Equation" r:id="rId4" imgW="317225" imgH="203024" progId="Equation.3">
                  <p:embed/>
                </p:oleObj>
              </mc:Choice>
              <mc:Fallback>
                <p:oleObj name="Equation" r:id="rId4" imgW="317225" imgH="203024" progId="Equation.3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295400"/>
                        <a:ext cx="484188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3" name="Object 4"/>
          <p:cNvGraphicFramePr>
            <a:graphicFrameLocks noChangeAspect="1"/>
          </p:cNvGraphicFramePr>
          <p:nvPr/>
        </p:nvGraphicFramePr>
        <p:xfrm>
          <a:off x="6296025" y="1295400"/>
          <a:ext cx="542925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5" name="Equation" r:id="rId6" imgW="355292" imgH="203024" progId="Equation.3">
                  <p:embed/>
                </p:oleObj>
              </mc:Choice>
              <mc:Fallback>
                <p:oleObj name="Equation" r:id="rId6" imgW="355292" imgH="203024" progId="Equation.3">
                  <p:embed/>
                  <p:pic>
                    <p:nvPicPr>
                      <p:cNvPr id="0" name="Picture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6025" y="1295400"/>
                        <a:ext cx="542925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2057400" y="1828800"/>
          <a:ext cx="3703638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6" name="Equation" r:id="rId8" imgW="2425700" imgH="444500" progId="Equation.3">
                  <p:embed/>
                </p:oleObj>
              </mc:Choice>
              <mc:Fallback>
                <p:oleObj name="Equation" r:id="rId8" imgW="2425700" imgH="444500" progId="Equation.3">
                  <p:embed/>
                  <p:pic>
                    <p:nvPicPr>
                      <p:cNvPr id="0" name="Picture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828800"/>
                        <a:ext cx="3703638" cy="6778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559003"/>
              </p:ext>
            </p:extLst>
          </p:nvPr>
        </p:nvGraphicFramePr>
        <p:xfrm>
          <a:off x="2017713" y="2809875"/>
          <a:ext cx="39370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7" name="Equation" r:id="rId10" imgW="2578100" imgH="457200" progId="Equation.3">
                  <p:embed/>
                </p:oleObj>
              </mc:Choice>
              <mc:Fallback>
                <p:oleObj name="Equation" r:id="rId10" imgW="2578100" imgH="457200" progId="Equation.3">
                  <p:embed/>
                  <p:pic>
                    <p:nvPicPr>
                      <p:cNvPr id="0" name="Picture 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7713" y="2809875"/>
                        <a:ext cx="3937000" cy="6969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Solve the difference equation with initial condition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14</a:t>
            </a:fld>
            <a:endParaRPr lang="en-US" altLang="zh-CN" dirty="0" smtClean="0"/>
          </a:p>
        </p:txBody>
      </p:sp>
      <p:graphicFrame>
        <p:nvGraphicFramePr>
          <p:cNvPr id="62466" name="Object 4"/>
          <p:cNvGraphicFramePr>
            <a:graphicFrameLocks noChangeAspect="1"/>
          </p:cNvGraphicFramePr>
          <p:nvPr/>
        </p:nvGraphicFramePr>
        <p:xfrm>
          <a:off x="2362200" y="1676400"/>
          <a:ext cx="22860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2" name="Equation" r:id="rId4" imgW="1497950" imgH="393529" progId="Equation.3">
                  <p:embed/>
                </p:oleObj>
              </mc:Choice>
              <mc:Fallback>
                <p:oleObj name="Equation" r:id="rId4" imgW="1497950" imgH="393529" progId="Equation.3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676400"/>
                        <a:ext cx="2286000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7" name="Object 4"/>
          <p:cNvGraphicFramePr>
            <a:graphicFrameLocks noChangeAspect="1"/>
          </p:cNvGraphicFramePr>
          <p:nvPr/>
        </p:nvGraphicFramePr>
        <p:xfrm>
          <a:off x="6553200" y="1295400"/>
          <a:ext cx="949325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3" name="Equation" r:id="rId6" imgW="622030" imgH="203112" progId="Equation.3">
                  <p:embed/>
                </p:oleObj>
              </mc:Choice>
              <mc:Fallback>
                <p:oleObj name="Equation" r:id="rId6" imgW="622030" imgH="203112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295400"/>
                        <a:ext cx="949325" cy="309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Solve the difference equation with initial condition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15</a:t>
            </a:fld>
            <a:endParaRPr lang="en-US" altLang="zh-CN" dirty="0" smtClean="0"/>
          </a:p>
        </p:txBody>
      </p:sp>
      <p:graphicFrame>
        <p:nvGraphicFramePr>
          <p:cNvPr id="62466" name="Object 4"/>
          <p:cNvGraphicFramePr>
            <a:graphicFrameLocks noChangeAspect="1"/>
          </p:cNvGraphicFramePr>
          <p:nvPr/>
        </p:nvGraphicFramePr>
        <p:xfrm>
          <a:off x="1878013" y="1676400"/>
          <a:ext cx="32543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64" name="Equation" r:id="rId4" imgW="2133600" imgH="393700" progId="Equation.3">
                  <p:embed/>
                </p:oleObj>
              </mc:Choice>
              <mc:Fallback>
                <p:oleObj name="Equation" r:id="rId4" imgW="2133600" imgH="393700" progId="Equation.3">
                  <p:embed/>
                  <p:pic>
                    <p:nvPicPr>
                      <p:cNvPr id="0" name="Picture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013" y="1676400"/>
                        <a:ext cx="3254375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7" name="Object 4"/>
          <p:cNvGraphicFramePr>
            <a:graphicFrameLocks noChangeAspect="1"/>
          </p:cNvGraphicFramePr>
          <p:nvPr/>
        </p:nvGraphicFramePr>
        <p:xfrm>
          <a:off x="6259513" y="1295400"/>
          <a:ext cx="7747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65" name="Equation" r:id="rId6" imgW="507780" imgH="203112" progId="Equation.3">
                  <p:embed/>
                </p:oleObj>
              </mc:Choice>
              <mc:Fallback>
                <p:oleObj name="Equation" r:id="rId6" imgW="507780" imgH="203112" progId="Equation.3">
                  <p:embed/>
                  <p:pic>
                    <p:nvPicPr>
                      <p:cNvPr id="0" name="Picture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9513" y="1295400"/>
                        <a:ext cx="774700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2" name="Object 4"/>
          <p:cNvGraphicFramePr>
            <a:graphicFrameLocks noChangeAspect="1"/>
          </p:cNvGraphicFramePr>
          <p:nvPr/>
        </p:nvGraphicFramePr>
        <p:xfrm>
          <a:off x="7296150" y="1295400"/>
          <a:ext cx="814388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66" name="Equation" r:id="rId8" imgW="533169" imgH="203112" progId="Equation.3">
                  <p:embed/>
                </p:oleObj>
              </mc:Choice>
              <mc:Fallback>
                <p:oleObj name="Equation" r:id="rId8" imgW="533169" imgH="203112" progId="Equation.3">
                  <p:embed/>
                  <p:pic>
                    <p:nvPicPr>
                      <p:cNvPr id="0" name="Picture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6150" y="1295400"/>
                        <a:ext cx="814388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Frequency scaling</a:t>
            </a:r>
          </a:p>
          <a:p>
            <a:pPr lvl="1"/>
            <a:r>
              <a:rPr lang="en-US" dirty="0" smtClean="0"/>
              <a:t>If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16</a:t>
            </a:fld>
            <a:endParaRPr lang="en-US" altLang="zh-CN" dirty="0" smtClean="0"/>
          </a:p>
        </p:txBody>
      </p:sp>
      <p:graphicFrame>
        <p:nvGraphicFramePr>
          <p:cNvPr id="64514" name="Object 4"/>
          <p:cNvGraphicFramePr>
            <a:graphicFrameLocks noChangeAspect="1"/>
          </p:cNvGraphicFramePr>
          <p:nvPr/>
        </p:nvGraphicFramePr>
        <p:xfrm>
          <a:off x="2362200" y="2362200"/>
          <a:ext cx="193992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30" name="Equation" r:id="rId3" imgW="1270000" imgH="228600" progId="Equation.3">
                  <p:embed/>
                </p:oleObj>
              </mc:Choice>
              <mc:Fallback>
                <p:oleObj name="Equation" r:id="rId3" imgW="1270000" imgH="228600" progId="Equation.3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362200"/>
                        <a:ext cx="1939925" cy="3476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5" name="Object 4"/>
          <p:cNvGraphicFramePr>
            <a:graphicFrameLocks noChangeAspect="1"/>
          </p:cNvGraphicFramePr>
          <p:nvPr/>
        </p:nvGraphicFramePr>
        <p:xfrm>
          <a:off x="2438400" y="1524000"/>
          <a:ext cx="1474788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31" name="Equation" r:id="rId5" imgW="964781" imgH="215806" progId="Equation.3">
                  <p:embed/>
                </p:oleObj>
              </mc:Choice>
              <mc:Fallback>
                <p:oleObj name="Equation" r:id="rId5" imgW="964781" imgH="215806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524000"/>
                        <a:ext cx="1474788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Z-transform of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17</a:t>
            </a:fld>
            <a:endParaRPr lang="en-US" altLang="zh-CN" dirty="0" smtClean="0"/>
          </a:p>
        </p:txBody>
      </p:sp>
      <p:graphicFrame>
        <p:nvGraphicFramePr>
          <p:cNvPr id="65538" name="Object 4"/>
          <p:cNvGraphicFramePr>
            <a:graphicFrameLocks noChangeAspect="1"/>
          </p:cNvGraphicFramePr>
          <p:nvPr/>
        </p:nvGraphicFramePr>
        <p:xfrm>
          <a:off x="3810000" y="1295400"/>
          <a:ext cx="209550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6" name="Equation" r:id="rId4" imgW="1371600" imgH="228600" progId="Equation.3">
                  <p:embed/>
                </p:oleObj>
              </mc:Choice>
              <mc:Fallback>
                <p:oleObj name="Equation" r:id="rId4" imgW="1371600" imgH="22860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295400"/>
                        <a:ext cx="2095500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Differentiation with respect to z</a:t>
            </a:r>
          </a:p>
          <a:p>
            <a:pPr lvl="1"/>
            <a:r>
              <a:rPr lang="en-US" dirty="0" smtClean="0"/>
              <a:t>If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18</a:t>
            </a:fld>
            <a:endParaRPr lang="en-US" altLang="zh-CN" dirty="0" smtClean="0"/>
          </a:p>
        </p:txBody>
      </p:sp>
      <p:graphicFrame>
        <p:nvGraphicFramePr>
          <p:cNvPr id="66563" name="Object 3"/>
          <p:cNvGraphicFramePr>
            <a:graphicFrameLocks noChangeAspect="1"/>
          </p:cNvGraphicFramePr>
          <p:nvPr/>
        </p:nvGraphicFramePr>
        <p:xfrm>
          <a:off x="2590800" y="1676400"/>
          <a:ext cx="1474788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18" name="Equation" r:id="rId3" imgW="964781" imgH="215806" progId="Equation.3">
                  <p:embed/>
                </p:oleObj>
              </mc:Choice>
              <mc:Fallback>
                <p:oleObj name="Equation" r:id="rId3" imgW="964781" imgH="215806" progId="Equation.3">
                  <p:embed/>
                  <p:pic>
                    <p:nvPicPr>
                      <p:cNvPr id="0" name="Picture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676400"/>
                        <a:ext cx="1474788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2590800" y="2514600"/>
          <a:ext cx="2135188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19" name="Equation" r:id="rId5" imgW="1396394" imgH="393529" progId="Equation.3">
                  <p:embed/>
                </p:oleObj>
              </mc:Choice>
              <mc:Fallback>
                <p:oleObj name="Equation" r:id="rId5" imgW="1396394" imgH="393529" progId="Equation.3">
                  <p:embed/>
                  <p:pic>
                    <p:nvPicPr>
                      <p:cNvPr id="0" name="Picture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514600"/>
                        <a:ext cx="2135188" cy="5984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Z-transform of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19</a:t>
            </a:fld>
            <a:endParaRPr lang="en-US" altLang="zh-CN" dirty="0" smtClean="0"/>
          </a:p>
        </p:txBody>
      </p:sp>
      <p:graphicFrame>
        <p:nvGraphicFramePr>
          <p:cNvPr id="67586" name="Object 2"/>
          <p:cNvGraphicFramePr>
            <a:graphicFrameLocks noChangeAspect="1"/>
          </p:cNvGraphicFramePr>
          <p:nvPr/>
        </p:nvGraphicFramePr>
        <p:xfrm>
          <a:off x="3616325" y="1304925"/>
          <a:ext cx="1862138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4" name="Equation" r:id="rId4" imgW="1218671" imgH="203112" progId="Equation.3">
                  <p:embed/>
                </p:oleObj>
              </mc:Choice>
              <mc:Fallback>
                <p:oleObj name="Equation" r:id="rId4" imgW="1218671" imgH="203112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325" y="1304925"/>
                        <a:ext cx="1862138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Initial value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Final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20</a:t>
            </a:fld>
            <a:endParaRPr lang="en-US" altLang="zh-CN" dirty="0" smtClean="0"/>
          </a:p>
        </p:txBody>
      </p:sp>
      <p:graphicFrame>
        <p:nvGraphicFramePr>
          <p:cNvPr id="68610" name="Object 2"/>
          <p:cNvGraphicFramePr>
            <a:graphicFrameLocks noChangeAspect="1"/>
          </p:cNvGraphicFramePr>
          <p:nvPr/>
        </p:nvGraphicFramePr>
        <p:xfrm>
          <a:off x="2895600" y="1371600"/>
          <a:ext cx="15319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27" name="Equation" r:id="rId3" imgW="1002865" imgH="279279" progId="Equation.3">
                  <p:embed/>
                </p:oleObj>
              </mc:Choice>
              <mc:Fallback>
                <p:oleObj name="Equation" r:id="rId3" imgW="1002865" imgH="279279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371600"/>
                        <a:ext cx="1531938" cy="4254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864220"/>
              </p:ext>
            </p:extLst>
          </p:nvPr>
        </p:nvGraphicFramePr>
        <p:xfrm>
          <a:off x="2828925" y="2895600"/>
          <a:ext cx="22685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28" name="Equation" r:id="rId5" imgW="1485900" imgH="292100" progId="Equation.3">
                  <p:embed/>
                </p:oleObj>
              </mc:Choice>
              <mc:Fallback>
                <p:oleObj name="Equation" r:id="rId5" imgW="1485900" imgH="292100" progId="Equation.3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5" y="2895600"/>
                        <a:ext cx="2268538" cy="4445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initial value and final value of the following signal.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21</a:t>
            </a:fld>
            <a:endParaRPr lang="en-US" altLang="zh-CN" dirty="0" smtClean="0"/>
          </a:p>
        </p:txBody>
      </p:sp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2460625" y="1636713"/>
          <a:ext cx="31591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92" name="Equation" r:id="rId4" imgW="2070100" imgH="444500" progId="Equation.3">
                  <p:embed/>
                </p:oleObj>
              </mc:Choice>
              <mc:Fallback>
                <p:oleObj name="Equation" r:id="rId4" imgW="2070100" imgH="44450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25" y="1636713"/>
                        <a:ext cx="3159125" cy="676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Convolution</a:t>
            </a:r>
          </a:p>
          <a:p>
            <a:pPr lvl="1"/>
            <a:r>
              <a:rPr lang="en-US" dirty="0" smtClean="0"/>
              <a:t>If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Then 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convolution of the following two sequences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22</a:t>
            </a:fld>
            <a:endParaRPr lang="en-US" altLang="zh-CN" dirty="0" smtClean="0"/>
          </a:p>
        </p:txBody>
      </p:sp>
      <p:graphicFrame>
        <p:nvGraphicFramePr>
          <p:cNvPr id="70658" name="Object 2"/>
          <p:cNvGraphicFramePr>
            <a:graphicFrameLocks noChangeAspect="1"/>
          </p:cNvGraphicFramePr>
          <p:nvPr/>
        </p:nvGraphicFramePr>
        <p:xfrm>
          <a:off x="2362200" y="1524000"/>
          <a:ext cx="14732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48" name="Equation" r:id="rId4" imgW="964781" imgH="215806" progId="Equation.3">
                  <p:embed/>
                </p:oleObj>
              </mc:Choice>
              <mc:Fallback>
                <p:oleObj name="Equation" r:id="rId4" imgW="964781" imgH="215806" progId="Equation.3">
                  <p:embed/>
                  <p:pic>
                    <p:nvPicPr>
                      <p:cNvPr id="0" name="Picture 1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524000"/>
                        <a:ext cx="1473200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9" name="Object 3"/>
          <p:cNvGraphicFramePr>
            <a:graphicFrameLocks noChangeAspect="1"/>
          </p:cNvGraphicFramePr>
          <p:nvPr/>
        </p:nvGraphicFramePr>
        <p:xfrm>
          <a:off x="2667000" y="2209800"/>
          <a:ext cx="2636837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49" name="Equation" r:id="rId6" imgW="1726451" imgH="215806" progId="Equation.3">
                  <p:embed/>
                </p:oleObj>
              </mc:Choice>
              <mc:Fallback>
                <p:oleObj name="Equation" r:id="rId6" imgW="1726451" imgH="215806" progId="Equation.3">
                  <p:embed/>
                  <p:pic>
                    <p:nvPicPr>
                      <p:cNvPr id="0" name="Picture 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209800"/>
                        <a:ext cx="2636837" cy="3286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4"/>
          <p:cNvGraphicFramePr>
            <a:graphicFrameLocks noChangeAspect="1"/>
          </p:cNvGraphicFramePr>
          <p:nvPr/>
        </p:nvGraphicFramePr>
        <p:xfrm>
          <a:off x="5029200" y="1371600"/>
          <a:ext cx="14732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0" name="Equation" r:id="rId8" imgW="964781" imgH="215806" progId="Equation.3">
                  <p:embed/>
                </p:oleObj>
              </mc:Choice>
              <mc:Fallback>
                <p:oleObj name="Equation" r:id="rId8" imgW="964781" imgH="215806" progId="Equation.3">
                  <p:embed/>
                  <p:pic>
                    <p:nvPicPr>
                      <p:cNvPr id="0" name="Picture 1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371600"/>
                        <a:ext cx="1473200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177250"/>
              </p:ext>
            </p:extLst>
          </p:nvPr>
        </p:nvGraphicFramePr>
        <p:xfrm>
          <a:off x="1866900" y="3352800"/>
          <a:ext cx="15494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1" name="Equation" r:id="rId10" imgW="1015920" imgH="215640" progId="Equation.3">
                  <p:embed/>
                </p:oleObj>
              </mc:Choice>
              <mc:Fallback>
                <p:oleObj name="Equation" r:id="rId10" imgW="1015920" imgH="215640" progId="Equation.3">
                  <p:embed/>
                  <p:pic>
                    <p:nvPicPr>
                      <p:cNvPr id="0" name="Picture 1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3352800"/>
                        <a:ext cx="1549400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903870"/>
              </p:ext>
            </p:extLst>
          </p:nvPr>
        </p:nvGraphicFramePr>
        <p:xfrm>
          <a:off x="4335463" y="3352800"/>
          <a:ext cx="1373187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2" name="Equation" r:id="rId12" imgW="901440" imgH="215640" progId="Equation.3">
                  <p:embed/>
                </p:oleObj>
              </mc:Choice>
              <mc:Fallback>
                <p:oleObj name="Equation" r:id="rId12" imgW="901440" imgH="215640" progId="Equation.3">
                  <p:embed/>
                  <p:pic>
                    <p:nvPicPr>
                      <p:cNvPr id="0" name="Picture 1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5463" y="3352800"/>
                        <a:ext cx="1373187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23</a:t>
            </a:fld>
            <a:endParaRPr lang="en-US" altLang="zh-CN" dirty="0" smtClean="0"/>
          </a:p>
        </p:txBody>
      </p:sp>
      <p:pic>
        <p:nvPicPr>
          <p:cNvPr id="71687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8238" y="1247775"/>
            <a:ext cx="6867525" cy="301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24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The Z-Transform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Properties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Inverse Z-Transform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Z-Transform of LTI system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INVERSE Z-TRANSFORM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Inverse Z-Transform by partial fraction expansion</a:t>
            </a:r>
          </a:p>
          <a:p>
            <a:pPr lvl="1"/>
            <a:r>
              <a:rPr lang="en-US" dirty="0" smtClean="0"/>
              <a:t>Expand  X(z) in the form of                ,                    , etc.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25</a:t>
            </a:fld>
            <a:endParaRPr lang="en-US" altLang="zh-CN" dirty="0" smtClean="0"/>
          </a:p>
        </p:txBody>
      </p:sp>
      <p:graphicFrame>
        <p:nvGraphicFramePr>
          <p:cNvPr id="74754" name="Object 2"/>
          <p:cNvGraphicFramePr>
            <a:graphicFrameLocks noChangeAspect="1"/>
          </p:cNvGraphicFramePr>
          <p:nvPr/>
        </p:nvGraphicFramePr>
        <p:xfrm>
          <a:off x="1447800" y="1447800"/>
          <a:ext cx="15303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36" name="Equation" r:id="rId3" imgW="1002865" imgH="393529" progId="Equation.3">
                  <p:embed/>
                </p:oleObj>
              </mc:Choice>
              <mc:Fallback>
                <p:oleObj name="Equation" r:id="rId3" imgW="1002865" imgH="393529" progId="Equation.3">
                  <p:embed/>
                  <p:pic>
                    <p:nvPicPr>
                      <p:cNvPr id="0" name="Picture 3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447800"/>
                        <a:ext cx="1530350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5" name="Object 3"/>
          <p:cNvGraphicFramePr>
            <a:graphicFrameLocks noChangeAspect="1"/>
          </p:cNvGraphicFramePr>
          <p:nvPr/>
        </p:nvGraphicFramePr>
        <p:xfrm>
          <a:off x="4464050" y="1428750"/>
          <a:ext cx="189865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37" name="Equation" r:id="rId5" imgW="1244600" imgH="419100" progId="Equation.3">
                  <p:embed/>
                </p:oleObj>
              </mc:Choice>
              <mc:Fallback>
                <p:oleObj name="Equation" r:id="rId5" imgW="1244600" imgH="419100" progId="Equation.3">
                  <p:embed/>
                  <p:pic>
                    <p:nvPicPr>
                      <p:cNvPr id="0" name="Picture 3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050" y="1428750"/>
                        <a:ext cx="1898650" cy="63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6" name="Object 4"/>
          <p:cNvGraphicFramePr>
            <a:graphicFrameLocks noChangeAspect="1"/>
          </p:cNvGraphicFramePr>
          <p:nvPr/>
        </p:nvGraphicFramePr>
        <p:xfrm>
          <a:off x="4267200" y="2667000"/>
          <a:ext cx="5619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38" name="Equation" r:id="rId7" imgW="368140" imgH="393529" progId="Equation.3">
                  <p:embed/>
                </p:oleObj>
              </mc:Choice>
              <mc:Fallback>
                <p:oleObj name="Equation" r:id="rId7" imgW="368140" imgH="393529" progId="Equation.3">
                  <p:embed/>
                  <p:pic>
                    <p:nvPicPr>
                      <p:cNvPr id="0" name="Picture 3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667000"/>
                        <a:ext cx="561975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5181600" y="2667000"/>
          <a:ext cx="8128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39" name="Equation" r:id="rId9" imgW="533169" imgH="418918" progId="Equation.3">
                  <p:embed/>
                </p:oleObj>
              </mc:Choice>
              <mc:Fallback>
                <p:oleObj name="Equation" r:id="rId9" imgW="533169" imgH="418918" progId="Equation.3">
                  <p:embed/>
                  <p:pic>
                    <p:nvPicPr>
                      <p:cNvPr id="0" name="Picture 3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667000"/>
                        <a:ext cx="812800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228600" y="3276600"/>
          <a:ext cx="2630487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40" name="Equation" r:id="rId11" imgW="1447800" imgH="431800" progId="Equation.3">
                  <p:embed/>
                </p:oleObj>
              </mc:Choice>
              <mc:Fallback>
                <p:oleObj name="Equation" r:id="rId11" imgW="1447800" imgH="431800" progId="Equation.3">
                  <p:embed/>
                  <p:pic>
                    <p:nvPicPr>
                      <p:cNvPr id="0" name="Picture 3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276600"/>
                        <a:ext cx="2630487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/>
        </p:nvGraphicFramePr>
        <p:xfrm>
          <a:off x="685800" y="4419600"/>
          <a:ext cx="173037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41" name="Equation" r:id="rId13" imgW="952087" imgH="444307" progId="Equation.3">
                  <p:embed/>
                </p:oleObj>
              </mc:Choice>
              <mc:Fallback>
                <p:oleObj name="Equation" r:id="rId13" imgW="952087" imgH="444307" progId="Equation.3">
                  <p:embed/>
                  <p:pic>
                    <p:nvPicPr>
                      <p:cNvPr id="0" name="Picture 3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419600"/>
                        <a:ext cx="1730375" cy="808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/>
        </p:nvGraphicFramePr>
        <p:xfrm>
          <a:off x="3048000" y="4419600"/>
          <a:ext cx="242093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42" name="Equation" r:id="rId15" imgW="1333500" imgH="457200" progId="Equation.3">
                  <p:embed/>
                </p:oleObj>
              </mc:Choice>
              <mc:Fallback>
                <p:oleObj name="Equation" r:id="rId15" imgW="1333500" imgH="457200" progId="Equation.3">
                  <p:embed/>
                  <p:pic>
                    <p:nvPicPr>
                      <p:cNvPr id="0" name="Picture 3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420938" cy="831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2" name="Object 4"/>
          <p:cNvGraphicFramePr>
            <a:graphicFrameLocks noChangeAspect="1"/>
          </p:cNvGraphicFramePr>
          <p:nvPr/>
        </p:nvGraphicFramePr>
        <p:xfrm>
          <a:off x="3505200" y="3352800"/>
          <a:ext cx="5421312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43" name="Equation" r:id="rId17" imgW="2984500" imgH="431800" progId="Equation.3">
                  <p:embed/>
                </p:oleObj>
              </mc:Choice>
              <mc:Fallback>
                <p:oleObj name="Equation" r:id="rId17" imgW="2984500" imgH="431800" progId="Equation.3">
                  <p:embed/>
                  <p:pic>
                    <p:nvPicPr>
                      <p:cNvPr id="0" name="Picture 3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352800"/>
                        <a:ext cx="5421312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4" name="Object 7"/>
          <p:cNvGraphicFramePr>
            <a:graphicFrameLocks noChangeAspect="1"/>
          </p:cNvGraphicFramePr>
          <p:nvPr/>
        </p:nvGraphicFramePr>
        <p:xfrm>
          <a:off x="6096000" y="4419600"/>
          <a:ext cx="251301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44" name="Equation" r:id="rId19" imgW="1384300" imgH="457200" progId="Equation.3">
                  <p:embed/>
                </p:oleObj>
              </mc:Choice>
              <mc:Fallback>
                <p:oleObj name="Equation" r:id="rId19" imgW="1384300" imgH="457200" progId="Equation.3">
                  <p:embed/>
                  <p:pic>
                    <p:nvPicPr>
                      <p:cNvPr id="0" name="Picture 3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419600"/>
                        <a:ext cx="2513012" cy="831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5" name="Object 13"/>
          <p:cNvGraphicFramePr>
            <a:graphicFrameLocks noChangeAspect="1"/>
          </p:cNvGraphicFramePr>
          <p:nvPr/>
        </p:nvGraphicFramePr>
        <p:xfrm>
          <a:off x="1600200" y="5334000"/>
          <a:ext cx="5745163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45" name="Equation" r:id="rId21" imgW="3162300" imgH="431800" progId="Equation.3">
                  <p:embed/>
                </p:oleObj>
              </mc:Choice>
              <mc:Fallback>
                <p:oleObj name="Equation" r:id="rId21" imgW="3162300" imgH="431800" progId="Equation.3">
                  <p:embed/>
                  <p:pic>
                    <p:nvPicPr>
                      <p:cNvPr id="0" name="Picture 3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334000"/>
                        <a:ext cx="5745163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INVERSE Z-TRANSFORM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inverse Z-Transform of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26</a:t>
            </a:fld>
            <a:endParaRPr lang="en-US" altLang="zh-CN" dirty="0" smtClean="0"/>
          </a:p>
        </p:txBody>
      </p:sp>
      <p:graphicFrame>
        <p:nvGraphicFramePr>
          <p:cNvPr id="75778" name="Object 2"/>
          <p:cNvGraphicFramePr>
            <a:graphicFrameLocks noChangeAspect="1"/>
          </p:cNvGraphicFramePr>
          <p:nvPr/>
        </p:nvGraphicFramePr>
        <p:xfrm>
          <a:off x="1981200" y="1676400"/>
          <a:ext cx="2227262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4" name="Equation" r:id="rId4" imgW="1459866" imgH="622030" progId="Equation.3">
                  <p:embed/>
                </p:oleObj>
              </mc:Choice>
              <mc:Fallback>
                <p:oleObj name="Equation" r:id="rId4" imgW="1459866" imgH="622030" progId="Equation.3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676400"/>
                        <a:ext cx="2227262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9" name="Object 3"/>
          <p:cNvGraphicFramePr>
            <a:graphicFrameLocks noChangeAspect="1"/>
          </p:cNvGraphicFramePr>
          <p:nvPr/>
        </p:nvGraphicFramePr>
        <p:xfrm>
          <a:off x="5867400" y="1752600"/>
          <a:ext cx="639763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5" name="Equation" r:id="rId6" imgW="418918" imgH="393529" progId="Equation.3">
                  <p:embed/>
                </p:oleObj>
              </mc:Choice>
              <mc:Fallback>
                <p:oleObj name="Equation" r:id="rId6" imgW="418918" imgH="393529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752600"/>
                        <a:ext cx="639763" cy="601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INVERSE Z-TRANSFORM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Solve the difference equation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27</a:t>
            </a:fld>
            <a:endParaRPr lang="en-US" altLang="zh-CN" dirty="0" smtClean="0"/>
          </a:p>
        </p:txBody>
      </p:sp>
      <p:graphicFrame>
        <p:nvGraphicFramePr>
          <p:cNvPr id="76802" name="Object 2"/>
          <p:cNvGraphicFramePr>
            <a:graphicFrameLocks noChangeAspect="1"/>
          </p:cNvGraphicFramePr>
          <p:nvPr/>
        </p:nvGraphicFramePr>
        <p:xfrm>
          <a:off x="2667000" y="1371600"/>
          <a:ext cx="34290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60" name="Equation" r:id="rId4" imgW="2247900" imgH="393700" progId="Equation.3">
                  <p:embed/>
                </p:oleObj>
              </mc:Choice>
              <mc:Fallback>
                <p:oleObj name="Equation" r:id="rId4" imgW="2247900" imgH="39370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371600"/>
                        <a:ext cx="3429000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INVERSE Z-TRANSFORM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convolution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28</a:t>
            </a:fld>
            <a:endParaRPr lang="en-US" altLang="zh-CN" dirty="0" smtClean="0"/>
          </a:p>
        </p:txBody>
      </p:sp>
      <p:graphicFrame>
        <p:nvGraphicFramePr>
          <p:cNvPr id="96258" name="Object 2"/>
          <p:cNvGraphicFramePr>
            <a:graphicFrameLocks noChangeAspect="1"/>
          </p:cNvGraphicFramePr>
          <p:nvPr/>
        </p:nvGraphicFramePr>
        <p:xfrm>
          <a:off x="3733800" y="1295400"/>
          <a:ext cx="154781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85" name="Equation" r:id="rId4" imgW="1016000" imgH="228600" progId="Equation.3">
                  <p:embed/>
                </p:oleObj>
              </mc:Choice>
              <mc:Fallback>
                <p:oleObj name="Equation" r:id="rId4" imgW="1016000" imgH="2286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295400"/>
                        <a:ext cx="1547813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INVERSE Z-TRANSFORM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following convolutions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29</a:t>
            </a:fld>
            <a:endParaRPr lang="en-US" altLang="zh-CN" dirty="0" smtClean="0"/>
          </a:p>
        </p:txBody>
      </p:sp>
      <p:graphicFrame>
        <p:nvGraphicFramePr>
          <p:cNvPr id="96258" name="Object 2"/>
          <p:cNvGraphicFramePr>
            <a:graphicFrameLocks noChangeAspect="1"/>
          </p:cNvGraphicFramePr>
          <p:nvPr/>
        </p:nvGraphicFramePr>
        <p:xfrm>
          <a:off x="1752600" y="1676400"/>
          <a:ext cx="16637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36" name="Equation" r:id="rId4" imgW="1091726" imgH="228501" progId="Equation.3">
                  <p:embed/>
                </p:oleObj>
              </mc:Choice>
              <mc:Fallback>
                <p:oleObj name="Equation" r:id="rId4" imgW="1091726" imgH="228501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676400"/>
                        <a:ext cx="166370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1828800" y="3505200"/>
          <a:ext cx="16637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37" name="Equation" r:id="rId6" imgW="1091726" imgH="228501" progId="Equation.3">
                  <p:embed/>
                </p:oleObj>
              </mc:Choice>
              <mc:Fallback>
                <p:oleObj name="Equation" r:id="rId6" imgW="1091726" imgH="228501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505200"/>
                        <a:ext cx="166370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30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The Z-Transform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Properties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Inverse Z-Transform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Z-Transform of LTI system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533400" y="3048000"/>
            <a:ext cx="7772400" cy="3200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Transfer function of discrete-time LTI system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Z-transform on both sides: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LTI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1181100"/>
          </a:xfrm>
        </p:spPr>
        <p:txBody>
          <a:bodyPr/>
          <a:lstStyle/>
          <a:p>
            <a:r>
              <a:rPr lang="en-US" dirty="0" smtClean="0"/>
              <a:t>Transfer function of discrete-time LTI system</a:t>
            </a:r>
          </a:p>
          <a:p>
            <a:pPr lvl="1"/>
            <a:r>
              <a:rPr lang="en-US" dirty="0" smtClean="0"/>
              <a:t>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31</a:t>
            </a:fld>
            <a:endParaRPr lang="en-US" altLang="zh-CN" dirty="0" smtClean="0"/>
          </a:p>
        </p:txBody>
      </p:sp>
      <p:graphicFrame>
        <p:nvGraphicFramePr>
          <p:cNvPr id="77826" name="Object 2"/>
          <p:cNvGraphicFramePr>
            <a:graphicFrameLocks noChangeAspect="1"/>
          </p:cNvGraphicFramePr>
          <p:nvPr/>
        </p:nvGraphicFramePr>
        <p:xfrm>
          <a:off x="2743200" y="1371600"/>
          <a:ext cx="1905000" cy="323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74" name="Equation" r:id="rId3" imgW="1193800" imgH="203200" progId="Equation.3">
                  <p:embed/>
                </p:oleObj>
              </mc:Choice>
              <mc:Fallback>
                <p:oleObj name="Equation" r:id="rId3" imgW="1193800" imgH="203200" progId="Equation.3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371600"/>
                        <a:ext cx="1905000" cy="3235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7" name="Object 3"/>
          <p:cNvGraphicFramePr>
            <a:graphicFrameLocks noChangeAspect="1"/>
          </p:cNvGraphicFramePr>
          <p:nvPr/>
        </p:nvGraphicFramePr>
        <p:xfrm>
          <a:off x="2895600" y="1828800"/>
          <a:ext cx="1676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75" name="Equation" r:id="rId5" imgW="1117115" imgH="203112" progId="Equation.3">
                  <p:embed/>
                </p:oleObj>
              </mc:Choice>
              <mc:Fallback>
                <p:oleObj name="Equation" r:id="rId5" imgW="1117115" imgH="203112" progId="Equation.3">
                  <p:embed/>
                  <p:pic>
                    <p:nvPicPr>
                      <p:cNvPr id="0" name="Picture 2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828800"/>
                        <a:ext cx="1676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8" name="Object 4"/>
          <p:cNvGraphicFramePr>
            <a:graphicFrameLocks noChangeAspect="1"/>
          </p:cNvGraphicFramePr>
          <p:nvPr/>
        </p:nvGraphicFramePr>
        <p:xfrm>
          <a:off x="2971800" y="2209800"/>
          <a:ext cx="12954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76" name="Equation" r:id="rId7" imgW="863225" imgH="418918" progId="Equation.3">
                  <p:embed/>
                </p:oleObj>
              </mc:Choice>
              <mc:Fallback>
                <p:oleObj name="Equation" r:id="rId7" imgW="863225" imgH="418918" progId="Equation.3">
                  <p:embed/>
                  <p:pic>
                    <p:nvPicPr>
                      <p:cNvPr id="0" name="Picture 2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209800"/>
                        <a:ext cx="1295400" cy="6286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Object 5"/>
          <p:cNvGraphicFramePr>
            <a:graphicFrameLocks noChangeAspect="1"/>
          </p:cNvGraphicFramePr>
          <p:nvPr/>
        </p:nvGraphicFramePr>
        <p:xfrm>
          <a:off x="2667000" y="3429000"/>
          <a:ext cx="3048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77" name="Equation" r:id="rId9" imgW="1790700" imgH="431800" progId="Equation.3">
                  <p:embed/>
                </p:oleObj>
              </mc:Choice>
              <mc:Fallback>
                <p:oleObj name="Equation" r:id="rId9" imgW="1790700" imgH="431800" progId="Equation.3">
                  <p:embed/>
                  <p:pic>
                    <p:nvPicPr>
                      <p:cNvPr id="0" name="Picture 2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30480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0" name="Object 6"/>
          <p:cNvGraphicFramePr>
            <a:graphicFrameLocks noChangeAspect="1"/>
          </p:cNvGraphicFramePr>
          <p:nvPr/>
        </p:nvGraphicFramePr>
        <p:xfrm>
          <a:off x="2667000" y="4419600"/>
          <a:ext cx="300513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78" name="Equation" r:id="rId11" imgW="1765300" imgH="431800" progId="Equation.3">
                  <p:embed/>
                </p:oleObj>
              </mc:Choice>
              <mc:Fallback>
                <p:oleObj name="Equation" r:id="rId11" imgW="1765300" imgH="431800" progId="Equation.3">
                  <p:embed/>
                  <p:pic>
                    <p:nvPicPr>
                      <p:cNvPr id="0" name="Picture 2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19600"/>
                        <a:ext cx="3005137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1" name="Object 7"/>
          <p:cNvGraphicFramePr>
            <a:graphicFrameLocks noChangeAspect="1"/>
          </p:cNvGraphicFramePr>
          <p:nvPr/>
        </p:nvGraphicFramePr>
        <p:xfrm>
          <a:off x="3352800" y="5181600"/>
          <a:ext cx="1771650" cy="140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79" name="Equation" r:id="rId13" imgW="1041400" imgH="838200" progId="Equation.3">
                  <p:embed/>
                </p:oleObj>
              </mc:Choice>
              <mc:Fallback>
                <p:oleObj name="Equation" r:id="rId13" imgW="1041400" imgH="838200" progId="Equation.3">
                  <p:embed/>
                  <p:pic>
                    <p:nvPicPr>
                      <p:cNvPr id="0" name="Picture 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181600"/>
                        <a:ext cx="1771650" cy="14049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LTI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Let the step response of a LTI system be as follows. Find the transfer function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32</a:t>
            </a:fld>
            <a:endParaRPr lang="en-US" altLang="zh-CN" dirty="0" smtClean="0"/>
          </a:p>
        </p:txBody>
      </p:sp>
      <p:graphicFrame>
        <p:nvGraphicFramePr>
          <p:cNvPr id="78850" name="Object 2"/>
          <p:cNvGraphicFramePr>
            <a:graphicFrameLocks noChangeAspect="1"/>
          </p:cNvGraphicFramePr>
          <p:nvPr/>
        </p:nvGraphicFramePr>
        <p:xfrm>
          <a:off x="1905000" y="1828800"/>
          <a:ext cx="40767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8" name="Equation" r:id="rId4" imgW="2717800" imgH="469900" progId="Equation.3">
                  <p:embed/>
                </p:oleObj>
              </mc:Choice>
              <mc:Fallback>
                <p:oleObj name="Equation" r:id="rId4" imgW="2717800" imgH="46990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828800"/>
                        <a:ext cx="407670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LTI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Zeros and poles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33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449513" y="1474788"/>
          <a:ext cx="374015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72" name="Equation" r:id="rId3" imgW="2260600" imgH="431800" progId="Equation.3">
                  <p:embed/>
                </p:oleObj>
              </mc:Choice>
              <mc:Fallback>
                <p:oleObj name="Equation" r:id="rId3" imgW="2260600" imgH="431800" progId="Equation.3">
                  <p:embed/>
                  <p:pic>
                    <p:nvPicPr>
                      <p:cNvPr id="0" name="Picture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1474788"/>
                        <a:ext cx="3740150" cy="7143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46100" y="2362200"/>
            <a:ext cx="7772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Zeros: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Poles: 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482850" y="2363788"/>
          <a:ext cx="12827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73" name="Equation" r:id="rId5" imgW="774364" imgH="215806" progId="Equation.3">
                  <p:embed/>
                </p:oleObj>
              </mc:Choice>
              <mc:Fallback>
                <p:oleObj name="Equation" r:id="rId5" imgW="774364" imgH="215806" progId="Equation.3">
                  <p:embed/>
                  <p:pic>
                    <p:nvPicPr>
                      <p:cNvPr id="0" name="Picture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2363788"/>
                        <a:ext cx="1282700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454275" y="2786063"/>
          <a:ext cx="13668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74" name="Equation" r:id="rId7" imgW="825500" imgH="228600" progId="Equation.3">
                  <p:embed/>
                </p:oleObj>
              </mc:Choice>
              <mc:Fallback>
                <p:oleObj name="Equation" r:id="rId7" imgW="825500" imgH="228600" progId="Equation.3">
                  <p:embed/>
                  <p:pic>
                    <p:nvPicPr>
                      <p:cNvPr id="0" name="Picture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2786063"/>
                        <a:ext cx="1366838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2"/>
          <p:cNvSpPr txBox="1">
            <a:spLocks/>
          </p:cNvSpPr>
          <p:nvPr/>
        </p:nvSpPr>
        <p:spPr>
          <a:xfrm>
            <a:off x="381000" y="3276600"/>
            <a:ext cx="7772400" cy="2819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Stability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kumimoji="0" lang="en-US" sz="1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discrete-time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LTI system is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able if all the poles are inside the unit circle.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kumimoji="0" lang="en-US" sz="1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discrete-time LTI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system is unstable if at least one pole is on or outside the unit circle.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noProof="0" dirty="0" smtClean="0">
                <a:latin typeface="Times New Roman" pitchFamily="18" charset="0"/>
                <a:cs typeface="Times New Roman" pitchFamily="18" charset="0"/>
              </a:rPr>
              <a:t>Review: a continuous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-time LTI system is stable if all the poles are on the left half plane.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LTI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LTI system described by the difference equation. Find the transfer function and the zeros and poles. Is the system stable?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34</a:t>
            </a:fld>
            <a:endParaRPr lang="en-US" altLang="zh-CN" dirty="0" smtClean="0"/>
          </a:p>
        </p:txBody>
      </p:sp>
      <p:graphicFrame>
        <p:nvGraphicFramePr>
          <p:cNvPr id="79874" name="Object 2"/>
          <p:cNvGraphicFramePr>
            <a:graphicFrameLocks noChangeAspect="1"/>
          </p:cNvGraphicFramePr>
          <p:nvPr/>
        </p:nvGraphicFramePr>
        <p:xfrm>
          <a:off x="2286000" y="1828800"/>
          <a:ext cx="43434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32" name="Equation" r:id="rId4" imgW="2895600" imgH="393700" progId="Equation.3">
                  <p:embed/>
                </p:oleObj>
              </mc:Choice>
              <mc:Fallback>
                <p:oleObj name="Equation" r:id="rId4" imgW="2895600" imgH="39370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828800"/>
                        <a:ext cx="43434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LTI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transfer function of the system shown in the following diagram. If k = 1, is the system stable?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35</a:t>
            </a:fld>
            <a:endParaRPr lang="en-US" altLang="zh-CN" dirty="0" smtClean="0"/>
          </a:p>
        </p:txBody>
      </p: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209800"/>
            <a:ext cx="3048000" cy="927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5848529"/>
              </p:ext>
            </p:extLst>
          </p:nvPr>
        </p:nvGraphicFramePr>
        <p:xfrm>
          <a:off x="1655763" y="2209800"/>
          <a:ext cx="2586037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16" name="Equation" r:id="rId5" imgW="1562040" imgH="419040" progId="Equation.3">
                  <p:embed/>
                </p:oleObj>
              </mc:Choice>
              <mc:Fallback>
                <p:oleObj name="Equation" r:id="rId5" imgW="1562040" imgH="41904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2209800"/>
                        <a:ext cx="2586037" cy="693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LTI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Matlab</a:t>
            </a:r>
            <a:endParaRPr lang="en-US" dirty="0" smtClean="0"/>
          </a:p>
          <a:p>
            <a:pPr lvl="1"/>
            <a:r>
              <a:rPr lang="en-US" dirty="0" smtClean="0"/>
              <a:t>Example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36</a:t>
            </a:fld>
            <a:endParaRPr lang="en-US" altLang="zh-CN" dirty="0" smtClean="0"/>
          </a:p>
        </p:txBody>
      </p:sp>
      <p:graphicFrame>
        <p:nvGraphicFramePr>
          <p:cNvPr id="81922" name="Object 4"/>
          <p:cNvGraphicFramePr>
            <a:graphicFrameLocks noChangeAspect="1"/>
          </p:cNvGraphicFramePr>
          <p:nvPr/>
        </p:nvGraphicFramePr>
        <p:xfrm>
          <a:off x="3290888" y="1143000"/>
          <a:ext cx="231140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0" name="Equation" r:id="rId3" imgW="1397000" imgH="419100" progId="Equation.3">
                  <p:embed/>
                </p:oleObj>
              </mc:Choice>
              <mc:Fallback>
                <p:oleObj name="Equation" r:id="rId3" imgW="1397000" imgH="419100" progId="Equation.3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8" y="1143000"/>
                        <a:ext cx="2311400" cy="693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1981200" y="1981200"/>
            <a:ext cx="4572000" cy="17543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dirty="0" smtClean="0"/>
              <a:t>% numerator coefficients </a:t>
            </a:r>
          </a:p>
          <a:p>
            <a:r>
              <a:rPr lang="en-US" dirty="0" smtClean="0"/>
              <a:t>b = [2, 0, 1];</a:t>
            </a:r>
          </a:p>
          <a:p>
            <a:r>
              <a:rPr lang="en-US" dirty="0" smtClean="0"/>
              <a:t>% denominator coefficients</a:t>
            </a:r>
          </a:p>
          <a:p>
            <a:r>
              <a:rPr lang="en-US" dirty="0" smtClean="0"/>
              <a:t>a = [1, 3, 2];</a:t>
            </a:r>
          </a:p>
          <a:p>
            <a:r>
              <a:rPr lang="en-US" dirty="0" smtClean="0"/>
              <a:t> </a:t>
            </a:r>
          </a:p>
          <a:p>
            <a:r>
              <a:rPr lang="pt-BR" dirty="0" smtClean="0">
                <a:solidFill>
                  <a:srgbClr val="FF0000"/>
                </a:solidFill>
              </a:rPr>
              <a:t>[r, p, k] = residuez(b, a)</a:t>
            </a:r>
          </a:p>
        </p:txBody>
      </p:sp>
      <p:graphicFrame>
        <p:nvGraphicFramePr>
          <p:cNvPr id="81923" name="Object 4"/>
          <p:cNvGraphicFramePr>
            <a:graphicFrameLocks noChangeAspect="1"/>
          </p:cNvGraphicFramePr>
          <p:nvPr/>
        </p:nvGraphicFramePr>
        <p:xfrm>
          <a:off x="1108075" y="4811713"/>
          <a:ext cx="64103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1" name="Equation" r:id="rId5" imgW="3873500" imgH="431800" progId="Equation.3">
                  <p:embed/>
                </p:oleObj>
              </mc:Choice>
              <mc:Fallback>
                <p:oleObj name="Equation" r:id="rId5" imgW="3873500" imgH="431800" progId="Equation.3">
                  <p:embed/>
                  <p:pic>
                    <p:nvPicPr>
                      <p:cNvPr id="0" name="Picture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4811713"/>
                        <a:ext cx="6410325" cy="714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1981200" y="3962400"/>
            <a:ext cx="457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r = [4.5, -3], p =[-2, -1], k = 0.5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LTI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Matlab</a:t>
            </a:r>
            <a:endParaRPr lang="en-US" dirty="0" smtClean="0"/>
          </a:p>
          <a:p>
            <a:pPr lvl="1"/>
            <a:r>
              <a:rPr lang="en-US" dirty="0" smtClean="0"/>
              <a:t>Example (Cont’d)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37</a:t>
            </a:fld>
            <a:endParaRPr lang="en-US" altLang="zh-CN" dirty="0" smtClean="0"/>
          </a:p>
        </p:txBody>
      </p:sp>
      <p:graphicFrame>
        <p:nvGraphicFramePr>
          <p:cNvPr id="82946" name="Object 4"/>
          <p:cNvGraphicFramePr>
            <a:graphicFrameLocks noChangeAspect="1"/>
          </p:cNvGraphicFramePr>
          <p:nvPr/>
        </p:nvGraphicFramePr>
        <p:xfrm>
          <a:off x="3581400" y="1066800"/>
          <a:ext cx="231140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04" name="Equation" r:id="rId3" imgW="1397000" imgH="419100" progId="Equation.3">
                  <p:embed/>
                </p:oleObj>
              </mc:Choice>
              <mc:Fallback>
                <p:oleObj name="Equation" r:id="rId3" imgW="1397000" imgH="41910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066800"/>
                        <a:ext cx="2311400" cy="693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2286000" y="1905000"/>
            <a:ext cx="4572000" cy="480131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% numerator </a:t>
            </a:r>
            <a:r>
              <a:rPr lang="en-US" dirty="0" err="1" smtClean="0"/>
              <a:t>coeffcients</a:t>
            </a:r>
            <a:r>
              <a:rPr lang="en-US" dirty="0" smtClean="0"/>
              <a:t> </a:t>
            </a:r>
          </a:p>
          <a:p>
            <a:r>
              <a:rPr lang="en-US" dirty="0" smtClean="0"/>
              <a:t>b = [2, 0, 1];</a:t>
            </a:r>
          </a:p>
          <a:p>
            <a:r>
              <a:rPr lang="en-US" dirty="0" smtClean="0"/>
              <a:t>% denominator coefficients</a:t>
            </a:r>
          </a:p>
          <a:p>
            <a:r>
              <a:rPr lang="en-US" dirty="0" smtClean="0"/>
              <a:t>a = [1, 3, 2];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 % partial fraction expansion</a:t>
            </a:r>
          </a:p>
          <a:p>
            <a:r>
              <a:rPr lang="pt-BR" dirty="0" smtClean="0">
                <a:solidFill>
                  <a:srgbClr val="FF0000"/>
                </a:solidFill>
              </a:rPr>
              <a:t>[r, p, k] = residuez(b, a)</a:t>
            </a:r>
          </a:p>
          <a:p>
            <a:endParaRPr lang="pt-BR" dirty="0" smtClean="0">
              <a:solidFill>
                <a:srgbClr val="FF0000"/>
              </a:solidFill>
            </a:endParaRPr>
          </a:p>
          <a:p>
            <a:r>
              <a:rPr lang="pt-BR" dirty="0" smtClean="0">
                <a:solidFill>
                  <a:srgbClr val="FF0000"/>
                </a:solidFill>
              </a:rPr>
              <a:t>% find the zeros</a:t>
            </a:r>
          </a:p>
          <a:p>
            <a:r>
              <a:rPr lang="pt-BR" dirty="0" smtClean="0">
                <a:solidFill>
                  <a:srgbClr val="FF0000"/>
                </a:solidFill>
              </a:rPr>
              <a:t>z = roots(b);</a:t>
            </a:r>
          </a:p>
          <a:p>
            <a:endParaRPr lang="pt-BR" dirty="0" smtClean="0">
              <a:solidFill>
                <a:srgbClr val="FF0000"/>
              </a:solidFill>
            </a:endParaRPr>
          </a:p>
          <a:p>
            <a:r>
              <a:rPr lang="pt-BR" dirty="0" smtClean="0">
                <a:solidFill>
                  <a:srgbClr val="FF0000"/>
                </a:solidFill>
              </a:rPr>
              <a:t>% plot the poles and zeros</a:t>
            </a:r>
          </a:p>
          <a:p>
            <a:r>
              <a:rPr lang="pt-BR" dirty="0" smtClean="0">
                <a:solidFill>
                  <a:srgbClr val="FF0000"/>
                </a:solidFill>
              </a:rPr>
              <a:t>zplane(b, a);</a:t>
            </a:r>
          </a:p>
          <a:p>
            <a:endParaRPr lang="pt-BR" dirty="0" smtClean="0">
              <a:solidFill>
                <a:srgbClr val="FF0000"/>
              </a:solidFill>
            </a:endParaRPr>
          </a:p>
          <a:p>
            <a:r>
              <a:rPr lang="pt-BR" dirty="0" smtClean="0">
                <a:solidFill>
                  <a:srgbClr val="FF0000"/>
                </a:solidFill>
              </a:rPr>
              <a:t>% find the output to the system with an input x</a:t>
            </a:r>
          </a:p>
          <a:p>
            <a:r>
              <a:rPr lang="pt-BR" dirty="0" smtClean="0">
                <a:solidFill>
                  <a:srgbClr val="FF0000"/>
                </a:solidFill>
              </a:rPr>
              <a:t>x = [2, 1, -2, 3];</a:t>
            </a:r>
          </a:p>
          <a:p>
            <a:r>
              <a:rPr lang="pt-BR" dirty="0" smtClean="0">
                <a:solidFill>
                  <a:srgbClr val="FF0000"/>
                </a:solidFill>
              </a:rPr>
              <a:t>y = filter(b, a, x);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LTI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Matlab</a:t>
            </a:r>
            <a:endParaRPr lang="en-US" dirty="0" smtClean="0"/>
          </a:p>
          <a:p>
            <a:pPr lvl="1"/>
            <a:r>
              <a:rPr lang="en-US" dirty="0" smtClean="0"/>
              <a:t>Example (multiple poles)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38</a:t>
            </a:fld>
            <a:endParaRPr lang="en-US" altLang="zh-CN" dirty="0" smtClean="0"/>
          </a:p>
        </p:txBody>
      </p:sp>
      <p:graphicFrame>
        <p:nvGraphicFramePr>
          <p:cNvPr id="82946" name="Object 4"/>
          <p:cNvGraphicFramePr>
            <a:graphicFrameLocks noChangeAspect="1"/>
          </p:cNvGraphicFramePr>
          <p:nvPr/>
        </p:nvGraphicFramePr>
        <p:xfrm>
          <a:off x="4343400" y="990600"/>
          <a:ext cx="231140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1" name="Equation" r:id="rId4" imgW="1396800" imgH="419040" progId="Equation.3">
                  <p:embed/>
                </p:oleObj>
              </mc:Choice>
              <mc:Fallback>
                <p:oleObj name="Equation" r:id="rId4" imgW="139680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990600"/>
                        <a:ext cx="2311400" cy="693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2286000" y="1752600"/>
            <a:ext cx="4572000" cy="20313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% numerator </a:t>
            </a:r>
            <a:r>
              <a:rPr lang="en-US" dirty="0" err="1" smtClean="0"/>
              <a:t>coeffcients</a:t>
            </a:r>
            <a:r>
              <a:rPr lang="en-US" dirty="0" smtClean="0"/>
              <a:t> </a:t>
            </a:r>
          </a:p>
          <a:p>
            <a:r>
              <a:rPr lang="en-US" dirty="0" smtClean="0"/>
              <a:t>b = [2, 0, 1];</a:t>
            </a:r>
          </a:p>
          <a:p>
            <a:r>
              <a:rPr lang="en-US" dirty="0" smtClean="0"/>
              <a:t>% denominator coefficients</a:t>
            </a:r>
          </a:p>
          <a:p>
            <a:r>
              <a:rPr lang="en-US" dirty="0" smtClean="0"/>
              <a:t>a = [1, 4, 4];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 % partial fraction expansion</a:t>
            </a:r>
          </a:p>
          <a:p>
            <a:r>
              <a:rPr lang="pt-BR" dirty="0" smtClean="0">
                <a:solidFill>
                  <a:srgbClr val="FF0000"/>
                </a:solidFill>
              </a:rPr>
              <a:t>[r, p, k] = residuez(b, a)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1524000" y="4191000"/>
          <a:ext cx="607695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2" name="Equation" r:id="rId6" imgW="3670200" imgH="431640" progId="Equation.3">
                  <p:embed/>
                </p:oleObj>
              </mc:Choice>
              <mc:Fallback>
                <p:oleObj name="Equation" r:id="rId6" imgW="367020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191000"/>
                        <a:ext cx="6076950" cy="715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2057400" y="3886200"/>
            <a:ext cx="457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r = [-0.5, 2.25], p =[-2, -2], k = 0</a:t>
            </a:r>
          </a:p>
        </p:txBody>
      </p:sp>
      <p:graphicFrame>
        <p:nvGraphicFramePr>
          <p:cNvPr id="1105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718667"/>
              </p:ext>
            </p:extLst>
          </p:nvPr>
        </p:nvGraphicFramePr>
        <p:xfrm>
          <a:off x="2347913" y="5715000"/>
          <a:ext cx="5005387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3" name="Equation" r:id="rId8" imgW="3022560" imgH="228600" progId="Equation.3">
                  <p:embed/>
                </p:oleObj>
              </mc:Choice>
              <mc:Fallback>
                <p:oleObj name="Equation" r:id="rId8" imgW="3022560" imgH="2286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913" y="5715000"/>
                        <a:ext cx="5005387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0" name="Object 8"/>
          <p:cNvGraphicFramePr>
            <a:graphicFrameLocks noChangeAspect="1"/>
          </p:cNvGraphicFramePr>
          <p:nvPr/>
        </p:nvGraphicFramePr>
        <p:xfrm>
          <a:off x="152400" y="5638800"/>
          <a:ext cx="1892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4" name="Equation" r:id="rId10" imgW="1244600" imgH="419100" progId="Equation.3">
                  <p:embed/>
                </p:oleObj>
              </mc:Choice>
              <mc:Fallback>
                <p:oleObj name="Equation" r:id="rId10" imgW="1244600" imgH="4191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638800"/>
                        <a:ext cx="1892300" cy="635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5454</TotalTime>
  <Words>1315</Words>
  <Application>Microsoft Office PowerPoint</Application>
  <PresentationFormat>On-screen Show (4:3)</PresentationFormat>
  <Paragraphs>349</Paragraphs>
  <Slides>38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宋体</vt:lpstr>
      <vt:lpstr>Arial</vt:lpstr>
      <vt:lpstr>Arial Black</vt:lpstr>
      <vt:lpstr>Calibri</vt:lpstr>
      <vt:lpstr>Times New Roman</vt:lpstr>
      <vt:lpstr>Wingdings</vt:lpstr>
      <vt:lpstr>Office Theme</vt:lpstr>
      <vt:lpstr>Equation</vt:lpstr>
      <vt:lpstr>Microsoft Equation 3.0</vt:lpstr>
      <vt:lpstr>ELEG 5173L Digital Signal Processing  Ch. 2 The Z-Transform</vt:lpstr>
      <vt:lpstr>OUTLINE</vt:lpstr>
      <vt:lpstr>Z-TRANSFORM</vt:lpstr>
      <vt:lpstr>Z-TRANSFORM</vt:lpstr>
      <vt:lpstr>Z-TRANSFORM</vt:lpstr>
      <vt:lpstr>Z-TRANSFORM: CONVERGENCE</vt:lpstr>
      <vt:lpstr>Z-TRANSFORM</vt:lpstr>
      <vt:lpstr>Z-TRANSFORM</vt:lpstr>
      <vt:lpstr>Z-TRANSFORM: TRANSFORM TABLE</vt:lpstr>
      <vt:lpstr>Z-TRANSFORM: TRANSFORM TABLE</vt:lpstr>
      <vt:lpstr>OUTLINE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OUTLINE</vt:lpstr>
      <vt:lpstr>INVERSE Z-TRANSFORM</vt:lpstr>
      <vt:lpstr>INVERSE Z-TRANSFORM</vt:lpstr>
      <vt:lpstr>INVERSE Z-TRANSFORM</vt:lpstr>
      <vt:lpstr>INVERSE Z-TRANSFORM</vt:lpstr>
      <vt:lpstr>INVERSE Z-TRANSFORM</vt:lpstr>
      <vt:lpstr>OUTLINE</vt:lpstr>
      <vt:lpstr>LTI SYSTEM</vt:lpstr>
      <vt:lpstr>LTI SYSTEM</vt:lpstr>
      <vt:lpstr>LTI SYSTEM</vt:lpstr>
      <vt:lpstr>LTI SYSTEM</vt:lpstr>
      <vt:lpstr>LTI SYSTEM</vt:lpstr>
      <vt:lpstr>LTI SYSTEM</vt:lpstr>
      <vt:lpstr>LTI SYSTEM</vt:lpstr>
      <vt:lpstr>LTI SYSTEM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jingxianw@gmail.com</cp:lastModifiedBy>
  <cp:revision>388</cp:revision>
  <dcterms:created xsi:type="dcterms:W3CDTF">2006-08-16T00:00:00Z</dcterms:created>
  <dcterms:modified xsi:type="dcterms:W3CDTF">2016-02-10T19:56:34Z</dcterms:modified>
</cp:coreProperties>
</file>