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0"/>
  </p:notesMasterIdLst>
  <p:sldIdLst>
    <p:sldId id="256" r:id="rId2"/>
    <p:sldId id="261" r:id="rId3"/>
    <p:sldId id="268" r:id="rId4"/>
    <p:sldId id="269" r:id="rId5"/>
    <p:sldId id="272" r:id="rId6"/>
    <p:sldId id="273" r:id="rId7"/>
    <p:sldId id="274" r:id="rId8"/>
    <p:sldId id="271" r:id="rId9"/>
    <p:sldId id="270" r:id="rId10"/>
    <p:sldId id="275" r:id="rId11"/>
    <p:sldId id="301" r:id="rId12"/>
    <p:sldId id="277" r:id="rId13"/>
    <p:sldId id="278" r:id="rId14"/>
    <p:sldId id="279" r:id="rId15"/>
    <p:sldId id="280" r:id="rId16"/>
    <p:sldId id="281" r:id="rId17"/>
    <p:sldId id="300" r:id="rId18"/>
    <p:sldId id="282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4" r:id="rId29"/>
    <p:sldId id="295" r:id="rId30"/>
    <p:sldId id="296" r:id="rId31"/>
    <p:sldId id="297" r:id="rId32"/>
    <p:sldId id="298" r:id="rId33"/>
    <p:sldId id="299" r:id="rId34"/>
    <p:sldId id="302" r:id="rId35"/>
    <p:sldId id="303" r:id="rId36"/>
    <p:sldId id="304" r:id="rId37"/>
    <p:sldId id="305" r:id="rId38"/>
    <p:sldId id="306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FFFF99"/>
    <a:srgbClr val="0000CC"/>
    <a:srgbClr val="0033CC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141" autoAdjust="0"/>
  </p:normalViewPr>
  <p:slideViewPr>
    <p:cSldViewPr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7" Type="http://schemas.openxmlformats.org/officeDocument/2006/relationships/image" Target="../media/image26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7" Type="http://schemas.openxmlformats.org/officeDocument/2006/relationships/image" Target="../media/image42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3" Type="http://schemas.openxmlformats.org/officeDocument/2006/relationships/image" Target="../media/image65.wmf"/><Relationship Id="rId7" Type="http://schemas.openxmlformats.org/officeDocument/2006/relationships/image" Target="../media/image69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10" Type="http://schemas.openxmlformats.org/officeDocument/2006/relationships/image" Target="../media/image72.wmf"/><Relationship Id="rId4" Type="http://schemas.openxmlformats.org/officeDocument/2006/relationships/image" Target="../media/image66.wmf"/><Relationship Id="rId9" Type="http://schemas.openxmlformats.org/officeDocument/2006/relationships/image" Target="../media/image71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6" Type="http://schemas.openxmlformats.org/officeDocument/2006/relationships/image" Target="../media/image78.wmf"/><Relationship Id="rId5" Type="http://schemas.openxmlformats.org/officeDocument/2006/relationships/image" Target="../media/image77.wmf"/><Relationship Id="rId4" Type="http://schemas.openxmlformats.org/officeDocument/2006/relationships/image" Target="../media/image76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7" Type="http://schemas.openxmlformats.org/officeDocument/2006/relationships/image" Target="../media/image84.wmf"/><Relationship Id="rId2" Type="http://schemas.openxmlformats.org/officeDocument/2006/relationships/image" Target="../media/image79.wmf"/><Relationship Id="rId1" Type="http://schemas.openxmlformats.org/officeDocument/2006/relationships/image" Target="../media/image76.wmf"/><Relationship Id="rId6" Type="http://schemas.openxmlformats.org/officeDocument/2006/relationships/image" Target="../media/image83.wmf"/><Relationship Id="rId5" Type="http://schemas.openxmlformats.org/officeDocument/2006/relationships/image" Target="../media/image82.wmf"/><Relationship Id="rId4" Type="http://schemas.openxmlformats.org/officeDocument/2006/relationships/image" Target="../media/image81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6" Type="http://schemas.openxmlformats.org/officeDocument/2006/relationships/image" Target="../media/image90.wmf"/><Relationship Id="rId5" Type="http://schemas.openxmlformats.org/officeDocument/2006/relationships/image" Target="../media/image89.wmf"/><Relationship Id="rId4" Type="http://schemas.openxmlformats.org/officeDocument/2006/relationships/image" Target="../media/image88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4" Type="http://schemas.openxmlformats.org/officeDocument/2006/relationships/image" Target="../media/image94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5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5" Type="http://schemas.openxmlformats.org/officeDocument/2006/relationships/image" Target="../media/image103.wmf"/><Relationship Id="rId4" Type="http://schemas.openxmlformats.org/officeDocument/2006/relationships/image" Target="../media/image102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3" Type="http://schemas.openxmlformats.org/officeDocument/2006/relationships/image" Target="../media/image106.wmf"/><Relationship Id="rId7" Type="http://schemas.openxmlformats.org/officeDocument/2006/relationships/image" Target="../media/image110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Relationship Id="rId6" Type="http://schemas.openxmlformats.org/officeDocument/2006/relationships/image" Target="../media/image109.wmf"/><Relationship Id="rId5" Type="http://schemas.openxmlformats.org/officeDocument/2006/relationships/image" Target="../media/image108.wmf"/><Relationship Id="rId10" Type="http://schemas.openxmlformats.org/officeDocument/2006/relationships/image" Target="../media/image113.wmf"/><Relationship Id="rId4" Type="http://schemas.openxmlformats.org/officeDocument/2006/relationships/image" Target="../media/image107.wmf"/><Relationship Id="rId9" Type="http://schemas.openxmlformats.org/officeDocument/2006/relationships/image" Target="../media/image112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3" Type="http://schemas.openxmlformats.org/officeDocument/2006/relationships/image" Target="../media/image116.wmf"/><Relationship Id="rId7" Type="http://schemas.openxmlformats.org/officeDocument/2006/relationships/image" Target="../media/image120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Relationship Id="rId6" Type="http://schemas.openxmlformats.org/officeDocument/2006/relationships/image" Target="../media/image119.wmf"/><Relationship Id="rId5" Type="http://schemas.openxmlformats.org/officeDocument/2006/relationships/image" Target="../media/image118.wmf"/><Relationship Id="rId4" Type="http://schemas.openxmlformats.org/officeDocument/2006/relationships/image" Target="../media/image117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wmf"/><Relationship Id="rId7" Type="http://schemas.openxmlformats.org/officeDocument/2006/relationships/image" Target="../media/image132.wmf"/><Relationship Id="rId2" Type="http://schemas.openxmlformats.org/officeDocument/2006/relationships/image" Target="../media/image127.wmf"/><Relationship Id="rId1" Type="http://schemas.openxmlformats.org/officeDocument/2006/relationships/image" Target="../media/image126.wmf"/><Relationship Id="rId6" Type="http://schemas.openxmlformats.org/officeDocument/2006/relationships/image" Target="../media/image131.wmf"/><Relationship Id="rId5" Type="http://schemas.openxmlformats.org/officeDocument/2006/relationships/image" Target="../media/image130.wmf"/><Relationship Id="rId4" Type="http://schemas.openxmlformats.org/officeDocument/2006/relationships/image" Target="../media/image129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Relationship Id="rId5" Type="http://schemas.openxmlformats.org/officeDocument/2006/relationships/image" Target="../media/image137.wmf"/><Relationship Id="rId4" Type="http://schemas.openxmlformats.org/officeDocument/2006/relationships/image" Target="../media/image136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8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wmf"/><Relationship Id="rId2" Type="http://schemas.openxmlformats.org/officeDocument/2006/relationships/image" Target="../media/image140.wmf"/><Relationship Id="rId1" Type="http://schemas.openxmlformats.org/officeDocument/2006/relationships/image" Target="../media/image139.wmf"/><Relationship Id="rId5" Type="http://schemas.openxmlformats.org/officeDocument/2006/relationships/image" Target="../media/image143.wmf"/><Relationship Id="rId4" Type="http://schemas.openxmlformats.org/officeDocument/2006/relationships/image" Target="../media/image142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wmf"/><Relationship Id="rId1" Type="http://schemas.openxmlformats.org/officeDocument/2006/relationships/image" Target="../media/image144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6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8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A95B8-4588-46D8-8F50-86C1DF9AFA24}" type="datetimeFigureOut">
              <a:rPr lang="en-US" smtClean="0"/>
              <a:pPr/>
              <a:t>1/27/2016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7B99F5-9ED3-44CF-A144-70EBB5FD54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99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N1</a:t>
            </a:r>
            <a:r>
              <a:rPr lang="en-US" baseline="0" dirty="0" smtClean="0"/>
              <a:t> = 18,  N2 = 14</a:t>
            </a:r>
          </a:p>
          <a:p>
            <a:endParaRPr lang="en-US" baseline="0" dirty="0" smtClean="0"/>
          </a:p>
          <a:p>
            <a:r>
              <a:rPr lang="en-US" baseline="0" dirty="0" smtClean="0"/>
              <a:t>N1/N2 = 18/14 = 9/7</a:t>
            </a:r>
          </a:p>
          <a:p>
            <a:endParaRPr lang="en-US" baseline="0" dirty="0" smtClean="0"/>
          </a:p>
          <a:p>
            <a:r>
              <a:rPr lang="en-US" baseline="0" dirty="0" smtClean="0"/>
              <a:t>N = 18*7 = 14*9 = 126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186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Geometric sequence</a:t>
            </a:r>
          </a:p>
          <a:p>
            <a:endParaRPr lang="en-US" dirty="0" smtClean="0"/>
          </a:p>
          <a:p>
            <a:r>
              <a:rPr lang="en-US" dirty="0" smtClean="0"/>
              <a:t>\sum_{k=m}^n </a:t>
            </a:r>
            <a:r>
              <a:rPr lang="en-US" dirty="0" err="1" smtClean="0"/>
              <a:t>q^k</a:t>
            </a:r>
            <a:r>
              <a:rPr lang="en-US" dirty="0" smtClean="0"/>
              <a:t> = [</a:t>
            </a:r>
            <a:r>
              <a:rPr lang="en-US" dirty="0" err="1" smtClean="0"/>
              <a:t>q^m</a:t>
            </a:r>
            <a:r>
              <a:rPr lang="en-US" dirty="0" smtClean="0"/>
              <a:t> – q^(n+1)]/(1-q), q \</a:t>
            </a:r>
            <a:r>
              <a:rPr lang="en-US" dirty="0" err="1" smtClean="0"/>
              <a:t>neq</a:t>
            </a:r>
            <a:r>
              <a:rPr lang="en-US" baseline="0" dirty="0" smtClean="0"/>
              <a:t> 1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16/3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53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 smtClean="0"/>
              <a:t>x(n-m)</a:t>
            </a:r>
          </a:p>
          <a:p>
            <a:pPr marL="228600" indent="-228600">
              <a:buAutoNum type="arabicPeriod"/>
            </a:pPr>
            <a:r>
              <a:rPr lang="en-US" dirty="0" smtClean="0"/>
              <a:t>[ beta^(n+1)-alpha^(n+1)]/(beta-alpha)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250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r>
              <a:rPr lang="en-US" dirty="0" smtClean="0"/>
              <a:t>X = [0, 1, 2]</a:t>
            </a:r>
          </a:p>
          <a:p>
            <a:r>
              <a:rPr lang="en-US" dirty="0" smtClean="0"/>
              <a:t>H = [-1, (-2),</a:t>
            </a:r>
            <a:r>
              <a:rPr lang="en-US" baseline="0" dirty="0" smtClean="0"/>
              <a:t> -3, -4]</a:t>
            </a:r>
          </a:p>
          <a:p>
            <a:r>
              <a:rPr lang="en-US" baseline="0" dirty="0" smtClean="0"/>
              <a:t>Y = [0 -1 -4 -7 -10 -8]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724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4EF43A-8A21-4483-8BD2-595B9F858793}" type="slidenum">
              <a:rPr lang="zh-CN" altLang="en-US" smtClean="0"/>
              <a:pPr/>
              <a:t>26</a:t>
            </a:fld>
            <a:endParaRPr lang="en-US" altLang="zh-CN" smtClean="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42046502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Y(n) = \sum_{k=0}^3 h(k) x(n-k)</a:t>
            </a:r>
          </a:p>
          <a:p>
            <a:endParaRPr lang="en-US" dirty="0" smtClean="0"/>
          </a:p>
          <a:p>
            <a:r>
              <a:rPr lang="en-US" dirty="0" smtClean="0"/>
              <a:t>y(n)</a:t>
            </a:r>
            <a:r>
              <a:rPr lang="en-US" baseline="0" dirty="0" smtClean="0"/>
              <a:t> = 5 x(n-3) +3 x(n-1)+2 x(n)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195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4572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ext Box 12"/>
          <p:cNvSpPr txBox="1">
            <a:spLocks noChangeArrowheads="1"/>
          </p:cNvSpPr>
          <p:nvPr userDrawn="1"/>
        </p:nvSpPr>
        <p:spPr bwMode="auto">
          <a:xfrm>
            <a:off x="2846479" y="1346200"/>
            <a:ext cx="3897221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zh-CN" sz="1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Department of Electrical Engineering</a:t>
            </a:r>
          </a:p>
          <a:p>
            <a:pPr algn="r">
              <a:defRPr/>
            </a:pPr>
            <a:r>
              <a:rPr lang="en-US" altLang="zh-CN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University of Arkansas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3581400"/>
            <a:ext cx="6400800" cy="762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FontTx/>
              <a:buNone/>
              <a:defRPr sz="2200" b="0">
                <a:solidFill>
                  <a:srgbClr val="000099"/>
                </a:solidFill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subtitle style</a:t>
            </a:r>
          </a:p>
        </p:txBody>
      </p:sp>
      <p:pic>
        <p:nvPicPr>
          <p:cNvPr id="12" name="Picture 1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1447800"/>
            <a:ext cx="16383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152400" y="7620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7772400" cy="7620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defRPr>
            </a:lvl1pPr>
            <a:lvl2pPr>
              <a:defRPr sz="1800">
                <a:latin typeface="Times New Roman" pitchFamily="18" charset="0"/>
                <a:cs typeface="Times New Roman" pitchFamily="18" charset="0"/>
              </a:defRPr>
            </a:lvl2pPr>
            <a:lvl3pPr>
              <a:defRPr sz="1800">
                <a:latin typeface="Times New Roman" pitchFamily="18" charset="0"/>
                <a:cs typeface="Times New Roman" pitchFamily="18" charset="0"/>
              </a:defRPr>
            </a:lvl3pPr>
            <a:lvl4pPr>
              <a:defRPr sz="1800">
                <a:latin typeface="Times New Roman" pitchFamily="18" charset="0"/>
                <a:cs typeface="Times New Roman" pitchFamily="18" charset="0"/>
              </a:defRPr>
            </a:lvl4pPr>
            <a:lvl5pPr>
              <a:defRPr sz="18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6248400"/>
            <a:ext cx="1781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3"/>
          <p:cNvSpPr>
            <a:spLocks noGrp="1"/>
          </p:cNvSpPr>
          <p:nvPr userDrawn="1">
            <p:ph type="sldNum" sz="quarter" idx="10"/>
          </p:nvPr>
        </p:nvSpPr>
        <p:spPr>
          <a:xfrm>
            <a:off x="7239000" y="0"/>
            <a:ext cx="1905000" cy="457200"/>
          </a:xfrm>
          <a:prstGeom prst="rect">
            <a:avLst/>
          </a:prstGeom>
          <a:noFill/>
        </p:spPr>
        <p:txBody>
          <a:bodyPr/>
          <a:lstStyle>
            <a:lvl1pPr algn="r">
              <a:defRPr b="1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7A65BF99-0365-4788-A7C5-586C0382C80B}" type="slidenum">
              <a:rPr lang="zh-CN" altLang="en-US" smtClean="0"/>
              <a:pPr/>
              <a:t>‹#›</a:t>
            </a:fld>
            <a:endParaRPr lang="en-US" altLang="zh-CN" dirty="0" smtClean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7.png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10.jpeg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5.wmf"/><Relationship Id="rId4" Type="http://schemas.openxmlformats.org/officeDocument/2006/relationships/image" Target="../media/image11.png"/><Relationship Id="rId9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oleObject" Target="../embeddings/oleObject12.bin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image" Target="../media/image19.wmf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0.bin"/><Relationship Id="rId14" Type="http://schemas.openxmlformats.org/officeDocument/2006/relationships/oleObject" Target="../embeddings/oleObject13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19.bin"/><Relationship Id="rId18" Type="http://schemas.openxmlformats.org/officeDocument/2006/relationships/oleObject" Target="../embeddings/oleObject22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4.wmf"/><Relationship Id="rId17" Type="http://schemas.openxmlformats.org/officeDocument/2006/relationships/image" Target="../media/image26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1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10" Type="http://schemas.openxmlformats.org/officeDocument/2006/relationships/image" Target="../media/image23.wmf"/><Relationship Id="rId19" Type="http://schemas.openxmlformats.org/officeDocument/2006/relationships/oleObject" Target="../embeddings/oleObject23.bin"/><Relationship Id="rId4" Type="http://schemas.openxmlformats.org/officeDocument/2006/relationships/image" Target="../media/image20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5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8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31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3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31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image" Target="../media/image40.wmf"/><Relationship Id="rId18" Type="http://schemas.openxmlformats.org/officeDocument/2006/relationships/image" Target="../media/image42.wmf"/><Relationship Id="rId3" Type="http://schemas.openxmlformats.org/officeDocument/2006/relationships/oleObject" Target="../embeddings/oleObject33.bin"/><Relationship Id="rId7" Type="http://schemas.openxmlformats.org/officeDocument/2006/relationships/image" Target="../media/image37.wmf"/><Relationship Id="rId12" Type="http://schemas.openxmlformats.org/officeDocument/2006/relationships/oleObject" Target="../embeddings/oleObject37.bin"/><Relationship Id="rId17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1.wmf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39.wmf"/><Relationship Id="rId5" Type="http://schemas.openxmlformats.org/officeDocument/2006/relationships/image" Target="../media/image43.png"/><Relationship Id="rId15" Type="http://schemas.openxmlformats.org/officeDocument/2006/relationships/oleObject" Target="../embeddings/oleObject38.bin"/><Relationship Id="rId10" Type="http://schemas.openxmlformats.org/officeDocument/2006/relationships/oleObject" Target="../embeddings/oleObject36.bin"/><Relationship Id="rId4" Type="http://schemas.openxmlformats.org/officeDocument/2006/relationships/image" Target="../media/image36.wmf"/><Relationship Id="rId9" Type="http://schemas.openxmlformats.org/officeDocument/2006/relationships/image" Target="../media/image38.wmf"/><Relationship Id="rId1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45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48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13" Type="http://schemas.openxmlformats.org/officeDocument/2006/relationships/image" Target="../media/image55.png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5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1.w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5" Type="http://schemas.openxmlformats.org/officeDocument/2006/relationships/image" Target="../media/image57.png"/><Relationship Id="rId10" Type="http://schemas.openxmlformats.org/officeDocument/2006/relationships/image" Target="../media/image53.wmf"/><Relationship Id="rId4" Type="http://schemas.openxmlformats.org/officeDocument/2006/relationships/image" Target="../media/image50.w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5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6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54.bin"/><Relationship Id="rId5" Type="http://schemas.openxmlformats.org/officeDocument/2006/relationships/oleObject" Target="../embeddings/oleObject51.bin"/><Relationship Id="rId10" Type="http://schemas.openxmlformats.org/officeDocument/2006/relationships/image" Target="../media/image61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53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13" Type="http://schemas.openxmlformats.org/officeDocument/2006/relationships/oleObject" Target="../embeddings/oleObject60.bin"/><Relationship Id="rId18" Type="http://schemas.openxmlformats.org/officeDocument/2006/relationships/image" Target="../media/image70.wmf"/><Relationship Id="rId3" Type="http://schemas.openxmlformats.org/officeDocument/2006/relationships/oleObject" Target="../embeddings/oleObject55.bin"/><Relationship Id="rId21" Type="http://schemas.openxmlformats.org/officeDocument/2006/relationships/oleObject" Target="../embeddings/oleObject64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67.wmf"/><Relationship Id="rId17" Type="http://schemas.openxmlformats.org/officeDocument/2006/relationships/oleObject" Target="../embeddings/oleObject6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9.wmf"/><Relationship Id="rId20" Type="http://schemas.openxmlformats.org/officeDocument/2006/relationships/image" Target="../media/image71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4.wmf"/><Relationship Id="rId11" Type="http://schemas.openxmlformats.org/officeDocument/2006/relationships/oleObject" Target="../embeddings/oleObject59.bin"/><Relationship Id="rId5" Type="http://schemas.openxmlformats.org/officeDocument/2006/relationships/oleObject" Target="../embeddings/oleObject56.bin"/><Relationship Id="rId15" Type="http://schemas.openxmlformats.org/officeDocument/2006/relationships/oleObject" Target="../embeddings/oleObject61.bin"/><Relationship Id="rId10" Type="http://schemas.openxmlformats.org/officeDocument/2006/relationships/image" Target="../media/image66.wmf"/><Relationship Id="rId19" Type="http://schemas.openxmlformats.org/officeDocument/2006/relationships/oleObject" Target="../embeddings/oleObject63.bin"/><Relationship Id="rId4" Type="http://schemas.openxmlformats.org/officeDocument/2006/relationships/image" Target="../media/image63.w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68.wmf"/><Relationship Id="rId22" Type="http://schemas.openxmlformats.org/officeDocument/2006/relationships/image" Target="../media/image72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oleObject" Target="../embeddings/oleObject70.bin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12" Type="http://schemas.openxmlformats.org/officeDocument/2006/relationships/image" Target="../media/image7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69.bin"/><Relationship Id="rId5" Type="http://schemas.openxmlformats.org/officeDocument/2006/relationships/oleObject" Target="../embeddings/oleObject66.bin"/><Relationship Id="rId10" Type="http://schemas.openxmlformats.org/officeDocument/2006/relationships/image" Target="../media/image76.wmf"/><Relationship Id="rId4" Type="http://schemas.openxmlformats.org/officeDocument/2006/relationships/image" Target="../media/image73.wmf"/><Relationship Id="rId9" Type="http://schemas.openxmlformats.org/officeDocument/2006/relationships/oleObject" Target="../embeddings/oleObject68.bin"/><Relationship Id="rId14" Type="http://schemas.openxmlformats.org/officeDocument/2006/relationships/image" Target="../media/image78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13" Type="http://schemas.openxmlformats.org/officeDocument/2006/relationships/oleObject" Target="../embeddings/oleObject76.bin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3.bin"/><Relationship Id="rId12" Type="http://schemas.openxmlformats.org/officeDocument/2006/relationships/image" Target="../media/image82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4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9.wmf"/><Relationship Id="rId11" Type="http://schemas.openxmlformats.org/officeDocument/2006/relationships/oleObject" Target="../embeddings/oleObject75.bin"/><Relationship Id="rId5" Type="http://schemas.openxmlformats.org/officeDocument/2006/relationships/oleObject" Target="../embeddings/oleObject72.bin"/><Relationship Id="rId15" Type="http://schemas.openxmlformats.org/officeDocument/2006/relationships/oleObject" Target="../embeddings/oleObject77.bin"/><Relationship Id="rId10" Type="http://schemas.openxmlformats.org/officeDocument/2006/relationships/image" Target="../media/image81.wmf"/><Relationship Id="rId4" Type="http://schemas.openxmlformats.org/officeDocument/2006/relationships/image" Target="../media/image76.wmf"/><Relationship Id="rId9" Type="http://schemas.openxmlformats.org/officeDocument/2006/relationships/oleObject" Target="../embeddings/oleObject74.bin"/><Relationship Id="rId14" Type="http://schemas.openxmlformats.org/officeDocument/2006/relationships/image" Target="../media/image83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13" Type="http://schemas.openxmlformats.org/officeDocument/2006/relationships/oleObject" Target="../embeddings/oleObject83.bin"/><Relationship Id="rId3" Type="http://schemas.openxmlformats.org/officeDocument/2006/relationships/oleObject" Target="../embeddings/oleObject78.bin"/><Relationship Id="rId7" Type="http://schemas.openxmlformats.org/officeDocument/2006/relationships/oleObject" Target="../embeddings/oleObject80.bin"/><Relationship Id="rId12" Type="http://schemas.openxmlformats.org/officeDocument/2006/relationships/image" Target="../media/image8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86.wmf"/><Relationship Id="rId11" Type="http://schemas.openxmlformats.org/officeDocument/2006/relationships/oleObject" Target="../embeddings/oleObject82.bin"/><Relationship Id="rId5" Type="http://schemas.openxmlformats.org/officeDocument/2006/relationships/oleObject" Target="../embeddings/oleObject79.bin"/><Relationship Id="rId10" Type="http://schemas.openxmlformats.org/officeDocument/2006/relationships/image" Target="../media/image88.wmf"/><Relationship Id="rId4" Type="http://schemas.openxmlformats.org/officeDocument/2006/relationships/image" Target="../media/image85.wmf"/><Relationship Id="rId9" Type="http://schemas.openxmlformats.org/officeDocument/2006/relationships/oleObject" Target="../embeddings/oleObject81.bin"/><Relationship Id="rId14" Type="http://schemas.openxmlformats.org/officeDocument/2006/relationships/image" Target="../media/image90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9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85.bin"/><Relationship Id="rId11" Type="http://schemas.openxmlformats.org/officeDocument/2006/relationships/image" Target="../media/image94.wmf"/><Relationship Id="rId5" Type="http://schemas.openxmlformats.org/officeDocument/2006/relationships/image" Target="../media/image91.wmf"/><Relationship Id="rId10" Type="http://schemas.openxmlformats.org/officeDocument/2006/relationships/oleObject" Target="../embeddings/oleObject87.bin"/><Relationship Id="rId4" Type="http://schemas.openxmlformats.org/officeDocument/2006/relationships/oleObject" Target="../embeddings/oleObject84.bin"/><Relationship Id="rId9" Type="http://schemas.openxmlformats.org/officeDocument/2006/relationships/image" Target="../media/image93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95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1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9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90.bin"/><Relationship Id="rId5" Type="http://schemas.openxmlformats.org/officeDocument/2006/relationships/image" Target="../media/image96.wmf"/><Relationship Id="rId4" Type="http://schemas.openxmlformats.org/officeDocument/2006/relationships/oleObject" Target="../embeddings/oleObject89.bin"/><Relationship Id="rId9" Type="http://schemas.openxmlformats.org/officeDocument/2006/relationships/image" Target="../media/image98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10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00.wmf"/><Relationship Id="rId11" Type="http://schemas.openxmlformats.org/officeDocument/2006/relationships/oleObject" Target="../embeddings/oleObject96.bin"/><Relationship Id="rId5" Type="http://schemas.openxmlformats.org/officeDocument/2006/relationships/oleObject" Target="../embeddings/oleObject93.bin"/><Relationship Id="rId10" Type="http://schemas.openxmlformats.org/officeDocument/2006/relationships/image" Target="../media/image102.wmf"/><Relationship Id="rId4" Type="http://schemas.openxmlformats.org/officeDocument/2006/relationships/image" Target="../media/image99.wmf"/><Relationship Id="rId9" Type="http://schemas.openxmlformats.org/officeDocument/2006/relationships/oleObject" Target="../embeddings/oleObject95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9.bin"/><Relationship Id="rId13" Type="http://schemas.openxmlformats.org/officeDocument/2006/relationships/image" Target="../media/image108.wmf"/><Relationship Id="rId18" Type="http://schemas.openxmlformats.org/officeDocument/2006/relationships/oleObject" Target="../embeddings/oleObject104.bin"/><Relationship Id="rId3" Type="http://schemas.openxmlformats.org/officeDocument/2006/relationships/notesSlide" Target="../notesSlides/notesSlide5.xml"/><Relationship Id="rId21" Type="http://schemas.openxmlformats.org/officeDocument/2006/relationships/image" Target="../media/image112.wmf"/><Relationship Id="rId7" Type="http://schemas.openxmlformats.org/officeDocument/2006/relationships/image" Target="../media/image105.wmf"/><Relationship Id="rId12" Type="http://schemas.openxmlformats.org/officeDocument/2006/relationships/oleObject" Target="../embeddings/oleObject101.bin"/><Relationship Id="rId17" Type="http://schemas.openxmlformats.org/officeDocument/2006/relationships/image" Target="../media/image11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03.bin"/><Relationship Id="rId20" Type="http://schemas.openxmlformats.org/officeDocument/2006/relationships/oleObject" Target="../embeddings/oleObject105.bin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98.bin"/><Relationship Id="rId11" Type="http://schemas.openxmlformats.org/officeDocument/2006/relationships/image" Target="../media/image107.wmf"/><Relationship Id="rId5" Type="http://schemas.openxmlformats.org/officeDocument/2006/relationships/image" Target="../media/image104.wmf"/><Relationship Id="rId15" Type="http://schemas.openxmlformats.org/officeDocument/2006/relationships/image" Target="../media/image109.wmf"/><Relationship Id="rId23" Type="http://schemas.openxmlformats.org/officeDocument/2006/relationships/image" Target="../media/image113.wmf"/><Relationship Id="rId10" Type="http://schemas.openxmlformats.org/officeDocument/2006/relationships/oleObject" Target="../embeddings/oleObject100.bin"/><Relationship Id="rId19" Type="http://schemas.openxmlformats.org/officeDocument/2006/relationships/image" Target="../media/image111.wmf"/><Relationship Id="rId4" Type="http://schemas.openxmlformats.org/officeDocument/2006/relationships/oleObject" Target="../embeddings/oleObject97.bin"/><Relationship Id="rId9" Type="http://schemas.openxmlformats.org/officeDocument/2006/relationships/image" Target="../media/image106.wmf"/><Relationship Id="rId14" Type="http://schemas.openxmlformats.org/officeDocument/2006/relationships/oleObject" Target="../embeddings/oleObject102.bin"/><Relationship Id="rId22" Type="http://schemas.openxmlformats.org/officeDocument/2006/relationships/oleObject" Target="../embeddings/oleObject106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13" Type="http://schemas.openxmlformats.org/officeDocument/2006/relationships/oleObject" Target="../embeddings/oleObject112.bin"/><Relationship Id="rId18" Type="http://schemas.openxmlformats.org/officeDocument/2006/relationships/image" Target="../media/image121.wmf"/><Relationship Id="rId3" Type="http://schemas.openxmlformats.org/officeDocument/2006/relationships/oleObject" Target="../embeddings/oleObject107.bin"/><Relationship Id="rId7" Type="http://schemas.openxmlformats.org/officeDocument/2006/relationships/oleObject" Target="../embeddings/oleObject109.bin"/><Relationship Id="rId12" Type="http://schemas.openxmlformats.org/officeDocument/2006/relationships/image" Target="../media/image118.wmf"/><Relationship Id="rId17" Type="http://schemas.openxmlformats.org/officeDocument/2006/relationships/oleObject" Target="../embeddings/oleObject11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0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15.wmf"/><Relationship Id="rId11" Type="http://schemas.openxmlformats.org/officeDocument/2006/relationships/oleObject" Target="../embeddings/oleObject111.bin"/><Relationship Id="rId5" Type="http://schemas.openxmlformats.org/officeDocument/2006/relationships/oleObject" Target="../embeddings/oleObject108.bin"/><Relationship Id="rId15" Type="http://schemas.openxmlformats.org/officeDocument/2006/relationships/oleObject" Target="../embeddings/oleObject113.bin"/><Relationship Id="rId10" Type="http://schemas.openxmlformats.org/officeDocument/2006/relationships/image" Target="../media/image117.wmf"/><Relationship Id="rId4" Type="http://schemas.openxmlformats.org/officeDocument/2006/relationships/image" Target="../media/image114.wmf"/><Relationship Id="rId9" Type="http://schemas.openxmlformats.org/officeDocument/2006/relationships/oleObject" Target="../embeddings/oleObject110.bin"/><Relationship Id="rId14" Type="http://schemas.openxmlformats.org/officeDocument/2006/relationships/image" Target="../media/image119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7.bin"/><Relationship Id="rId3" Type="http://schemas.openxmlformats.org/officeDocument/2006/relationships/image" Target="../media/image125.png"/><Relationship Id="rId7" Type="http://schemas.openxmlformats.org/officeDocument/2006/relationships/image" Target="../media/image12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116.bin"/><Relationship Id="rId5" Type="http://schemas.openxmlformats.org/officeDocument/2006/relationships/image" Target="../media/image122.wmf"/><Relationship Id="rId4" Type="http://schemas.openxmlformats.org/officeDocument/2006/relationships/oleObject" Target="../embeddings/oleObject115.bin"/><Relationship Id="rId9" Type="http://schemas.openxmlformats.org/officeDocument/2006/relationships/image" Target="../media/image124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13" Type="http://schemas.openxmlformats.org/officeDocument/2006/relationships/oleObject" Target="../embeddings/oleObject123.bin"/><Relationship Id="rId3" Type="http://schemas.openxmlformats.org/officeDocument/2006/relationships/oleObject" Target="../embeddings/oleObject118.bin"/><Relationship Id="rId7" Type="http://schemas.openxmlformats.org/officeDocument/2006/relationships/oleObject" Target="../embeddings/oleObject120.bin"/><Relationship Id="rId12" Type="http://schemas.openxmlformats.org/officeDocument/2006/relationships/image" Target="../media/image130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2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27.wmf"/><Relationship Id="rId11" Type="http://schemas.openxmlformats.org/officeDocument/2006/relationships/oleObject" Target="../embeddings/oleObject122.bin"/><Relationship Id="rId5" Type="http://schemas.openxmlformats.org/officeDocument/2006/relationships/oleObject" Target="../embeddings/oleObject119.bin"/><Relationship Id="rId15" Type="http://schemas.openxmlformats.org/officeDocument/2006/relationships/oleObject" Target="../embeddings/oleObject124.bin"/><Relationship Id="rId10" Type="http://schemas.openxmlformats.org/officeDocument/2006/relationships/image" Target="../media/image129.wmf"/><Relationship Id="rId4" Type="http://schemas.openxmlformats.org/officeDocument/2006/relationships/image" Target="../media/image126.wmf"/><Relationship Id="rId9" Type="http://schemas.openxmlformats.org/officeDocument/2006/relationships/oleObject" Target="../embeddings/oleObject121.bin"/><Relationship Id="rId14" Type="http://schemas.openxmlformats.org/officeDocument/2006/relationships/image" Target="../media/image131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wmf"/><Relationship Id="rId3" Type="http://schemas.openxmlformats.org/officeDocument/2006/relationships/oleObject" Target="../embeddings/oleObject125.bin"/><Relationship Id="rId7" Type="http://schemas.openxmlformats.org/officeDocument/2006/relationships/oleObject" Target="../embeddings/oleObject127.bin"/><Relationship Id="rId12" Type="http://schemas.openxmlformats.org/officeDocument/2006/relationships/image" Target="../media/image13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34.wmf"/><Relationship Id="rId11" Type="http://schemas.openxmlformats.org/officeDocument/2006/relationships/oleObject" Target="../embeddings/oleObject129.bin"/><Relationship Id="rId5" Type="http://schemas.openxmlformats.org/officeDocument/2006/relationships/oleObject" Target="../embeddings/oleObject126.bin"/><Relationship Id="rId10" Type="http://schemas.openxmlformats.org/officeDocument/2006/relationships/image" Target="../media/image136.wmf"/><Relationship Id="rId4" Type="http://schemas.openxmlformats.org/officeDocument/2006/relationships/image" Target="../media/image133.wmf"/><Relationship Id="rId9" Type="http://schemas.openxmlformats.org/officeDocument/2006/relationships/oleObject" Target="../embeddings/oleObject128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138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3" Type="http://schemas.openxmlformats.org/officeDocument/2006/relationships/oleObject" Target="../embeddings/oleObject131.bin"/><Relationship Id="rId7" Type="http://schemas.openxmlformats.org/officeDocument/2006/relationships/oleObject" Target="../embeddings/oleObject133.bin"/><Relationship Id="rId12" Type="http://schemas.openxmlformats.org/officeDocument/2006/relationships/image" Target="../media/image14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40.wmf"/><Relationship Id="rId11" Type="http://schemas.openxmlformats.org/officeDocument/2006/relationships/oleObject" Target="../embeddings/oleObject135.bin"/><Relationship Id="rId5" Type="http://schemas.openxmlformats.org/officeDocument/2006/relationships/oleObject" Target="../embeddings/oleObject132.bin"/><Relationship Id="rId10" Type="http://schemas.openxmlformats.org/officeDocument/2006/relationships/image" Target="../media/image142.wmf"/><Relationship Id="rId4" Type="http://schemas.openxmlformats.org/officeDocument/2006/relationships/image" Target="../media/image139.wmf"/><Relationship Id="rId9" Type="http://schemas.openxmlformats.org/officeDocument/2006/relationships/oleObject" Target="../embeddings/oleObject134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45.wmf"/><Relationship Id="rId5" Type="http://schemas.openxmlformats.org/officeDocument/2006/relationships/oleObject" Target="../embeddings/oleObject137.bin"/><Relationship Id="rId4" Type="http://schemas.openxmlformats.org/officeDocument/2006/relationships/image" Target="../media/image144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5" Type="http://schemas.openxmlformats.org/officeDocument/2006/relationships/image" Target="../media/image147.png"/><Relationship Id="rId4" Type="http://schemas.openxmlformats.org/officeDocument/2006/relationships/image" Target="../media/image146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4" Type="http://schemas.openxmlformats.org/officeDocument/2006/relationships/image" Target="../media/image148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5" Type="http://schemas.openxmlformats.org/officeDocument/2006/relationships/image" Target="../media/image149.wmf"/><Relationship Id="rId4" Type="http://schemas.openxmlformats.org/officeDocument/2006/relationships/oleObject" Target="../embeddings/oleObject14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2200"/>
            <a:ext cx="7772400" cy="990600"/>
          </a:xfrm>
        </p:spPr>
        <p:txBody>
          <a:bodyPr/>
          <a:lstStyle/>
          <a:p>
            <a:r>
              <a:rPr lang="en-US" sz="2400" dirty="0" smtClean="0"/>
              <a:t>ELEG 4603/5173L Digital Signal Processing </a:t>
            </a:r>
            <a:br>
              <a:rPr lang="en-US" sz="2400" dirty="0" smtClean="0"/>
            </a:br>
            <a:r>
              <a:rPr lang="en-US" sz="2400" dirty="0" smtClean="0"/>
              <a:t>Ch. 1 Discrete-Time Signals and Systems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2743200" y="3810000"/>
            <a:ext cx="5791200" cy="1752600"/>
          </a:xfrm>
          <a:prstGeom prst="rect">
            <a:avLst/>
          </a:prstGeom>
        </p:spPr>
        <p:txBody>
          <a:bodyPr/>
          <a:lstStyle/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Dr. Jingxian Wu</a:t>
            </a:r>
          </a:p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wuj@uark.edu</a:t>
            </a:r>
            <a:endParaRPr lang="en-US" sz="2200" dirty="0">
              <a:solidFill>
                <a:srgbClr val="000099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8115300" cy="56451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Classifications of discrete-time signals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Elementary discrete-time signals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Linear time-invariant (LTI) discrete-time systems 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Causality and stability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Difference equation representation of LTI systems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defRPr/>
            </a:pPr>
            <a:endParaRPr lang="en-US" altLang="zh-CN" sz="20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fld id="{2358FEAC-2F43-4467-BCF4-93BD7D98BAA9}" type="slidenum">
              <a:rPr lang="zh-CN" altLang="en-US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SIGNAL CLASSICIATION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11049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 smtClean="0"/>
              <a:t>Discrete-time signal</a:t>
            </a:r>
          </a:p>
          <a:p>
            <a:pPr lvl="1" eaLnBrk="1" hangingPunct="1"/>
            <a:r>
              <a:rPr lang="en-US" dirty="0" smtClean="0"/>
              <a:t>A signal that is defined only at discrete instants of time. </a:t>
            </a:r>
          </a:p>
          <a:p>
            <a:pPr lvl="1" eaLnBrk="1" hangingPunct="1"/>
            <a:r>
              <a:rPr lang="en-US" dirty="0" smtClean="0"/>
              <a:t>Represented as             </a:t>
            </a:r>
          </a:p>
          <a:p>
            <a:pPr lvl="1" eaLnBrk="1" hangingPunct="1">
              <a:buFontTx/>
              <a:buNone/>
            </a:pPr>
            <a:endParaRPr lang="en-US" dirty="0" smtClean="0"/>
          </a:p>
        </p:txBody>
      </p:sp>
      <p:graphicFrame>
        <p:nvGraphicFramePr>
          <p:cNvPr id="14341" name="Object 4"/>
          <p:cNvGraphicFramePr>
            <a:graphicFrameLocks noChangeAspect="1"/>
          </p:cNvGraphicFramePr>
          <p:nvPr/>
        </p:nvGraphicFramePr>
        <p:xfrm>
          <a:off x="1295400" y="4679950"/>
          <a:ext cx="1879600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7" name="Equation" r:id="rId3" imgW="914400" imgH="431800" progId="Equation.3">
                  <p:embed/>
                </p:oleObj>
              </mc:Choice>
              <mc:Fallback>
                <p:oleObj name="Equation" r:id="rId3" imgW="914400" imgH="4318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679950"/>
                        <a:ext cx="1879600" cy="887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5"/>
          <p:cNvGraphicFramePr>
            <a:graphicFrameLocks noChangeAspect="1"/>
          </p:cNvGraphicFramePr>
          <p:nvPr/>
        </p:nvGraphicFramePr>
        <p:xfrm>
          <a:off x="6103938" y="4641850"/>
          <a:ext cx="216852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" name="Equation" r:id="rId5" imgW="1054100" imgH="431800" progId="Equation.3">
                  <p:embed/>
                </p:oleObj>
              </mc:Choice>
              <mc:Fallback>
                <p:oleObj name="Equation" r:id="rId5" imgW="1054100" imgH="4318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3938" y="4641850"/>
                        <a:ext cx="2168525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343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09600" y="1879600"/>
            <a:ext cx="35560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44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965700" y="2101850"/>
            <a:ext cx="3416300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2895600" y="1600200"/>
          <a:ext cx="609600" cy="348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9" name="Equation" r:id="rId9" imgW="355292" imgH="203024" progId="Equation.3">
                  <p:embed/>
                </p:oleObj>
              </mc:Choice>
              <mc:Fallback>
                <p:oleObj name="Equation" r:id="rId9" imgW="355292" imgH="203024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600200"/>
                        <a:ext cx="609600" cy="34853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" name="Object 5"/>
          <p:cNvGraphicFramePr>
            <a:graphicFrameLocks noChangeAspect="1"/>
          </p:cNvGraphicFramePr>
          <p:nvPr/>
        </p:nvGraphicFramePr>
        <p:xfrm>
          <a:off x="3657600" y="1600200"/>
          <a:ext cx="274320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" name="Equation" r:id="rId11" imgW="1600200" imgH="190500" progId="Equation.3">
                  <p:embed/>
                </p:oleObj>
              </mc:Choice>
              <mc:Fallback>
                <p:oleObj name="Equation" r:id="rId11" imgW="1600200" imgH="1905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600200"/>
                        <a:ext cx="2743200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86800" cy="5600700"/>
          </a:xfrm>
        </p:spPr>
        <p:txBody>
          <a:bodyPr/>
          <a:lstStyle/>
          <a:p>
            <a:r>
              <a:rPr lang="en-US" dirty="0" smtClean="0"/>
              <a:t>Review: Analog </a:t>
            </a:r>
            <a:r>
              <a:rPr lang="en-US" dirty="0" err="1" smtClean="0"/>
              <a:t>v.s</a:t>
            </a:r>
            <a:r>
              <a:rPr lang="en-US" dirty="0" smtClean="0"/>
              <a:t>. digital</a:t>
            </a:r>
          </a:p>
          <a:p>
            <a:pPr lvl="1"/>
            <a:r>
              <a:rPr lang="en-US" dirty="0" smtClean="0"/>
              <a:t>Continuous-time signal</a:t>
            </a:r>
          </a:p>
          <a:p>
            <a:pPr lvl="2"/>
            <a:r>
              <a:rPr lang="en-US" dirty="0" smtClean="0"/>
              <a:t>continuous-time, continuous amplitude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analog signal</a:t>
            </a:r>
          </a:p>
          <a:p>
            <a:pPr lvl="3"/>
            <a:r>
              <a:rPr lang="en-US" dirty="0" smtClean="0">
                <a:sym typeface="Wingdings" pitchFamily="2" charset="2"/>
              </a:rPr>
              <a:t>Example: speech signal</a:t>
            </a:r>
          </a:p>
          <a:p>
            <a:pPr lvl="3"/>
            <a:endParaRPr lang="en-US" dirty="0" smtClean="0"/>
          </a:p>
          <a:p>
            <a:pPr lvl="2"/>
            <a:r>
              <a:rPr lang="en-US" dirty="0" smtClean="0"/>
              <a:t>Continuous-time, discrete amplitude</a:t>
            </a:r>
          </a:p>
          <a:p>
            <a:pPr lvl="3"/>
            <a:r>
              <a:rPr lang="en-US" dirty="0" smtClean="0"/>
              <a:t>Example: traffic light</a:t>
            </a:r>
          </a:p>
          <a:p>
            <a:pPr lvl="1">
              <a:buNone/>
            </a:pPr>
            <a:endParaRPr lang="en-US" dirty="0" smtClean="0"/>
          </a:p>
          <a:p>
            <a:pPr lvl="1"/>
            <a:r>
              <a:rPr lang="en-US" dirty="0" smtClean="0"/>
              <a:t>Discrete-time signal</a:t>
            </a:r>
          </a:p>
          <a:p>
            <a:pPr lvl="2"/>
            <a:r>
              <a:rPr lang="en-US" dirty="0" smtClean="0"/>
              <a:t>Discrete-time, discrete-amplitude 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digital signal</a:t>
            </a:r>
          </a:p>
          <a:p>
            <a:pPr lvl="3"/>
            <a:r>
              <a:rPr lang="en-US" dirty="0" smtClean="0">
                <a:sym typeface="Wingdings" pitchFamily="2" charset="2"/>
              </a:rPr>
              <a:t>Example: Telegraph, text, roll a dice</a:t>
            </a:r>
          </a:p>
          <a:p>
            <a:pPr lvl="2"/>
            <a:endParaRPr lang="en-US" dirty="0" smtClean="0">
              <a:solidFill>
                <a:srgbClr val="FF0000"/>
              </a:solidFill>
              <a:sym typeface="Wingdings" pitchFamily="2" charset="2"/>
            </a:endParaRPr>
          </a:p>
          <a:p>
            <a:pPr lvl="2"/>
            <a:endParaRPr lang="en-US" dirty="0" smtClean="0">
              <a:solidFill>
                <a:srgbClr val="FF0000"/>
              </a:solidFill>
              <a:sym typeface="Wingdings" pitchFamily="2" charset="2"/>
            </a:endParaRPr>
          </a:p>
          <a:p>
            <a:pPr lvl="2"/>
            <a:r>
              <a:rPr lang="en-US" dirty="0" smtClean="0">
                <a:sym typeface="Wingdings" pitchFamily="2" charset="2"/>
              </a:rPr>
              <a:t>Discrete-time, continuous-amplitude</a:t>
            </a:r>
          </a:p>
          <a:p>
            <a:pPr lvl="3"/>
            <a:r>
              <a:rPr lang="en-US" dirty="0" smtClean="0">
                <a:sym typeface="Wingdings" pitchFamily="2" charset="2"/>
              </a:rPr>
              <a:t>Example: samples of analog signal, </a:t>
            </a:r>
          </a:p>
          <a:p>
            <a:pPr lvl="3">
              <a:buNone/>
            </a:pPr>
            <a:r>
              <a:rPr lang="en-US" dirty="0" smtClean="0">
                <a:sym typeface="Wingdings" pitchFamily="2" charset="2"/>
              </a:rPr>
              <a:t>	average monthly temperature 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pic>
        <p:nvPicPr>
          <p:cNvPr id="6" name="Picture 6" descr="analo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28244" y="1143000"/>
            <a:ext cx="2263356" cy="928107"/>
          </a:xfrm>
          <a:prstGeom prst="rect">
            <a:avLst/>
          </a:prstGeom>
          <a:noFill/>
        </p:spPr>
      </p:pic>
      <p:grpSp>
        <p:nvGrpSpPr>
          <p:cNvPr id="32" name="Group 31"/>
          <p:cNvGrpSpPr/>
          <p:nvPr/>
        </p:nvGrpSpPr>
        <p:grpSpPr>
          <a:xfrm>
            <a:off x="6477000" y="3429000"/>
            <a:ext cx="2667000" cy="1154754"/>
            <a:chOff x="6477000" y="3200400"/>
            <a:chExt cx="2667000" cy="1154754"/>
          </a:xfrm>
        </p:grpSpPr>
        <p:pic>
          <p:nvPicPr>
            <p:cNvPr id="91139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477000" y="3200400"/>
              <a:ext cx="2667000" cy="11547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TextBox 8"/>
            <p:cNvSpPr txBox="1"/>
            <p:nvPr/>
          </p:nvSpPr>
          <p:spPr>
            <a:xfrm>
              <a:off x="6934200" y="38100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1</a:t>
              </a:r>
              <a:endParaRPr lang="en-US" sz="12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162800" y="3962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</a:t>
              </a:r>
              <a:endParaRPr lang="en-US" sz="12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391400" y="36576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2</a:t>
              </a:r>
              <a:endParaRPr lang="en-US" sz="12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620000" y="3429000"/>
              <a:ext cx="228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3</a:t>
              </a:r>
              <a:endParaRPr lang="en-US" sz="12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848600" y="3962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</a:t>
              </a:r>
              <a:endParaRPr lang="en-US" sz="12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077200" y="36576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2</a:t>
              </a:r>
              <a:endParaRPr lang="en-US" sz="12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305800" y="38100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1</a:t>
              </a:r>
              <a:endParaRPr lang="en-US" sz="1200" dirty="0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6448928" y="2209800"/>
            <a:ext cx="2695072" cy="1066800"/>
            <a:chOff x="6448928" y="2057400"/>
            <a:chExt cx="2695072" cy="1066800"/>
          </a:xfrm>
        </p:grpSpPr>
        <p:pic>
          <p:nvPicPr>
            <p:cNvPr id="91138" name="Picture 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6448928" y="2057400"/>
              <a:ext cx="2695072" cy="1066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" name="TextBox 22"/>
            <p:cNvSpPr txBox="1"/>
            <p:nvPr/>
          </p:nvSpPr>
          <p:spPr>
            <a:xfrm>
              <a:off x="7010400" y="26670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1</a:t>
              </a:r>
              <a:endParaRPr lang="en-US" sz="1200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239000" y="2819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</a:t>
              </a:r>
              <a:endParaRPr lang="en-US" sz="1200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467600" y="25146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2</a:t>
              </a:r>
              <a:endParaRPr lang="en-US" sz="12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696200" y="2362200"/>
              <a:ext cx="228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3</a:t>
              </a:r>
              <a:endParaRPr lang="en-US" sz="12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924800" y="2819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</a:t>
              </a:r>
              <a:endParaRPr lang="en-US" sz="1200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153400" y="25146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2</a:t>
              </a:r>
              <a:endParaRPr lang="en-US" sz="1200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382000" y="26670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1</a:t>
              </a:r>
              <a:endParaRPr lang="en-US" sz="1200" dirty="0"/>
            </a:p>
          </p:txBody>
        </p:sp>
      </p:grpSp>
      <p:pic>
        <p:nvPicPr>
          <p:cNvPr id="91140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477000" y="4953000"/>
            <a:ext cx="2667000" cy="1371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1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7772400" cy="762000"/>
          </a:xfrm>
        </p:spPr>
        <p:txBody>
          <a:bodyPr/>
          <a:lstStyle/>
          <a:p>
            <a:pPr eaLnBrk="1" hangingPunct="1"/>
            <a:r>
              <a:rPr lang="en-US" dirty="0" smtClean="0"/>
              <a:t>SIGNAL CLASSICIATION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4707583"/>
              </p:ext>
            </p:extLst>
          </p:nvPr>
        </p:nvGraphicFramePr>
        <p:xfrm>
          <a:off x="3384550" y="1219200"/>
          <a:ext cx="544513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9" name="Equation" r:id="rId7" imgW="317160" imgH="203040" progId="Equation.3">
                  <p:embed/>
                </p:oleObj>
              </mc:Choice>
              <mc:Fallback>
                <p:oleObj name="Equation" r:id="rId7" imgW="31716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4550" y="1219200"/>
                        <a:ext cx="544513" cy="349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4"/>
          <p:cNvGraphicFramePr>
            <a:graphicFrameLocks noChangeAspect="1"/>
          </p:cNvGraphicFramePr>
          <p:nvPr/>
        </p:nvGraphicFramePr>
        <p:xfrm>
          <a:off x="3200400" y="3505200"/>
          <a:ext cx="609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" name="Equation" r:id="rId9" imgW="355292" imgH="203024" progId="Equation.3">
                  <p:embed/>
                </p:oleObj>
              </mc:Choice>
              <mc:Fallback>
                <p:oleObj name="Equation" r:id="rId9" imgW="355292" imgH="203024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505200"/>
                        <a:ext cx="609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4003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/>
          <p:cNvSpPr>
            <a:spLocks noGrp="1"/>
          </p:cNvSpPr>
          <p:nvPr>
            <p:ph type="sldNum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fld id="{9FD45C0F-D1AE-4DA3-8356-E2A977960E1C}" type="slidenum">
              <a:rPr lang="zh-CN" altLang="en-US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SIGNAL CLASSIFICATION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1905000"/>
          </a:xfrm>
        </p:spPr>
        <p:txBody>
          <a:bodyPr/>
          <a:lstStyle/>
          <a:p>
            <a:pPr eaLnBrk="1" hangingPunct="1"/>
            <a:r>
              <a:rPr lang="en-US" smtClean="0"/>
              <a:t>Periodic signal v.s. aperiodic signal</a:t>
            </a:r>
          </a:p>
          <a:p>
            <a:pPr lvl="1" eaLnBrk="1" hangingPunct="1"/>
            <a:r>
              <a:rPr lang="en-US" smtClean="0"/>
              <a:t>Periodic signal</a:t>
            </a:r>
          </a:p>
          <a:p>
            <a:pPr lvl="2" eaLnBrk="1" hangingPunct="1"/>
            <a:r>
              <a:rPr lang="en-US" smtClean="0"/>
              <a:t>The smallest value of </a:t>
            </a:r>
            <a:r>
              <a:rPr lang="en-US" i="1" smtClean="0"/>
              <a:t>N</a:t>
            </a:r>
            <a:r>
              <a:rPr lang="en-US" smtClean="0"/>
              <a:t> that satisfies this relation is the fundamental periods.</a:t>
            </a:r>
          </a:p>
          <a:p>
            <a:pPr lvl="1" eaLnBrk="1" hangingPunct="1"/>
            <a:r>
              <a:rPr lang="en-US" smtClean="0"/>
              <a:t>Is                     periodic?</a:t>
            </a:r>
          </a:p>
          <a:p>
            <a:pPr lvl="1" eaLnBrk="1" hangingPunct="1"/>
            <a:endParaRPr lang="en-US" smtClean="0"/>
          </a:p>
        </p:txBody>
      </p:sp>
      <p:graphicFrame>
        <p:nvGraphicFramePr>
          <p:cNvPr id="16389" name="Object 4"/>
          <p:cNvGraphicFramePr>
            <a:graphicFrameLocks noChangeAspect="1"/>
          </p:cNvGraphicFramePr>
          <p:nvPr/>
        </p:nvGraphicFramePr>
        <p:xfrm>
          <a:off x="3124200" y="1219200"/>
          <a:ext cx="1809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1" name="Equation" r:id="rId3" imgW="990170" imgH="203112" progId="Equation.3">
                  <p:embed/>
                </p:oleObj>
              </mc:Choice>
              <mc:Fallback>
                <p:oleObj name="Equation" r:id="rId3" imgW="990170" imgH="203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219200"/>
                        <a:ext cx="180975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Rectangle 15"/>
          <p:cNvSpPr>
            <a:spLocks noChangeArrowheads="1"/>
          </p:cNvSpPr>
          <p:nvPr/>
        </p:nvSpPr>
        <p:spPr bwMode="auto">
          <a:xfrm>
            <a:off x="533400" y="4254500"/>
            <a:ext cx="77724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Example:</a:t>
            </a:r>
          </a:p>
        </p:txBody>
      </p:sp>
      <p:graphicFrame>
        <p:nvGraphicFramePr>
          <p:cNvPr id="16391" name="Object 18"/>
          <p:cNvGraphicFramePr>
            <a:graphicFrameLocks noChangeAspect="1"/>
          </p:cNvGraphicFramePr>
          <p:nvPr/>
        </p:nvGraphicFramePr>
        <p:xfrm>
          <a:off x="2633663" y="4305300"/>
          <a:ext cx="92710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2" name="Equation" r:id="rId5" imgW="507780" imgH="203112" progId="Equation.3">
                  <p:embed/>
                </p:oleObj>
              </mc:Choice>
              <mc:Fallback>
                <p:oleObj name="Equation" r:id="rId5" imgW="507780" imgH="203112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3663" y="4305300"/>
                        <a:ext cx="927100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Object 19"/>
          <p:cNvGraphicFramePr>
            <a:graphicFrameLocks noChangeAspect="1"/>
          </p:cNvGraphicFramePr>
          <p:nvPr/>
        </p:nvGraphicFramePr>
        <p:xfrm>
          <a:off x="1752600" y="2209800"/>
          <a:ext cx="973137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3" name="Equation" r:id="rId7" imgW="533169" imgH="203112" progId="Equation.3">
                  <p:embed/>
                </p:oleObj>
              </mc:Choice>
              <mc:Fallback>
                <p:oleObj name="Equation" r:id="rId7" imgW="533169" imgH="203112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209800"/>
                        <a:ext cx="973137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Object 20"/>
          <p:cNvGraphicFramePr>
            <a:graphicFrameLocks noChangeAspect="1"/>
          </p:cNvGraphicFramePr>
          <p:nvPr/>
        </p:nvGraphicFramePr>
        <p:xfrm>
          <a:off x="2620963" y="4864100"/>
          <a:ext cx="92710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4" name="Equation" r:id="rId9" imgW="507780" imgH="203112" progId="Equation.3">
                  <p:embed/>
                </p:oleObj>
              </mc:Choice>
              <mc:Fallback>
                <p:oleObj name="Equation" r:id="rId9" imgW="507780" imgH="203112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0963" y="4864100"/>
                        <a:ext cx="927100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Object 21"/>
          <p:cNvGraphicFramePr>
            <a:graphicFrameLocks noChangeAspect="1"/>
          </p:cNvGraphicFramePr>
          <p:nvPr/>
        </p:nvGraphicFramePr>
        <p:xfrm>
          <a:off x="2492375" y="5300663"/>
          <a:ext cx="1135063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5" name="Equation" r:id="rId11" imgW="622030" imgH="393529" progId="Equation.3">
                  <p:embed/>
                </p:oleObj>
              </mc:Choice>
              <mc:Fallback>
                <p:oleObj name="Equation" r:id="rId11" imgW="622030" imgH="393529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375" y="5300663"/>
                        <a:ext cx="1135063" cy="715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6" name="Rectangle 25"/>
          <p:cNvSpPr>
            <a:spLocks noChangeArrowheads="1"/>
          </p:cNvSpPr>
          <p:nvPr/>
        </p:nvSpPr>
        <p:spPr bwMode="auto">
          <a:xfrm>
            <a:off x="1143000" y="3429000"/>
            <a:ext cx="6477000" cy="7620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</a:pPr>
            <a:r>
              <a:rPr lang="en-US" sz="2000" b="0" dirty="0"/>
              <a:t>      </a:t>
            </a:r>
            <a:r>
              <a:rPr lang="en-US" sz="2000" b="0" dirty="0" smtClean="0"/>
              <a:t>  </a:t>
            </a:r>
            <a:r>
              <a:rPr lang="en-US" sz="2000" b="0" dirty="0" smtClean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periodic if             </a:t>
            </a:r>
            <a:r>
              <a:rPr lang="en-US" sz="2000" b="0" dirty="0" smtClean="0">
                <a:latin typeface="Times New Roman" pitchFamily="18" charset="0"/>
                <a:cs typeface="Times New Roman" pitchFamily="18" charset="0"/>
              </a:rPr>
              <a:t>is an integer, and the smallest N is the fundamental period.</a:t>
            </a:r>
            <a:endParaRPr lang="en-US" sz="2000" b="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273" name="Object 19"/>
          <p:cNvGraphicFramePr>
            <a:graphicFrameLocks noChangeAspect="1"/>
          </p:cNvGraphicFramePr>
          <p:nvPr/>
        </p:nvGraphicFramePr>
        <p:xfrm>
          <a:off x="1143000" y="3429000"/>
          <a:ext cx="973138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6" name="Equation" r:id="rId13" imgW="533169" imgH="203112" progId="Equation.3">
                  <p:embed/>
                </p:oleObj>
              </mc:Choice>
              <mc:Fallback>
                <p:oleObj name="Equation" r:id="rId13" imgW="533169" imgH="203112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429000"/>
                        <a:ext cx="973138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5599781"/>
              </p:ext>
            </p:extLst>
          </p:nvPr>
        </p:nvGraphicFramePr>
        <p:xfrm>
          <a:off x="3505200" y="3449638"/>
          <a:ext cx="692150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7" name="Equation" r:id="rId14" imgW="609480" imgH="393480" progId="Equation.3">
                  <p:embed/>
                </p:oleObj>
              </mc:Choice>
              <mc:Fallback>
                <p:oleObj name="Equation" r:id="rId14" imgW="609480" imgH="3934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449638"/>
                        <a:ext cx="692150" cy="446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/>
          <p:cNvSpPr>
            <a:spLocks noGrp="1"/>
          </p:cNvSpPr>
          <p:nvPr>
            <p:ph type="sldNum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fld id="{C3DF8FAF-FE81-4ED4-8644-9F0EF01E7310}" type="slidenum">
              <a:rPr lang="zh-CN" altLang="en-US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SIGNAL CLASSIFICATION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Sum of two periodic signals</a:t>
            </a:r>
          </a:p>
        </p:txBody>
      </p:sp>
      <p:graphicFrame>
        <p:nvGraphicFramePr>
          <p:cNvPr id="17413" name="Object 4"/>
          <p:cNvGraphicFramePr>
            <a:graphicFrameLocks noChangeAspect="1"/>
          </p:cNvGraphicFramePr>
          <p:nvPr/>
        </p:nvGraphicFramePr>
        <p:xfrm>
          <a:off x="1452563" y="1449388"/>
          <a:ext cx="64928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3" name="Equation" r:id="rId3" imgW="355292" imgH="215713" progId="Equation.3">
                  <p:embed/>
                </p:oleObj>
              </mc:Choice>
              <mc:Fallback>
                <p:oleObj name="Equation" r:id="rId3" imgW="355292" imgH="21571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563" y="1449388"/>
                        <a:ext cx="649287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Text Box 5"/>
          <p:cNvSpPr txBox="1">
            <a:spLocks noChangeArrowheads="1"/>
          </p:cNvSpPr>
          <p:nvPr/>
        </p:nvSpPr>
        <p:spPr bwMode="auto">
          <a:xfrm>
            <a:off x="2133600" y="1447800"/>
            <a:ext cx="221727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0" dirty="0"/>
              <a:t>: </a:t>
            </a:r>
            <a:r>
              <a:rPr lang="en-US" b="0" dirty="0">
                <a:latin typeface="Times New Roman" pitchFamily="18" charset="0"/>
                <a:cs typeface="Times New Roman" pitchFamily="18" charset="0"/>
              </a:rPr>
              <a:t>fundamental period  </a:t>
            </a:r>
          </a:p>
        </p:txBody>
      </p:sp>
      <p:graphicFrame>
        <p:nvGraphicFramePr>
          <p:cNvPr id="17415" name="Object 6"/>
          <p:cNvGraphicFramePr>
            <a:graphicFrameLocks noChangeAspect="1"/>
          </p:cNvGraphicFramePr>
          <p:nvPr/>
        </p:nvGraphicFramePr>
        <p:xfrm>
          <a:off x="4829175" y="1487488"/>
          <a:ext cx="37147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4" name="Equation" r:id="rId5" imgW="203024" imgH="215713" progId="Equation.3">
                  <p:embed/>
                </p:oleObj>
              </mc:Choice>
              <mc:Fallback>
                <p:oleObj name="Equation" r:id="rId5" imgW="203024" imgH="21571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9175" y="1487488"/>
                        <a:ext cx="371475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7"/>
          <p:cNvGraphicFramePr>
            <a:graphicFrameLocks noChangeAspect="1"/>
          </p:cNvGraphicFramePr>
          <p:nvPr/>
        </p:nvGraphicFramePr>
        <p:xfrm>
          <a:off x="1441450" y="1919288"/>
          <a:ext cx="673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5" name="Equation" r:id="rId7" imgW="368140" imgH="215806" progId="Equation.3">
                  <p:embed/>
                </p:oleObj>
              </mc:Choice>
              <mc:Fallback>
                <p:oleObj name="Equation" r:id="rId7" imgW="368140" imgH="21580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1450" y="1919288"/>
                        <a:ext cx="6731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Text Box 8"/>
          <p:cNvSpPr txBox="1">
            <a:spLocks noChangeArrowheads="1"/>
          </p:cNvSpPr>
          <p:nvPr/>
        </p:nvSpPr>
        <p:spPr bwMode="auto">
          <a:xfrm>
            <a:off x="2133600" y="1981200"/>
            <a:ext cx="221727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0" dirty="0"/>
              <a:t>: </a:t>
            </a:r>
            <a:r>
              <a:rPr lang="en-US" b="0" dirty="0">
                <a:latin typeface="Times New Roman" pitchFamily="18" charset="0"/>
                <a:cs typeface="Times New Roman" pitchFamily="18" charset="0"/>
              </a:rPr>
              <a:t>fundamental period  </a:t>
            </a:r>
          </a:p>
        </p:txBody>
      </p:sp>
      <p:graphicFrame>
        <p:nvGraphicFramePr>
          <p:cNvPr id="17418" name="Object 9"/>
          <p:cNvGraphicFramePr>
            <a:graphicFrameLocks noChangeAspect="1"/>
          </p:cNvGraphicFramePr>
          <p:nvPr/>
        </p:nvGraphicFramePr>
        <p:xfrm>
          <a:off x="4856163" y="1881188"/>
          <a:ext cx="39528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6" name="Equation" r:id="rId9" imgW="215619" imgH="215619" progId="Equation.3">
                  <p:embed/>
                </p:oleObj>
              </mc:Choice>
              <mc:Fallback>
                <p:oleObj name="Equation" r:id="rId9" imgW="215619" imgH="21561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6163" y="1881188"/>
                        <a:ext cx="395287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176761"/>
              </p:ext>
            </p:extLst>
          </p:nvPr>
        </p:nvGraphicFramePr>
        <p:xfrm>
          <a:off x="1295400" y="4748212"/>
          <a:ext cx="14843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7" name="Equation" r:id="rId11" imgW="812447" imgH="215806" progId="Equation.3">
                  <p:embed/>
                </p:oleObj>
              </mc:Choice>
              <mc:Fallback>
                <p:oleObj name="Equation" r:id="rId11" imgW="812447" imgH="21580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748212"/>
                        <a:ext cx="14843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0" name="Text Box 11"/>
          <p:cNvSpPr txBox="1">
            <a:spLocks noChangeArrowheads="1"/>
          </p:cNvSpPr>
          <p:nvPr/>
        </p:nvSpPr>
        <p:spPr bwMode="auto">
          <a:xfrm>
            <a:off x="1295400" y="4748212"/>
            <a:ext cx="7239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>                          is </a:t>
            </a:r>
            <a:r>
              <a:rPr lang="en-US" b="0" dirty="0">
                <a:latin typeface="Times New Roman" pitchFamily="18" charset="0"/>
                <a:cs typeface="Times New Roman" pitchFamily="18" charset="0"/>
              </a:rPr>
              <a:t>periodic </a:t>
            </a:r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>if  </a:t>
            </a:r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>both            and            are periodic.                     Assume</a:t>
            </a:r>
            <a:endParaRPr lang="en-US" b="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7421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8531059"/>
              </p:ext>
            </p:extLst>
          </p:nvPr>
        </p:nvGraphicFramePr>
        <p:xfrm>
          <a:off x="3473186" y="5141912"/>
          <a:ext cx="9747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8" name="Equation" r:id="rId13" imgW="533160" imgH="431640" progId="Equation.3">
                  <p:embed/>
                </p:oleObj>
              </mc:Choice>
              <mc:Fallback>
                <p:oleObj name="Equation" r:id="rId13" imgW="533160" imgH="4316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3186" y="5141912"/>
                        <a:ext cx="974725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0"/>
          <p:cNvGraphicFramePr>
            <a:graphicFrameLocks noChangeAspect="1"/>
          </p:cNvGraphicFramePr>
          <p:nvPr/>
        </p:nvGraphicFramePr>
        <p:xfrm>
          <a:off x="1371600" y="2590800"/>
          <a:ext cx="14843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9" name="Equation" r:id="rId15" imgW="812447" imgH="215806" progId="Equation.3">
                  <p:embed/>
                </p:oleObj>
              </mc:Choice>
              <mc:Fallback>
                <p:oleObj name="Equation" r:id="rId15" imgW="812447" imgH="215806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590800"/>
                        <a:ext cx="14843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1295400" y="5867400"/>
            <a:ext cx="7239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where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are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not divisible of each other. The period is </a:t>
            </a:r>
            <a:endParaRPr lang="en-US" b="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229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3094793"/>
              </p:ext>
            </p:extLst>
          </p:nvPr>
        </p:nvGraphicFramePr>
        <p:xfrm>
          <a:off x="6858000" y="5857333"/>
          <a:ext cx="17875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10" name="Equation" r:id="rId16" imgW="977760" imgH="215640" progId="Equation.3">
                  <p:embed/>
                </p:oleObj>
              </mc:Choice>
              <mc:Fallback>
                <p:oleObj name="Equation" r:id="rId16" imgW="977760" imgH="21564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5857333"/>
                        <a:ext cx="1787525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5741002"/>
              </p:ext>
            </p:extLst>
          </p:nvPr>
        </p:nvGraphicFramePr>
        <p:xfrm>
          <a:off x="4551363" y="4717018"/>
          <a:ext cx="64928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11" name="Equation" r:id="rId18" imgW="355292" imgH="215713" progId="Equation.3">
                  <p:embed/>
                </p:oleObj>
              </mc:Choice>
              <mc:Fallback>
                <p:oleObj name="Equation" r:id="rId18" imgW="355292" imgH="2157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1363" y="4717018"/>
                        <a:ext cx="649287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035086"/>
              </p:ext>
            </p:extLst>
          </p:nvPr>
        </p:nvGraphicFramePr>
        <p:xfrm>
          <a:off x="5581650" y="4717018"/>
          <a:ext cx="673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12" name="Equation" r:id="rId19" imgW="368140" imgH="215806" progId="Equation.3">
                  <p:embed/>
                </p:oleObj>
              </mc:Choice>
              <mc:Fallback>
                <p:oleObj name="Equation" r:id="rId19" imgW="368140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1650" y="4717018"/>
                        <a:ext cx="6731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SIGNAL CLASSIFICATION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Example:</a:t>
            </a:r>
          </a:p>
          <a:p>
            <a:pPr lvl="1"/>
            <a:r>
              <a:rPr lang="en-US" dirty="0" smtClean="0"/>
              <a:t>Is the signal periodic? If it is, what is the fundamental period?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7</a:t>
            </a:fld>
            <a:endParaRPr lang="en-US" altLang="zh-CN" dirty="0" smtClean="0"/>
          </a:p>
        </p:txBody>
      </p:sp>
      <p:graphicFrame>
        <p:nvGraphicFramePr>
          <p:cNvPr id="13314" name="Object 14"/>
          <p:cNvGraphicFramePr>
            <a:graphicFrameLocks noChangeAspect="1"/>
          </p:cNvGraphicFramePr>
          <p:nvPr/>
        </p:nvGraphicFramePr>
        <p:xfrm>
          <a:off x="2590800" y="1600200"/>
          <a:ext cx="2286000" cy="631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3" name="Equation" r:id="rId4" imgW="1422400" imgH="393700" progId="Equation.3">
                  <p:embed/>
                </p:oleObj>
              </mc:Choice>
              <mc:Fallback>
                <p:oleObj name="Equation" r:id="rId4" imgW="1422400" imgH="3937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600200"/>
                        <a:ext cx="2286000" cy="63119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fld id="{40D9FFED-D8BC-4AAF-81E0-F5FE5092AEBA}" type="slidenum">
              <a:rPr lang="zh-CN" altLang="en-US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SIGNAL CLASSIFICATION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850900"/>
          </a:xfrm>
        </p:spPr>
        <p:txBody>
          <a:bodyPr/>
          <a:lstStyle/>
          <a:p>
            <a:pPr eaLnBrk="1" hangingPunct="1"/>
            <a:r>
              <a:rPr lang="en-US" dirty="0" smtClean="0"/>
              <a:t>Energy signal</a:t>
            </a:r>
          </a:p>
          <a:p>
            <a:pPr lvl="1" eaLnBrk="1" hangingPunct="1"/>
            <a:r>
              <a:rPr lang="en-US" dirty="0" smtClean="0"/>
              <a:t>Energy: </a:t>
            </a:r>
          </a:p>
        </p:txBody>
      </p:sp>
      <p:graphicFrame>
        <p:nvGraphicFramePr>
          <p:cNvPr id="15365" name="Object 4"/>
          <p:cNvGraphicFramePr>
            <a:graphicFrameLocks noChangeAspect="1"/>
          </p:cNvGraphicFramePr>
          <p:nvPr/>
        </p:nvGraphicFramePr>
        <p:xfrm>
          <a:off x="2819400" y="1447800"/>
          <a:ext cx="3890962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7" name="Equation" r:id="rId3" imgW="1892160" imgH="431640" progId="Equation.3">
                  <p:embed/>
                </p:oleObj>
              </mc:Choice>
              <mc:Fallback>
                <p:oleObj name="Equation" r:id="rId3" imgW="189216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447800"/>
                        <a:ext cx="3890962" cy="88741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6" name="Rectangle 5"/>
          <p:cNvSpPr>
            <a:spLocks noChangeArrowheads="1"/>
          </p:cNvSpPr>
          <p:nvPr/>
        </p:nvSpPr>
        <p:spPr bwMode="auto">
          <a:xfrm>
            <a:off x="685800" y="2362200"/>
            <a:ext cx="7772400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 smtClean="0">
                <a:latin typeface="Times New Roman" pitchFamily="18" charset="0"/>
                <a:cs typeface="Times New Roman" pitchFamily="18" charset="0"/>
              </a:rPr>
              <a:t>Review: energy of continuous-time signal</a:t>
            </a:r>
            <a:endParaRPr lang="en-US" sz="2000" b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368" name="Rectangle 7"/>
          <p:cNvSpPr>
            <a:spLocks noChangeArrowheads="1"/>
          </p:cNvSpPr>
          <p:nvPr/>
        </p:nvSpPr>
        <p:spPr bwMode="auto">
          <a:xfrm>
            <a:off x="635000" y="3657600"/>
            <a:ext cx="7772400" cy="67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Energy signal:</a:t>
            </a:r>
          </a:p>
        </p:txBody>
      </p:sp>
      <p:graphicFrame>
        <p:nvGraphicFramePr>
          <p:cNvPr id="15369" name="Object 8"/>
          <p:cNvGraphicFramePr>
            <a:graphicFrameLocks noChangeAspect="1"/>
          </p:cNvGraphicFramePr>
          <p:nvPr/>
        </p:nvGraphicFramePr>
        <p:xfrm>
          <a:off x="3048000" y="3657600"/>
          <a:ext cx="133350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8" name="Equation" r:id="rId5" imgW="647640" imgH="177480" progId="Equation.3">
                  <p:embed/>
                </p:oleObj>
              </mc:Choice>
              <mc:Fallback>
                <p:oleObj name="Equation" r:id="rId5" imgW="647640" imgH="177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657600"/>
                        <a:ext cx="1333500" cy="363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36" name="Object 32"/>
          <p:cNvGraphicFramePr>
            <a:graphicFrameLocks noChangeAspect="1"/>
          </p:cNvGraphicFramePr>
          <p:nvPr/>
        </p:nvGraphicFramePr>
        <p:xfrm>
          <a:off x="2971800" y="2895600"/>
          <a:ext cx="1711325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9" name="Equation" r:id="rId7" imgW="965160" imgH="330120" progId="Equation.3">
                  <p:embed/>
                </p:oleObj>
              </mc:Choice>
              <mc:Fallback>
                <p:oleObj name="Equation" r:id="rId7" imgW="965160" imgH="33012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895600"/>
                        <a:ext cx="1711325" cy="579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SIGNAL CLASSIFICATION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7772400" cy="952500"/>
          </a:xfrm>
        </p:spPr>
        <p:txBody>
          <a:bodyPr/>
          <a:lstStyle/>
          <a:p>
            <a:r>
              <a:rPr lang="en-US" dirty="0" smtClean="0"/>
              <a:t>Power signal</a:t>
            </a:r>
          </a:p>
          <a:p>
            <a:pPr lvl="1"/>
            <a:r>
              <a:rPr lang="en-US" dirty="0" smtClean="0"/>
              <a:t>Power of discrete-time signal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9</a:t>
            </a:fld>
            <a:endParaRPr lang="en-US" altLang="zh-CN" dirty="0" smtClean="0"/>
          </a:p>
        </p:txBody>
      </p:sp>
      <p:graphicFrame>
        <p:nvGraphicFramePr>
          <p:cNvPr id="10242" name="Object 6"/>
          <p:cNvGraphicFramePr>
            <a:graphicFrameLocks noChangeAspect="1"/>
          </p:cNvGraphicFramePr>
          <p:nvPr/>
        </p:nvGraphicFramePr>
        <p:xfrm>
          <a:off x="2590800" y="1600200"/>
          <a:ext cx="3124200" cy="8490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0" name="Equation" r:id="rId3" imgW="1587500" imgH="431800" progId="Equation.3">
                  <p:embed/>
                </p:oleObj>
              </mc:Choice>
              <mc:Fallback>
                <p:oleObj name="Equation" r:id="rId3" imgW="1587500" imgH="431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600200"/>
                        <a:ext cx="3124200" cy="84901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533400" y="4191000"/>
            <a:ext cx="7772400" cy="67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Power signal</a:t>
            </a:r>
            <a:r>
              <a:rPr lang="en-US" sz="2000" b="0" dirty="0"/>
              <a:t>:</a:t>
            </a:r>
          </a:p>
        </p:txBody>
      </p:sp>
      <p:graphicFrame>
        <p:nvGraphicFramePr>
          <p:cNvPr id="8" name="Object 10"/>
          <p:cNvGraphicFramePr>
            <a:graphicFrameLocks noChangeAspect="1"/>
          </p:cNvGraphicFramePr>
          <p:nvPr/>
        </p:nvGraphicFramePr>
        <p:xfrm>
          <a:off x="2895600" y="4191000"/>
          <a:ext cx="1303338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1" name="Equation" r:id="rId5" imgW="634680" imgH="177480" progId="Equation.3">
                  <p:embed/>
                </p:oleObj>
              </mc:Choice>
              <mc:Fallback>
                <p:oleObj name="Equation" r:id="rId5" imgW="634680" imgH="1774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191000"/>
                        <a:ext cx="1303338" cy="363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ntent Placeholder 2"/>
          <p:cNvSpPr txBox="1">
            <a:spLocks/>
          </p:cNvSpPr>
          <p:nvPr/>
        </p:nvSpPr>
        <p:spPr>
          <a:xfrm>
            <a:off x="533400" y="2438400"/>
            <a:ext cx="77724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Review: power of continuous-time</a:t>
            </a:r>
            <a:r>
              <a:rPr kumimoji="0" lang="en-US" sz="1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signal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10245" name="Object 7"/>
          <p:cNvGraphicFramePr>
            <a:graphicFrameLocks noChangeAspect="1"/>
          </p:cNvGraphicFramePr>
          <p:nvPr/>
        </p:nvGraphicFramePr>
        <p:xfrm>
          <a:off x="2590800" y="3048000"/>
          <a:ext cx="2498725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2" name="Equation" r:id="rId7" imgW="1409400" imgH="393480" progId="Equation.3">
                  <p:embed/>
                </p:oleObj>
              </mc:Choice>
              <mc:Fallback>
                <p:oleObj name="Equation" r:id="rId7" imgW="1409400" imgH="3934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048000"/>
                        <a:ext cx="2498725" cy="693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SIGNAL CLASSIFICATION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Determine if the discrete-time exponential signal is an energy signal or power signal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10</a:t>
            </a:fld>
            <a:endParaRPr lang="en-US" altLang="zh-CN" dirty="0" smtClean="0"/>
          </a:p>
        </p:txBody>
      </p:sp>
      <p:graphicFrame>
        <p:nvGraphicFramePr>
          <p:cNvPr id="149536" name="Object 32"/>
          <p:cNvGraphicFramePr>
            <a:graphicFrameLocks noChangeAspect="1"/>
          </p:cNvGraphicFramePr>
          <p:nvPr/>
        </p:nvGraphicFramePr>
        <p:xfrm>
          <a:off x="2819400" y="1905000"/>
          <a:ext cx="1554162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6" name="Equation" r:id="rId4" imgW="876240" imgH="241200" progId="Equation.3">
                  <p:embed/>
                </p:oleObj>
              </mc:Choice>
              <mc:Fallback>
                <p:oleObj name="Equation" r:id="rId4" imgW="876240" imgH="2412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905000"/>
                        <a:ext cx="1554162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2"/>
          <p:cNvGraphicFramePr>
            <a:graphicFrameLocks noChangeAspect="1"/>
          </p:cNvGraphicFramePr>
          <p:nvPr/>
        </p:nvGraphicFramePr>
        <p:xfrm>
          <a:off x="5257800" y="1981200"/>
          <a:ext cx="630237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7" name="Equation" r:id="rId6" imgW="355320" imgH="177480" progId="Equation.3">
                  <p:embed/>
                </p:oleObj>
              </mc:Choice>
              <mc:Fallback>
                <p:oleObj name="Equation" r:id="rId6" imgW="355320" imgH="177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1981200"/>
                        <a:ext cx="630237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11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8115300" cy="56451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Classifications of discrete-time signals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Elementary discrete-time signals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Linear time-invariant (LTI) discrete-time systems 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Causality and stability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Difference equation representation of LTI systems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defRPr/>
            </a:pPr>
            <a:endParaRPr lang="en-US" altLang="zh-CN" sz="20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ELEMENTARY SIGNALS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Basic signal operations</a:t>
            </a:r>
          </a:p>
          <a:p>
            <a:pPr lvl="1"/>
            <a:r>
              <a:rPr lang="en-US" dirty="0" smtClean="0"/>
              <a:t>Time shifting</a:t>
            </a:r>
          </a:p>
          <a:p>
            <a:pPr lvl="2"/>
            <a:r>
              <a:rPr lang="en-US" dirty="0" smtClean="0"/>
              <a:t> shift the signal to the right by </a:t>
            </a:r>
            <a:r>
              <a:rPr lang="en-US" i="1" dirty="0" smtClean="0"/>
              <a:t>k</a:t>
            </a:r>
            <a:r>
              <a:rPr lang="en-US" dirty="0" smtClean="0"/>
              <a:t> samples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>
              <a:buNone/>
            </a:pPr>
            <a:endParaRPr lang="en-US" dirty="0" smtClean="0"/>
          </a:p>
          <a:p>
            <a:pPr lvl="1"/>
            <a:r>
              <a:rPr lang="en-US" dirty="0" smtClean="0"/>
              <a:t>Reflecting</a:t>
            </a:r>
          </a:p>
          <a:p>
            <a:pPr lvl="2"/>
            <a:r>
              <a:rPr lang="en-US" dirty="0" smtClean="0"/>
              <a:t>Reflecting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n</a:t>
            </a:r>
            <a:r>
              <a:rPr lang="en-US" dirty="0" smtClean="0"/>
              <a:t>) with respect to </a:t>
            </a:r>
            <a:r>
              <a:rPr lang="en-US" i="1" dirty="0" smtClean="0"/>
              <a:t>n</a:t>
            </a:r>
            <a:r>
              <a:rPr lang="en-US" dirty="0" smtClean="0"/>
              <a:t> = 0. 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12</a:t>
            </a:fld>
            <a:endParaRPr lang="en-US" altLang="zh-CN" dirty="0" smtClean="0"/>
          </a:p>
        </p:txBody>
      </p:sp>
      <p:graphicFrame>
        <p:nvGraphicFramePr>
          <p:cNvPr id="5" name="Object 32"/>
          <p:cNvGraphicFramePr>
            <a:graphicFrameLocks noChangeAspect="1"/>
          </p:cNvGraphicFramePr>
          <p:nvPr/>
        </p:nvGraphicFramePr>
        <p:xfrm>
          <a:off x="2895600" y="1295400"/>
          <a:ext cx="94615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38" name="Equation" r:id="rId3" imgW="533160" imgH="203040" progId="Equation.3">
                  <p:embed/>
                </p:oleObj>
              </mc:Choice>
              <mc:Fallback>
                <p:oleObj name="Equation" r:id="rId3" imgW="533160" imgH="20304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295400"/>
                        <a:ext cx="94615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86000" y="1981199"/>
            <a:ext cx="4038600" cy="1526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Object 32"/>
          <p:cNvGraphicFramePr>
            <a:graphicFrameLocks noChangeAspect="1"/>
          </p:cNvGraphicFramePr>
          <p:nvPr/>
        </p:nvGraphicFramePr>
        <p:xfrm>
          <a:off x="2781300" y="3429000"/>
          <a:ext cx="563563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39" name="Equation" r:id="rId6" imgW="317160" imgH="203040" progId="Equation.3">
                  <p:embed/>
                </p:oleObj>
              </mc:Choice>
              <mc:Fallback>
                <p:oleObj name="Equation" r:id="rId6" imgW="317160" imgH="203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0" y="3429000"/>
                        <a:ext cx="563563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2"/>
          <p:cNvGraphicFramePr>
            <a:graphicFrameLocks noChangeAspect="1"/>
          </p:cNvGraphicFramePr>
          <p:nvPr/>
        </p:nvGraphicFramePr>
        <p:xfrm>
          <a:off x="4038600" y="3429000"/>
          <a:ext cx="94773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40" name="Equation" r:id="rId8" imgW="533160" imgH="203040" progId="Equation.3">
                  <p:embed/>
                </p:oleObj>
              </mc:Choice>
              <mc:Fallback>
                <p:oleObj name="Equation" r:id="rId8" imgW="533160" imgH="2030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429000"/>
                        <a:ext cx="947737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2"/>
          <p:cNvGraphicFramePr>
            <a:graphicFrameLocks noChangeAspect="1"/>
          </p:cNvGraphicFramePr>
          <p:nvPr/>
        </p:nvGraphicFramePr>
        <p:xfrm>
          <a:off x="5410200" y="3429000"/>
          <a:ext cx="925512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41" name="Equation" r:id="rId10" imgW="520560" imgH="203040" progId="Equation.3">
                  <p:embed/>
                </p:oleObj>
              </mc:Choice>
              <mc:Fallback>
                <p:oleObj name="Equation" r:id="rId10" imgW="520560" imgH="2030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3429000"/>
                        <a:ext cx="925512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2"/>
          <p:cNvGraphicFramePr>
            <a:graphicFrameLocks noChangeAspect="1"/>
          </p:cNvGraphicFramePr>
          <p:nvPr/>
        </p:nvGraphicFramePr>
        <p:xfrm>
          <a:off x="2514600" y="3886200"/>
          <a:ext cx="72072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42" name="Equation" r:id="rId12" imgW="406080" imgH="203040" progId="Equation.3">
                  <p:embed/>
                </p:oleObj>
              </mc:Choice>
              <mc:Fallback>
                <p:oleObj name="Equation" r:id="rId12" imgW="406080" imgH="2030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886200"/>
                        <a:ext cx="720725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369" name="Picture 9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2514600" y="4572000"/>
            <a:ext cx="3305175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3124200" y="5943600"/>
          <a:ext cx="563563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43" name="Equation" r:id="rId15" imgW="317160" imgH="203040" progId="Equation.3">
                  <p:embed/>
                </p:oleObj>
              </mc:Choice>
              <mc:Fallback>
                <p:oleObj name="Equation" r:id="rId15" imgW="317160" imgH="20304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5943600"/>
                        <a:ext cx="563563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4722813" y="5943600"/>
          <a:ext cx="72072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44" name="Equation" r:id="rId17" imgW="406080" imgH="203040" progId="Equation.3">
                  <p:embed/>
                </p:oleObj>
              </mc:Choice>
              <mc:Fallback>
                <p:oleObj name="Equation" r:id="rId17" imgW="406080" imgH="20304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2813" y="5943600"/>
                        <a:ext cx="720725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ELEMENTARY SIGNALS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7772400" cy="1790700"/>
          </a:xfrm>
        </p:spPr>
        <p:txBody>
          <a:bodyPr/>
          <a:lstStyle/>
          <a:p>
            <a:r>
              <a:rPr lang="en-US" dirty="0" smtClean="0"/>
              <a:t>Basic signal operations</a:t>
            </a:r>
          </a:p>
          <a:p>
            <a:pPr lvl="1"/>
            <a:r>
              <a:rPr lang="en-US" dirty="0" smtClean="0"/>
              <a:t>Time scaling</a:t>
            </a:r>
          </a:p>
          <a:p>
            <a:pPr lvl="2"/>
            <a:r>
              <a:rPr lang="en-US" dirty="0" smtClean="0"/>
              <a:t>Example: Let</a:t>
            </a:r>
          </a:p>
          <a:p>
            <a:pPr lvl="2">
              <a:buNone/>
            </a:pPr>
            <a:r>
              <a:rPr lang="en-US" dirty="0" smtClean="0"/>
              <a:t>	</a:t>
            </a:r>
          </a:p>
          <a:p>
            <a:pPr lvl="2">
              <a:buNone/>
            </a:pPr>
            <a:r>
              <a:rPr lang="en-US" dirty="0" smtClean="0"/>
              <a:t>	Find                ,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13</a:t>
            </a:fld>
            <a:endParaRPr lang="en-US" altLang="zh-CN" dirty="0" smtClean="0"/>
          </a:p>
        </p:txBody>
      </p:sp>
      <p:graphicFrame>
        <p:nvGraphicFramePr>
          <p:cNvPr id="149536" name="Object 32"/>
          <p:cNvGraphicFramePr>
            <a:graphicFrameLocks noChangeAspect="1"/>
          </p:cNvGraphicFramePr>
          <p:nvPr/>
        </p:nvGraphicFramePr>
        <p:xfrm>
          <a:off x="3352800" y="1371600"/>
          <a:ext cx="2300287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3" name="Equation" r:id="rId3" imgW="1295280" imgH="457200" progId="Equation.3">
                  <p:embed/>
                </p:oleObj>
              </mc:Choice>
              <mc:Fallback>
                <p:oleObj name="Equation" r:id="rId3" imgW="1295280" imgH="4572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371600"/>
                        <a:ext cx="2300287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2"/>
          <p:cNvGraphicFramePr>
            <a:graphicFrameLocks noChangeAspect="1"/>
          </p:cNvGraphicFramePr>
          <p:nvPr/>
        </p:nvGraphicFramePr>
        <p:xfrm>
          <a:off x="2438400" y="2209800"/>
          <a:ext cx="698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4" name="Equation" r:id="rId5" imgW="393480" imgH="203040" progId="Equation.3">
                  <p:embed/>
                </p:oleObj>
              </mc:Choice>
              <mc:Fallback>
                <p:oleObj name="Equation" r:id="rId5" imgW="39348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209800"/>
                        <a:ext cx="6985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3352800" y="2209800"/>
          <a:ext cx="1058862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5" name="Equation" r:id="rId7" imgW="596880" imgH="203040" progId="Equation.3">
                  <p:embed/>
                </p:oleObj>
              </mc:Choice>
              <mc:Fallback>
                <p:oleObj name="Equation" r:id="rId7" imgW="59688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209800"/>
                        <a:ext cx="1058862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ELEMENTARY SIGNALS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Basic signal operations</a:t>
            </a:r>
          </a:p>
          <a:p>
            <a:pPr lvl="1"/>
            <a:r>
              <a:rPr lang="en-US" dirty="0" smtClean="0"/>
              <a:t>Time scaling</a:t>
            </a:r>
          </a:p>
          <a:p>
            <a:pPr lvl="2"/>
            <a:r>
              <a:rPr lang="en-US" dirty="0" smtClean="0"/>
              <a:t>Example:</a:t>
            </a:r>
          </a:p>
          <a:p>
            <a:pPr lvl="2">
              <a:buNone/>
            </a:pPr>
            <a:r>
              <a:rPr lang="en-US" dirty="0" smtClean="0"/>
              <a:t>	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the    always points to </a:t>
            </a:r>
            <a:r>
              <a:rPr lang="en-US" i="1" dirty="0" smtClean="0">
                <a:solidFill>
                  <a:srgbClr val="FF0000"/>
                </a:solidFill>
              </a:rPr>
              <a:t>x</a:t>
            </a:r>
            <a:r>
              <a:rPr lang="en-US" dirty="0" smtClean="0">
                <a:solidFill>
                  <a:srgbClr val="FF0000"/>
                </a:solidFill>
              </a:rPr>
              <a:t>(0)</a:t>
            </a:r>
          </a:p>
          <a:p>
            <a:pPr lvl="2">
              <a:buNone/>
            </a:pPr>
            <a:r>
              <a:rPr lang="en-US" dirty="0" smtClean="0"/>
              <a:t>	</a:t>
            </a:r>
          </a:p>
          <a:p>
            <a:pPr lvl="2">
              <a:buNone/>
            </a:pPr>
            <a:r>
              <a:rPr lang="en-US" dirty="0" smtClean="0"/>
              <a:t>	find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14</a:t>
            </a:fld>
            <a:endParaRPr lang="en-US" altLang="zh-CN" dirty="0" smtClean="0"/>
          </a:p>
        </p:txBody>
      </p:sp>
      <p:graphicFrame>
        <p:nvGraphicFramePr>
          <p:cNvPr id="149536" name="Object 32"/>
          <p:cNvGraphicFramePr>
            <a:graphicFrameLocks noChangeAspect="1"/>
          </p:cNvGraphicFramePr>
          <p:nvPr/>
        </p:nvGraphicFramePr>
        <p:xfrm>
          <a:off x="2971800" y="1600200"/>
          <a:ext cx="234383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8" name="Equation" r:id="rId3" imgW="1231560" imgH="203040" progId="Equation.3">
                  <p:embed/>
                </p:oleObj>
              </mc:Choice>
              <mc:Fallback>
                <p:oleObj name="Equation" r:id="rId3" imgW="1231560" imgH="20304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600200"/>
                        <a:ext cx="234383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V="1">
            <a:off x="4343400" y="1905000"/>
            <a:ext cx="0" cy="22860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2209800" y="2286000"/>
            <a:ext cx="0" cy="22860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Object 32"/>
          <p:cNvGraphicFramePr>
            <a:graphicFrameLocks noChangeAspect="1"/>
          </p:cNvGraphicFramePr>
          <p:nvPr/>
        </p:nvGraphicFramePr>
        <p:xfrm>
          <a:off x="2438400" y="2743200"/>
          <a:ext cx="2681288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9" name="Equation" r:id="rId5" imgW="1409400" imgH="431640" progId="Equation.3">
                  <p:embed/>
                </p:oleObj>
              </mc:Choice>
              <mc:Fallback>
                <p:oleObj name="Equation" r:id="rId5" imgW="1409400" imgH="431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743200"/>
                        <a:ext cx="2681288" cy="809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ELEMENTARY SIGNALS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Unit impulse function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 time shifting</a:t>
            </a:r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/>
              <a:t>Unit step function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15</a:t>
            </a:fld>
            <a:endParaRPr lang="en-US" altLang="zh-CN" dirty="0" smtClean="0"/>
          </a:p>
        </p:txBody>
      </p:sp>
      <p:graphicFrame>
        <p:nvGraphicFramePr>
          <p:cNvPr id="18435" name="Object 4"/>
          <p:cNvGraphicFramePr>
            <a:graphicFrameLocks noChangeAspect="1"/>
          </p:cNvGraphicFramePr>
          <p:nvPr/>
        </p:nvGraphicFramePr>
        <p:xfrm>
          <a:off x="2819400" y="1371600"/>
          <a:ext cx="1855787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2" name="Equation" r:id="rId3" imgW="1016000" imgH="457200" progId="Equation.3">
                  <p:embed/>
                </p:oleObj>
              </mc:Choice>
              <mc:Fallback>
                <p:oleObj name="Equation" r:id="rId3" imgW="10160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371600"/>
                        <a:ext cx="1855787" cy="8318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4"/>
          <p:cNvGraphicFramePr>
            <a:graphicFrameLocks noChangeAspect="1"/>
          </p:cNvGraphicFramePr>
          <p:nvPr/>
        </p:nvGraphicFramePr>
        <p:xfrm>
          <a:off x="2743200" y="2438400"/>
          <a:ext cx="2297112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3" name="Equation" r:id="rId5" imgW="1257120" imgH="457200" progId="Equation.3">
                  <p:embed/>
                </p:oleObj>
              </mc:Choice>
              <mc:Fallback>
                <p:oleObj name="Equation" r:id="rId5" imgW="1257120" imgH="457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438400"/>
                        <a:ext cx="2297112" cy="831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Object 6"/>
          <p:cNvGraphicFramePr>
            <a:graphicFrameLocks noChangeAspect="1"/>
          </p:cNvGraphicFramePr>
          <p:nvPr/>
        </p:nvGraphicFramePr>
        <p:xfrm>
          <a:off x="2895600" y="3733800"/>
          <a:ext cx="1833563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4" name="Equation" r:id="rId7" imgW="1002865" imgH="457002" progId="Equation.3">
                  <p:embed/>
                </p:oleObj>
              </mc:Choice>
              <mc:Fallback>
                <p:oleObj name="Equation" r:id="rId7" imgW="1002865" imgH="45700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733800"/>
                        <a:ext cx="1833563" cy="831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609600" y="4800600"/>
            <a:ext cx="77724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Relation between unit impulse function and unit step </a:t>
            </a:r>
            <a:endParaRPr lang="en-US" b="1" dirty="0" smtClean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	function</a:t>
            </a:r>
            <a:endParaRPr lang="en-US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8440" name="Object 8"/>
          <p:cNvGraphicFramePr>
            <a:graphicFrameLocks noChangeAspect="1"/>
          </p:cNvGraphicFramePr>
          <p:nvPr/>
        </p:nvGraphicFramePr>
        <p:xfrm>
          <a:off x="2819400" y="5257800"/>
          <a:ext cx="2411413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5" name="Equation" r:id="rId9" imgW="1320227" imgH="203112" progId="Equation.3">
                  <p:embed/>
                </p:oleObj>
              </mc:Choice>
              <mc:Fallback>
                <p:oleObj name="Equation" r:id="rId9" imgW="1320227" imgH="20311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257800"/>
                        <a:ext cx="2411413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2467387"/>
              </p:ext>
            </p:extLst>
          </p:nvPr>
        </p:nvGraphicFramePr>
        <p:xfrm>
          <a:off x="2824163" y="5659438"/>
          <a:ext cx="1739900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6" name="Equation" r:id="rId11" imgW="952200" imgH="431640" progId="Equation.3">
                  <p:embed/>
                </p:oleObj>
              </mc:Choice>
              <mc:Fallback>
                <p:oleObj name="Equation" r:id="rId11" imgW="952200" imgH="431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4163" y="5659438"/>
                        <a:ext cx="1739900" cy="785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444" name="Picture 1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400800" y="533400"/>
            <a:ext cx="2070100" cy="1618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45" name="Picture 13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400800" y="2133600"/>
            <a:ext cx="2057400" cy="1598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46" name="Picture 14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6477000" y="3810000"/>
            <a:ext cx="1981200" cy="1564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ELEMENTARY SIGNALS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Exponential function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Complex exponential function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n</a:t>
            </a:r>
            <a:r>
              <a:rPr lang="en-US" dirty="0" smtClean="0"/>
              <a:t>) is periodic if             is an integer, and the smallest integer </a:t>
            </a:r>
            <a:r>
              <a:rPr lang="en-US" i="1" dirty="0" smtClean="0"/>
              <a:t>N</a:t>
            </a:r>
            <a:r>
              <a:rPr lang="en-US" dirty="0" smtClean="0"/>
              <a:t> is the fundamental period.</a:t>
            </a:r>
          </a:p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 Are the following signals periodic? If periodic, find fundamental period.</a:t>
            </a: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16</a:t>
            </a:fld>
            <a:endParaRPr lang="en-US" altLang="zh-CN" dirty="0" smtClean="0"/>
          </a:p>
        </p:txBody>
      </p:sp>
      <p:graphicFrame>
        <p:nvGraphicFramePr>
          <p:cNvPr id="20483" name="Object 4"/>
          <p:cNvGraphicFramePr>
            <a:graphicFrameLocks noChangeAspect="1"/>
          </p:cNvGraphicFramePr>
          <p:nvPr/>
        </p:nvGraphicFramePr>
        <p:xfrm>
          <a:off x="2971800" y="1447800"/>
          <a:ext cx="173990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8" name="Equation" r:id="rId3" imgW="952087" imgH="203112" progId="Equation.3">
                  <p:embed/>
                </p:oleObj>
              </mc:Choice>
              <mc:Fallback>
                <p:oleObj name="Equation" r:id="rId3" imgW="952087" imgH="203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447800"/>
                        <a:ext cx="1739900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6"/>
          <p:cNvGraphicFramePr>
            <a:graphicFrameLocks noChangeAspect="1"/>
          </p:cNvGraphicFramePr>
          <p:nvPr/>
        </p:nvGraphicFramePr>
        <p:xfrm>
          <a:off x="2133600" y="2438400"/>
          <a:ext cx="461645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9" name="Equation" r:id="rId5" imgW="2527300" imgH="228600" progId="Equation.3">
                  <p:embed/>
                </p:oleObj>
              </mc:Choice>
              <mc:Fallback>
                <p:oleObj name="Equation" r:id="rId5" imgW="25273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438400"/>
                        <a:ext cx="4616450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2440463"/>
              </p:ext>
            </p:extLst>
          </p:nvPr>
        </p:nvGraphicFramePr>
        <p:xfrm>
          <a:off x="3048000" y="3048000"/>
          <a:ext cx="6921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0" name="Equation" r:id="rId7" imgW="609480" imgH="431640" progId="Equation.3">
                  <p:embed/>
                </p:oleObj>
              </mc:Choice>
              <mc:Fallback>
                <p:oleObj name="Equation" r:id="rId7" imgW="609480" imgH="431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048000"/>
                        <a:ext cx="692150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6"/>
          <p:cNvGraphicFramePr>
            <a:graphicFrameLocks noChangeAspect="1"/>
          </p:cNvGraphicFramePr>
          <p:nvPr/>
        </p:nvGraphicFramePr>
        <p:xfrm>
          <a:off x="1579563" y="4419600"/>
          <a:ext cx="14446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1" name="Equation" r:id="rId9" imgW="1269720" imgH="431640" progId="Equation.3">
                  <p:embed/>
                </p:oleObj>
              </mc:Choice>
              <mc:Fallback>
                <p:oleObj name="Equation" r:id="rId9" imgW="1269720" imgH="431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9563" y="4419600"/>
                        <a:ext cx="1444625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7"/>
          <p:cNvGraphicFramePr>
            <a:graphicFrameLocks noChangeAspect="1"/>
          </p:cNvGraphicFramePr>
          <p:nvPr/>
        </p:nvGraphicFramePr>
        <p:xfrm>
          <a:off x="4919663" y="4495800"/>
          <a:ext cx="135731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2" name="Equation" r:id="rId11" imgW="1193760" imgH="431640" progId="Equation.3">
                  <p:embed/>
                </p:oleObj>
              </mc:Choice>
              <mc:Fallback>
                <p:oleObj name="Equation" r:id="rId11" imgW="1193760" imgH="4316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9663" y="4495800"/>
                        <a:ext cx="1357312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17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8115300" cy="56451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Classifications of discrete-time signals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Elementary discrete-time signals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Linear time-invariant (LTI) discrete-time systems 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Causality and stability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Difference equation representation of LTI systems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defRPr/>
            </a:pPr>
            <a:endParaRPr lang="en-US" altLang="zh-CN" sz="20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DISCRETE-TIME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7772400" cy="2933700"/>
          </a:xfrm>
        </p:spPr>
        <p:txBody>
          <a:bodyPr/>
          <a:lstStyle/>
          <a:p>
            <a:r>
              <a:rPr lang="en-US" dirty="0" smtClean="0"/>
              <a:t>Linear system</a:t>
            </a:r>
          </a:p>
          <a:p>
            <a:pPr lvl="1"/>
            <a:r>
              <a:rPr lang="en-US" dirty="0" smtClean="0"/>
              <a:t>Consider a system with the following input-output relationship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The system is linear if it meets the superposition principle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18</a:t>
            </a:fld>
            <a:endParaRPr lang="en-US" altLang="zh-CN" dirty="0" smtClean="0"/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1066800" y="1828800"/>
            <a:ext cx="3124200" cy="457200"/>
            <a:chOff x="1392" y="2096"/>
            <a:chExt cx="2448" cy="360"/>
          </a:xfrm>
        </p:grpSpPr>
        <p:sp>
          <p:nvSpPr>
            <p:cNvPr id="6" name="Rectangle 12"/>
            <p:cNvSpPr>
              <a:spLocks noChangeArrowheads="1"/>
            </p:cNvSpPr>
            <p:nvPr/>
          </p:nvSpPr>
          <p:spPr bwMode="auto">
            <a:xfrm>
              <a:off x="2168" y="2096"/>
              <a:ext cx="872" cy="3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 b="0" dirty="0" smtClean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System</a:t>
              </a:r>
              <a:endParaRPr lang="en-US" altLang="zh-CN" sz="1800" b="0" dirty="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7" name="Line 13"/>
            <p:cNvSpPr>
              <a:spLocks noChangeShapeType="1"/>
            </p:cNvSpPr>
            <p:nvPr/>
          </p:nvSpPr>
          <p:spPr bwMode="auto">
            <a:xfrm>
              <a:off x="1392" y="2296"/>
              <a:ext cx="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14"/>
            <p:cNvSpPr>
              <a:spLocks noChangeShapeType="1"/>
            </p:cNvSpPr>
            <p:nvPr/>
          </p:nvSpPr>
          <p:spPr bwMode="auto">
            <a:xfrm>
              <a:off x="3056" y="2280"/>
              <a:ext cx="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1506" name="Object 4"/>
          <p:cNvGraphicFramePr>
            <a:graphicFrameLocks noChangeAspect="1"/>
          </p:cNvGraphicFramePr>
          <p:nvPr/>
        </p:nvGraphicFramePr>
        <p:xfrm>
          <a:off x="1219200" y="1752600"/>
          <a:ext cx="522287" cy="315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96" name="Equation" r:id="rId3" imgW="355320" imgH="215640" progId="Equation.3">
                  <p:embed/>
                </p:oleObj>
              </mc:Choice>
              <mc:Fallback>
                <p:oleObj name="Equation" r:id="rId3" imgW="35532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752600"/>
                        <a:ext cx="522287" cy="3159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4"/>
          <p:cNvGraphicFramePr>
            <a:graphicFrameLocks noChangeAspect="1"/>
          </p:cNvGraphicFramePr>
          <p:nvPr/>
        </p:nvGraphicFramePr>
        <p:xfrm>
          <a:off x="3343275" y="1752600"/>
          <a:ext cx="541338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97" name="Equation" r:id="rId5" imgW="368280" imgH="215640" progId="Equation.3">
                  <p:embed/>
                </p:oleObj>
              </mc:Choice>
              <mc:Fallback>
                <p:oleObj name="Equation" r:id="rId5" imgW="36828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3275" y="1752600"/>
                        <a:ext cx="541338" cy="315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8"/>
          <p:cNvGrpSpPr>
            <a:grpSpLocks/>
          </p:cNvGrpSpPr>
          <p:nvPr/>
        </p:nvGrpSpPr>
        <p:grpSpPr bwMode="auto">
          <a:xfrm>
            <a:off x="4953000" y="1752600"/>
            <a:ext cx="3124200" cy="457200"/>
            <a:chOff x="1392" y="2096"/>
            <a:chExt cx="2448" cy="360"/>
          </a:xfrm>
        </p:grpSpPr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2168" y="2096"/>
              <a:ext cx="872" cy="3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 b="0" dirty="0" smtClean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System</a:t>
              </a:r>
              <a:endParaRPr lang="en-US" altLang="zh-CN" sz="1800" b="0" dirty="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1392" y="2296"/>
              <a:ext cx="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3056" y="2280"/>
              <a:ext cx="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1508" name="Object 4"/>
          <p:cNvGraphicFramePr>
            <a:graphicFrameLocks noChangeAspect="1"/>
          </p:cNvGraphicFramePr>
          <p:nvPr/>
        </p:nvGraphicFramePr>
        <p:xfrm>
          <a:off x="5173663" y="1676400"/>
          <a:ext cx="53975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98" name="Equation" r:id="rId7" imgW="368280" imgH="215640" progId="Equation.3">
                  <p:embed/>
                </p:oleObj>
              </mc:Choice>
              <mc:Fallback>
                <p:oleObj name="Equation" r:id="rId7" imgW="368280" imgH="215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3663" y="1676400"/>
                        <a:ext cx="539750" cy="315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4"/>
          <p:cNvGraphicFramePr>
            <a:graphicFrameLocks noChangeAspect="1"/>
          </p:cNvGraphicFramePr>
          <p:nvPr/>
        </p:nvGraphicFramePr>
        <p:xfrm>
          <a:off x="7229475" y="1676400"/>
          <a:ext cx="560388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99" name="Equation" r:id="rId9" imgW="380880" imgH="215640" progId="Equation.3">
                  <p:embed/>
                </p:oleObj>
              </mc:Choice>
              <mc:Fallback>
                <p:oleObj name="Equation" r:id="rId9" imgW="380880" imgH="215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475" y="1676400"/>
                        <a:ext cx="560388" cy="315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18"/>
          <p:cNvGrpSpPr>
            <a:grpSpLocks/>
          </p:cNvGrpSpPr>
          <p:nvPr/>
        </p:nvGrpSpPr>
        <p:grpSpPr bwMode="auto">
          <a:xfrm>
            <a:off x="2590800" y="3200400"/>
            <a:ext cx="3124200" cy="457200"/>
            <a:chOff x="1392" y="2096"/>
            <a:chExt cx="2448" cy="360"/>
          </a:xfrm>
        </p:grpSpPr>
        <p:sp>
          <p:nvSpPr>
            <p:cNvPr id="18" name="Rectangle 12"/>
            <p:cNvSpPr>
              <a:spLocks noChangeArrowheads="1"/>
            </p:cNvSpPr>
            <p:nvPr/>
          </p:nvSpPr>
          <p:spPr bwMode="auto">
            <a:xfrm>
              <a:off x="2168" y="2096"/>
              <a:ext cx="872" cy="3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 b="0" dirty="0" smtClean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System</a:t>
              </a:r>
              <a:endParaRPr lang="en-US" altLang="zh-CN" sz="1800" b="0" dirty="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9" name="Line 13"/>
            <p:cNvSpPr>
              <a:spLocks noChangeShapeType="1"/>
            </p:cNvSpPr>
            <p:nvPr/>
          </p:nvSpPr>
          <p:spPr bwMode="auto">
            <a:xfrm>
              <a:off x="1392" y="2296"/>
              <a:ext cx="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4"/>
            <p:cNvSpPr>
              <a:spLocks noChangeShapeType="1"/>
            </p:cNvSpPr>
            <p:nvPr/>
          </p:nvSpPr>
          <p:spPr bwMode="auto">
            <a:xfrm>
              <a:off x="3056" y="2280"/>
              <a:ext cx="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1510" name="Object 4"/>
          <p:cNvGraphicFramePr>
            <a:graphicFrameLocks noChangeAspect="1"/>
          </p:cNvGraphicFramePr>
          <p:nvPr/>
        </p:nvGraphicFramePr>
        <p:xfrm>
          <a:off x="1981200" y="3048000"/>
          <a:ext cx="1436688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00" name="Equation" r:id="rId11" imgW="977760" imgH="215640" progId="Equation.3">
                  <p:embed/>
                </p:oleObj>
              </mc:Choice>
              <mc:Fallback>
                <p:oleObj name="Equation" r:id="rId11" imgW="977760" imgH="215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048000"/>
                        <a:ext cx="1436688" cy="315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4"/>
          <p:cNvGraphicFramePr>
            <a:graphicFrameLocks noChangeAspect="1"/>
          </p:cNvGraphicFramePr>
          <p:nvPr/>
        </p:nvGraphicFramePr>
        <p:xfrm>
          <a:off x="4800600" y="3048000"/>
          <a:ext cx="1455738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01" name="Equation" r:id="rId13" imgW="990360" imgH="215640" progId="Equation.3">
                  <p:embed/>
                </p:oleObj>
              </mc:Choice>
              <mc:Fallback>
                <p:oleObj name="Equation" r:id="rId13" imgW="990360" imgH="2156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048000"/>
                        <a:ext cx="1455738" cy="315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2"/>
          <p:cNvSpPr txBox="1">
            <a:spLocks/>
          </p:cNvSpPr>
          <p:nvPr/>
        </p:nvSpPr>
        <p:spPr>
          <a:xfrm>
            <a:off x="609600" y="3810000"/>
            <a:ext cx="7772400" cy="2933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Time-invariant system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Consider a system with the following input-output relationship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The system is time-invariant</a:t>
            </a:r>
            <a:r>
              <a:rPr kumimoji="0" lang="en-US" sz="1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if a time-shift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at the input leads to the same time-shift at the output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pSp>
        <p:nvGrpSpPr>
          <p:cNvPr id="24" name="Group 18"/>
          <p:cNvGrpSpPr>
            <a:grpSpLocks/>
          </p:cNvGrpSpPr>
          <p:nvPr/>
        </p:nvGrpSpPr>
        <p:grpSpPr bwMode="auto">
          <a:xfrm>
            <a:off x="2362200" y="4572000"/>
            <a:ext cx="3124200" cy="457200"/>
            <a:chOff x="1392" y="2096"/>
            <a:chExt cx="2448" cy="360"/>
          </a:xfrm>
        </p:grpSpPr>
        <p:sp>
          <p:nvSpPr>
            <p:cNvPr id="25" name="Rectangle 12"/>
            <p:cNvSpPr>
              <a:spLocks noChangeArrowheads="1"/>
            </p:cNvSpPr>
            <p:nvPr/>
          </p:nvSpPr>
          <p:spPr bwMode="auto">
            <a:xfrm>
              <a:off x="2168" y="2096"/>
              <a:ext cx="872" cy="3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 b="0" dirty="0" smtClean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System</a:t>
              </a:r>
              <a:endParaRPr lang="en-US" altLang="zh-CN" sz="1800" b="0" dirty="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26" name="Line 13"/>
            <p:cNvSpPr>
              <a:spLocks noChangeShapeType="1"/>
            </p:cNvSpPr>
            <p:nvPr/>
          </p:nvSpPr>
          <p:spPr bwMode="auto">
            <a:xfrm>
              <a:off x="1392" y="2296"/>
              <a:ext cx="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14"/>
            <p:cNvSpPr>
              <a:spLocks noChangeShapeType="1"/>
            </p:cNvSpPr>
            <p:nvPr/>
          </p:nvSpPr>
          <p:spPr bwMode="auto">
            <a:xfrm>
              <a:off x="3056" y="2280"/>
              <a:ext cx="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1512" name="Object 4"/>
          <p:cNvGraphicFramePr>
            <a:graphicFrameLocks noChangeAspect="1"/>
          </p:cNvGraphicFramePr>
          <p:nvPr/>
        </p:nvGraphicFramePr>
        <p:xfrm>
          <a:off x="2541588" y="4503738"/>
          <a:ext cx="4667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02" name="Equation" r:id="rId15" imgW="317160" imgH="203040" progId="Equation.3">
                  <p:embed/>
                </p:oleObj>
              </mc:Choice>
              <mc:Fallback>
                <p:oleObj name="Equation" r:id="rId15" imgW="317160" imgH="2030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1588" y="4503738"/>
                        <a:ext cx="46672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3" name="Object 9"/>
          <p:cNvGraphicFramePr>
            <a:graphicFrameLocks noChangeAspect="1"/>
          </p:cNvGraphicFramePr>
          <p:nvPr/>
        </p:nvGraphicFramePr>
        <p:xfrm>
          <a:off x="4751388" y="4503738"/>
          <a:ext cx="48577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03" name="Equation" r:id="rId17" imgW="330120" imgH="203040" progId="Equation.3">
                  <p:embed/>
                </p:oleObj>
              </mc:Choice>
              <mc:Fallback>
                <p:oleObj name="Equation" r:id="rId17" imgW="330120" imgH="2030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1388" y="4503738"/>
                        <a:ext cx="48577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Group 18"/>
          <p:cNvGrpSpPr>
            <a:grpSpLocks/>
          </p:cNvGrpSpPr>
          <p:nvPr/>
        </p:nvGrpSpPr>
        <p:grpSpPr bwMode="auto">
          <a:xfrm>
            <a:off x="2438400" y="5867400"/>
            <a:ext cx="3124200" cy="457200"/>
            <a:chOff x="1392" y="2096"/>
            <a:chExt cx="2448" cy="360"/>
          </a:xfrm>
        </p:grpSpPr>
        <p:sp>
          <p:nvSpPr>
            <p:cNvPr id="31" name="Rectangle 12"/>
            <p:cNvSpPr>
              <a:spLocks noChangeArrowheads="1"/>
            </p:cNvSpPr>
            <p:nvPr/>
          </p:nvSpPr>
          <p:spPr bwMode="auto">
            <a:xfrm>
              <a:off x="2168" y="2096"/>
              <a:ext cx="872" cy="3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 b="0" dirty="0" smtClean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System</a:t>
              </a:r>
              <a:endParaRPr lang="en-US" altLang="zh-CN" sz="1800" b="0" dirty="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32" name="Line 13"/>
            <p:cNvSpPr>
              <a:spLocks noChangeShapeType="1"/>
            </p:cNvSpPr>
            <p:nvPr/>
          </p:nvSpPr>
          <p:spPr bwMode="auto">
            <a:xfrm>
              <a:off x="1392" y="2296"/>
              <a:ext cx="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14"/>
            <p:cNvSpPr>
              <a:spLocks noChangeShapeType="1"/>
            </p:cNvSpPr>
            <p:nvPr/>
          </p:nvSpPr>
          <p:spPr bwMode="auto">
            <a:xfrm>
              <a:off x="3056" y="2280"/>
              <a:ext cx="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1514" name="Object 10"/>
          <p:cNvGraphicFramePr>
            <a:graphicFrameLocks noChangeAspect="1"/>
          </p:cNvGraphicFramePr>
          <p:nvPr/>
        </p:nvGraphicFramePr>
        <p:xfrm>
          <a:off x="2508250" y="5791200"/>
          <a:ext cx="7842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04" name="Equation" r:id="rId19" imgW="533160" imgH="203040" progId="Equation.3">
                  <p:embed/>
                </p:oleObj>
              </mc:Choice>
              <mc:Fallback>
                <p:oleObj name="Equation" r:id="rId19" imgW="533160" imgH="20304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0" y="5791200"/>
                        <a:ext cx="78422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5" name="Object 11"/>
          <p:cNvGraphicFramePr>
            <a:graphicFrameLocks noChangeAspect="1"/>
          </p:cNvGraphicFramePr>
          <p:nvPr/>
        </p:nvGraphicFramePr>
        <p:xfrm>
          <a:off x="4640263" y="5791200"/>
          <a:ext cx="801687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05" name="Equation" r:id="rId21" imgW="545760" imgH="203040" progId="Equation.3">
                  <p:embed/>
                </p:oleObj>
              </mc:Choice>
              <mc:Fallback>
                <p:oleObj name="Equation" r:id="rId21" imgW="545760" imgH="20304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0263" y="5791200"/>
                        <a:ext cx="801687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/>
          <p:cNvSpPr txBox="1">
            <a:spLocks/>
          </p:cNvSpPr>
          <p:nvPr/>
        </p:nvSpPr>
        <p:spPr>
          <a:xfrm>
            <a:off x="685800" y="2895600"/>
            <a:ext cx="7772400" cy="35814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Any arbitrary discrete-time signal can be decomposed as weighted summation of the unit impulse functions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Why?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E.g.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kumimoji="0" lang="en-US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Recall: </a:t>
            </a:r>
            <a:endParaRPr kumimoji="0" lang="en-US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DISCRETE-TIME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7772400" cy="1866900"/>
          </a:xfrm>
        </p:spPr>
        <p:txBody>
          <a:bodyPr/>
          <a:lstStyle/>
          <a:p>
            <a:r>
              <a:rPr lang="en-US" dirty="0" smtClean="0"/>
              <a:t>Impulse response of a LTI system</a:t>
            </a:r>
          </a:p>
          <a:p>
            <a:pPr lvl="1"/>
            <a:r>
              <a:rPr lang="en-US" dirty="0" smtClean="0"/>
              <a:t>The response of the system when the input is 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19</a:t>
            </a:fld>
            <a:endParaRPr lang="en-US" altLang="zh-CN" dirty="0" smtClean="0"/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2184400" y="1792288"/>
            <a:ext cx="3873500" cy="684212"/>
            <a:chOff x="1328" y="777"/>
            <a:chExt cx="2440" cy="431"/>
          </a:xfrm>
        </p:grpSpPr>
        <p:graphicFrame>
          <p:nvGraphicFramePr>
            <p:cNvPr id="6" name="Object 6"/>
            <p:cNvGraphicFramePr>
              <a:graphicFrameLocks noChangeAspect="1"/>
            </p:cNvGraphicFramePr>
            <p:nvPr/>
          </p:nvGraphicFramePr>
          <p:xfrm>
            <a:off x="1504" y="777"/>
            <a:ext cx="341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64" name="Equation" r:id="rId3" imgW="330120" imgH="203040" progId="Equation.3">
                    <p:embed/>
                  </p:oleObj>
                </mc:Choice>
                <mc:Fallback>
                  <p:oleObj name="Equation" r:id="rId3" imgW="330120" imgH="20304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4" y="777"/>
                          <a:ext cx="341" cy="2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2112" y="848"/>
              <a:ext cx="872" cy="3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 b="0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System</a:t>
              </a:r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1328" y="1024"/>
              <a:ext cx="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2984" y="1032"/>
              <a:ext cx="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0" name="Object 10"/>
            <p:cNvGraphicFramePr>
              <a:graphicFrameLocks noChangeAspect="1"/>
            </p:cNvGraphicFramePr>
            <p:nvPr/>
          </p:nvGraphicFramePr>
          <p:xfrm>
            <a:off x="3222" y="777"/>
            <a:ext cx="328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65" name="Equation" r:id="rId5" imgW="317160" imgH="203040" progId="Equation.3">
                    <p:embed/>
                  </p:oleObj>
                </mc:Choice>
                <mc:Fallback>
                  <p:oleObj name="Equation" r:id="rId5" imgW="317160" imgH="20304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2" y="777"/>
                          <a:ext cx="328" cy="21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Object 6"/>
          <p:cNvGraphicFramePr>
            <a:graphicFrameLocks noChangeAspect="1"/>
          </p:cNvGraphicFramePr>
          <p:nvPr/>
        </p:nvGraphicFramePr>
        <p:xfrm>
          <a:off x="5715000" y="1295400"/>
          <a:ext cx="54292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66" name="Equation" r:id="rId7" imgW="330120" imgH="203040" progId="Equation.3">
                  <p:embed/>
                </p:oleObj>
              </mc:Choice>
              <mc:Fallback>
                <p:oleObj name="Equation" r:id="rId7" imgW="33012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1295400"/>
                        <a:ext cx="542925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2"/>
          <p:cNvSpPr txBox="1">
            <a:spLocks/>
          </p:cNvSpPr>
          <p:nvPr/>
        </p:nvSpPr>
        <p:spPr>
          <a:xfrm>
            <a:off x="685800" y="2743200"/>
            <a:ext cx="7772400" cy="3657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2000" b="1" dirty="0" smtClean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endParaRPr kumimoji="0" lang="en-US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22533" name="Object 6"/>
          <p:cNvGraphicFramePr>
            <a:graphicFrameLocks noChangeAspect="1"/>
          </p:cNvGraphicFramePr>
          <p:nvPr/>
        </p:nvGraphicFramePr>
        <p:xfrm>
          <a:off x="2895600" y="3581400"/>
          <a:ext cx="2401888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67" name="Equation" r:id="rId9" imgW="1460160" imgH="431640" progId="Equation.3">
                  <p:embed/>
                </p:oleObj>
              </mc:Choice>
              <mc:Fallback>
                <p:oleObj name="Equation" r:id="rId9" imgW="1460160" imgH="431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581400"/>
                        <a:ext cx="2401888" cy="71596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6"/>
          <p:cNvGraphicFramePr>
            <a:graphicFrameLocks noChangeAspect="1"/>
          </p:cNvGraphicFramePr>
          <p:nvPr/>
        </p:nvGraphicFramePr>
        <p:xfrm>
          <a:off x="2438400" y="4419600"/>
          <a:ext cx="2549525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68" name="Equation" r:id="rId11" imgW="1549080" imgH="431640" progId="Equation.3">
                  <p:embed/>
                </p:oleObj>
              </mc:Choice>
              <mc:Fallback>
                <p:oleObj name="Equation" r:id="rId11" imgW="1549080" imgH="431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419600"/>
                        <a:ext cx="2549525" cy="715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7"/>
          <p:cNvGraphicFramePr>
            <a:graphicFrameLocks noChangeAspect="1"/>
          </p:cNvGraphicFramePr>
          <p:nvPr/>
        </p:nvGraphicFramePr>
        <p:xfrm>
          <a:off x="2590800" y="5562600"/>
          <a:ext cx="2506662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69" name="Equation" r:id="rId13" imgW="1523880" imgH="330120" progId="Equation.3">
                  <p:embed/>
                </p:oleObj>
              </mc:Choice>
              <mc:Fallback>
                <p:oleObj name="Equation" r:id="rId13" imgW="1523880" imgH="33012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562600"/>
                        <a:ext cx="2506662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/>
          <p:cNvSpPr/>
          <p:nvPr/>
        </p:nvSpPr>
        <p:spPr>
          <a:xfrm>
            <a:off x="1371600" y="5257800"/>
            <a:ext cx="6477000" cy="12954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DISCRETE-TIME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LTI response to arbitrary input</a:t>
            </a:r>
          </a:p>
          <a:p>
            <a:pPr lvl="1"/>
            <a:r>
              <a:rPr lang="en-US" dirty="0" smtClean="0"/>
              <a:t>Any arbitrary signal can be written as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Time-invariant</a:t>
            </a:r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/>
            <a:r>
              <a:rPr lang="en-US" dirty="0" smtClean="0"/>
              <a:t>Linear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20</a:t>
            </a:fld>
            <a:endParaRPr lang="en-US" altLang="zh-CN" dirty="0" smtClean="0"/>
          </a:p>
        </p:txBody>
      </p:sp>
      <p:graphicFrame>
        <p:nvGraphicFramePr>
          <p:cNvPr id="23559" name="Object 7"/>
          <p:cNvGraphicFramePr>
            <a:graphicFrameLocks noChangeAspect="1"/>
          </p:cNvGraphicFramePr>
          <p:nvPr/>
        </p:nvGraphicFramePr>
        <p:xfrm>
          <a:off x="2590800" y="1676400"/>
          <a:ext cx="2401888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32" name="Equation" r:id="rId3" imgW="1460160" imgH="431640" progId="Equation.3">
                  <p:embed/>
                </p:oleObj>
              </mc:Choice>
              <mc:Fallback>
                <p:oleObj name="Equation" r:id="rId3" imgW="1460160" imgH="4316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676400"/>
                        <a:ext cx="2401888" cy="715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Group 13"/>
          <p:cNvGrpSpPr>
            <a:grpSpLocks/>
          </p:cNvGrpSpPr>
          <p:nvPr/>
        </p:nvGrpSpPr>
        <p:grpSpPr bwMode="auto">
          <a:xfrm>
            <a:off x="2209800" y="2971800"/>
            <a:ext cx="3873500" cy="684212"/>
            <a:chOff x="1328" y="777"/>
            <a:chExt cx="2440" cy="431"/>
          </a:xfrm>
        </p:grpSpPr>
        <p:graphicFrame>
          <p:nvGraphicFramePr>
            <p:cNvPr id="24" name="Object 14"/>
            <p:cNvGraphicFramePr>
              <a:graphicFrameLocks noChangeAspect="1"/>
            </p:cNvGraphicFramePr>
            <p:nvPr/>
          </p:nvGraphicFramePr>
          <p:xfrm>
            <a:off x="1399" y="777"/>
            <a:ext cx="552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33" name="Equation" r:id="rId5" imgW="533169" imgH="203112" progId="Equation.3">
                    <p:embed/>
                  </p:oleObj>
                </mc:Choice>
                <mc:Fallback>
                  <p:oleObj name="Equation" r:id="rId5" imgW="533169" imgH="203112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9" y="777"/>
                          <a:ext cx="552" cy="2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Rectangle 15"/>
            <p:cNvSpPr>
              <a:spLocks noChangeArrowheads="1"/>
            </p:cNvSpPr>
            <p:nvPr/>
          </p:nvSpPr>
          <p:spPr bwMode="auto">
            <a:xfrm>
              <a:off x="2112" y="848"/>
              <a:ext cx="872" cy="3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 b="0" dirty="0" smtClean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LTI</a:t>
              </a:r>
              <a:endParaRPr lang="en-US" altLang="zh-CN" sz="1800" b="0" dirty="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26" name="Line 16"/>
            <p:cNvSpPr>
              <a:spLocks noChangeShapeType="1"/>
            </p:cNvSpPr>
            <p:nvPr/>
          </p:nvSpPr>
          <p:spPr bwMode="auto">
            <a:xfrm>
              <a:off x="1328" y="1024"/>
              <a:ext cx="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17"/>
            <p:cNvSpPr>
              <a:spLocks noChangeShapeType="1"/>
            </p:cNvSpPr>
            <p:nvPr/>
          </p:nvSpPr>
          <p:spPr bwMode="auto">
            <a:xfrm>
              <a:off x="2984" y="1032"/>
              <a:ext cx="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8" name="Object 18"/>
            <p:cNvGraphicFramePr>
              <a:graphicFrameLocks noChangeAspect="1"/>
            </p:cNvGraphicFramePr>
            <p:nvPr/>
          </p:nvGraphicFramePr>
          <p:xfrm>
            <a:off x="3117" y="777"/>
            <a:ext cx="538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34" name="Equation" r:id="rId7" imgW="520474" imgH="203112" progId="Equation.3">
                    <p:embed/>
                  </p:oleObj>
                </mc:Choice>
                <mc:Fallback>
                  <p:oleObj name="Equation" r:id="rId7" imgW="520474" imgH="203112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7" y="777"/>
                          <a:ext cx="538" cy="21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" name="Group 33"/>
          <p:cNvGrpSpPr/>
          <p:nvPr/>
        </p:nvGrpSpPr>
        <p:grpSpPr>
          <a:xfrm>
            <a:off x="1447800" y="4114800"/>
            <a:ext cx="5419725" cy="923925"/>
            <a:chOff x="1530350" y="4448175"/>
            <a:chExt cx="5419725" cy="923925"/>
          </a:xfrm>
        </p:grpSpPr>
        <p:graphicFrame>
          <p:nvGraphicFramePr>
            <p:cNvPr id="29" name="Object 22"/>
            <p:cNvGraphicFramePr>
              <a:graphicFrameLocks noChangeAspect="1"/>
            </p:cNvGraphicFramePr>
            <p:nvPr/>
          </p:nvGraphicFramePr>
          <p:xfrm>
            <a:off x="1530350" y="4473575"/>
            <a:ext cx="1647825" cy="715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35" name="Equation" r:id="rId9" imgW="1002865" imgH="431613" progId="Equation.3">
                    <p:embed/>
                  </p:oleObj>
                </mc:Choice>
                <mc:Fallback>
                  <p:oleObj name="Equation" r:id="rId9" imgW="1002865" imgH="431613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0350" y="4473575"/>
                          <a:ext cx="1647825" cy="715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Rectangle 23"/>
            <p:cNvSpPr>
              <a:spLocks noChangeArrowheads="1"/>
            </p:cNvSpPr>
            <p:nvPr/>
          </p:nvSpPr>
          <p:spPr bwMode="auto">
            <a:xfrm>
              <a:off x="3581400" y="4800600"/>
              <a:ext cx="1384300" cy="5715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 b="0" dirty="0" smtClean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LTI</a:t>
              </a:r>
              <a:endParaRPr lang="en-US" altLang="zh-CN" sz="1800" b="0" dirty="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31" name="Line 24"/>
            <p:cNvSpPr>
              <a:spLocks noChangeShapeType="1"/>
            </p:cNvSpPr>
            <p:nvPr/>
          </p:nvSpPr>
          <p:spPr bwMode="auto">
            <a:xfrm>
              <a:off x="2336800" y="5080000"/>
              <a:ext cx="1244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25"/>
            <p:cNvSpPr>
              <a:spLocks noChangeShapeType="1"/>
            </p:cNvSpPr>
            <p:nvPr/>
          </p:nvSpPr>
          <p:spPr bwMode="auto">
            <a:xfrm>
              <a:off x="4965700" y="5092700"/>
              <a:ext cx="1244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33" name="Object 26"/>
            <p:cNvGraphicFramePr>
              <a:graphicFrameLocks noChangeAspect="1"/>
            </p:cNvGraphicFramePr>
            <p:nvPr/>
          </p:nvGraphicFramePr>
          <p:xfrm>
            <a:off x="5326063" y="4448175"/>
            <a:ext cx="1624012" cy="712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36" name="Equation" r:id="rId11" imgW="990170" imgH="431613" progId="Equation.3">
                    <p:embed/>
                  </p:oleObj>
                </mc:Choice>
                <mc:Fallback>
                  <p:oleObj name="Equation" r:id="rId11" imgW="990170" imgH="431613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6063" y="4448175"/>
                          <a:ext cx="1624012" cy="7127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Group 34"/>
          <p:cNvGrpSpPr/>
          <p:nvPr/>
        </p:nvGrpSpPr>
        <p:grpSpPr>
          <a:xfrm>
            <a:off x="1981200" y="5410200"/>
            <a:ext cx="5230812" cy="923925"/>
            <a:chOff x="2093913" y="4448175"/>
            <a:chExt cx="5230812" cy="923925"/>
          </a:xfrm>
          <a:noFill/>
        </p:grpSpPr>
        <p:graphicFrame>
          <p:nvGraphicFramePr>
            <p:cNvPr id="36" name="Object 22"/>
            <p:cNvGraphicFramePr>
              <a:graphicFrameLocks noChangeAspect="1"/>
            </p:cNvGraphicFramePr>
            <p:nvPr/>
          </p:nvGraphicFramePr>
          <p:xfrm>
            <a:off x="2093913" y="4662488"/>
            <a:ext cx="520700" cy="338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37" name="Equation" r:id="rId13" imgW="317160" imgH="203040" progId="Equation.3">
                    <p:embed/>
                  </p:oleObj>
                </mc:Choice>
                <mc:Fallback>
                  <p:oleObj name="Equation" r:id="rId13" imgW="317160" imgH="203040" progId="Equation.3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3913" y="4662488"/>
                          <a:ext cx="520700" cy="3381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Rectangle 23"/>
            <p:cNvSpPr>
              <a:spLocks noChangeArrowheads="1"/>
            </p:cNvSpPr>
            <p:nvPr/>
          </p:nvSpPr>
          <p:spPr bwMode="auto">
            <a:xfrm>
              <a:off x="3581400" y="4800600"/>
              <a:ext cx="1384300" cy="5715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 b="0" dirty="0" smtClean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LTI</a:t>
              </a:r>
              <a:endParaRPr lang="en-US" altLang="zh-CN" sz="1800" b="0" dirty="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38" name="Line 24"/>
            <p:cNvSpPr>
              <a:spLocks noChangeShapeType="1"/>
            </p:cNvSpPr>
            <p:nvPr/>
          </p:nvSpPr>
          <p:spPr bwMode="auto">
            <a:xfrm>
              <a:off x="2336800" y="5080000"/>
              <a:ext cx="124460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25"/>
            <p:cNvSpPr>
              <a:spLocks noChangeShapeType="1"/>
            </p:cNvSpPr>
            <p:nvPr/>
          </p:nvSpPr>
          <p:spPr bwMode="auto">
            <a:xfrm>
              <a:off x="4965700" y="5092700"/>
              <a:ext cx="124460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40" name="Object 26"/>
            <p:cNvGraphicFramePr>
              <a:graphicFrameLocks noChangeAspect="1"/>
            </p:cNvGraphicFramePr>
            <p:nvPr/>
          </p:nvGraphicFramePr>
          <p:xfrm>
            <a:off x="4951413" y="4448175"/>
            <a:ext cx="2373312" cy="712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38" name="Equation" r:id="rId15" imgW="1447560" imgH="431640" progId="Equation.3">
                    <p:embed/>
                  </p:oleObj>
                </mc:Choice>
                <mc:Fallback>
                  <p:oleObj name="Equation" r:id="rId15" imgW="1447560" imgH="431640" progId="Equation.3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1413" y="4448175"/>
                          <a:ext cx="2373312" cy="7127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DISCRETE-TIME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Convolution sum</a:t>
            </a:r>
          </a:p>
          <a:p>
            <a:pPr lvl="1"/>
            <a:r>
              <a:rPr lang="en-US" dirty="0" smtClean="0"/>
              <a:t>The convolution sum of two signals           and            is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21</a:t>
            </a:fld>
            <a:endParaRPr lang="en-US" altLang="zh-CN" dirty="0" smtClean="0"/>
          </a:p>
        </p:txBody>
      </p:sp>
      <p:graphicFrame>
        <p:nvGraphicFramePr>
          <p:cNvPr id="24578" name="Object 4"/>
          <p:cNvGraphicFramePr>
            <a:graphicFrameLocks noChangeAspect="1"/>
          </p:cNvGraphicFramePr>
          <p:nvPr/>
        </p:nvGraphicFramePr>
        <p:xfrm>
          <a:off x="4724400" y="1219200"/>
          <a:ext cx="579437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12" name="Equation" r:id="rId3" imgW="317225" imgH="203024" progId="Equation.3">
                  <p:embed/>
                </p:oleObj>
              </mc:Choice>
              <mc:Fallback>
                <p:oleObj name="Equation" r:id="rId3" imgW="317225" imgH="20302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219200"/>
                        <a:ext cx="579437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9" name="Object 5"/>
          <p:cNvGraphicFramePr>
            <a:graphicFrameLocks noChangeAspect="1"/>
          </p:cNvGraphicFramePr>
          <p:nvPr/>
        </p:nvGraphicFramePr>
        <p:xfrm>
          <a:off x="5715000" y="1219200"/>
          <a:ext cx="579437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13" name="Equation" r:id="rId5" imgW="317225" imgH="203024" progId="Equation.3">
                  <p:embed/>
                </p:oleObj>
              </mc:Choice>
              <mc:Fallback>
                <p:oleObj name="Equation" r:id="rId5" imgW="317225" imgH="20302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1219200"/>
                        <a:ext cx="579437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6"/>
          <p:cNvGraphicFramePr>
            <a:graphicFrameLocks noChangeAspect="1"/>
          </p:cNvGraphicFramePr>
          <p:nvPr/>
        </p:nvGraphicFramePr>
        <p:xfrm>
          <a:off x="2590800" y="1752600"/>
          <a:ext cx="3019425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14" name="Equation" r:id="rId7" imgW="1841500" imgH="431800" progId="Equation.3">
                  <p:embed/>
                </p:oleObj>
              </mc:Choice>
              <mc:Fallback>
                <p:oleObj name="Equation" r:id="rId7" imgW="1841500" imgH="431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752600"/>
                        <a:ext cx="3019425" cy="7127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23900" y="2565400"/>
            <a:ext cx="7772400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0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Response of LTI system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The output of a LTI system is the convolution sum of the input and the impulse response of the system.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2627313" y="4230688"/>
          <a:ext cx="5207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15" name="Equation" r:id="rId9" imgW="317225" imgH="203024" progId="Equation.3">
                  <p:embed/>
                </p:oleObj>
              </mc:Choice>
              <mc:Fallback>
                <p:oleObj name="Equation" r:id="rId9" imgW="317225" imgH="20302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4230688"/>
                        <a:ext cx="520700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759200" y="4368800"/>
            <a:ext cx="1384300" cy="571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 sz="1800" b="0">
              <a:ea typeface="宋体" pitchFamily="2" charset="-122"/>
            </a:endParaRPr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>
            <a:off x="2514600" y="4648200"/>
            <a:ext cx="124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4176713" y="4484688"/>
          <a:ext cx="5207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16" name="Equation" r:id="rId11" imgW="317225" imgH="203024" progId="Equation.3">
                  <p:embed/>
                </p:oleObj>
              </mc:Choice>
              <mc:Fallback>
                <p:oleObj name="Equation" r:id="rId11" imgW="317225" imgH="203024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6713" y="4484688"/>
                        <a:ext cx="520700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Line 13"/>
          <p:cNvSpPr>
            <a:spLocks noChangeShapeType="1"/>
          </p:cNvSpPr>
          <p:nvPr/>
        </p:nvSpPr>
        <p:spPr bwMode="auto">
          <a:xfrm>
            <a:off x="5156200" y="4660900"/>
            <a:ext cx="124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5610225" y="4205288"/>
          <a:ext cx="1208088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17" name="Equation" r:id="rId13" imgW="736600" imgH="203200" progId="Equation.3">
                  <p:embed/>
                </p:oleObj>
              </mc:Choice>
              <mc:Fallback>
                <p:oleObj name="Equation" r:id="rId13" imgW="736600" imgH="203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0225" y="4205288"/>
                        <a:ext cx="1208088" cy="334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DISCRETE-TIME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</a:p>
          <a:p>
            <a:pPr lvl="1"/>
            <a:r>
              <a:rPr lang="en-US" dirty="0" smtClean="0"/>
              <a:t>1.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2.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22</a:t>
            </a:fld>
            <a:endParaRPr lang="en-US" altLang="zh-CN" dirty="0" smtClean="0"/>
          </a:p>
        </p:txBody>
      </p:sp>
      <p:graphicFrame>
        <p:nvGraphicFramePr>
          <p:cNvPr id="25603" name="Object 4"/>
          <p:cNvGraphicFramePr>
            <a:graphicFrameLocks noChangeAspect="1"/>
          </p:cNvGraphicFramePr>
          <p:nvPr/>
        </p:nvGraphicFramePr>
        <p:xfrm>
          <a:off x="1800225" y="1308100"/>
          <a:ext cx="1808163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59" name="Equation" r:id="rId4" imgW="990170" imgH="203112" progId="Equation.3">
                  <p:embed/>
                </p:oleObj>
              </mc:Choice>
              <mc:Fallback>
                <p:oleObj name="Equation" r:id="rId4" imgW="990170" imgH="203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225" y="1308100"/>
                        <a:ext cx="1808163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4" name="Object 6"/>
          <p:cNvGraphicFramePr>
            <a:graphicFrameLocks noChangeAspect="1"/>
          </p:cNvGraphicFramePr>
          <p:nvPr/>
        </p:nvGraphicFramePr>
        <p:xfrm>
          <a:off x="1820863" y="2924175"/>
          <a:ext cx="1716087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60" name="Equation" r:id="rId6" imgW="939600" imgH="228600" progId="Equation.3">
                  <p:embed/>
                </p:oleObj>
              </mc:Choice>
              <mc:Fallback>
                <p:oleObj name="Equation" r:id="rId6" imgW="9396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0863" y="2924175"/>
                        <a:ext cx="1716087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7"/>
          <p:cNvGraphicFramePr>
            <a:graphicFrameLocks noChangeAspect="1"/>
          </p:cNvGraphicFramePr>
          <p:nvPr/>
        </p:nvGraphicFramePr>
        <p:xfrm>
          <a:off x="4025900" y="2924175"/>
          <a:ext cx="1624013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61" name="Equation" r:id="rId8" imgW="889000" imgH="228600" progId="Equation.3">
                  <p:embed/>
                </p:oleObj>
              </mc:Choice>
              <mc:Fallback>
                <p:oleObj name="Equation" r:id="rId8" imgW="8890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5900" y="2924175"/>
                        <a:ext cx="1624013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8"/>
          <p:cNvGraphicFramePr>
            <a:graphicFrameLocks noChangeAspect="1"/>
          </p:cNvGraphicFramePr>
          <p:nvPr/>
        </p:nvGraphicFramePr>
        <p:xfrm>
          <a:off x="1812925" y="3429000"/>
          <a:ext cx="1552575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62" name="Equation" r:id="rId10" imgW="850531" imgH="203112" progId="Equation.3">
                  <p:embed/>
                </p:oleObj>
              </mc:Choice>
              <mc:Fallback>
                <p:oleObj name="Equation" r:id="rId10" imgW="850531" imgH="20311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925" y="3429000"/>
                        <a:ext cx="1552575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00C61D3-D8C4-469E-B80D-6E3B3133A691}" type="slidenum">
              <a:rPr lang="zh-CN" altLang="en-US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102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DISCRETE-TIME SYSTEM</a:t>
            </a:r>
          </a:p>
        </p:txBody>
      </p:sp>
      <p:sp>
        <p:nvSpPr>
          <p:cNvPr id="102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Example</a:t>
            </a:r>
          </a:p>
        </p:txBody>
      </p:sp>
      <p:sp>
        <p:nvSpPr>
          <p:cNvPr id="10248" name="Rectangle 4"/>
          <p:cNvSpPr>
            <a:spLocks noChangeArrowheads="1"/>
          </p:cNvSpPr>
          <p:nvPr/>
        </p:nvSpPr>
        <p:spPr bwMode="auto">
          <a:xfrm>
            <a:off x="609600" y="13335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3. Find the step response of the system with impulse response</a:t>
            </a:r>
          </a:p>
        </p:txBody>
      </p:sp>
      <p:graphicFrame>
        <p:nvGraphicFramePr>
          <p:cNvPr id="10242" name="Object 5"/>
          <p:cNvGraphicFramePr>
            <a:graphicFrameLocks noChangeAspect="1"/>
          </p:cNvGraphicFramePr>
          <p:nvPr/>
        </p:nvGraphicFramePr>
        <p:xfrm>
          <a:off x="2351089" y="1689100"/>
          <a:ext cx="3135312" cy="81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5" name="Equation" r:id="rId3" imgW="1790700" imgH="469900" progId="Equation.3">
                  <p:embed/>
                </p:oleObj>
              </mc:Choice>
              <mc:Fallback>
                <p:oleObj name="Equation" r:id="rId3" imgW="1790700" imgH="469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1689100"/>
                        <a:ext cx="3135312" cy="818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842E0BC-144E-4C97-82F7-B0C15D6445D8}" type="slidenum">
              <a:rPr lang="zh-CN" altLang="en-US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112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DISCRETE-TIME SYSTEM</a:t>
            </a:r>
          </a:p>
        </p:txBody>
      </p:sp>
      <p:sp>
        <p:nvSpPr>
          <p:cNvPr id="1127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Example:</a:t>
            </a:r>
          </a:p>
          <a:p>
            <a:pPr lvl="1" eaLnBrk="1" hangingPunct="1"/>
            <a:r>
              <a:rPr lang="en-US" dirty="0" smtClean="0"/>
              <a:t>Let                                                                               be two </a:t>
            </a:r>
          </a:p>
          <a:p>
            <a:pPr lvl="1" eaLnBrk="1" hangingPunct="1">
              <a:buFontTx/>
              <a:buNone/>
            </a:pPr>
            <a:r>
              <a:rPr lang="en-US" dirty="0" smtClean="0"/>
              <a:t>	</a:t>
            </a:r>
          </a:p>
          <a:p>
            <a:pPr lvl="1" eaLnBrk="1" hangingPunct="1">
              <a:buFontTx/>
              <a:buNone/>
            </a:pPr>
            <a:r>
              <a:rPr lang="en-US" dirty="0" smtClean="0"/>
              <a:t>	 sequences, find  </a:t>
            </a:r>
          </a:p>
        </p:txBody>
      </p:sp>
      <p:graphicFrame>
        <p:nvGraphicFramePr>
          <p:cNvPr id="1126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5973588"/>
              </p:ext>
            </p:extLst>
          </p:nvPr>
        </p:nvGraphicFramePr>
        <p:xfrm>
          <a:off x="3810000" y="1238796"/>
          <a:ext cx="2435225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7" name="Equation" r:id="rId4" imgW="1333440" imgH="203040" progId="Equation.3">
                  <p:embed/>
                </p:oleObj>
              </mc:Choice>
              <mc:Fallback>
                <p:oleObj name="Equation" r:id="rId4" imgW="133344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238796"/>
                        <a:ext cx="2435225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31504"/>
              </p:ext>
            </p:extLst>
          </p:nvPr>
        </p:nvGraphicFramePr>
        <p:xfrm>
          <a:off x="2071688" y="1295400"/>
          <a:ext cx="1506537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8" name="Equation" r:id="rId6" imgW="825480" imgH="203040" progId="Equation.3">
                  <p:embed/>
                </p:oleObj>
              </mc:Choice>
              <mc:Fallback>
                <p:oleObj name="Equation" r:id="rId6" imgW="825480" imgH="203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1295400"/>
                        <a:ext cx="1506537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6"/>
          <p:cNvGraphicFramePr>
            <a:graphicFrameLocks noChangeAspect="1"/>
          </p:cNvGraphicFramePr>
          <p:nvPr/>
        </p:nvGraphicFramePr>
        <p:xfrm>
          <a:off x="3276600" y="1905000"/>
          <a:ext cx="1344612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9" name="Equation" r:id="rId8" imgW="736600" imgH="203200" progId="Equation.3">
                  <p:embed/>
                </p:oleObj>
              </mc:Choice>
              <mc:Fallback>
                <p:oleObj name="Equation" r:id="rId8" imgW="736600" imgH="203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905000"/>
                        <a:ext cx="1344612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4" name="Line 7"/>
          <p:cNvSpPr>
            <a:spLocks noChangeShapeType="1"/>
          </p:cNvSpPr>
          <p:nvPr/>
        </p:nvSpPr>
        <p:spPr bwMode="auto">
          <a:xfrm flipV="1">
            <a:off x="3038246" y="1587348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275" name="Line 8"/>
          <p:cNvSpPr>
            <a:spLocks noChangeShapeType="1"/>
          </p:cNvSpPr>
          <p:nvPr/>
        </p:nvSpPr>
        <p:spPr bwMode="auto">
          <a:xfrm flipV="1">
            <a:off x="5257800" y="1524000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DISCRETE-TIME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Properties: </a:t>
            </a:r>
            <a:r>
              <a:rPr lang="en-US" dirty="0" err="1" smtClean="0"/>
              <a:t>commutativity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25</a:t>
            </a:fld>
            <a:endParaRPr lang="en-US" altLang="zh-CN" dirty="0" smtClean="0"/>
          </a:p>
        </p:txBody>
      </p:sp>
      <p:graphicFrame>
        <p:nvGraphicFramePr>
          <p:cNvPr id="28674" name="Object 4"/>
          <p:cNvGraphicFramePr>
            <a:graphicFrameLocks noChangeAspect="1"/>
          </p:cNvGraphicFramePr>
          <p:nvPr/>
        </p:nvGraphicFramePr>
        <p:xfrm>
          <a:off x="2667000" y="1524000"/>
          <a:ext cx="26543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69" name="Equation" r:id="rId3" imgW="1612800" imgH="203040" progId="Equation.3">
                  <p:embed/>
                </p:oleObj>
              </mc:Choice>
              <mc:Fallback>
                <p:oleObj name="Equation" r:id="rId3" imgW="161280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524000"/>
                        <a:ext cx="2654300" cy="3333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7"/>
          <p:cNvGrpSpPr>
            <a:grpSpLocks/>
          </p:cNvGrpSpPr>
          <p:nvPr/>
        </p:nvGrpSpPr>
        <p:grpSpPr bwMode="auto">
          <a:xfrm>
            <a:off x="254000" y="4941888"/>
            <a:ext cx="3970338" cy="684212"/>
            <a:chOff x="1424" y="2961"/>
            <a:chExt cx="2501" cy="431"/>
          </a:xfrm>
        </p:grpSpPr>
        <p:graphicFrame>
          <p:nvGraphicFramePr>
            <p:cNvPr id="7" name="Object 8"/>
            <p:cNvGraphicFramePr>
              <a:graphicFrameLocks noChangeAspect="1"/>
            </p:cNvGraphicFramePr>
            <p:nvPr/>
          </p:nvGraphicFramePr>
          <p:xfrm>
            <a:off x="1606" y="2985"/>
            <a:ext cx="32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70" name="Equation" r:id="rId5" imgW="317160" imgH="203040" progId="Equation.3">
                    <p:embed/>
                  </p:oleObj>
                </mc:Choice>
                <mc:Fallback>
                  <p:oleObj name="Equation" r:id="rId5" imgW="317160" imgH="20304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6" y="2985"/>
                          <a:ext cx="329" cy="2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2208" y="3032"/>
              <a:ext cx="872" cy="3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 b="0" i="1" dirty="0" smtClean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h</a:t>
              </a:r>
              <a:r>
                <a:rPr lang="en-US" altLang="zh-CN" sz="1800" b="0" dirty="0" smtClean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(</a:t>
              </a:r>
              <a:r>
                <a:rPr lang="en-US" altLang="zh-CN" i="1" dirty="0" smtClean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n</a:t>
              </a:r>
              <a:r>
                <a:rPr lang="en-US" altLang="zh-CN" sz="1800" b="0" dirty="0" smtClean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)</a:t>
              </a:r>
              <a:endParaRPr lang="en-US" altLang="zh-CN" sz="1800" b="0" dirty="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>
              <a:off x="1424" y="3208"/>
              <a:ext cx="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>
              <a:off x="3080" y="3216"/>
              <a:ext cx="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3152" y="2961"/>
            <a:ext cx="773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71" name="Equation" r:id="rId7" imgW="749160" imgH="203040" progId="Equation.3">
                    <p:embed/>
                  </p:oleObj>
                </mc:Choice>
                <mc:Fallback>
                  <p:oleObj name="Equation" r:id="rId7" imgW="749160" imgH="20304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2" y="2961"/>
                          <a:ext cx="773" cy="21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13"/>
          <p:cNvGrpSpPr>
            <a:grpSpLocks/>
          </p:cNvGrpSpPr>
          <p:nvPr/>
        </p:nvGrpSpPr>
        <p:grpSpPr bwMode="auto">
          <a:xfrm>
            <a:off x="5054600" y="4967288"/>
            <a:ext cx="3970338" cy="684212"/>
            <a:chOff x="1424" y="2961"/>
            <a:chExt cx="2501" cy="431"/>
          </a:xfrm>
        </p:grpSpPr>
        <p:graphicFrame>
          <p:nvGraphicFramePr>
            <p:cNvPr id="13" name="Object 14"/>
            <p:cNvGraphicFramePr>
              <a:graphicFrameLocks noChangeAspect="1"/>
            </p:cNvGraphicFramePr>
            <p:nvPr/>
          </p:nvGraphicFramePr>
          <p:xfrm>
            <a:off x="1607" y="2985"/>
            <a:ext cx="328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72" name="Equation" r:id="rId9" imgW="317160" imgH="203040" progId="Equation.3">
                    <p:embed/>
                  </p:oleObj>
                </mc:Choice>
                <mc:Fallback>
                  <p:oleObj name="Equation" r:id="rId9" imgW="317160" imgH="20304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7" y="2985"/>
                          <a:ext cx="328" cy="2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Rectangle 15"/>
            <p:cNvSpPr>
              <a:spLocks noChangeArrowheads="1"/>
            </p:cNvSpPr>
            <p:nvPr/>
          </p:nvSpPr>
          <p:spPr bwMode="auto">
            <a:xfrm>
              <a:off x="2208" y="3032"/>
              <a:ext cx="872" cy="3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 b="0" i="1" dirty="0" smtClean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x</a:t>
              </a:r>
              <a:r>
                <a:rPr lang="en-US" altLang="zh-CN" sz="1800" b="0" dirty="0" smtClean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(</a:t>
              </a:r>
              <a:r>
                <a:rPr lang="en-US" altLang="zh-CN" sz="1800" b="0" i="1" dirty="0" smtClean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n</a:t>
              </a:r>
              <a:r>
                <a:rPr lang="en-US" altLang="zh-CN" sz="1800" b="0" dirty="0" smtClean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)</a:t>
              </a:r>
              <a:endParaRPr lang="en-US" altLang="zh-CN" sz="1800" b="0" dirty="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5" name="Line 16"/>
            <p:cNvSpPr>
              <a:spLocks noChangeShapeType="1"/>
            </p:cNvSpPr>
            <p:nvPr/>
          </p:nvSpPr>
          <p:spPr bwMode="auto">
            <a:xfrm>
              <a:off x="1424" y="3208"/>
              <a:ext cx="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7"/>
            <p:cNvSpPr>
              <a:spLocks noChangeShapeType="1"/>
            </p:cNvSpPr>
            <p:nvPr/>
          </p:nvSpPr>
          <p:spPr bwMode="auto">
            <a:xfrm>
              <a:off x="3080" y="3216"/>
              <a:ext cx="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7" name="Object 18"/>
            <p:cNvGraphicFramePr>
              <a:graphicFrameLocks noChangeAspect="1"/>
            </p:cNvGraphicFramePr>
            <p:nvPr/>
          </p:nvGraphicFramePr>
          <p:xfrm>
            <a:off x="3152" y="2961"/>
            <a:ext cx="773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73" name="Equation" r:id="rId11" imgW="749160" imgH="203040" progId="Equation.3">
                    <p:embed/>
                  </p:oleObj>
                </mc:Choice>
                <mc:Fallback>
                  <p:oleObj name="Equation" r:id="rId11" imgW="749160" imgH="20304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2" y="2961"/>
                          <a:ext cx="773" cy="21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Text Box 21"/>
          <p:cNvSpPr txBox="1">
            <a:spLocks noChangeArrowheads="1"/>
          </p:cNvSpPr>
          <p:nvPr/>
        </p:nvSpPr>
        <p:spPr bwMode="auto">
          <a:xfrm>
            <a:off x="4175125" y="5133975"/>
            <a:ext cx="949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ea typeface="宋体" pitchFamily="2" charset="-122"/>
                <a:sym typeface="Wingdings" pitchFamily="2" charset="2"/>
              </a:rPr>
              <a:t></a:t>
            </a:r>
            <a:endParaRPr lang="en-US" altLang="zh-CN">
              <a:solidFill>
                <a:srgbClr val="FF0000"/>
              </a:solidFill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C7CCFE-9EE8-40B2-8987-F70A7956B7EB}" type="slidenum">
              <a:rPr lang="zh-CN" altLang="en-US"/>
              <a:pPr>
                <a:defRPr/>
              </a:pPr>
              <a:t>26</a:t>
            </a:fld>
            <a:endParaRPr lang="en-US" altLang="zh-CN"/>
          </a:p>
        </p:txBody>
      </p:sp>
      <p:sp>
        <p:nvSpPr>
          <p:cNvPr id="194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DISCRETE-TIME SYSTEM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94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zh-CN" dirty="0" smtClean="0">
                <a:ea typeface="宋体" pitchFamily="2" charset="-122"/>
              </a:rPr>
              <a:t>Properties: </a:t>
            </a:r>
            <a:r>
              <a:rPr lang="en-US" altLang="zh-CN" dirty="0" err="1" smtClean="0">
                <a:ea typeface="宋体" pitchFamily="2" charset="-122"/>
              </a:rPr>
              <a:t>associativity</a:t>
            </a:r>
            <a:endParaRPr lang="en-US" altLang="zh-CN" dirty="0" smtClean="0">
              <a:ea typeface="宋体" pitchFamily="2" charset="-122"/>
            </a:endParaRPr>
          </a:p>
        </p:txBody>
      </p:sp>
      <p:graphicFrame>
        <p:nvGraphicFramePr>
          <p:cNvPr id="19458" name="Object 4"/>
          <p:cNvGraphicFramePr>
            <a:graphicFrameLocks noChangeAspect="1"/>
          </p:cNvGraphicFramePr>
          <p:nvPr/>
        </p:nvGraphicFramePr>
        <p:xfrm>
          <a:off x="979488" y="1428750"/>
          <a:ext cx="7142162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89" name="Equation" r:id="rId4" imgW="4190760" imgH="215640" progId="Equation.3">
                  <p:embed/>
                </p:oleObj>
              </mc:Choice>
              <mc:Fallback>
                <p:oleObj name="Equation" r:id="rId4" imgW="419076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9488" y="1428750"/>
                        <a:ext cx="7142162" cy="36671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5930900" y="4751388"/>
            <a:ext cx="2971800" cy="722312"/>
            <a:chOff x="3296" y="2993"/>
            <a:chExt cx="1872" cy="455"/>
          </a:xfrm>
        </p:grpSpPr>
        <p:graphicFrame>
          <p:nvGraphicFramePr>
            <p:cNvPr id="19464" name="Object 7"/>
            <p:cNvGraphicFramePr>
              <a:graphicFrameLocks noChangeAspect="1"/>
            </p:cNvGraphicFramePr>
            <p:nvPr/>
          </p:nvGraphicFramePr>
          <p:xfrm>
            <a:off x="3383" y="3041"/>
            <a:ext cx="328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90" name="Equation" r:id="rId6" imgW="317160" imgH="203040" progId="Equation.3">
                    <p:embed/>
                  </p:oleObj>
                </mc:Choice>
                <mc:Fallback>
                  <p:oleObj name="Equation" r:id="rId6" imgW="317160" imgH="20304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3" y="3041"/>
                          <a:ext cx="328" cy="2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1" name="Rectangle 8"/>
            <p:cNvSpPr>
              <a:spLocks noChangeArrowheads="1"/>
            </p:cNvSpPr>
            <p:nvPr/>
          </p:nvSpPr>
          <p:spPr bwMode="auto">
            <a:xfrm>
              <a:off x="3816" y="3088"/>
              <a:ext cx="872" cy="3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altLang="zh-CN" sz="1800" b="0">
                <a:ea typeface="宋体" pitchFamily="2" charset="-122"/>
              </a:endParaRPr>
            </a:p>
          </p:txBody>
        </p:sp>
        <p:sp>
          <p:nvSpPr>
            <p:cNvPr id="19482" name="Line 9"/>
            <p:cNvSpPr>
              <a:spLocks noChangeShapeType="1"/>
            </p:cNvSpPr>
            <p:nvPr/>
          </p:nvSpPr>
          <p:spPr bwMode="auto">
            <a:xfrm>
              <a:off x="3296" y="3264"/>
              <a:ext cx="5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3" name="Line 10"/>
            <p:cNvSpPr>
              <a:spLocks noChangeShapeType="1"/>
            </p:cNvSpPr>
            <p:nvPr/>
          </p:nvSpPr>
          <p:spPr bwMode="auto">
            <a:xfrm>
              <a:off x="4688" y="3272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9465" name="Object 11"/>
            <p:cNvGraphicFramePr>
              <a:graphicFrameLocks noChangeAspect="1"/>
            </p:cNvGraphicFramePr>
            <p:nvPr/>
          </p:nvGraphicFramePr>
          <p:xfrm>
            <a:off x="3818" y="3147"/>
            <a:ext cx="863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91" name="Equation" r:id="rId8" imgW="838080" imgH="215640" progId="Equation.3">
                    <p:embed/>
                  </p:oleObj>
                </mc:Choice>
                <mc:Fallback>
                  <p:oleObj name="Equation" r:id="rId8" imgW="838080" imgH="21564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8" y="3147"/>
                          <a:ext cx="863" cy="2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6" name="Object 12"/>
            <p:cNvGraphicFramePr>
              <a:graphicFrameLocks noChangeAspect="1"/>
            </p:cNvGraphicFramePr>
            <p:nvPr/>
          </p:nvGraphicFramePr>
          <p:xfrm>
            <a:off x="4793" y="2993"/>
            <a:ext cx="341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92" name="Equation" r:id="rId10" imgW="330120" imgH="203040" progId="Equation.3">
                    <p:embed/>
                  </p:oleObj>
                </mc:Choice>
                <mc:Fallback>
                  <p:oleObj name="Equation" r:id="rId10" imgW="330120" imgH="20304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3" y="2993"/>
                          <a:ext cx="341" cy="2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266700" y="4789488"/>
            <a:ext cx="4876800" cy="658812"/>
            <a:chOff x="328" y="3025"/>
            <a:chExt cx="3072" cy="415"/>
          </a:xfrm>
        </p:grpSpPr>
        <p:graphicFrame>
          <p:nvGraphicFramePr>
            <p:cNvPr id="19459" name="Object 15"/>
            <p:cNvGraphicFramePr>
              <a:graphicFrameLocks noChangeAspect="1"/>
            </p:cNvGraphicFramePr>
            <p:nvPr/>
          </p:nvGraphicFramePr>
          <p:xfrm>
            <a:off x="414" y="3033"/>
            <a:ext cx="32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93" name="Equation" r:id="rId12" imgW="317160" imgH="203040" progId="Equation.3">
                    <p:embed/>
                  </p:oleObj>
                </mc:Choice>
                <mc:Fallback>
                  <p:oleObj name="Equation" r:id="rId12" imgW="317160" imgH="20304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" y="3033"/>
                          <a:ext cx="329" cy="2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6" name="Rectangle 16"/>
            <p:cNvSpPr>
              <a:spLocks noChangeArrowheads="1"/>
            </p:cNvSpPr>
            <p:nvPr/>
          </p:nvSpPr>
          <p:spPr bwMode="auto">
            <a:xfrm>
              <a:off x="848" y="3080"/>
              <a:ext cx="872" cy="3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altLang="zh-CN" sz="1800" b="0">
                <a:ea typeface="宋体" pitchFamily="2" charset="-122"/>
              </a:endParaRPr>
            </a:p>
          </p:txBody>
        </p:sp>
        <p:sp>
          <p:nvSpPr>
            <p:cNvPr id="19477" name="Line 17"/>
            <p:cNvSpPr>
              <a:spLocks noChangeShapeType="1"/>
            </p:cNvSpPr>
            <p:nvPr/>
          </p:nvSpPr>
          <p:spPr bwMode="auto">
            <a:xfrm>
              <a:off x="328" y="3256"/>
              <a:ext cx="5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8" name="Line 18"/>
            <p:cNvSpPr>
              <a:spLocks noChangeShapeType="1"/>
            </p:cNvSpPr>
            <p:nvPr/>
          </p:nvSpPr>
          <p:spPr bwMode="auto">
            <a:xfrm>
              <a:off x="1720" y="326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9460" name="Object 19"/>
            <p:cNvGraphicFramePr>
              <a:graphicFrameLocks noChangeAspect="1"/>
            </p:cNvGraphicFramePr>
            <p:nvPr/>
          </p:nvGraphicFramePr>
          <p:xfrm>
            <a:off x="1098" y="3139"/>
            <a:ext cx="367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94" name="Equation" r:id="rId14" imgW="355320" imgH="215640" progId="Equation.3">
                    <p:embed/>
                  </p:oleObj>
                </mc:Choice>
                <mc:Fallback>
                  <p:oleObj name="Equation" r:id="rId14" imgW="355320" imgH="21564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8" y="3139"/>
                          <a:ext cx="367" cy="2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9" name="Rectangle 22"/>
            <p:cNvSpPr>
              <a:spLocks noChangeArrowheads="1"/>
            </p:cNvSpPr>
            <p:nvPr/>
          </p:nvSpPr>
          <p:spPr bwMode="auto">
            <a:xfrm>
              <a:off x="2008" y="3080"/>
              <a:ext cx="872" cy="3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altLang="zh-CN" sz="1800" b="0">
                <a:ea typeface="宋体" pitchFamily="2" charset="-122"/>
              </a:endParaRPr>
            </a:p>
          </p:txBody>
        </p:sp>
        <p:sp>
          <p:nvSpPr>
            <p:cNvPr id="19480" name="Line 23"/>
            <p:cNvSpPr>
              <a:spLocks noChangeShapeType="1"/>
            </p:cNvSpPr>
            <p:nvPr/>
          </p:nvSpPr>
          <p:spPr bwMode="auto">
            <a:xfrm>
              <a:off x="2880" y="3280"/>
              <a:ext cx="5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9462" name="Object 24"/>
            <p:cNvGraphicFramePr>
              <a:graphicFrameLocks noChangeAspect="1"/>
            </p:cNvGraphicFramePr>
            <p:nvPr/>
          </p:nvGraphicFramePr>
          <p:xfrm>
            <a:off x="2228" y="3139"/>
            <a:ext cx="380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95" name="Equation" r:id="rId16" imgW="368280" imgH="215640" progId="Equation.3">
                    <p:embed/>
                  </p:oleObj>
                </mc:Choice>
                <mc:Fallback>
                  <p:oleObj name="Equation" r:id="rId16" imgW="368280" imgH="21564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8" y="3139"/>
                          <a:ext cx="380" cy="2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3" name="Object 25"/>
            <p:cNvGraphicFramePr>
              <a:graphicFrameLocks noChangeAspect="1"/>
            </p:cNvGraphicFramePr>
            <p:nvPr/>
          </p:nvGraphicFramePr>
          <p:xfrm>
            <a:off x="2952" y="3025"/>
            <a:ext cx="342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96" name="Equation" r:id="rId18" imgW="330120" imgH="203040" progId="Equation.3">
                    <p:embed/>
                  </p:oleObj>
                </mc:Choice>
                <mc:Fallback>
                  <p:oleObj name="Equation" r:id="rId18" imgW="330120" imgH="20304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2" y="3025"/>
                          <a:ext cx="342" cy="2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8683" name="Text Box 27"/>
          <p:cNvSpPr txBox="1">
            <a:spLocks noChangeArrowheads="1"/>
          </p:cNvSpPr>
          <p:nvPr/>
        </p:nvSpPr>
        <p:spPr bwMode="auto">
          <a:xfrm>
            <a:off x="5140325" y="4968875"/>
            <a:ext cx="949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ea typeface="宋体" pitchFamily="2" charset="-122"/>
                <a:sym typeface="Wingdings" pitchFamily="2" charset="2"/>
              </a:rPr>
              <a:t></a:t>
            </a:r>
            <a:endParaRPr lang="en-US" altLang="zh-CN">
              <a:solidFill>
                <a:srgbClr val="FF0000"/>
              </a:solidFill>
              <a:ea typeface="宋体" pitchFamily="2" charset="-122"/>
            </a:endParaRPr>
          </a:p>
        </p:txBody>
      </p:sp>
      <p:graphicFrame>
        <p:nvGraphicFramePr>
          <p:cNvPr id="19467" name="Object 26"/>
          <p:cNvGraphicFramePr>
            <a:graphicFrameLocks noChangeAspect="1"/>
          </p:cNvGraphicFramePr>
          <p:nvPr/>
        </p:nvGraphicFramePr>
        <p:xfrm>
          <a:off x="2420938" y="4832350"/>
          <a:ext cx="604837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97" name="Equation" r:id="rId20" imgW="368280" imgH="215640" progId="Equation.3">
                  <p:embed/>
                </p:oleObj>
              </mc:Choice>
              <mc:Fallback>
                <p:oleObj name="Equation" r:id="rId20" imgW="368280" imgH="21564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0938" y="4832350"/>
                        <a:ext cx="604837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8" name="Object 27"/>
          <p:cNvGraphicFramePr>
            <a:graphicFrameLocks noChangeAspect="1"/>
          </p:cNvGraphicFramePr>
          <p:nvPr/>
        </p:nvGraphicFramePr>
        <p:xfrm>
          <a:off x="7164388" y="4532313"/>
          <a:ext cx="5207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98" name="Equation" r:id="rId22" imgW="317160" imgH="203040" progId="Equation.3">
                  <p:embed/>
                </p:oleObj>
              </mc:Choice>
              <mc:Fallback>
                <p:oleObj name="Equation" r:id="rId22" imgW="317160" imgH="20304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4532313"/>
                        <a:ext cx="520700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8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8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8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8C7B016-18AD-4837-B62E-6A5627600281}" type="slidenum">
              <a:rPr lang="zh-CN" altLang="en-US"/>
              <a:pPr>
                <a:defRPr/>
              </a:pPr>
              <a:t>27</a:t>
            </a:fld>
            <a:endParaRPr lang="en-US" altLang="zh-CN"/>
          </a:p>
        </p:txBody>
      </p:sp>
      <p:sp>
        <p:nvSpPr>
          <p:cNvPr id="20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DISCRETE-TIME SYSTEM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204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 err="1" smtClean="0">
                <a:ea typeface="宋体" pitchFamily="2" charset="-122"/>
              </a:rPr>
              <a:t>Distributivity</a:t>
            </a:r>
            <a:endParaRPr lang="en-US" altLang="zh-CN" dirty="0" smtClean="0">
              <a:ea typeface="宋体" pitchFamily="2" charset="-122"/>
            </a:endParaRPr>
          </a:p>
        </p:txBody>
      </p:sp>
      <p:graphicFrame>
        <p:nvGraphicFramePr>
          <p:cNvPr id="20482" name="Object 4"/>
          <p:cNvGraphicFramePr>
            <a:graphicFrameLocks noChangeAspect="1"/>
          </p:cNvGraphicFramePr>
          <p:nvPr/>
        </p:nvGraphicFramePr>
        <p:xfrm>
          <a:off x="1779588" y="1428750"/>
          <a:ext cx="554037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4" name="Equation" r:id="rId3" imgW="3251160" imgH="215640" progId="Equation.3">
                  <p:embed/>
                </p:oleObj>
              </mc:Choice>
              <mc:Fallback>
                <p:oleObj name="Equation" r:id="rId3" imgW="325116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9588" y="1428750"/>
                        <a:ext cx="5540375" cy="36671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266700" y="4559300"/>
            <a:ext cx="4356100" cy="1625600"/>
            <a:chOff x="168" y="2872"/>
            <a:chExt cx="2744" cy="1024"/>
          </a:xfrm>
        </p:grpSpPr>
        <p:graphicFrame>
          <p:nvGraphicFramePr>
            <p:cNvPr id="20486" name="Object 7"/>
            <p:cNvGraphicFramePr>
              <a:graphicFrameLocks noChangeAspect="1"/>
            </p:cNvGraphicFramePr>
            <p:nvPr/>
          </p:nvGraphicFramePr>
          <p:xfrm>
            <a:off x="254" y="3177"/>
            <a:ext cx="32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5" name="Equation" r:id="rId5" imgW="317160" imgH="203040" progId="Equation.3">
                    <p:embed/>
                  </p:oleObj>
                </mc:Choice>
                <mc:Fallback>
                  <p:oleObj name="Equation" r:id="rId5" imgW="317160" imgH="20304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" y="3177"/>
                          <a:ext cx="329" cy="2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0" name="Rectangle 8"/>
            <p:cNvSpPr>
              <a:spLocks noChangeArrowheads="1"/>
            </p:cNvSpPr>
            <p:nvPr/>
          </p:nvSpPr>
          <p:spPr bwMode="auto">
            <a:xfrm>
              <a:off x="1032" y="2872"/>
              <a:ext cx="872" cy="3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altLang="zh-CN" sz="1800" b="0">
                <a:ea typeface="宋体" pitchFamily="2" charset="-122"/>
              </a:endParaRPr>
            </a:p>
          </p:txBody>
        </p:sp>
        <p:sp>
          <p:nvSpPr>
            <p:cNvPr id="20501" name="Line 9"/>
            <p:cNvSpPr>
              <a:spLocks noChangeShapeType="1"/>
            </p:cNvSpPr>
            <p:nvPr/>
          </p:nvSpPr>
          <p:spPr bwMode="auto">
            <a:xfrm>
              <a:off x="168" y="3400"/>
              <a:ext cx="5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0487" name="Object 12"/>
            <p:cNvGraphicFramePr>
              <a:graphicFrameLocks noChangeAspect="1"/>
            </p:cNvGraphicFramePr>
            <p:nvPr/>
          </p:nvGraphicFramePr>
          <p:xfrm>
            <a:off x="1298" y="2955"/>
            <a:ext cx="367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6" name="Equation" r:id="rId7" imgW="355320" imgH="215640" progId="Equation.3">
                    <p:embed/>
                  </p:oleObj>
                </mc:Choice>
                <mc:Fallback>
                  <p:oleObj name="Equation" r:id="rId7" imgW="355320" imgH="21564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8" y="2955"/>
                          <a:ext cx="367" cy="2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2" name="Rectangle 13"/>
            <p:cNvSpPr>
              <a:spLocks noChangeArrowheads="1"/>
            </p:cNvSpPr>
            <p:nvPr/>
          </p:nvSpPr>
          <p:spPr bwMode="auto">
            <a:xfrm>
              <a:off x="1032" y="3536"/>
              <a:ext cx="872" cy="3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altLang="zh-CN" sz="1800" b="0">
                <a:ea typeface="宋体" pitchFamily="2" charset="-122"/>
              </a:endParaRPr>
            </a:p>
          </p:txBody>
        </p:sp>
        <p:sp>
          <p:nvSpPr>
            <p:cNvPr id="20503" name="Line 14"/>
            <p:cNvSpPr>
              <a:spLocks noChangeShapeType="1"/>
            </p:cNvSpPr>
            <p:nvPr/>
          </p:nvSpPr>
          <p:spPr bwMode="auto">
            <a:xfrm>
              <a:off x="2392" y="3360"/>
              <a:ext cx="5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0488" name="Object 15"/>
            <p:cNvGraphicFramePr>
              <a:graphicFrameLocks noChangeAspect="1"/>
            </p:cNvGraphicFramePr>
            <p:nvPr/>
          </p:nvGraphicFramePr>
          <p:xfrm>
            <a:off x="1268" y="3579"/>
            <a:ext cx="380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7" name="Equation" r:id="rId9" imgW="368280" imgH="215640" progId="Equation.3">
                    <p:embed/>
                  </p:oleObj>
                </mc:Choice>
                <mc:Fallback>
                  <p:oleObj name="Equation" r:id="rId9" imgW="368280" imgH="21564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8" y="3579"/>
                          <a:ext cx="380" cy="2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9" name="Object 16"/>
            <p:cNvGraphicFramePr>
              <a:graphicFrameLocks noChangeAspect="1"/>
            </p:cNvGraphicFramePr>
            <p:nvPr/>
          </p:nvGraphicFramePr>
          <p:xfrm>
            <a:off x="2472" y="3097"/>
            <a:ext cx="342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8" name="Equation" r:id="rId11" imgW="330120" imgH="203040" progId="Equation.3">
                    <p:embed/>
                  </p:oleObj>
                </mc:Choice>
                <mc:Fallback>
                  <p:oleObj name="Equation" r:id="rId11" imgW="330120" imgH="20304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2" y="3097"/>
                          <a:ext cx="342" cy="2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4" name="Line 17"/>
            <p:cNvSpPr>
              <a:spLocks noChangeShapeType="1"/>
            </p:cNvSpPr>
            <p:nvPr/>
          </p:nvSpPr>
          <p:spPr bwMode="auto">
            <a:xfrm>
              <a:off x="688" y="3088"/>
              <a:ext cx="0" cy="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5" name="Line 18"/>
            <p:cNvSpPr>
              <a:spLocks noChangeShapeType="1"/>
            </p:cNvSpPr>
            <p:nvPr/>
          </p:nvSpPr>
          <p:spPr bwMode="auto">
            <a:xfrm>
              <a:off x="688" y="308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6" name="Line 19"/>
            <p:cNvSpPr>
              <a:spLocks noChangeShapeType="1"/>
            </p:cNvSpPr>
            <p:nvPr/>
          </p:nvSpPr>
          <p:spPr bwMode="auto">
            <a:xfrm>
              <a:off x="696" y="372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7" name="Oval 20"/>
            <p:cNvSpPr>
              <a:spLocks noChangeArrowheads="1"/>
            </p:cNvSpPr>
            <p:nvPr/>
          </p:nvSpPr>
          <p:spPr bwMode="auto">
            <a:xfrm>
              <a:off x="2160" y="3264"/>
              <a:ext cx="224" cy="20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pitchFamily="2" charset="-122"/>
                </a:rPr>
                <a:t>+</a:t>
              </a:r>
            </a:p>
          </p:txBody>
        </p:sp>
        <p:sp>
          <p:nvSpPr>
            <p:cNvPr id="20508" name="Line 21"/>
            <p:cNvSpPr>
              <a:spLocks noChangeShapeType="1"/>
            </p:cNvSpPr>
            <p:nvPr/>
          </p:nvSpPr>
          <p:spPr bwMode="auto">
            <a:xfrm>
              <a:off x="1912" y="3048"/>
              <a:ext cx="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9" name="Line 22"/>
            <p:cNvSpPr>
              <a:spLocks noChangeShapeType="1"/>
            </p:cNvSpPr>
            <p:nvPr/>
          </p:nvSpPr>
          <p:spPr bwMode="auto">
            <a:xfrm>
              <a:off x="1904" y="3712"/>
              <a:ext cx="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0" name="Line 23"/>
            <p:cNvSpPr>
              <a:spLocks noChangeShapeType="1"/>
            </p:cNvSpPr>
            <p:nvPr/>
          </p:nvSpPr>
          <p:spPr bwMode="auto">
            <a:xfrm>
              <a:off x="2272" y="3048"/>
              <a:ext cx="0" cy="2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1" name="Line 24"/>
            <p:cNvSpPr>
              <a:spLocks noChangeShapeType="1"/>
            </p:cNvSpPr>
            <p:nvPr/>
          </p:nvSpPr>
          <p:spPr bwMode="auto">
            <a:xfrm flipV="1">
              <a:off x="2272" y="3464"/>
              <a:ext cx="0" cy="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5930900" y="4916488"/>
            <a:ext cx="2971800" cy="722312"/>
            <a:chOff x="3296" y="2993"/>
            <a:chExt cx="1872" cy="455"/>
          </a:xfrm>
        </p:grpSpPr>
        <p:graphicFrame>
          <p:nvGraphicFramePr>
            <p:cNvPr id="20483" name="Object 27"/>
            <p:cNvGraphicFramePr>
              <a:graphicFrameLocks noChangeAspect="1"/>
            </p:cNvGraphicFramePr>
            <p:nvPr/>
          </p:nvGraphicFramePr>
          <p:xfrm>
            <a:off x="3383" y="3041"/>
            <a:ext cx="328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9" name="Equation" r:id="rId13" imgW="317160" imgH="203040" progId="Equation.3">
                    <p:embed/>
                  </p:oleObj>
                </mc:Choice>
                <mc:Fallback>
                  <p:oleObj name="Equation" r:id="rId13" imgW="317160" imgH="20304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3" y="3041"/>
                          <a:ext cx="328" cy="2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7" name="Rectangle 28"/>
            <p:cNvSpPr>
              <a:spLocks noChangeArrowheads="1"/>
            </p:cNvSpPr>
            <p:nvPr/>
          </p:nvSpPr>
          <p:spPr bwMode="auto">
            <a:xfrm>
              <a:off x="3816" y="3088"/>
              <a:ext cx="872" cy="3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altLang="zh-CN" sz="1800" b="0">
                <a:ea typeface="宋体" pitchFamily="2" charset="-122"/>
              </a:endParaRPr>
            </a:p>
          </p:txBody>
        </p:sp>
        <p:sp>
          <p:nvSpPr>
            <p:cNvPr id="20498" name="Line 29"/>
            <p:cNvSpPr>
              <a:spLocks noChangeShapeType="1"/>
            </p:cNvSpPr>
            <p:nvPr/>
          </p:nvSpPr>
          <p:spPr bwMode="auto">
            <a:xfrm>
              <a:off x="3296" y="3264"/>
              <a:ext cx="5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9" name="Line 30"/>
            <p:cNvSpPr>
              <a:spLocks noChangeShapeType="1"/>
            </p:cNvSpPr>
            <p:nvPr/>
          </p:nvSpPr>
          <p:spPr bwMode="auto">
            <a:xfrm>
              <a:off x="4688" y="3272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0484" name="Object 31"/>
            <p:cNvGraphicFramePr>
              <a:graphicFrameLocks noChangeAspect="1"/>
            </p:cNvGraphicFramePr>
            <p:nvPr/>
          </p:nvGraphicFramePr>
          <p:xfrm>
            <a:off x="3831" y="3147"/>
            <a:ext cx="837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0" name="Equation" r:id="rId15" imgW="812520" imgH="215640" progId="Equation.3">
                    <p:embed/>
                  </p:oleObj>
                </mc:Choice>
                <mc:Fallback>
                  <p:oleObj name="Equation" r:id="rId15" imgW="812520" imgH="21564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1" y="3147"/>
                          <a:ext cx="837" cy="2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5" name="Object 32"/>
            <p:cNvGraphicFramePr>
              <a:graphicFrameLocks noChangeAspect="1"/>
            </p:cNvGraphicFramePr>
            <p:nvPr/>
          </p:nvGraphicFramePr>
          <p:xfrm>
            <a:off x="4793" y="2993"/>
            <a:ext cx="341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1" name="Equation" r:id="rId17" imgW="330120" imgH="203040" progId="Equation.3">
                    <p:embed/>
                  </p:oleObj>
                </mc:Choice>
                <mc:Fallback>
                  <p:oleObj name="Equation" r:id="rId17" imgW="330120" imgH="20304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3" y="2993"/>
                          <a:ext cx="341" cy="2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0737" name="Text Box 33"/>
          <p:cNvSpPr txBox="1">
            <a:spLocks noChangeArrowheads="1"/>
          </p:cNvSpPr>
          <p:nvPr/>
        </p:nvSpPr>
        <p:spPr bwMode="auto">
          <a:xfrm>
            <a:off x="4848225" y="5159375"/>
            <a:ext cx="949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ea typeface="宋体" pitchFamily="2" charset="-122"/>
                <a:sym typeface="Wingdings" pitchFamily="2" charset="2"/>
              </a:rPr>
              <a:t></a:t>
            </a:r>
            <a:endParaRPr lang="en-US" altLang="zh-CN">
              <a:solidFill>
                <a:srgbClr val="FF0000"/>
              </a:solidFill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0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0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3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DISCRETE-TIME SYSTSEMS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a system shown in the figure. Find</a:t>
            </a:r>
          </a:p>
          <a:p>
            <a:pPr lvl="1">
              <a:buNone/>
            </a:pPr>
            <a:r>
              <a:rPr lang="en-US" dirty="0" smtClean="0"/>
              <a:t>	the overall impulse response.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28</a:t>
            </a:fld>
            <a:endParaRPr lang="en-US" altLang="zh-CN" dirty="0" smtClean="0"/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24600" y="838200"/>
            <a:ext cx="257175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7" name="Object 16"/>
          <p:cNvGraphicFramePr>
            <a:graphicFrameLocks noChangeAspect="1"/>
          </p:cNvGraphicFramePr>
          <p:nvPr/>
        </p:nvGraphicFramePr>
        <p:xfrm>
          <a:off x="457200" y="1905000"/>
          <a:ext cx="2244725" cy="328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9" name="Equation" r:id="rId4" imgW="1485720" imgH="215640" progId="Equation.3">
                  <p:embed/>
                </p:oleObj>
              </mc:Choice>
              <mc:Fallback>
                <p:oleObj name="Equation" r:id="rId4" imgW="1485720" imgH="2156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905000"/>
                        <a:ext cx="2244725" cy="32817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3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8295837"/>
              </p:ext>
            </p:extLst>
          </p:nvPr>
        </p:nvGraphicFramePr>
        <p:xfrm>
          <a:off x="2971800" y="1871967"/>
          <a:ext cx="1920875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0" name="Equation" r:id="rId6" imgW="1168200" imgH="215640" progId="Equation.3">
                  <p:embed/>
                </p:oleObj>
              </mc:Choice>
              <mc:Fallback>
                <p:oleObj name="Equation" r:id="rId6" imgW="1168200" imgH="215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871967"/>
                        <a:ext cx="1920875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1558890"/>
              </p:ext>
            </p:extLst>
          </p:nvPr>
        </p:nvGraphicFramePr>
        <p:xfrm>
          <a:off x="5257800" y="1866900"/>
          <a:ext cx="15240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1" name="Equation" r:id="rId8" imgW="927000" imgH="241200" progId="Equation.3">
                  <p:embed/>
                </p:oleObj>
              </mc:Choice>
              <mc:Fallback>
                <p:oleObj name="Equation" r:id="rId8" imgW="927000" imgH="2412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1866900"/>
                        <a:ext cx="1524000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29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8115300" cy="56451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Classifications of discrete-time signals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Elementary discrete-time signals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Linear time-invariant (LTI) discrete-time systems 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Causality and stability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Difference equation representation of LTI systems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defRPr/>
            </a:pPr>
            <a:endParaRPr lang="en-US" altLang="zh-CN" sz="20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CAUSALITY AND STABILITY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Causal system</a:t>
            </a:r>
          </a:p>
          <a:p>
            <a:pPr lvl="1"/>
            <a:r>
              <a:rPr lang="en-US" dirty="0" smtClean="0"/>
              <a:t>A discrete-time system is causal if the output            depends only on values of  input for           </a:t>
            </a:r>
          </a:p>
          <a:p>
            <a:pPr lvl="2"/>
            <a:r>
              <a:rPr lang="en-US" dirty="0" smtClean="0"/>
              <a:t>The output does not depend on future input.</a:t>
            </a:r>
          </a:p>
          <a:p>
            <a:pPr lvl="1"/>
            <a:r>
              <a:rPr lang="en-US" dirty="0" smtClean="0"/>
              <a:t>Example:</a:t>
            </a:r>
          </a:p>
          <a:p>
            <a:pPr lvl="2"/>
            <a:r>
              <a:rPr lang="en-US" dirty="0" smtClean="0"/>
              <a:t> determine whether the following systems are causal.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30</a:t>
            </a:fld>
            <a:endParaRPr lang="en-US" altLang="zh-CN" dirty="0" smtClean="0"/>
          </a:p>
        </p:txBody>
      </p:sp>
      <p:graphicFrame>
        <p:nvGraphicFramePr>
          <p:cNvPr id="33795" name="Object 3"/>
          <p:cNvGraphicFramePr>
            <a:graphicFrameLocks noChangeAspect="1"/>
          </p:cNvGraphicFramePr>
          <p:nvPr/>
        </p:nvGraphicFramePr>
        <p:xfrm>
          <a:off x="5638800" y="1219200"/>
          <a:ext cx="533400" cy="3227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68" name="Equation" r:id="rId3" imgW="380880" imgH="228600" progId="Equation.3">
                  <p:embed/>
                </p:oleObj>
              </mc:Choice>
              <mc:Fallback>
                <p:oleObj name="Equation" r:id="rId3" imgW="38088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219200"/>
                        <a:ext cx="533400" cy="32274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5574546"/>
              </p:ext>
            </p:extLst>
          </p:nvPr>
        </p:nvGraphicFramePr>
        <p:xfrm>
          <a:off x="3276600" y="1524000"/>
          <a:ext cx="569912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69" name="Equation" r:id="rId5" imgW="406080" imgH="228600" progId="Equation.3">
                  <p:embed/>
                </p:oleObj>
              </mc:Choice>
              <mc:Fallback>
                <p:oleObj name="Equation" r:id="rId5" imgW="40608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524000"/>
                        <a:ext cx="569912" cy="322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7" name="Object 5"/>
          <p:cNvGraphicFramePr>
            <a:graphicFrameLocks noChangeAspect="1"/>
          </p:cNvGraphicFramePr>
          <p:nvPr/>
        </p:nvGraphicFramePr>
        <p:xfrm>
          <a:off x="1828800" y="3429000"/>
          <a:ext cx="1422400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70" name="Equation" r:id="rId7" imgW="1015920" imgH="228600" progId="Equation.3">
                  <p:embed/>
                </p:oleObj>
              </mc:Choice>
              <mc:Fallback>
                <p:oleObj name="Equation" r:id="rId7" imgW="1015920" imgH="2286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429000"/>
                        <a:ext cx="1422400" cy="322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6"/>
          <p:cNvGraphicFramePr>
            <a:graphicFrameLocks noChangeAspect="1"/>
          </p:cNvGraphicFramePr>
          <p:nvPr/>
        </p:nvGraphicFramePr>
        <p:xfrm>
          <a:off x="1752600" y="2819400"/>
          <a:ext cx="1814512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71" name="Equation" r:id="rId9" imgW="1295280" imgH="228600" progId="Equation.3">
                  <p:embed/>
                </p:oleObj>
              </mc:Choice>
              <mc:Fallback>
                <p:oleObj name="Equation" r:id="rId9" imgW="1295280" imgH="2286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819400"/>
                        <a:ext cx="1814512" cy="322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9" name="Object 7"/>
          <p:cNvGraphicFramePr>
            <a:graphicFrameLocks noChangeAspect="1"/>
          </p:cNvGraphicFramePr>
          <p:nvPr/>
        </p:nvGraphicFramePr>
        <p:xfrm>
          <a:off x="1752600" y="4038600"/>
          <a:ext cx="3005138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72" name="Equation" r:id="rId11" imgW="2145960" imgH="393480" progId="Equation.3">
                  <p:embed/>
                </p:oleObj>
              </mc:Choice>
              <mc:Fallback>
                <p:oleObj name="Equation" r:id="rId11" imgW="2145960" imgH="393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038600"/>
                        <a:ext cx="3005138" cy="554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0" name="Object 8"/>
          <p:cNvGraphicFramePr>
            <a:graphicFrameLocks noChangeAspect="1"/>
          </p:cNvGraphicFramePr>
          <p:nvPr/>
        </p:nvGraphicFramePr>
        <p:xfrm>
          <a:off x="1828800" y="4800600"/>
          <a:ext cx="1350963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73" name="Equation" r:id="rId13" imgW="965160" imgH="431640" progId="Equation.3">
                  <p:embed/>
                </p:oleObj>
              </mc:Choice>
              <mc:Fallback>
                <p:oleObj name="Equation" r:id="rId13" imgW="965160" imgH="4316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800600"/>
                        <a:ext cx="1350963" cy="608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1" name="Object 9"/>
          <p:cNvGraphicFramePr>
            <a:graphicFrameLocks noChangeAspect="1"/>
          </p:cNvGraphicFramePr>
          <p:nvPr/>
        </p:nvGraphicFramePr>
        <p:xfrm>
          <a:off x="1828800" y="5638800"/>
          <a:ext cx="1350963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74" name="Equation" r:id="rId15" imgW="965160" imgH="431640" progId="Equation.3">
                  <p:embed/>
                </p:oleObj>
              </mc:Choice>
              <mc:Fallback>
                <p:oleObj name="Equation" r:id="rId15" imgW="965160" imgH="4316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5638800"/>
                        <a:ext cx="1350963" cy="608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Causality of LTI system</a:t>
            </a:r>
          </a:p>
          <a:p>
            <a:pPr lvl="1"/>
            <a:r>
              <a:rPr lang="en-US" dirty="0" smtClean="0"/>
              <a:t>An LTI system is causal if and only if </a:t>
            </a:r>
            <a:r>
              <a:rPr lang="en-US" i="1" dirty="0" smtClean="0"/>
              <a:t>h</a:t>
            </a:r>
            <a:r>
              <a:rPr lang="en-US" dirty="0" smtClean="0"/>
              <a:t>(</a:t>
            </a:r>
            <a:r>
              <a:rPr lang="en-US" i="1" dirty="0" smtClean="0"/>
              <a:t>n</a:t>
            </a:r>
            <a:r>
              <a:rPr lang="en-US" dirty="0" smtClean="0"/>
              <a:t>)=0 for </a:t>
            </a:r>
            <a:r>
              <a:rPr lang="en-US" i="1" dirty="0" smtClean="0"/>
              <a:t>n</a:t>
            </a:r>
            <a:r>
              <a:rPr lang="en-US" dirty="0" smtClean="0"/>
              <a:t> &lt; 0</a:t>
            </a:r>
          </a:p>
          <a:p>
            <a:pPr lvl="2"/>
            <a:r>
              <a:rPr lang="en-US" dirty="0" smtClean="0"/>
              <a:t>Why?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1"/>
            <a:r>
              <a:rPr lang="en-US" dirty="0" smtClean="0"/>
              <a:t>A signal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n</a:t>
            </a:r>
            <a:r>
              <a:rPr lang="en-US" dirty="0" smtClean="0"/>
              <a:t>) is causal if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n</a:t>
            </a:r>
            <a:r>
              <a:rPr lang="en-US" dirty="0" smtClean="0"/>
              <a:t>)=0 for </a:t>
            </a:r>
            <a:r>
              <a:rPr lang="en-US" i="1" dirty="0" smtClean="0"/>
              <a:t>n</a:t>
            </a:r>
            <a:r>
              <a:rPr lang="en-US" dirty="0" smtClean="0"/>
              <a:t> &lt; 0.</a:t>
            </a:r>
          </a:p>
          <a:p>
            <a:pPr lvl="1"/>
            <a:r>
              <a:rPr lang="en-US" dirty="0" smtClean="0"/>
              <a:t>Example: </a:t>
            </a:r>
          </a:p>
          <a:p>
            <a:pPr lvl="2"/>
            <a:r>
              <a:rPr lang="en-US" dirty="0" smtClean="0"/>
              <a:t>For LTI systems with impulse responses given as follows. Find if the systems are casual.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31</a:t>
            </a:fld>
            <a:endParaRPr lang="en-US" altLang="zh-CN" dirty="0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CAUSALITY AND STABILITY</a:t>
            </a:r>
            <a:endParaRPr lang="en-US" dirty="0"/>
          </a:p>
        </p:txBody>
      </p:sp>
      <p:graphicFrame>
        <p:nvGraphicFramePr>
          <p:cNvPr id="34818" name="Object 2"/>
          <p:cNvGraphicFramePr>
            <a:graphicFrameLocks noChangeAspect="1"/>
          </p:cNvGraphicFramePr>
          <p:nvPr/>
        </p:nvGraphicFramePr>
        <p:xfrm>
          <a:off x="1676400" y="1981200"/>
          <a:ext cx="5051426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13" name="Equation" r:id="rId3" imgW="3606480" imgH="431640" progId="Equation.3">
                  <p:embed/>
                </p:oleObj>
              </mc:Choice>
              <mc:Fallback>
                <p:oleObj name="Equation" r:id="rId3" imgW="360648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981200"/>
                        <a:ext cx="5051426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9" name="Object 3"/>
          <p:cNvGraphicFramePr>
            <a:graphicFrameLocks noChangeAspect="1"/>
          </p:cNvGraphicFramePr>
          <p:nvPr/>
        </p:nvGraphicFramePr>
        <p:xfrm>
          <a:off x="1828800" y="4267200"/>
          <a:ext cx="1316038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14" name="Equation" r:id="rId5" imgW="939600" imgH="203040" progId="Equation.3">
                  <p:embed/>
                </p:oleObj>
              </mc:Choice>
              <mc:Fallback>
                <p:oleObj name="Equation" r:id="rId5" imgW="93960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267200"/>
                        <a:ext cx="1316038" cy="287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0" name="Object 4"/>
          <p:cNvGraphicFramePr>
            <a:graphicFrameLocks noChangeAspect="1"/>
          </p:cNvGraphicFramePr>
          <p:nvPr/>
        </p:nvGraphicFramePr>
        <p:xfrm>
          <a:off x="1828800" y="4876800"/>
          <a:ext cx="1689100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15" name="Equation" r:id="rId7" imgW="1206360" imgH="203040" progId="Equation.3">
                  <p:embed/>
                </p:oleObj>
              </mc:Choice>
              <mc:Fallback>
                <p:oleObj name="Equation" r:id="rId7" imgW="120636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876800"/>
                        <a:ext cx="1689100" cy="287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1" name="Object 5"/>
          <p:cNvGraphicFramePr>
            <a:graphicFrameLocks noChangeAspect="1"/>
          </p:cNvGraphicFramePr>
          <p:nvPr/>
        </p:nvGraphicFramePr>
        <p:xfrm>
          <a:off x="1752600" y="5410200"/>
          <a:ext cx="2255838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16" name="Equation" r:id="rId9" imgW="1612800" imgH="228600" progId="Equation.3">
                  <p:embed/>
                </p:oleObj>
              </mc:Choice>
              <mc:Fallback>
                <p:oleObj name="Equation" r:id="rId9" imgW="1612800" imgH="2286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410200"/>
                        <a:ext cx="2255838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2" name="Object 6"/>
          <p:cNvGraphicFramePr>
            <a:graphicFrameLocks noChangeAspect="1"/>
          </p:cNvGraphicFramePr>
          <p:nvPr/>
        </p:nvGraphicFramePr>
        <p:xfrm>
          <a:off x="1828800" y="5943600"/>
          <a:ext cx="2255838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17" name="Equation" r:id="rId11" imgW="1612800" imgH="228600" progId="Equation.3">
                  <p:embed/>
                </p:oleObj>
              </mc:Choice>
              <mc:Fallback>
                <p:oleObj name="Equation" r:id="rId11" imgW="1612800" imgH="2286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5943600"/>
                        <a:ext cx="2255838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Bounded-input bounded-output (BIBO) stable</a:t>
            </a:r>
          </a:p>
          <a:p>
            <a:pPr lvl="1"/>
            <a:r>
              <a:rPr lang="en-US" altLang="zh-CN" dirty="0" smtClean="0">
                <a:ea typeface="宋体" pitchFamily="2" charset="-122"/>
              </a:rPr>
              <a:t>a system is BIBO stable if, for any bounded input </a:t>
            </a:r>
            <a:r>
              <a:rPr lang="en-US" altLang="zh-CN" i="1" dirty="0" smtClean="0">
                <a:ea typeface="宋体" pitchFamily="2" charset="-122"/>
              </a:rPr>
              <a:t>x</a:t>
            </a:r>
            <a:r>
              <a:rPr lang="en-US" altLang="zh-CN" dirty="0" smtClean="0">
                <a:ea typeface="宋体" pitchFamily="2" charset="-122"/>
              </a:rPr>
              <a:t>(</a:t>
            </a:r>
            <a:r>
              <a:rPr lang="en-US" altLang="zh-CN" i="1" dirty="0" smtClean="0">
                <a:ea typeface="宋体" pitchFamily="2" charset="-122"/>
              </a:rPr>
              <a:t>n</a:t>
            </a:r>
            <a:r>
              <a:rPr lang="en-US" altLang="zh-CN" dirty="0" smtClean="0">
                <a:ea typeface="宋体" pitchFamily="2" charset="-122"/>
              </a:rPr>
              <a:t>), the response </a:t>
            </a:r>
            <a:r>
              <a:rPr lang="en-US" altLang="zh-CN" i="1" dirty="0" smtClean="0">
                <a:ea typeface="宋体" pitchFamily="2" charset="-122"/>
              </a:rPr>
              <a:t>y</a:t>
            </a:r>
            <a:r>
              <a:rPr lang="en-US" altLang="zh-CN" dirty="0" smtClean="0">
                <a:ea typeface="宋体" pitchFamily="2" charset="-122"/>
              </a:rPr>
              <a:t>(</a:t>
            </a:r>
            <a:r>
              <a:rPr lang="en-US" altLang="zh-CN" i="1" dirty="0" smtClean="0">
                <a:ea typeface="宋体" pitchFamily="2" charset="-122"/>
              </a:rPr>
              <a:t>n</a:t>
            </a:r>
            <a:r>
              <a:rPr lang="en-US" altLang="zh-CN" dirty="0" smtClean="0">
                <a:ea typeface="宋体" pitchFamily="2" charset="-122"/>
              </a:rPr>
              <a:t>) is also bounded. </a:t>
            </a:r>
            <a:endParaRPr lang="en-US" dirty="0" smtClean="0"/>
          </a:p>
          <a:p>
            <a:r>
              <a:rPr lang="en-US" dirty="0" smtClean="0"/>
              <a:t>BIBO stability of LTI system</a:t>
            </a:r>
          </a:p>
          <a:p>
            <a:pPr lvl="1"/>
            <a:r>
              <a:rPr lang="en-US" dirty="0" smtClean="0"/>
              <a:t>An LTI discrete-time system is BIBO stable if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Why?</a:t>
            </a:r>
          </a:p>
          <a:p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32</a:t>
            </a:fld>
            <a:endParaRPr lang="en-US" altLang="zh-CN" dirty="0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CAUSALITY AND STABILITY</a:t>
            </a:r>
            <a:endParaRPr lang="en-US" dirty="0"/>
          </a:p>
        </p:txBody>
      </p:sp>
      <p:graphicFrame>
        <p:nvGraphicFramePr>
          <p:cNvPr id="35847" name="Object 7"/>
          <p:cNvGraphicFramePr>
            <a:graphicFrameLocks noChangeAspect="1"/>
          </p:cNvGraphicFramePr>
          <p:nvPr/>
        </p:nvGraphicFramePr>
        <p:xfrm>
          <a:off x="3657600" y="2590800"/>
          <a:ext cx="11207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86" name="Equation" r:id="rId3" imgW="799920" imgH="431640" progId="Equation.3">
                  <p:embed/>
                </p:oleObj>
              </mc:Choice>
              <mc:Fallback>
                <p:oleObj name="Equation" r:id="rId3" imgW="799920" imgH="4316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590800"/>
                        <a:ext cx="1120775" cy="6096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CAUSALITY AND STABILITY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For an LTI system with impulse responses as follows. Are they BIBO stable?</a:t>
            </a:r>
          </a:p>
          <a:p>
            <a:pPr lvl="1">
              <a:buNone/>
            </a:pPr>
            <a:r>
              <a:rPr lang="en-US" dirty="0" smtClean="0"/>
              <a:t>	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33</a:t>
            </a:fld>
            <a:endParaRPr lang="en-US" altLang="zh-CN" dirty="0" smtClean="0"/>
          </a:p>
        </p:txBody>
      </p:sp>
      <p:graphicFrame>
        <p:nvGraphicFramePr>
          <p:cNvPr id="36866" name="Object 2"/>
          <p:cNvGraphicFramePr>
            <a:graphicFrameLocks noChangeAspect="1"/>
          </p:cNvGraphicFramePr>
          <p:nvPr/>
        </p:nvGraphicFramePr>
        <p:xfrm>
          <a:off x="1447800" y="1981200"/>
          <a:ext cx="1547812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61" name="Equation" r:id="rId3" imgW="1104840" imgH="228600" progId="Equation.3">
                  <p:embed/>
                </p:oleObj>
              </mc:Choice>
              <mc:Fallback>
                <p:oleObj name="Equation" r:id="rId3" imgW="1104840" imgH="228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981200"/>
                        <a:ext cx="1547812" cy="322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7" name="Object 3"/>
          <p:cNvGraphicFramePr>
            <a:graphicFrameLocks noChangeAspect="1"/>
          </p:cNvGraphicFramePr>
          <p:nvPr/>
        </p:nvGraphicFramePr>
        <p:xfrm>
          <a:off x="1447800" y="2895600"/>
          <a:ext cx="1654175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62" name="Equation" r:id="rId5" imgW="1180800" imgH="228600" progId="Equation.3">
                  <p:embed/>
                </p:oleObj>
              </mc:Choice>
              <mc:Fallback>
                <p:oleObj name="Equation" r:id="rId5" imgW="118080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895600"/>
                        <a:ext cx="1654175" cy="322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Object 4"/>
          <p:cNvGraphicFramePr>
            <a:graphicFrameLocks noChangeAspect="1"/>
          </p:cNvGraphicFramePr>
          <p:nvPr/>
        </p:nvGraphicFramePr>
        <p:xfrm>
          <a:off x="1524000" y="3657600"/>
          <a:ext cx="1138238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63" name="Equation" r:id="rId7" imgW="812520" imgH="228600" progId="Equation.3">
                  <p:embed/>
                </p:oleObj>
              </mc:Choice>
              <mc:Fallback>
                <p:oleObj name="Equation" r:id="rId7" imgW="81252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657600"/>
                        <a:ext cx="1138238" cy="322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5"/>
          <p:cNvGraphicFramePr>
            <a:graphicFrameLocks noChangeAspect="1"/>
          </p:cNvGraphicFramePr>
          <p:nvPr/>
        </p:nvGraphicFramePr>
        <p:xfrm>
          <a:off x="1524000" y="4495800"/>
          <a:ext cx="1244600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64" name="Equation" r:id="rId9" imgW="888840" imgH="228600" progId="Equation.3">
                  <p:embed/>
                </p:oleObj>
              </mc:Choice>
              <mc:Fallback>
                <p:oleObj name="Equation" r:id="rId9" imgW="888840" imgH="2286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495800"/>
                        <a:ext cx="1244600" cy="322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6"/>
          <p:cNvGraphicFramePr>
            <a:graphicFrameLocks noChangeAspect="1"/>
          </p:cNvGraphicFramePr>
          <p:nvPr/>
        </p:nvGraphicFramePr>
        <p:xfrm>
          <a:off x="1462088" y="5257800"/>
          <a:ext cx="1368425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65" name="Equation" r:id="rId11" imgW="977760" imgH="228600" progId="Equation.3">
                  <p:embed/>
                </p:oleObj>
              </mc:Choice>
              <mc:Fallback>
                <p:oleObj name="Equation" r:id="rId11" imgW="977760" imgH="2286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2088" y="5257800"/>
                        <a:ext cx="1368425" cy="322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34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8115300" cy="56451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Classifications of discrete-time signals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Elementary discrete-time signals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Linear time-invariant (LTI) discrete-time systems 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Causality and stability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Difference equation representation of LTI systems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defRPr/>
            </a:pPr>
            <a:endParaRPr lang="en-US" altLang="zh-CN" sz="20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DIFFERENCE EQUATION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Difference equation representation of LTI discrete-time system</a:t>
            </a:r>
          </a:p>
          <a:p>
            <a:pPr lvl="1"/>
            <a:r>
              <a:rPr lang="en-US" dirty="0" smtClean="0"/>
              <a:t>Any LTI discrete-time system can be represented as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Review: any LTI continuous-time system can be represented 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35</a:t>
            </a:fld>
            <a:endParaRPr lang="en-US" altLang="zh-CN" dirty="0" smtClean="0"/>
          </a:p>
        </p:txBody>
      </p:sp>
      <p:graphicFrame>
        <p:nvGraphicFramePr>
          <p:cNvPr id="37890" name="Object 4"/>
          <p:cNvGraphicFramePr>
            <a:graphicFrameLocks noChangeAspect="1"/>
          </p:cNvGraphicFramePr>
          <p:nvPr/>
        </p:nvGraphicFramePr>
        <p:xfrm>
          <a:off x="2362200" y="1752600"/>
          <a:ext cx="3048000" cy="73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70" name="Equation" r:id="rId3" imgW="1790700" imgH="431800" progId="Equation.3">
                  <p:embed/>
                </p:oleObj>
              </mc:Choice>
              <mc:Fallback>
                <p:oleObj name="Equation" r:id="rId3" imgW="17907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752600"/>
                        <a:ext cx="3048000" cy="7327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Object 4"/>
          <p:cNvGraphicFramePr>
            <a:graphicFrameLocks noChangeAspect="1"/>
          </p:cNvGraphicFramePr>
          <p:nvPr/>
        </p:nvGraphicFramePr>
        <p:xfrm>
          <a:off x="2589213" y="3341688"/>
          <a:ext cx="2897187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71" name="Equation" r:id="rId5" imgW="1701720" imgH="444240" progId="Equation.3">
                  <p:embed/>
                </p:oleObj>
              </mc:Choice>
              <mc:Fallback>
                <p:oleObj name="Equation" r:id="rId5" imgW="1701720" imgH="4442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9213" y="3341688"/>
                        <a:ext cx="2897187" cy="755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DIFFERENCE EQUATION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Simulation diagram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36</a:t>
            </a:fld>
            <a:endParaRPr lang="en-US" altLang="zh-CN" dirty="0" smtClean="0"/>
          </a:p>
        </p:txBody>
      </p:sp>
      <p:graphicFrame>
        <p:nvGraphicFramePr>
          <p:cNvPr id="38914" name="Object 4"/>
          <p:cNvGraphicFramePr>
            <a:graphicFrameLocks noChangeAspect="1"/>
          </p:cNvGraphicFramePr>
          <p:nvPr/>
        </p:nvGraphicFramePr>
        <p:xfrm>
          <a:off x="762000" y="1600200"/>
          <a:ext cx="7673976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54" name="Equation" r:id="rId3" imgW="4508280" imgH="228600" progId="Equation.3">
                  <p:embed/>
                </p:oleObj>
              </mc:Choice>
              <mc:Fallback>
                <p:oleObj name="Equation" r:id="rId3" imgW="450828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600200"/>
                        <a:ext cx="7673976" cy="3889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933" name="Picture 2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514600"/>
            <a:ext cx="6400800" cy="343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DIFFERENCE EQUATION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Draw the simulation diagram of the LTI system described by the following difference equation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37</a:t>
            </a:fld>
            <a:endParaRPr lang="en-US" altLang="zh-CN" dirty="0" smtClean="0"/>
          </a:p>
        </p:txBody>
      </p:sp>
      <p:graphicFrame>
        <p:nvGraphicFramePr>
          <p:cNvPr id="39938" name="Object 4"/>
          <p:cNvGraphicFramePr>
            <a:graphicFrameLocks noChangeAspect="1"/>
          </p:cNvGraphicFramePr>
          <p:nvPr/>
        </p:nvGraphicFramePr>
        <p:xfrm>
          <a:off x="1981200" y="1981200"/>
          <a:ext cx="512445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7" name="Equation" r:id="rId3" imgW="3009600" imgH="203040" progId="Equation.3">
                  <p:embed/>
                </p:oleObj>
              </mc:Choice>
              <mc:Fallback>
                <p:oleObj name="Equation" r:id="rId3" imgW="300960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981200"/>
                        <a:ext cx="5124450" cy="34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DIFFERENCE EQUATION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The impulse response of an LTI system is</a:t>
            </a:r>
          </a:p>
          <a:p>
            <a:pPr lvl="2"/>
            <a:r>
              <a:rPr lang="en-US" dirty="0" smtClean="0"/>
              <a:t>Find the difference equation representation</a:t>
            </a:r>
          </a:p>
          <a:p>
            <a:pPr lvl="2"/>
            <a:r>
              <a:rPr lang="en-US" dirty="0" smtClean="0"/>
              <a:t>Draw the simulation diagram.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38</a:t>
            </a:fld>
            <a:endParaRPr lang="en-US" altLang="zh-CN" dirty="0" smtClean="0"/>
          </a:p>
        </p:txBody>
      </p:sp>
      <p:graphicFrame>
        <p:nvGraphicFramePr>
          <p:cNvPr id="40962" name="Object 4"/>
          <p:cNvGraphicFramePr>
            <a:graphicFrameLocks noChangeAspect="1"/>
          </p:cNvGraphicFramePr>
          <p:nvPr/>
        </p:nvGraphicFramePr>
        <p:xfrm>
          <a:off x="5486400" y="1295400"/>
          <a:ext cx="1643063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1" name="Equation" r:id="rId4" imgW="965160" imgH="203040" progId="Equation.3">
                  <p:embed/>
                </p:oleObj>
              </mc:Choice>
              <mc:Fallback>
                <p:oleObj name="Equation" r:id="rId4" imgW="96516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295400"/>
                        <a:ext cx="1643063" cy="34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V="1">
            <a:off x="6400800" y="1600200"/>
            <a:ext cx="0" cy="22860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1331</TotalTime>
  <Words>1080</Words>
  <Application>Microsoft Office PowerPoint</Application>
  <PresentationFormat>On-screen Show (4:3)</PresentationFormat>
  <Paragraphs>383</Paragraphs>
  <Slides>38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宋体</vt:lpstr>
      <vt:lpstr>Arial</vt:lpstr>
      <vt:lpstr>Arial Black</vt:lpstr>
      <vt:lpstr>Calibri</vt:lpstr>
      <vt:lpstr>Times New Roman</vt:lpstr>
      <vt:lpstr>Wingdings</vt:lpstr>
      <vt:lpstr>Office Theme</vt:lpstr>
      <vt:lpstr>Equation</vt:lpstr>
      <vt:lpstr>ELEG 4603/5173L Digital Signal Processing  Ch. 1 Discrete-Time Signals and Systems</vt:lpstr>
      <vt:lpstr>OUTLINE</vt:lpstr>
      <vt:lpstr>SIGNAL CLASSICIATION</vt:lpstr>
      <vt:lpstr>SIGNAL CLASSICIATION</vt:lpstr>
      <vt:lpstr>SIGNAL CLASSIFICATION</vt:lpstr>
      <vt:lpstr>SIGNAL CLASSIFICATION</vt:lpstr>
      <vt:lpstr>SIGNAL CLASSIFICATION</vt:lpstr>
      <vt:lpstr>SIGNAL CLASSIFICATION</vt:lpstr>
      <vt:lpstr>SIGNAL CLASSIFICATION</vt:lpstr>
      <vt:lpstr>SIGNAL CLASSIFICATION</vt:lpstr>
      <vt:lpstr>OUTLINE</vt:lpstr>
      <vt:lpstr>ELEMENTARY SIGNALS</vt:lpstr>
      <vt:lpstr>ELEMENTARY SIGNALS</vt:lpstr>
      <vt:lpstr>ELEMENTARY SIGNALS</vt:lpstr>
      <vt:lpstr>ELEMENTARY SIGNALS</vt:lpstr>
      <vt:lpstr>ELEMENTARY SIGNALS</vt:lpstr>
      <vt:lpstr>OUTLINE</vt:lpstr>
      <vt:lpstr>DISCRETE-TIME SYSTEMS</vt:lpstr>
      <vt:lpstr>DISCRETE-TIME SYSTEM</vt:lpstr>
      <vt:lpstr>DISCRETE-TIME SYSTEM</vt:lpstr>
      <vt:lpstr>DISCRETE-TIME SYSTEM</vt:lpstr>
      <vt:lpstr>DISCRETE-TIME SYSTEM</vt:lpstr>
      <vt:lpstr>DISCRETE-TIME SYSTEM</vt:lpstr>
      <vt:lpstr>DISCRETE-TIME SYSTEM</vt:lpstr>
      <vt:lpstr>DISCRETE-TIME SYSTEM</vt:lpstr>
      <vt:lpstr>DISCRETE-TIME SYSTEM</vt:lpstr>
      <vt:lpstr>DISCRETE-TIME SYSTEM</vt:lpstr>
      <vt:lpstr>DISCRETE-TIME SYSTSEMS</vt:lpstr>
      <vt:lpstr>OUTLINE</vt:lpstr>
      <vt:lpstr>CAUSALITY AND STABILITY</vt:lpstr>
      <vt:lpstr>CAUSALITY AND STABILITY</vt:lpstr>
      <vt:lpstr>CAUSALITY AND STABILITY</vt:lpstr>
      <vt:lpstr>CAUSALITY AND STABILITY</vt:lpstr>
      <vt:lpstr>OUTLINE</vt:lpstr>
      <vt:lpstr>DIFFERENCE EQUATION</vt:lpstr>
      <vt:lpstr>DIFFERENCE EQUATION</vt:lpstr>
      <vt:lpstr>DIFFERENCE EQUATION</vt:lpstr>
      <vt:lpstr>DIFFERENCE EQUATION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wuj</dc:creator>
  <cp:lastModifiedBy>jingxianw@gmail.com</cp:lastModifiedBy>
  <cp:revision>231</cp:revision>
  <dcterms:created xsi:type="dcterms:W3CDTF">2006-08-16T00:00:00Z</dcterms:created>
  <dcterms:modified xsi:type="dcterms:W3CDTF">2016-01-27T20:23:02Z</dcterms:modified>
</cp:coreProperties>
</file>