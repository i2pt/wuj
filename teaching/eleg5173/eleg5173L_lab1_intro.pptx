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"/>
  </p:notesMasterIdLst>
  <p:sldIdLst>
    <p:sldId id="256" r:id="rId2"/>
    <p:sldId id="316" r:id="rId3"/>
    <p:sldId id="268" r:id="rId4"/>
    <p:sldId id="307" r:id="rId5"/>
    <p:sldId id="308" r:id="rId6"/>
    <p:sldId id="309" r:id="rId7"/>
    <p:sldId id="310" r:id="rId8"/>
    <p:sldId id="311" r:id="rId9"/>
    <p:sldId id="312" r:id="rId10"/>
    <p:sldId id="317" r:id="rId11"/>
    <p:sldId id="314" r:id="rId12"/>
    <p:sldId id="315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000099"/>
    <a:srgbClr val="0000CC"/>
    <a:srgbClr val="0033CC"/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852" autoAdjust="0"/>
  </p:normalViewPr>
  <p:slideViewPr>
    <p:cSldViewPr>
      <p:cViewPr varScale="1">
        <p:scale>
          <a:sx n="106" d="100"/>
          <a:sy n="106" d="100"/>
        </p:scale>
        <p:origin x="176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CA95B8-4588-46D8-8F50-86C1DF9AFA24}" type="datetimeFigureOut">
              <a:rPr lang="en-US" smtClean="0"/>
              <a:pPr/>
              <a:t>1/25/2016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7B99F5-9ED3-44CF-A144-70EBB5FD54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199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Dual_in-line_package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hlinkClick r:id="rId3" tooltip="Dual in-line package"/>
              </a:rPr>
              <a:t>dual in-line package</a:t>
            </a:r>
            <a:r>
              <a:rPr lang="en-US" dirty="0" smtClean="0"/>
              <a:t> (DIP)</a:t>
            </a:r>
          </a:p>
          <a:p>
            <a:r>
              <a:rPr lang="en-US" dirty="0" smtClean="0"/>
              <a:t>SDRAM: synchronous dynamic</a:t>
            </a:r>
            <a:r>
              <a:rPr lang="en-US" baseline="0" dirty="0" smtClean="0"/>
              <a:t> RAM</a:t>
            </a:r>
          </a:p>
          <a:p>
            <a:r>
              <a:rPr lang="en-US" baseline="0" dirty="0" smtClean="0"/>
              <a:t>JTAG: </a:t>
            </a:r>
            <a:r>
              <a:rPr lang="en-US" dirty="0" smtClean="0"/>
              <a:t>Joint Test Action Group</a:t>
            </a:r>
          </a:p>
          <a:p>
            <a:r>
              <a:rPr lang="en-US" dirty="0" smtClean="0"/>
              <a:t>AIC23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7B99F5-9ED3-44CF-A144-70EBB5FD5410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4240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9"/>
          <p:cNvSpPr>
            <a:spLocks noChangeShapeType="1"/>
          </p:cNvSpPr>
          <p:nvPr userDrawn="1"/>
        </p:nvSpPr>
        <p:spPr bwMode="auto">
          <a:xfrm>
            <a:off x="457200" y="3429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Text Box 12"/>
          <p:cNvSpPr txBox="1">
            <a:spLocks noChangeArrowheads="1"/>
          </p:cNvSpPr>
          <p:nvPr userDrawn="1"/>
        </p:nvSpPr>
        <p:spPr bwMode="auto">
          <a:xfrm>
            <a:off x="2846479" y="1346200"/>
            <a:ext cx="3897221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zh-CN" sz="18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Department of Electrical Engineering</a:t>
            </a:r>
          </a:p>
          <a:p>
            <a:pPr algn="r">
              <a:defRPr/>
            </a:pPr>
            <a:r>
              <a:rPr lang="en-US" altLang="zh-CN" sz="16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University of Arkansas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</p:spPr>
        <p:txBody>
          <a:bodyPr/>
          <a:lstStyle>
            <a:lvl1pPr algn="r">
              <a:defRPr sz="3200">
                <a:latin typeface="Arial Black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</a:p>
        </p:txBody>
      </p:sp>
      <p:sp>
        <p:nvSpPr>
          <p:cNvPr id="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057400" y="3581400"/>
            <a:ext cx="6400800" cy="762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FontTx/>
              <a:buNone/>
              <a:defRPr sz="2200" b="0">
                <a:solidFill>
                  <a:srgbClr val="000099"/>
                </a:solidFill>
                <a:latin typeface="Arial Black" pitchFamily="34" charset="0"/>
              </a:defRPr>
            </a:lvl1pPr>
          </a:lstStyle>
          <a:p>
            <a:r>
              <a:rPr lang="en-US" altLang="zh-CN" dirty="0"/>
              <a:t>Click to edit Master subtitle style</a:t>
            </a:r>
          </a:p>
        </p:txBody>
      </p:sp>
      <p:pic>
        <p:nvPicPr>
          <p:cNvPr id="12" name="Picture 16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81800" y="1447800"/>
            <a:ext cx="16383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9"/>
          <p:cNvSpPr>
            <a:spLocks noChangeShapeType="1"/>
          </p:cNvSpPr>
          <p:nvPr userDrawn="1"/>
        </p:nvSpPr>
        <p:spPr bwMode="auto">
          <a:xfrm>
            <a:off x="152400" y="762000"/>
            <a:ext cx="876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28600" y="304800"/>
            <a:ext cx="7772400" cy="76200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400">
                <a:latin typeface="Arial Black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09600" y="876300"/>
            <a:ext cx="7772400" cy="56007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="1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defRPr>
            </a:lvl1pPr>
            <a:lvl2pPr>
              <a:defRPr sz="1800">
                <a:latin typeface="Times New Roman" pitchFamily="18" charset="0"/>
                <a:cs typeface="Times New Roman" pitchFamily="18" charset="0"/>
              </a:defRPr>
            </a:lvl2pPr>
            <a:lvl3pPr>
              <a:defRPr sz="1800">
                <a:latin typeface="Times New Roman" pitchFamily="18" charset="0"/>
                <a:cs typeface="Times New Roman" pitchFamily="18" charset="0"/>
              </a:defRPr>
            </a:lvl3pPr>
            <a:lvl4pPr>
              <a:defRPr sz="1800">
                <a:latin typeface="Times New Roman" pitchFamily="18" charset="0"/>
                <a:cs typeface="Times New Roman" pitchFamily="18" charset="0"/>
              </a:defRPr>
            </a:lvl4pPr>
            <a:lvl5pPr>
              <a:defRPr sz="1800"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pic>
        <p:nvPicPr>
          <p:cNvPr id="10" name="Picture 9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6248400"/>
            <a:ext cx="17811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lide Number Placeholder 3"/>
          <p:cNvSpPr>
            <a:spLocks noGrp="1"/>
          </p:cNvSpPr>
          <p:nvPr userDrawn="1">
            <p:ph type="sldNum" sz="quarter" idx="10"/>
          </p:nvPr>
        </p:nvSpPr>
        <p:spPr>
          <a:xfrm>
            <a:off x="7239000" y="0"/>
            <a:ext cx="1905000" cy="457200"/>
          </a:xfrm>
          <a:prstGeom prst="rect">
            <a:avLst/>
          </a:prstGeom>
          <a:noFill/>
        </p:spPr>
        <p:txBody>
          <a:bodyPr/>
          <a:lstStyle>
            <a:lvl1pPr algn="r">
              <a:defRPr b="1"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7A65BF99-0365-4788-A7C5-586C0382C80B}" type="slidenum">
              <a:rPr lang="zh-CN" altLang="en-US" smtClean="0"/>
              <a:pPr/>
              <a:t>‹#›</a:t>
            </a:fld>
            <a:endParaRPr lang="en-US" altLang="zh-CN" dirty="0" smtClean="0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362200"/>
            <a:ext cx="7772400" cy="990600"/>
          </a:xfrm>
        </p:spPr>
        <p:txBody>
          <a:bodyPr/>
          <a:lstStyle/>
          <a:p>
            <a:r>
              <a:rPr lang="en-US" sz="2400" dirty="0" smtClean="0"/>
              <a:t>ELEG 5173L Digital Signal Processing </a:t>
            </a:r>
            <a:br>
              <a:rPr lang="en-US" sz="2400" dirty="0" smtClean="0"/>
            </a:br>
            <a:r>
              <a:rPr lang="en-US" sz="2800" dirty="0" smtClean="0"/>
              <a:t>Introduction to TMS320C6713 DSK</a:t>
            </a: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2743200" y="3810000"/>
            <a:ext cx="5791200" cy="1752600"/>
          </a:xfrm>
          <a:prstGeom prst="rect">
            <a:avLst/>
          </a:prstGeom>
        </p:spPr>
        <p:txBody>
          <a:bodyPr/>
          <a:lstStyle/>
          <a:p>
            <a:pPr algn="r">
              <a:buNone/>
            </a:pPr>
            <a:r>
              <a:rPr lang="en-US" sz="2200" dirty="0" smtClean="0">
                <a:solidFill>
                  <a:srgbClr val="000099"/>
                </a:solidFill>
                <a:latin typeface="Arial Black" pitchFamily="34" charset="0"/>
              </a:rPr>
              <a:t>Dr. Jingxian Wu</a:t>
            </a:r>
          </a:p>
          <a:p>
            <a:pPr algn="r">
              <a:buNone/>
            </a:pPr>
            <a:r>
              <a:rPr lang="en-US" sz="2200" dirty="0" smtClean="0">
                <a:solidFill>
                  <a:srgbClr val="000099"/>
                </a:solidFill>
                <a:latin typeface="Arial Black" pitchFamily="34" charset="0"/>
              </a:rPr>
              <a:t>wuj@uark.edu</a:t>
            </a:r>
            <a:endParaRPr lang="en-US" sz="2200" dirty="0">
              <a:solidFill>
                <a:srgbClr val="000099"/>
              </a:solidFill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ANALOG V.S DIGITAL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Analog signal processing (ASP)</a:t>
            </a:r>
          </a:p>
          <a:p>
            <a:pPr lvl="1"/>
            <a:r>
              <a:rPr lang="en-US" dirty="0" smtClean="0"/>
              <a:t>Analog signal processing is achieved by using analog components such as:</a:t>
            </a:r>
          </a:p>
          <a:p>
            <a:pPr lvl="2"/>
            <a:r>
              <a:rPr lang="en-US" dirty="0" smtClean="0"/>
              <a:t>Resistor, capacitor, inductor</a:t>
            </a:r>
          </a:p>
          <a:p>
            <a:pPr lvl="1"/>
            <a:r>
              <a:rPr lang="en-US" dirty="0" smtClean="0"/>
              <a:t>Sensitive to </a:t>
            </a:r>
          </a:p>
          <a:p>
            <a:pPr lvl="2"/>
            <a:r>
              <a:rPr lang="en-US" dirty="0" smtClean="0"/>
              <a:t>inherent tolerances, </a:t>
            </a:r>
            <a:r>
              <a:rPr lang="en-US" dirty="0"/>
              <a:t>temperature, voltage changes and mechanical vibrations </a:t>
            </a:r>
            <a:endParaRPr lang="en-US" dirty="0" smtClean="0"/>
          </a:p>
          <a:p>
            <a:pPr lvl="2"/>
            <a:r>
              <a:rPr lang="en-US" dirty="0" smtClean="0"/>
              <a:t>They can </a:t>
            </a:r>
            <a:r>
              <a:rPr lang="en-US" dirty="0"/>
              <a:t>dramatically affect the effectiveness of the analogue </a:t>
            </a:r>
            <a:r>
              <a:rPr lang="en-US" dirty="0" smtClean="0"/>
              <a:t>circuitry</a:t>
            </a:r>
          </a:p>
          <a:p>
            <a:r>
              <a:rPr lang="en-US" dirty="0" smtClean="0"/>
              <a:t>Digital signal processing (DSP)</a:t>
            </a:r>
          </a:p>
          <a:p>
            <a:pPr lvl="1"/>
            <a:r>
              <a:rPr lang="en-US" dirty="0" smtClean="0"/>
              <a:t>High precision</a:t>
            </a:r>
          </a:p>
          <a:p>
            <a:pPr lvl="1"/>
            <a:r>
              <a:rPr lang="en-US" dirty="0" smtClean="0"/>
              <a:t>High tolerance to noise</a:t>
            </a:r>
          </a:p>
          <a:p>
            <a:pPr lvl="1"/>
            <a:r>
              <a:rPr lang="en-US" dirty="0" smtClean="0"/>
              <a:t>Short development time</a:t>
            </a:r>
          </a:p>
          <a:p>
            <a:pPr lvl="1"/>
            <a:r>
              <a:rPr lang="en-US" dirty="0" smtClean="0"/>
              <a:t>High flexibility</a:t>
            </a:r>
          </a:p>
          <a:p>
            <a:pPr lvl="1"/>
            <a:r>
              <a:rPr lang="en-US" dirty="0" smtClean="0"/>
              <a:t>Low power consumption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</a:t>
            </a:fld>
            <a:endParaRPr lang="en-US" altLang="zh-CN" dirty="0" smtClean="0"/>
          </a:p>
        </p:txBody>
      </p:sp>
      <p:sp>
        <p:nvSpPr>
          <p:cNvPr id="5" name="Rectangle 4"/>
          <p:cNvSpPr/>
          <p:nvPr/>
        </p:nvSpPr>
        <p:spPr>
          <a:xfrm>
            <a:off x="990600" y="5545667"/>
            <a:ext cx="7696200" cy="923330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Digital signal processing techniques are now so powerful that sometimes it is extremely difficult, if not impossible, for analogue signal processing to achieve similar performance.</a:t>
            </a:r>
          </a:p>
        </p:txBody>
      </p:sp>
    </p:spTree>
    <p:extLst>
      <p:ext uri="{BB962C8B-B14F-4D97-AF65-F5344CB8AC3E}">
        <p14:creationId xmlns:p14="http://schemas.microsoft.com/office/powerpoint/2010/main" val="590835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0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fld id="{2358FEAC-2F43-4467-BCF4-93BD7D98BAA9}" type="slidenum">
              <a:rPr lang="zh-CN" altLang="en-US"/>
              <a:pPr>
                <a:defRPr/>
              </a:pPr>
              <a:t>3</a:t>
            </a:fld>
            <a:endParaRPr lang="en-US" altLang="zh-CN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DSP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876300"/>
            <a:ext cx="7772400" cy="5448300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 smtClean="0"/>
              <a:t>Digital Signal Processor (DSP)</a:t>
            </a:r>
          </a:p>
          <a:p>
            <a:pPr lvl="1"/>
            <a:r>
              <a:rPr lang="en-US" dirty="0" smtClean="0"/>
              <a:t>A </a:t>
            </a:r>
            <a:r>
              <a:rPr lang="en-US" dirty="0" smtClean="0">
                <a:solidFill>
                  <a:srgbClr val="00B050"/>
                </a:solidFill>
              </a:rPr>
              <a:t>digital signal processor</a:t>
            </a:r>
            <a:r>
              <a:rPr lang="en-US" dirty="0" smtClean="0"/>
              <a:t> is a specialized </a:t>
            </a:r>
            <a:r>
              <a:rPr lang="en-US" dirty="0" smtClean="0">
                <a:solidFill>
                  <a:srgbClr val="00B050"/>
                </a:solidFill>
              </a:rPr>
              <a:t>microprocessor</a:t>
            </a:r>
            <a:r>
              <a:rPr lang="en-US" dirty="0" smtClean="0"/>
              <a:t> with an architecture optimized for the fast operational needs of </a:t>
            </a:r>
            <a:r>
              <a:rPr lang="en-US" dirty="0" smtClean="0">
                <a:solidFill>
                  <a:srgbClr val="00B050"/>
                </a:solidFill>
              </a:rPr>
              <a:t>digital signal processing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It is a special type of microprocessor</a:t>
            </a:r>
          </a:p>
          <a:p>
            <a:pPr lvl="2"/>
            <a:r>
              <a:rPr lang="en-US" dirty="0" smtClean="0"/>
              <a:t>Have instructions designed specifically for digital signal processing</a:t>
            </a:r>
          </a:p>
          <a:p>
            <a:r>
              <a:rPr lang="en-US" dirty="0" smtClean="0"/>
              <a:t>Use a DSP when the following are required:</a:t>
            </a:r>
          </a:p>
          <a:p>
            <a:pPr marL="1047750" lvl="1"/>
            <a:r>
              <a:rPr lang="en-US" dirty="0" smtClean="0"/>
              <a:t>Cost saving.</a:t>
            </a:r>
          </a:p>
          <a:p>
            <a:pPr marL="1047750" lvl="1"/>
            <a:r>
              <a:rPr lang="en-US" dirty="0" smtClean="0"/>
              <a:t>Smaller size.</a:t>
            </a:r>
          </a:p>
          <a:p>
            <a:pPr marL="1047750" lvl="1"/>
            <a:r>
              <a:rPr lang="en-US" dirty="0" smtClean="0"/>
              <a:t>Low power consumption.</a:t>
            </a:r>
          </a:p>
          <a:p>
            <a:pPr marL="1047750" lvl="1"/>
            <a:r>
              <a:rPr lang="en-US" dirty="0" smtClean="0"/>
              <a:t>Processing of many “high” frequency signals in real-time.</a:t>
            </a:r>
          </a:p>
          <a:p>
            <a:r>
              <a:rPr lang="en-US" dirty="0" smtClean="0"/>
              <a:t>Use a general purpose microprocessor (e.g. Intel Core 2 Duo) when the following are required:</a:t>
            </a:r>
          </a:p>
          <a:p>
            <a:pPr marL="1047750" lvl="1"/>
            <a:r>
              <a:rPr lang="en-US" dirty="0" smtClean="0"/>
              <a:t>Large memory.</a:t>
            </a:r>
          </a:p>
          <a:p>
            <a:pPr marL="1047750" lvl="1"/>
            <a:r>
              <a:rPr lang="en-US" dirty="0" smtClean="0"/>
              <a:t>Advanced operating systems.</a:t>
            </a:r>
          </a:p>
          <a:p>
            <a:endParaRPr lang="en-US" dirty="0" smtClean="0"/>
          </a:p>
          <a:p>
            <a:pPr lvl="1" eaLnBrk="1" hangingPunct="1">
              <a:buFontTx/>
              <a:buNone/>
            </a:pPr>
            <a:endParaRPr lang="en-US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DSP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DSP</a:t>
            </a:r>
          </a:p>
          <a:p>
            <a:pPr lvl="1"/>
            <a:r>
              <a:rPr lang="en-US" dirty="0" smtClean="0"/>
              <a:t>The key operation in digital signal processing is sum of products (SOP) or multiply and accumulation (MAC)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4</a:t>
            </a:fld>
            <a:endParaRPr lang="en-US" altLang="zh-CN" dirty="0" smtClean="0"/>
          </a:p>
        </p:txBody>
      </p:sp>
      <p:pic>
        <p:nvPicPr>
          <p:cNvPr id="9" name="Picture 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752600"/>
            <a:ext cx="8385175" cy="4727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DSP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DSP are optimized for MAC operations</a:t>
            </a:r>
          </a:p>
          <a:p>
            <a:pPr lvl="1"/>
            <a:r>
              <a:rPr lang="en-US" dirty="0" smtClean="0"/>
              <a:t>Multiplication and addition are done in hardware and in one cycle.</a:t>
            </a:r>
          </a:p>
          <a:p>
            <a:pPr lvl="1"/>
            <a:r>
              <a:rPr lang="en-US" dirty="0" smtClean="0"/>
              <a:t>Example: 4-bit multiply (unsigned).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5</a:t>
            </a:fld>
            <a:endParaRPr lang="en-US" altLang="zh-CN" dirty="0" smtClean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674813" y="2138363"/>
            <a:ext cx="5489575" cy="25812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6" name="Line 12"/>
          <p:cNvSpPr>
            <a:spLocks noChangeShapeType="1"/>
          </p:cNvSpPr>
          <p:nvPr/>
        </p:nvSpPr>
        <p:spPr bwMode="auto">
          <a:xfrm flipH="1">
            <a:off x="1906588" y="3128963"/>
            <a:ext cx="1143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2058988" y="2519363"/>
            <a:ext cx="1066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</a:rPr>
              <a:t>  1011</a:t>
            </a:r>
          </a:p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</a:rPr>
              <a:t>x 1110</a:t>
            </a:r>
          </a:p>
        </p:txBody>
      </p: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4649788" y="2519363"/>
            <a:ext cx="1066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</a:rPr>
              <a:t>  1011</a:t>
            </a:r>
          </a:p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</a:rPr>
              <a:t>x 1110</a:t>
            </a:r>
          </a:p>
        </p:txBody>
      </p:sp>
      <p:sp>
        <p:nvSpPr>
          <p:cNvPr id="9" name="Text Box 10"/>
          <p:cNvSpPr txBox="1">
            <a:spLocks noChangeArrowheads="1"/>
          </p:cNvSpPr>
          <p:nvPr/>
        </p:nvSpPr>
        <p:spPr bwMode="auto">
          <a:xfrm>
            <a:off x="1828800" y="2133600"/>
            <a:ext cx="1371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</a:rPr>
              <a:t>Hardware</a:t>
            </a: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4268788" y="2138363"/>
            <a:ext cx="1524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</a:rPr>
              <a:t>Microcode</a:t>
            </a:r>
          </a:p>
        </p:txBody>
      </p:sp>
      <p:sp>
        <p:nvSpPr>
          <p:cNvPr id="11" name="Line 13"/>
          <p:cNvSpPr>
            <a:spLocks noChangeShapeType="1"/>
          </p:cNvSpPr>
          <p:nvPr/>
        </p:nvSpPr>
        <p:spPr bwMode="auto">
          <a:xfrm flipH="1">
            <a:off x="4497388" y="3128963"/>
            <a:ext cx="1143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2" name="Text Box 14"/>
          <p:cNvSpPr txBox="1">
            <a:spLocks noChangeArrowheads="1"/>
          </p:cNvSpPr>
          <p:nvPr/>
        </p:nvSpPr>
        <p:spPr bwMode="auto">
          <a:xfrm>
            <a:off x="1830388" y="3143251"/>
            <a:ext cx="12954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66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</a:rPr>
              <a:t>10011010</a:t>
            </a:r>
          </a:p>
        </p:txBody>
      </p:sp>
      <p:sp>
        <p:nvSpPr>
          <p:cNvPr id="13" name="Text Box 15"/>
          <p:cNvSpPr txBox="1">
            <a:spLocks noChangeArrowheads="1"/>
          </p:cNvSpPr>
          <p:nvPr/>
        </p:nvSpPr>
        <p:spPr bwMode="auto">
          <a:xfrm>
            <a:off x="4116388" y="3143251"/>
            <a:ext cx="16002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</a:rPr>
              <a:t>0000</a:t>
            </a:r>
          </a:p>
        </p:txBody>
      </p:sp>
      <p:sp>
        <p:nvSpPr>
          <p:cNvPr id="14" name="Text Box 16"/>
          <p:cNvSpPr txBox="1">
            <a:spLocks noChangeArrowheads="1"/>
          </p:cNvSpPr>
          <p:nvPr/>
        </p:nvSpPr>
        <p:spPr bwMode="auto">
          <a:xfrm>
            <a:off x="4103688" y="3397251"/>
            <a:ext cx="16002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</a:rPr>
              <a:t>1011.</a:t>
            </a:r>
          </a:p>
        </p:txBody>
      </p:sp>
      <p:sp>
        <p:nvSpPr>
          <p:cNvPr id="15" name="Text Box 17"/>
          <p:cNvSpPr txBox="1">
            <a:spLocks noChangeArrowheads="1"/>
          </p:cNvSpPr>
          <p:nvPr/>
        </p:nvSpPr>
        <p:spPr bwMode="auto">
          <a:xfrm>
            <a:off x="4116388" y="3676651"/>
            <a:ext cx="16002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</a:rPr>
              <a:t>1011..</a:t>
            </a:r>
          </a:p>
        </p:txBody>
      </p:sp>
      <p:sp>
        <p:nvSpPr>
          <p:cNvPr id="16" name="Text Box 18"/>
          <p:cNvSpPr txBox="1">
            <a:spLocks noChangeArrowheads="1"/>
          </p:cNvSpPr>
          <p:nvPr/>
        </p:nvSpPr>
        <p:spPr bwMode="auto">
          <a:xfrm>
            <a:off x="4116388" y="3956051"/>
            <a:ext cx="16002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</a:rPr>
              <a:t>1011...</a:t>
            </a:r>
          </a:p>
        </p:txBody>
      </p:sp>
      <p:sp>
        <p:nvSpPr>
          <p:cNvPr id="17" name="Line 19"/>
          <p:cNvSpPr>
            <a:spLocks noChangeShapeType="1"/>
          </p:cNvSpPr>
          <p:nvPr/>
        </p:nvSpPr>
        <p:spPr bwMode="auto">
          <a:xfrm flipH="1">
            <a:off x="4497388" y="4284663"/>
            <a:ext cx="1143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8" name="Text Box 20"/>
          <p:cNvSpPr txBox="1">
            <a:spLocks noChangeArrowheads="1"/>
          </p:cNvSpPr>
          <p:nvPr/>
        </p:nvSpPr>
        <p:spPr bwMode="auto">
          <a:xfrm>
            <a:off x="4433888" y="4324351"/>
            <a:ext cx="12954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66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</a:rPr>
              <a:t>10011010</a:t>
            </a:r>
          </a:p>
        </p:txBody>
      </p:sp>
      <p:sp>
        <p:nvSpPr>
          <p:cNvPr id="19" name="Text Box 23"/>
          <p:cNvSpPr txBox="1">
            <a:spLocks noChangeArrowheads="1"/>
          </p:cNvSpPr>
          <p:nvPr/>
        </p:nvSpPr>
        <p:spPr bwMode="auto">
          <a:xfrm>
            <a:off x="5868988" y="3141663"/>
            <a:ext cx="1600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</a:rPr>
              <a:t>Cycle 1</a:t>
            </a:r>
          </a:p>
        </p:txBody>
      </p:sp>
      <p:sp>
        <p:nvSpPr>
          <p:cNvPr id="20" name="Text Box 24"/>
          <p:cNvSpPr txBox="1">
            <a:spLocks noChangeArrowheads="1"/>
          </p:cNvSpPr>
          <p:nvPr/>
        </p:nvSpPr>
        <p:spPr bwMode="auto">
          <a:xfrm>
            <a:off x="5868988" y="3395663"/>
            <a:ext cx="1600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</a:rPr>
              <a:t>Cycle 2</a:t>
            </a:r>
          </a:p>
        </p:txBody>
      </p:sp>
      <p:sp>
        <p:nvSpPr>
          <p:cNvPr id="21" name="Text Box 25"/>
          <p:cNvSpPr txBox="1">
            <a:spLocks noChangeArrowheads="1"/>
          </p:cNvSpPr>
          <p:nvPr/>
        </p:nvSpPr>
        <p:spPr bwMode="auto">
          <a:xfrm>
            <a:off x="5868988" y="3675063"/>
            <a:ext cx="1600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</a:rPr>
              <a:t>Cycle 3</a:t>
            </a:r>
          </a:p>
        </p:txBody>
      </p:sp>
      <p:sp>
        <p:nvSpPr>
          <p:cNvPr id="22" name="Text Box 26"/>
          <p:cNvSpPr txBox="1">
            <a:spLocks noChangeArrowheads="1"/>
          </p:cNvSpPr>
          <p:nvPr/>
        </p:nvSpPr>
        <p:spPr bwMode="auto">
          <a:xfrm>
            <a:off x="5868988" y="3954463"/>
            <a:ext cx="1600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</a:rPr>
              <a:t>Cycle 4</a:t>
            </a:r>
          </a:p>
        </p:txBody>
      </p:sp>
      <p:sp>
        <p:nvSpPr>
          <p:cNvPr id="23" name="Text Box 27"/>
          <p:cNvSpPr txBox="1">
            <a:spLocks noChangeArrowheads="1"/>
          </p:cNvSpPr>
          <p:nvPr/>
        </p:nvSpPr>
        <p:spPr bwMode="auto">
          <a:xfrm>
            <a:off x="5868988" y="4324351"/>
            <a:ext cx="12954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</a:rPr>
              <a:t>Cycle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4800600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DSP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343400" y="4800600"/>
            <a:ext cx="32486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general purpose microprocessor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TEXAS INSTRUMENTS’ TMS320 FAMILY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6</a:t>
            </a:fld>
            <a:endParaRPr lang="en-US" altLang="zh-CN" dirty="0" smtClean="0"/>
          </a:p>
        </p:txBody>
      </p:sp>
      <p:grpSp>
        <p:nvGrpSpPr>
          <p:cNvPr id="6" name="Group 5"/>
          <p:cNvGrpSpPr>
            <a:grpSpLocks/>
          </p:cNvGrpSpPr>
          <p:nvPr/>
        </p:nvGrpSpPr>
        <p:grpSpPr bwMode="auto">
          <a:xfrm>
            <a:off x="228600" y="1295400"/>
            <a:ext cx="8534400" cy="4756150"/>
            <a:chOff x="240" y="1344"/>
            <a:chExt cx="5376" cy="2996"/>
          </a:xfrm>
        </p:grpSpPr>
        <p:grpSp>
          <p:nvGrpSpPr>
            <p:cNvPr id="7" name="Group 6"/>
            <p:cNvGrpSpPr>
              <a:grpSpLocks/>
            </p:cNvGrpSpPr>
            <p:nvPr/>
          </p:nvGrpSpPr>
          <p:grpSpPr bwMode="auto">
            <a:xfrm>
              <a:off x="240" y="1344"/>
              <a:ext cx="4848" cy="2680"/>
              <a:chOff x="240" y="1440"/>
              <a:chExt cx="4848" cy="2680"/>
            </a:xfrm>
          </p:grpSpPr>
          <p:grpSp>
            <p:nvGrpSpPr>
              <p:cNvPr id="11" name="Group 10"/>
              <p:cNvGrpSpPr>
                <a:grpSpLocks/>
              </p:cNvGrpSpPr>
              <p:nvPr/>
            </p:nvGrpSpPr>
            <p:grpSpPr bwMode="auto">
              <a:xfrm>
                <a:off x="240" y="1440"/>
                <a:ext cx="1450" cy="1892"/>
                <a:chOff x="528" y="1900"/>
                <a:chExt cx="1450" cy="1892"/>
              </a:xfrm>
            </p:grpSpPr>
            <p:grpSp>
              <p:nvGrpSpPr>
                <p:cNvPr id="18" name="Group 17"/>
                <p:cNvGrpSpPr>
                  <a:grpSpLocks/>
                </p:cNvGrpSpPr>
                <p:nvPr/>
              </p:nvGrpSpPr>
              <p:grpSpPr bwMode="auto">
                <a:xfrm>
                  <a:off x="528" y="1900"/>
                  <a:ext cx="1450" cy="1892"/>
                  <a:chOff x="854" y="1248"/>
                  <a:chExt cx="1450" cy="1892"/>
                </a:xfrm>
              </p:grpSpPr>
              <p:sp>
                <p:nvSpPr>
                  <p:cNvPr id="20" name="Oval 19"/>
                  <p:cNvSpPr>
                    <a:spLocks noChangeArrowheads="1"/>
                  </p:cNvSpPr>
                  <p:nvPr/>
                </p:nvSpPr>
                <p:spPr bwMode="auto">
                  <a:xfrm>
                    <a:off x="1056" y="1248"/>
                    <a:ext cx="1008" cy="624"/>
                  </a:xfrm>
                  <a:prstGeom prst="ellipse">
                    <a:avLst/>
                  </a:prstGeom>
                  <a:solidFill>
                    <a:srgbClr val="FF0000"/>
                  </a:solidFill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algn="l" rtl="0" eaLnBrk="0" fontAlgn="base" hangingPunct="0">
                      <a:lnSpc>
                        <a:spcPct val="8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defRPr sz="2400" b="1" kern="12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lnSpc>
                        <a:spcPct val="8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defRPr sz="2400" b="1" kern="12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lnSpc>
                        <a:spcPct val="8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defRPr sz="2400" b="1" kern="12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lnSpc>
                        <a:spcPct val="8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defRPr sz="2400" b="1" kern="12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lnSpc>
                        <a:spcPct val="8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defRPr sz="2400" b="1" kern="12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2400" b="1" kern="12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2400" b="1" kern="12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2400" b="1" kern="12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2400" b="1" kern="12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ea typeface="+mn-ea"/>
                        <a:cs typeface="+mn-cs"/>
                      </a:defRPr>
                    </a:lvl9pPr>
                  </a:lstStyle>
                  <a:p>
                    <a:endParaRPr lang="en-US"/>
                  </a:p>
                </p:txBody>
              </p:sp>
              <p:sp>
                <p:nvSpPr>
                  <p:cNvPr id="21" name="Rectangle 20"/>
                  <p:cNvSpPr>
                    <a:spLocks noChangeArrowheads="1"/>
                  </p:cNvSpPr>
                  <p:nvPr/>
                </p:nvSpPr>
                <p:spPr bwMode="auto">
                  <a:xfrm>
                    <a:off x="854" y="1968"/>
                    <a:ext cx="1450" cy="1172"/>
                  </a:xfrm>
                  <a:prstGeom prst="rect">
                    <a:avLst/>
                  </a:prstGeom>
                  <a:solidFill>
                    <a:schemeClr val="accent2">
                      <a:alpha val="50000"/>
                    </a:schemeClr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2075" tIns="46038" rIns="92075" bIns="46038" anchorCtr="1">
                    <a:spAutoFit/>
                  </a:bodyPr>
                  <a:lstStyle>
                    <a:defPPr>
                      <a:defRPr lang="en-US"/>
                    </a:defPPr>
                    <a:lvl1pPr algn="l" rtl="0" eaLnBrk="0" fontAlgn="base" hangingPunct="0">
                      <a:lnSpc>
                        <a:spcPct val="8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defRPr sz="2400" b="1" kern="12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ea typeface="+mn-ea"/>
                        <a:cs typeface="+mn-cs"/>
                      </a:defRPr>
                    </a:lvl1pPr>
                    <a:lvl2pPr marL="457200" algn="l" rtl="0" eaLnBrk="0" fontAlgn="base" hangingPunct="0">
                      <a:lnSpc>
                        <a:spcPct val="8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defRPr sz="2400" b="1" kern="12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ea typeface="+mn-ea"/>
                        <a:cs typeface="+mn-cs"/>
                      </a:defRPr>
                    </a:lvl2pPr>
                    <a:lvl3pPr marL="914400" algn="l" rtl="0" eaLnBrk="0" fontAlgn="base" hangingPunct="0">
                      <a:lnSpc>
                        <a:spcPct val="8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defRPr sz="2400" b="1" kern="12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ea typeface="+mn-ea"/>
                        <a:cs typeface="+mn-cs"/>
                      </a:defRPr>
                    </a:lvl3pPr>
                    <a:lvl4pPr marL="1371600" algn="l" rtl="0" eaLnBrk="0" fontAlgn="base" hangingPunct="0">
                      <a:lnSpc>
                        <a:spcPct val="8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defRPr sz="2400" b="1" kern="12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ea typeface="+mn-ea"/>
                        <a:cs typeface="+mn-cs"/>
                      </a:defRPr>
                    </a:lvl4pPr>
                    <a:lvl5pPr marL="1828800" algn="l" rtl="0" eaLnBrk="0" fontAlgn="base" hangingPunct="0">
                      <a:lnSpc>
                        <a:spcPct val="8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defRPr sz="2400" b="1" kern="12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2400" b="1" kern="12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2400" b="1" kern="12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2400" b="1" kern="12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2400" b="1" kern="120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itchFamily="18" charset="0"/>
                        <a:ea typeface="+mn-ea"/>
                        <a:cs typeface="+mn-cs"/>
                      </a:defRPr>
                    </a:lvl9pPr>
                  </a:lstStyle>
                  <a:p>
                    <a:pPr marL="233363" indent="-233363">
                      <a:lnSpc>
                        <a:spcPct val="100000"/>
                      </a:lnSpc>
                      <a:spcBef>
                        <a:spcPct val="0"/>
                      </a:spcBef>
                      <a:buClr>
                        <a:schemeClr val="tx2"/>
                      </a:buClr>
                      <a:buSzPct val="75000"/>
                      <a:buFont typeface="Wingdings" pitchFamily="2" charset="2"/>
                      <a:buNone/>
                      <a:tabLst>
                        <a:tab pos="795338" algn="ctr"/>
                      </a:tabLst>
                    </a:pPr>
                    <a:r>
                      <a:rPr lang="en-US" sz="2800" u="sng" dirty="0">
                        <a:solidFill>
                          <a:schemeClr val="tx2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charset="0"/>
                      </a:rPr>
                      <a:t>Lowest Cost</a:t>
                    </a:r>
                    <a:endParaRPr lang="en-US" sz="2000" dirty="0">
                      <a:solidFill>
                        <a:schemeClr val="tx2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" charset="0"/>
                    </a:endParaRPr>
                  </a:p>
                  <a:p>
                    <a:pPr marL="233363" indent="-233363">
                      <a:lnSpc>
                        <a:spcPct val="100000"/>
                      </a:lnSpc>
                      <a:spcBef>
                        <a:spcPct val="0"/>
                      </a:spcBef>
                      <a:buClr>
                        <a:schemeClr val="tx2"/>
                      </a:buClr>
                      <a:buSzPct val="75000"/>
                      <a:buFont typeface="Wingdings" pitchFamily="2" charset="2"/>
                      <a:buNone/>
                      <a:tabLst>
                        <a:tab pos="795338" algn="ctr"/>
                      </a:tabLst>
                    </a:pPr>
                    <a:endParaRPr lang="en-US" sz="800" dirty="0">
                      <a:solidFill>
                        <a:schemeClr val="tx2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" charset="0"/>
                    </a:endParaRPr>
                  </a:p>
                  <a:p>
                    <a:pPr marL="233363" indent="-233363">
                      <a:lnSpc>
                        <a:spcPct val="100000"/>
                      </a:lnSpc>
                      <a:spcBef>
                        <a:spcPct val="0"/>
                      </a:spcBef>
                      <a:buClr>
                        <a:schemeClr val="tx2"/>
                      </a:buClr>
                      <a:buSzPct val="75000"/>
                      <a:buFont typeface="Wingdings" pitchFamily="2" charset="2"/>
                      <a:buNone/>
                      <a:tabLst>
                        <a:tab pos="795338" algn="ctr"/>
                      </a:tabLst>
                    </a:pPr>
                    <a:r>
                      <a:rPr lang="en-US" sz="2000" dirty="0">
                        <a:solidFill>
                          <a:schemeClr val="tx2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charset="0"/>
                      </a:rPr>
                      <a:t>Control Systems</a:t>
                    </a:r>
                    <a:endParaRPr lang="en-US" sz="2000" dirty="0">
                      <a:solidFill>
                        <a:schemeClr val="accent2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" charset="0"/>
                    </a:endParaRPr>
                  </a:p>
                  <a:p>
                    <a:pPr marL="233363" indent="-233363">
                      <a:lnSpc>
                        <a:spcPct val="100000"/>
                      </a:lnSpc>
                      <a:spcBef>
                        <a:spcPct val="0"/>
                      </a:spcBef>
                      <a:buClr>
                        <a:schemeClr val="tx2"/>
                      </a:buClr>
                      <a:buSzPct val="75000"/>
                      <a:buFont typeface="Wingdings" pitchFamily="2" charset="2"/>
                      <a:buChar char=""/>
                      <a:tabLst>
                        <a:tab pos="795338" algn="ctr"/>
                      </a:tabLst>
                    </a:pPr>
                    <a:r>
                      <a:rPr lang="en-US" sz="2000" b="0" dirty="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 Narrow" pitchFamily="34" charset="0"/>
                      </a:rPr>
                      <a:t>Motor Control</a:t>
                    </a:r>
                  </a:p>
                  <a:p>
                    <a:pPr marL="233363" indent="-233363">
                      <a:lnSpc>
                        <a:spcPct val="100000"/>
                      </a:lnSpc>
                      <a:spcBef>
                        <a:spcPct val="0"/>
                      </a:spcBef>
                      <a:buClr>
                        <a:schemeClr val="tx2"/>
                      </a:buClr>
                      <a:buSzPct val="75000"/>
                      <a:buFont typeface="Wingdings" pitchFamily="2" charset="2"/>
                      <a:buChar char=""/>
                      <a:tabLst>
                        <a:tab pos="795338" algn="ctr"/>
                      </a:tabLst>
                    </a:pPr>
                    <a:r>
                      <a:rPr lang="en-US" sz="2000" b="0" dirty="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 Narrow" pitchFamily="34" charset="0"/>
                      </a:rPr>
                      <a:t>Storage</a:t>
                    </a:r>
                  </a:p>
                  <a:p>
                    <a:pPr marL="233363" indent="-233363">
                      <a:lnSpc>
                        <a:spcPct val="100000"/>
                      </a:lnSpc>
                      <a:spcBef>
                        <a:spcPct val="0"/>
                      </a:spcBef>
                      <a:buClr>
                        <a:schemeClr val="tx2"/>
                      </a:buClr>
                      <a:buSzPct val="75000"/>
                      <a:buFont typeface="Wingdings" pitchFamily="2" charset="2"/>
                      <a:buChar char=""/>
                      <a:tabLst>
                        <a:tab pos="795338" algn="ctr"/>
                      </a:tabLst>
                    </a:pPr>
                    <a:r>
                      <a:rPr lang="en-US" sz="2000" b="0" dirty="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 Narrow" pitchFamily="34" charset="0"/>
                      </a:rPr>
                      <a:t>Digital Ctrl Systems</a:t>
                    </a:r>
                  </a:p>
                </p:txBody>
              </p:sp>
            </p:grpSp>
            <p:sp>
              <p:nvSpPr>
                <p:cNvPr id="19" name="Text Box 1031"/>
                <p:cNvSpPr txBox="1">
                  <a:spLocks noChangeArrowheads="1"/>
                </p:cNvSpPr>
                <p:nvPr/>
              </p:nvSpPr>
              <p:spPr bwMode="auto">
                <a:xfrm>
                  <a:off x="720" y="2110"/>
                  <a:ext cx="1008" cy="24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lnSpc>
                      <a:spcPct val="80000"/>
                    </a:lnSpc>
                    <a:spcBef>
                      <a:spcPct val="5000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Times New Roman" pitchFamily="18" charset="0"/>
                      <a:ea typeface="+mn-ea"/>
                      <a:cs typeface="+mn-cs"/>
                    </a:defRPr>
                  </a:lvl1pPr>
                  <a:lvl2pPr marL="457200" algn="l" rtl="0" eaLnBrk="0" fontAlgn="base" hangingPunct="0">
                    <a:lnSpc>
                      <a:spcPct val="80000"/>
                    </a:lnSpc>
                    <a:spcBef>
                      <a:spcPct val="5000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Times New Roman" pitchFamily="18" charset="0"/>
                      <a:ea typeface="+mn-ea"/>
                      <a:cs typeface="+mn-cs"/>
                    </a:defRPr>
                  </a:lvl2pPr>
                  <a:lvl3pPr marL="914400" algn="l" rtl="0" eaLnBrk="0" fontAlgn="base" hangingPunct="0">
                    <a:lnSpc>
                      <a:spcPct val="80000"/>
                    </a:lnSpc>
                    <a:spcBef>
                      <a:spcPct val="5000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Times New Roman" pitchFamily="18" charset="0"/>
                      <a:ea typeface="+mn-ea"/>
                      <a:cs typeface="+mn-cs"/>
                    </a:defRPr>
                  </a:lvl3pPr>
                  <a:lvl4pPr marL="1371600" algn="l" rtl="0" eaLnBrk="0" fontAlgn="base" hangingPunct="0">
                    <a:lnSpc>
                      <a:spcPct val="80000"/>
                    </a:lnSpc>
                    <a:spcBef>
                      <a:spcPct val="5000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Times New Roman" pitchFamily="18" charset="0"/>
                      <a:ea typeface="+mn-ea"/>
                      <a:cs typeface="+mn-cs"/>
                    </a:defRPr>
                  </a:lvl4pPr>
                  <a:lvl5pPr marL="1828800" algn="l" rtl="0" eaLnBrk="0" fontAlgn="base" hangingPunct="0">
                    <a:lnSpc>
                      <a:spcPct val="80000"/>
                    </a:lnSpc>
                    <a:spcBef>
                      <a:spcPct val="5000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Times New Roman" pitchFamily="18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Times New Roman" pitchFamily="18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Times New Roman" pitchFamily="18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Times New Roman" pitchFamily="18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Times New Roman" pitchFamily="18" charset="0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dirty="0">
                      <a:effectLst>
                        <a:outerShdw blurRad="38100" dist="38100" dir="2700000" algn="tl">
                          <a:srgbClr val="000000"/>
                        </a:outerShdw>
                      </a:effectLst>
                    </a:rPr>
                    <a:t>C2000</a:t>
                  </a:r>
                </a:p>
              </p:txBody>
            </p:sp>
          </p:grpSp>
          <p:grpSp>
            <p:nvGrpSpPr>
              <p:cNvPr id="12" name="Group 11"/>
              <p:cNvGrpSpPr>
                <a:grpSpLocks/>
              </p:cNvGrpSpPr>
              <p:nvPr/>
            </p:nvGrpSpPr>
            <p:grpSpPr bwMode="auto">
              <a:xfrm>
                <a:off x="1872" y="1460"/>
                <a:ext cx="1580" cy="2660"/>
                <a:chOff x="2256" y="1248"/>
                <a:chExt cx="1580" cy="2660"/>
              </a:xfrm>
            </p:grpSpPr>
            <p:sp>
              <p:nvSpPr>
                <p:cNvPr id="15" name="Oval 14"/>
                <p:cNvSpPr>
                  <a:spLocks noChangeArrowheads="1"/>
                </p:cNvSpPr>
                <p:nvPr/>
              </p:nvSpPr>
              <p:spPr bwMode="auto">
                <a:xfrm>
                  <a:off x="2544" y="1248"/>
                  <a:ext cx="1008" cy="624"/>
                </a:xfrm>
                <a:prstGeom prst="ellipse">
                  <a:avLst/>
                </a:prstGeom>
                <a:solidFill>
                  <a:srgbClr val="00CC00"/>
                </a:solidFill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defPPr>
                    <a:defRPr lang="en-US"/>
                  </a:defPPr>
                  <a:lvl1pPr algn="l" rtl="0" eaLnBrk="0" fontAlgn="base" hangingPunct="0">
                    <a:lnSpc>
                      <a:spcPct val="80000"/>
                    </a:lnSpc>
                    <a:spcBef>
                      <a:spcPct val="5000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Times New Roman" pitchFamily="18" charset="0"/>
                      <a:ea typeface="+mn-ea"/>
                      <a:cs typeface="+mn-cs"/>
                    </a:defRPr>
                  </a:lvl1pPr>
                  <a:lvl2pPr marL="457200" algn="l" rtl="0" eaLnBrk="0" fontAlgn="base" hangingPunct="0">
                    <a:lnSpc>
                      <a:spcPct val="80000"/>
                    </a:lnSpc>
                    <a:spcBef>
                      <a:spcPct val="5000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Times New Roman" pitchFamily="18" charset="0"/>
                      <a:ea typeface="+mn-ea"/>
                      <a:cs typeface="+mn-cs"/>
                    </a:defRPr>
                  </a:lvl2pPr>
                  <a:lvl3pPr marL="914400" algn="l" rtl="0" eaLnBrk="0" fontAlgn="base" hangingPunct="0">
                    <a:lnSpc>
                      <a:spcPct val="80000"/>
                    </a:lnSpc>
                    <a:spcBef>
                      <a:spcPct val="5000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Times New Roman" pitchFamily="18" charset="0"/>
                      <a:ea typeface="+mn-ea"/>
                      <a:cs typeface="+mn-cs"/>
                    </a:defRPr>
                  </a:lvl3pPr>
                  <a:lvl4pPr marL="1371600" algn="l" rtl="0" eaLnBrk="0" fontAlgn="base" hangingPunct="0">
                    <a:lnSpc>
                      <a:spcPct val="80000"/>
                    </a:lnSpc>
                    <a:spcBef>
                      <a:spcPct val="5000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Times New Roman" pitchFamily="18" charset="0"/>
                      <a:ea typeface="+mn-ea"/>
                      <a:cs typeface="+mn-cs"/>
                    </a:defRPr>
                  </a:lvl4pPr>
                  <a:lvl5pPr marL="1828800" algn="l" rtl="0" eaLnBrk="0" fontAlgn="base" hangingPunct="0">
                    <a:lnSpc>
                      <a:spcPct val="80000"/>
                    </a:lnSpc>
                    <a:spcBef>
                      <a:spcPct val="5000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Times New Roman" pitchFamily="18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Times New Roman" pitchFamily="18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Times New Roman" pitchFamily="18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Times New Roman" pitchFamily="18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Times New Roman" pitchFamily="18" charset="0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16" name="Text Box 1033"/>
                <p:cNvSpPr txBox="1">
                  <a:spLocks noChangeArrowheads="1"/>
                </p:cNvSpPr>
                <p:nvPr/>
              </p:nvSpPr>
              <p:spPr bwMode="auto">
                <a:xfrm>
                  <a:off x="2544" y="1438"/>
                  <a:ext cx="1008" cy="24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lnSpc>
                      <a:spcPct val="80000"/>
                    </a:lnSpc>
                    <a:spcBef>
                      <a:spcPct val="5000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Times New Roman" pitchFamily="18" charset="0"/>
                      <a:ea typeface="+mn-ea"/>
                      <a:cs typeface="+mn-cs"/>
                    </a:defRPr>
                  </a:lvl1pPr>
                  <a:lvl2pPr marL="457200" algn="l" rtl="0" eaLnBrk="0" fontAlgn="base" hangingPunct="0">
                    <a:lnSpc>
                      <a:spcPct val="80000"/>
                    </a:lnSpc>
                    <a:spcBef>
                      <a:spcPct val="5000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Times New Roman" pitchFamily="18" charset="0"/>
                      <a:ea typeface="+mn-ea"/>
                      <a:cs typeface="+mn-cs"/>
                    </a:defRPr>
                  </a:lvl2pPr>
                  <a:lvl3pPr marL="914400" algn="l" rtl="0" eaLnBrk="0" fontAlgn="base" hangingPunct="0">
                    <a:lnSpc>
                      <a:spcPct val="80000"/>
                    </a:lnSpc>
                    <a:spcBef>
                      <a:spcPct val="5000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Times New Roman" pitchFamily="18" charset="0"/>
                      <a:ea typeface="+mn-ea"/>
                      <a:cs typeface="+mn-cs"/>
                    </a:defRPr>
                  </a:lvl3pPr>
                  <a:lvl4pPr marL="1371600" algn="l" rtl="0" eaLnBrk="0" fontAlgn="base" hangingPunct="0">
                    <a:lnSpc>
                      <a:spcPct val="80000"/>
                    </a:lnSpc>
                    <a:spcBef>
                      <a:spcPct val="5000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Times New Roman" pitchFamily="18" charset="0"/>
                      <a:ea typeface="+mn-ea"/>
                      <a:cs typeface="+mn-cs"/>
                    </a:defRPr>
                  </a:lvl4pPr>
                  <a:lvl5pPr marL="1828800" algn="l" rtl="0" eaLnBrk="0" fontAlgn="base" hangingPunct="0">
                    <a:lnSpc>
                      <a:spcPct val="80000"/>
                    </a:lnSpc>
                    <a:spcBef>
                      <a:spcPct val="5000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Times New Roman" pitchFamily="18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Times New Roman" pitchFamily="18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Times New Roman" pitchFamily="18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Times New Roman" pitchFamily="18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Times New Roman" pitchFamily="18" charset="0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>
                      <a:effectLst>
                        <a:outerShdw blurRad="38100" dist="38100" dir="2700000" algn="tl">
                          <a:srgbClr val="000000"/>
                        </a:outerShdw>
                      </a:effectLst>
                    </a:rPr>
                    <a:t>C5000</a:t>
                  </a:r>
                </a:p>
              </p:txBody>
            </p:sp>
            <p:sp>
              <p:nvSpPr>
                <p:cNvPr id="17" name="Rectangle 16"/>
                <p:cNvSpPr>
                  <a:spLocks noChangeArrowheads="1"/>
                </p:cNvSpPr>
                <p:nvPr/>
              </p:nvSpPr>
              <p:spPr bwMode="auto">
                <a:xfrm>
                  <a:off x="2256" y="1968"/>
                  <a:ext cx="1580" cy="1940"/>
                </a:xfrm>
                <a:prstGeom prst="rect">
                  <a:avLst/>
                </a:prstGeom>
                <a:solidFill>
                  <a:schemeClr val="accent1">
                    <a:alpha val="50000"/>
                  </a:scheme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137160" tIns="46038" rIns="137160" bIns="46038" anchorCtr="1">
                  <a:sp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lnSpc>
                      <a:spcPct val="80000"/>
                    </a:lnSpc>
                    <a:spcBef>
                      <a:spcPct val="5000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Times New Roman" pitchFamily="18" charset="0"/>
                      <a:ea typeface="+mn-ea"/>
                      <a:cs typeface="+mn-cs"/>
                    </a:defRPr>
                  </a:lvl1pPr>
                  <a:lvl2pPr marL="457200" algn="l" rtl="0" eaLnBrk="0" fontAlgn="base" hangingPunct="0">
                    <a:lnSpc>
                      <a:spcPct val="80000"/>
                    </a:lnSpc>
                    <a:spcBef>
                      <a:spcPct val="5000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Times New Roman" pitchFamily="18" charset="0"/>
                      <a:ea typeface="+mn-ea"/>
                      <a:cs typeface="+mn-cs"/>
                    </a:defRPr>
                  </a:lvl2pPr>
                  <a:lvl3pPr marL="914400" algn="l" rtl="0" eaLnBrk="0" fontAlgn="base" hangingPunct="0">
                    <a:lnSpc>
                      <a:spcPct val="80000"/>
                    </a:lnSpc>
                    <a:spcBef>
                      <a:spcPct val="5000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Times New Roman" pitchFamily="18" charset="0"/>
                      <a:ea typeface="+mn-ea"/>
                      <a:cs typeface="+mn-cs"/>
                    </a:defRPr>
                  </a:lvl3pPr>
                  <a:lvl4pPr marL="1371600" algn="l" rtl="0" eaLnBrk="0" fontAlgn="base" hangingPunct="0">
                    <a:lnSpc>
                      <a:spcPct val="80000"/>
                    </a:lnSpc>
                    <a:spcBef>
                      <a:spcPct val="5000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Times New Roman" pitchFamily="18" charset="0"/>
                      <a:ea typeface="+mn-ea"/>
                      <a:cs typeface="+mn-cs"/>
                    </a:defRPr>
                  </a:lvl4pPr>
                  <a:lvl5pPr marL="1828800" algn="l" rtl="0" eaLnBrk="0" fontAlgn="base" hangingPunct="0">
                    <a:lnSpc>
                      <a:spcPct val="80000"/>
                    </a:lnSpc>
                    <a:spcBef>
                      <a:spcPct val="5000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Times New Roman" pitchFamily="18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Times New Roman" pitchFamily="18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Times New Roman" pitchFamily="18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Times New Roman" pitchFamily="18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Times New Roman" pitchFamily="18" charset="0"/>
                      <a:ea typeface="+mn-ea"/>
                      <a:cs typeface="+mn-cs"/>
                    </a:defRPr>
                  </a:lvl9pPr>
                </a:lstStyle>
                <a:p>
                  <a:pPr marL="233363" indent="-233363">
                    <a:lnSpc>
                      <a:spcPct val="100000"/>
                    </a:lnSpc>
                    <a:spcBef>
                      <a:spcPct val="0"/>
                    </a:spcBef>
                    <a:buClr>
                      <a:schemeClr val="tx2"/>
                    </a:buClr>
                    <a:buSzPct val="75000"/>
                    <a:buFont typeface="Wingdings" pitchFamily="2" charset="2"/>
                    <a:buNone/>
                    <a:tabLst>
                      <a:tab pos="1030288" algn="ctr"/>
                    </a:tabLst>
                  </a:pPr>
                  <a:r>
                    <a:rPr lang="en-US" sz="2800">
                      <a:solidFill>
                        <a:schemeClr val="tx2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" charset="0"/>
                    </a:rPr>
                    <a:t>  </a:t>
                  </a:r>
                  <a:r>
                    <a:rPr lang="en-US" sz="2800" u="sng">
                      <a:solidFill>
                        <a:schemeClr val="tx2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" charset="0"/>
                    </a:rPr>
                    <a:t>Efficiency</a:t>
                  </a:r>
                  <a:endParaRPr lang="en-US" sz="2000"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" charset="0"/>
                  </a:endParaRPr>
                </a:p>
                <a:p>
                  <a:pPr marL="233363" indent="-233363">
                    <a:lnSpc>
                      <a:spcPct val="100000"/>
                    </a:lnSpc>
                    <a:spcBef>
                      <a:spcPct val="0"/>
                    </a:spcBef>
                    <a:buClr>
                      <a:schemeClr val="tx2"/>
                    </a:buClr>
                    <a:buSzPct val="75000"/>
                    <a:buFont typeface="Wingdings" pitchFamily="2" charset="2"/>
                    <a:buNone/>
                    <a:tabLst>
                      <a:tab pos="1030288" algn="ctr"/>
                    </a:tabLst>
                  </a:pPr>
                  <a:endParaRPr lang="en-US" sz="800"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" charset="0"/>
                  </a:endParaRPr>
                </a:p>
                <a:p>
                  <a:pPr marL="233363" indent="-233363">
                    <a:lnSpc>
                      <a:spcPct val="100000"/>
                    </a:lnSpc>
                    <a:spcBef>
                      <a:spcPct val="0"/>
                    </a:spcBef>
                    <a:buClr>
                      <a:schemeClr val="tx2"/>
                    </a:buClr>
                    <a:buSzPct val="75000"/>
                    <a:buFont typeface="Wingdings" pitchFamily="2" charset="2"/>
                    <a:buNone/>
                    <a:tabLst>
                      <a:tab pos="1030288" algn="ctr"/>
                    </a:tabLst>
                  </a:pPr>
                  <a:r>
                    <a:rPr lang="en-US" sz="2000">
                      <a:solidFill>
                        <a:schemeClr val="tx2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" charset="0"/>
                    </a:rPr>
                    <a:t>   Best MIPS per</a:t>
                  </a:r>
                </a:p>
                <a:p>
                  <a:pPr marL="233363" indent="-233363">
                    <a:lnSpc>
                      <a:spcPct val="100000"/>
                    </a:lnSpc>
                    <a:spcBef>
                      <a:spcPct val="0"/>
                    </a:spcBef>
                    <a:buClr>
                      <a:schemeClr val="tx2"/>
                    </a:buClr>
                    <a:buSzPct val="75000"/>
                    <a:buFont typeface="Wingdings" pitchFamily="2" charset="2"/>
                    <a:buNone/>
                    <a:tabLst>
                      <a:tab pos="1030288" algn="ctr"/>
                    </a:tabLst>
                  </a:pPr>
                  <a:r>
                    <a:rPr lang="en-US" sz="2000">
                      <a:solidFill>
                        <a:schemeClr val="tx2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" charset="0"/>
                    </a:rPr>
                    <a:t>Watt / Dollar / Size</a:t>
                  </a:r>
                  <a:endParaRPr lang="en-US" sz="20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" charset="0"/>
                  </a:endParaRPr>
                </a:p>
                <a:p>
                  <a:pPr marL="233363" indent="-233363">
                    <a:lnSpc>
                      <a:spcPct val="100000"/>
                    </a:lnSpc>
                    <a:spcBef>
                      <a:spcPct val="0"/>
                    </a:spcBef>
                    <a:buClr>
                      <a:schemeClr val="tx2"/>
                    </a:buClr>
                    <a:buSzPct val="75000"/>
                    <a:buFont typeface="Wingdings" pitchFamily="2" charset="2"/>
                    <a:buChar char=""/>
                    <a:tabLst>
                      <a:tab pos="1030288" algn="ctr"/>
                    </a:tabLst>
                  </a:pPr>
                  <a:r>
                    <a:rPr lang="en-US" sz="2000" b="0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 Narrow" pitchFamily="34" charset="0"/>
                    </a:rPr>
                    <a:t>Wireless phones</a:t>
                  </a:r>
                </a:p>
                <a:p>
                  <a:pPr marL="233363" indent="-233363">
                    <a:lnSpc>
                      <a:spcPct val="100000"/>
                    </a:lnSpc>
                    <a:spcBef>
                      <a:spcPct val="0"/>
                    </a:spcBef>
                    <a:buClr>
                      <a:schemeClr val="tx2"/>
                    </a:buClr>
                    <a:buSzPct val="75000"/>
                    <a:buFont typeface="Wingdings" pitchFamily="2" charset="2"/>
                    <a:buChar char=""/>
                    <a:tabLst>
                      <a:tab pos="1030288" algn="ctr"/>
                    </a:tabLst>
                  </a:pPr>
                  <a:r>
                    <a:rPr lang="en-US" sz="2000" b="0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 Narrow" pitchFamily="34" charset="0"/>
                    </a:rPr>
                    <a:t>Internet audio players</a:t>
                  </a:r>
                </a:p>
                <a:p>
                  <a:pPr marL="233363" indent="-233363">
                    <a:lnSpc>
                      <a:spcPct val="100000"/>
                    </a:lnSpc>
                    <a:spcBef>
                      <a:spcPct val="0"/>
                    </a:spcBef>
                    <a:buClr>
                      <a:schemeClr val="tx2"/>
                    </a:buClr>
                    <a:buSzPct val="75000"/>
                    <a:buFont typeface="Wingdings" pitchFamily="2" charset="2"/>
                    <a:buChar char=""/>
                    <a:tabLst>
                      <a:tab pos="1030288" algn="ctr"/>
                    </a:tabLst>
                  </a:pPr>
                  <a:r>
                    <a:rPr lang="en-US" sz="2000" b="0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 Narrow" pitchFamily="34" charset="0"/>
                    </a:rPr>
                    <a:t>Digital still cameras </a:t>
                  </a:r>
                </a:p>
                <a:p>
                  <a:pPr marL="233363" indent="-233363">
                    <a:lnSpc>
                      <a:spcPct val="100000"/>
                    </a:lnSpc>
                    <a:spcBef>
                      <a:spcPct val="0"/>
                    </a:spcBef>
                    <a:buClr>
                      <a:schemeClr val="tx2"/>
                    </a:buClr>
                    <a:buSzPct val="75000"/>
                    <a:buFont typeface="Wingdings" pitchFamily="2" charset="2"/>
                    <a:buChar char=""/>
                    <a:tabLst>
                      <a:tab pos="1030288" algn="ctr"/>
                    </a:tabLst>
                  </a:pPr>
                  <a:r>
                    <a:rPr lang="en-US" sz="2000" b="0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 Narrow" pitchFamily="34" charset="0"/>
                    </a:rPr>
                    <a:t>Modems</a:t>
                  </a:r>
                </a:p>
                <a:p>
                  <a:pPr marL="233363" indent="-233363">
                    <a:lnSpc>
                      <a:spcPct val="100000"/>
                    </a:lnSpc>
                    <a:spcBef>
                      <a:spcPct val="0"/>
                    </a:spcBef>
                    <a:buClr>
                      <a:schemeClr val="tx2"/>
                    </a:buClr>
                    <a:buSzPct val="75000"/>
                    <a:buFont typeface="Wingdings" pitchFamily="2" charset="2"/>
                    <a:buChar char=""/>
                    <a:tabLst>
                      <a:tab pos="1030288" algn="ctr"/>
                    </a:tabLst>
                  </a:pPr>
                  <a:r>
                    <a:rPr lang="en-US" sz="2000" b="0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 Narrow" pitchFamily="34" charset="0"/>
                    </a:rPr>
                    <a:t>Telephony</a:t>
                  </a:r>
                </a:p>
                <a:p>
                  <a:pPr marL="233363" indent="-233363">
                    <a:lnSpc>
                      <a:spcPct val="100000"/>
                    </a:lnSpc>
                    <a:spcBef>
                      <a:spcPct val="0"/>
                    </a:spcBef>
                    <a:buClr>
                      <a:schemeClr val="tx2"/>
                    </a:buClr>
                    <a:buSzPct val="75000"/>
                    <a:buFont typeface="Wingdings" pitchFamily="2" charset="2"/>
                    <a:buChar char=""/>
                    <a:tabLst>
                      <a:tab pos="1030288" algn="ctr"/>
                    </a:tabLst>
                  </a:pPr>
                  <a:r>
                    <a:rPr lang="en-US" sz="2000" b="0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Arial Narrow" pitchFamily="34" charset="0"/>
                    </a:rPr>
                    <a:t>VoIP</a:t>
                  </a:r>
                </a:p>
              </p:txBody>
            </p:sp>
          </p:grpSp>
          <p:sp>
            <p:nvSpPr>
              <p:cNvPr id="13" name="Oval 12"/>
              <p:cNvSpPr>
                <a:spLocks noChangeArrowheads="1"/>
              </p:cNvSpPr>
              <p:nvPr/>
            </p:nvSpPr>
            <p:spPr bwMode="auto">
              <a:xfrm>
                <a:off x="4080" y="1440"/>
                <a:ext cx="1008" cy="624"/>
              </a:xfrm>
              <a:prstGeom prst="ellipse">
                <a:avLst/>
              </a:prstGeom>
              <a:solidFill>
                <a:srgbClr val="4571FF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14" name="Text Box 1035"/>
              <p:cNvSpPr txBox="1">
                <a:spLocks noChangeArrowheads="1"/>
              </p:cNvSpPr>
              <p:nvPr/>
            </p:nvSpPr>
            <p:spPr bwMode="auto">
              <a:xfrm>
                <a:off x="4080" y="1630"/>
                <a:ext cx="1008" cy="2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C6000</a:t>
                </a:r>
              </a:p>
            </p:txBody>
          </p:sp>
        </p:grpSp>
        <p:grpSp>
          <p:nvGrpSpPr>
            <p:cNvPr id="8" name="Group 7"/>
            <p:cNvGrpSpPr>
              <a:grpSpLocks/>
            </p:cNvGrpSpPr>
            <p:nvPr/>
          </p:nvGrpSpPr>
          <p:grpSpPr bwMode="auto">
            <a:xfrm>
              <a:off x="3600" y="2112"/>
              <a:ext cx="2016" cy="2228"/>
              <a:chOff x="3600" y="1996"/>
              <a:chExt cx="2016" cy="2228"/>
            </a:xfrm>
          </p:grpSpPr>
          <p:sp>
            <p:nvSpPr>
              <p:cNvPr id="9" name="Rectangle 8"/>
              <p:cNvSpPr>
                <a:spLocks noChangeArrowheads="1"/>
              </p:cNvSpPr>
              <p:nvPr/>
            </p:nvSpPr>
            <p:spPr bwMode="auto">
              <a:xfrm>
                <a:off x="3600" y="2572"/>
                <a:ext cx="2016" cy="1652"/>
              </a:xfrm>
              <a:prstGeom prst="rect">
                <a:avLst/>
              </a:prstGeom>
              <a:solidFill>
                <a:srgbClr val="4571FF">
                  <a:alpha val="50000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91440" rIns="92075" bIns="91440" anchorCtr="1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  <a:ea typeface="+mn-ea"/>
                    <a:cs typeface="+mn-cs"/>
                  </a:defRPr>
                </a:lvl9pPr>
              </a:lstStyle>
              <a:p>
                <a:pPr marL="233363" indent="-233363">
                  <a:lnSpc>
                    <a:spcPct val="100000"/>
                  </a:lnSpc>
                  <a:spcBef>
                    <a:spcPct val="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"/>
                </a:pPr>
                <a:r>
                  <a:rPr lang="en-US" sz="2000"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" charset="0"/>
                  </a:rPr>
                  <a:t>Multi Channel and Multi Function App's</a:t>
                </a:r>
                <a:endParaRPr lang="en-US" sz="2000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endParaRPr>
              </a:p>
              <a:p>
                <a:pPr marL="233363" indent="-233363">
                  <a:lnSpc>
                    <a:spcPct val="100000"/>
                  </a:lnSpc>
                  <a:spcBef>
                    <a:spcPct val="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"/>
                </a:pPr>
                <a:r>
                  <a:rPr lang="en-US" sz="2000" b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" charset="0"/>
                  </a:rPr>
                  <a:t>Comm Infrastructure</a:t>
                </a:r>
              </a:p>
              <a:p>
                <a:pPr marL="233363" indent="-233363">
                  <a:lnSpc>
                    <a:spcPct val="100000"/>
                  </a:lnSpc>
                  <a:spcBef>
                    <a:spcPct val="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"/>
                </a:pPr>
                <a:r>
                  <a:rPr lang="en-US" sz="2000" b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" charset="0"/>
                  </a:rPr>
                  <a:t>Wireless Base-stations</a:t>
                </a:r>
              </a:p>
              <a:p>
                <a:pPr marL="233363" indent="-233363">
                  <a:lnSpc>
                    <a:spcPct val="100000"/>
                  </a:lnSpc>
                  <a:spcBef>
                    <a:spcPct val="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"/>
                </a:pPr>
                <a:r>
                  <a:rPr lang="en-US" sz="2000" b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" charset="0"/>
                  </a:rPr>
                  <a:t>DSL</a:t>
                </a:r>
              </a:p>
              <a:p>
                <a:pPr marL="233363" indent="-233363">
                  <a:lnSpc>
                    <a:spcPct val="100000"/>
                  </a:lnSpc>
                  <a:spcBef>
                    <a:spcPct val="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"/>
                </a:pPr>
                <a:r>
                  <a:rPr lang="en-US" sz="2000" b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" charset="0"/>
                  </a:rPr>
                  <a:t>Imaging</a:t>
                </a:r>
              </a:p>
              <a:p>
                <a:pPr marL="233363" indent="-233363">
                  <a:lnSpc>
                    <a:spcPct val="100000"/>
                  </a:lnSpc>
                  <a:spcBef>
                    <a:spcPct val="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"/>
                </a:pPr>
                <a:r>
                  <a:rPr lang="en-US" sz="2000" b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" charset="0"/>
                  </a:rPr>
                  <a:t>Multi-media Servers</a:t>
                </a:r>
              </a:p>
              <a:p>
                <a:pPr marL="233363" indent="-233363">
                  <a:lnSpc>
                    <a:spcPct val="100000"/>
                  </a:lnSpc>
                  <a:spcBef>
                    <a:spcPct val="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Char char=""/>
                </a:pPr>
                <a:r>
                  <a:rPr lang="en-US" sz="2000" b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" charset="0"/>
                  </a:rPr>
                  <a:t>Video</a:t>
                </a:r>
              </a:p>
            </p:txBody>
          </p:sp>
          <p:sp>
            <p:nvSpPr>
              <p:cNvPr id="10" name="Rectangle 9"/>
              <p:cNvSpPr>
                <a:spLocks noChangeArrowheads="1"/>
              </p:cNvSpPr>
              <p:nvPr/>
            </p:nvSpPr>
            <p:spPr bwMode="auto">
              <a:xfrm>
                <a:off x="3600" y="1996"/>
                <a:ext cx="2016" cy="627"/>
              </a:xfrm>
              <a:prstGeom prst="rect">
                <a:avLst/>
              </a:prstGeom>
              <a:solidFill>
                <a:srgbClr val="0066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91440" rIns="92075" bIns="91440" anchorCtr="1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None/>
                  <a:tabLst>
                    <a:tab pos="1373188" algn="ctr"/>
                  </a:tabLst>
                </a:pPr>
                <a:r>
                  <a:rPr lang="en-US" sz="2800" u="sng"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" charset="0"/>
                  </a:rPr>
                  <a:t>Performance</a:t>
                </a:r>
                <a:r>
                  <a:rPr lang="en-US" sz="2800"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" charset="0"/>
                  </a:rPr>
                  <a:t> &amp;</a:t>
                </a:r>
              </a:p>
              <a:p>
                <a:pPr>
                  <a:lnSpc>
                    <a:spcPct val="90000"/>
                  </a:lnSpc>
                  <a:spcBef>
                    <a:spcPct val="0"/>
                  </a:spcBef>
                  <a:buClr>
                    <a:schemeClr val="tx2"/>
                  </a:buClr>
                  <a:buSzPct val="75000"/>
                  <a:buFont typeface="Wingdings" pitchFamily="2" charset="2"/>
                  <a:buNone/>
                  <a:tabLst>
                    <a:tab pos="1373188" algn="ctr"/>
                  </a:tabLst>
                </a:pPr>
                <a:r>
                  <a:rPr lang="en-US" sz="2800"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" charset="0"/>
                  </a:rPr>
                  <a:t>Best </a:t>
                </a:r>
                <a:r>
                  <a:rPr lang="en-US" sz="2800" u="sng"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" charset="0"/>
                  </a:rPr>
                  <a:t>Ease-of-Use</a:t>
                </a:r>
                <a:endParaRPr lang="en-US" sz="2800">
                  <a:solidFill>
                    <a:schemeClr val="tx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endParaRP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TMS320C6713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TMS320C6713</a:t>
            </a:r>
          </a:p>
          <a:p>
            <a:pPr lvl="1"/>
            <a:r>
              <a:rPr lang="en-US" dirty="0" smtClean="0"/>
              <a:t>Very-long-instruction-word (VLIW) architecture</a:t>
            </a:r>
          </a:p>
          <a:p>
            <a:pPr lvl="2"/>
            <a:r>
              <a:rPr lang="en-US" dirty="0" smtClean="0"/>
              <a:t>Suited for numerically intensive algorithms.</a:t>
            </a:r>
          </a:p>
          <a:p>
            <a:pPr lvl="1"/>
            <a:r>
              <a:rPr lang="en-US" dirty="0" smtClean="0"/>
              <a:t>8 instructions can be fetched per clock cycle</a:t>
            </a:r>
          </a:p>
          <a:p>
            <a:pPr lvl="2"/>
            <a:r>
              <a:rPr lang="en-US" dirty="0" smtClean="0"/>
              <a:t>E.g. clock rate 225 MHz, clock period = 1/225 MHz = 4.44 ns</a:t>
            </a:r>
          </a:p>
          <a:p>
            <a:pPr lvl="2"/>
            <a:r>
              <a:rPr lang="en-US" dirty="0" smtClean="0"/>
              <a:t>8 instructions can be fetched every 4.44 ns.</a:t>
            </a:r>
          </a:p>
          <a:p>
            <a:pPr lvl="1"/>
            <a:r>
              <a:rPr lang="en-US" dirty="0" smtClean="0"/>
              <a:t>264 KB internal memory.</a:t>
            </a:r>
          </a:p>
          <a:p>
            <a:pPr lvl="1"/>
            <a:r>
              <a:rPr lang="en-US" dirty="0" smtClean="0"/>
              <a:t>6 Arithmetic and logic units (ALUs)</a:t>
            </a:r>
          </a:p>
          <a:p>
            <a:pPr lvl="1"/>
            <a:r>
              <a:rPr lang="en-US" dirty="0" smtClean="0"/>
              <a:t>2 multiplier units</a:t>
            </a:r>
          </a:p>
          <a:p>
            <a:pPr lvl="1"/>
            <a:r>
              <a:rPr lang="en-US" dirty="0" smtClean="0"/>
              <a:t>32 bit address bus (up to 4 GB memory)</a:t>
            </a:r>
          </a:p>
          <a:p>
            <a:pPr lvl="1"/>
            <a:r>
              <a:rPr lang="en-US" dirty="0" smtClean="0"/>
              <a:t>2 sets of 32-bit registers</a:t>
            </a:r>
          </a:p>
          <a:p>
            <a:pPr lvl="1"/>
            <a:r>
              <a:rPr lang="en-US" dirty="0" smtClean="0"/>
              <a:t>Capable of both fixed point and floating point processing.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7</a:t>
            </a:fld>
            <a:endParaRPr lang="en-US" altLang="zh-CN" dirty="0" smtClean="0"/>
          </a:p>
        </p:txBody>
      </p:sp>
      <p:pic>
        <p:nvPicPr>
          <p:cNvPr id="5017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39000" y="2819400"/>
            <a:ext cx="1295400" cy="13015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018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86600" y="4267200"/>
            <a:ext cx="1704975" cy="17987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TMS320C6713 DSK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TMS320C6713 DSK</a:t>
            </a:r>
          </a:p>
          <a:p>
            <a:pPr lvl="1"/>
            <a:r>
              <a:rPr lang="en-US" dirty="0" smtClean="0"/>
              <a:t>a low-cost development platform designed to speed the development of applications based on TI´s TMS320C6713 DSP</a:t>
            </a:r>
          </a:p>
          <a:p>
            <a:pPr lvl="1"/>
            <a:r>
              <a:rPr lang="en-US" dirty="0" smtClean="0"/>
              <a:t>512K Flash and 16MB SDRAM</a:t>
            </a:r>
          </a:p>
          <a:p>
            <a:pPr lvl="1"/>
            <a:r>
              <a:rPr lang="en-US" dirty="0" smtClean="0"/>
              <a:t>DSP operating at 225 MHz</a:t>
            </a:r>
          </a:p>
          <a:p>
            <a:pPr lvl="1"/>
            <a:r>
              <a:rPr lang="en-US" dirty="0" smtClean="0"/>
              <a:t>An AIC32 stereo codec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8</a:t>
            </a:fld>
            <a:endParaRPr lang="en-US" altLang="zh-CN" dirty="0" smtClean="0"/>
          </a:p>
        </p:txBody>
      </p:sp>
      <p:pic>
        <p:nvPicPr>
          <p:cNvPr id="5120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4400" y="2838450"/>
            <a:ext cx="7162800" cy="4019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4800600" y="2514600"/>
            <a:ext cx="4245714" cy="369332"/>
          </a:xfrm>
          <a:prstGeom prst="rect">
            <a:avLst/>
          </a:prstGeom>
          <a:noFill/>
          <a:ln w="12700">
            <a:noFill/>
          </a:ln>
        </p:spPr>
        <p:txBody>
          <a:bodyPr wrap="none" rtlCol="0">
            <a:spAutoFit/>
          </a:bodyPr>
          <a:lstStyle/>
          <a:p>
            <a:r>
              <a:rPr lang="en-US" dirty="0" err="1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McBSP</a:t>
            </a:r>
            <a:r>
              <a:rPr lang="en-US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: Multi-channel buffered serial ports</a:t>
            </a:r>
            <a:endParaRPr lang="en-US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778702" y="2133600"/>
            <a:ext cx="44678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CPLD: Complex Programmable Logic Device</a:t>
            </a:r>
            <a:endParaRPr lang="en-US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DEVELOPMENT ENVIROMENT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2000"/>
            <a:ext cx="8877300" cy="5676900"/>
          </a:xfrm>
        </p:spPr>
        <p:txBody>
          <a:bodyPr>
            <a:normAutofit/>
          </a:bodyPr>
          <a:lstStyle/>
          <a:p>
            <a:r>
              <a:rPr lang="en-US" dirty="0" smtClean="0"/>
              <a:t>Getting started:</a:t>
            </a:r>
          </a:p>
          <a:p>
            <a:pPr lvl="1"/>
            <a:r>
              <a:rPr lang="en-US" dirty="0" smtClean="0"/>
              <a:t>1. launch windows XP mode</a:t>
            </a:r>
          </a:p>
          <a:p>
            <a:pPr lvl="1">
              <a:buNone/>
            </a:pPr>
            <a:r>
              <a:rPr lang="en-US" dirty="0" smtClean="0"/>
              <a:t>	Start </a:t>
            </a:r>
            <a:r>
              <a:rPr lang="en-US" dirty="0" smtClean="0">
                <a:sym typeface="Wingdings" pitchFamily="2" charset="2"/>
              </a:rPr>
              <a:t> </a:t>
            </a:r>
            <a:r>
              <a:rPr lang="en-US" dirty="0" smtClean="0">
                <a:sym typeface="Wingdings" pitchFamily="2" charset="2"/>
              </a:rPr>
              <a:t>Computer </a:t>
            </a:r>
            <a:r>
              <a:rPr lang="en-US" dirty="0" smtClean="0">
                <a:sym typeface="Wingdings" pitchFamily="2" charset="2"/>
              </a:rPr>
              <a:t>windows </a:t>
            </a:r>
            <a:r>
              <a:rPr lang="en-US" dirty="0" smtClean="0">
                <a:sym typeface="Wingdings" pitchFamily="2" charset="2"/>
              </a:rPr>
              <a:t>(C:)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 err="1">
                <a:sym typeface="Wingdings" pitchFamily="2" charset="2"/>
              </a:rPr>
              <a:t>VMz</a:t>
            </a:r>
            <a:r>
              <a:rPr lang="en-US" dirty="0">
                <a:sym typeface="Wingdings" pitchFamily="2" charset="2"/>
              </a:rPr>
              <a:t>  </a:t>
            </a:r>
            <a:r>
              <a:rPr lang="en-US" dirty="0" err="1" smtClean="0">
                <a:sym typeface="Wingdings" pitchFamily="2" charset="2"/>
              </a:rPr>
              <a:t>Code_Composer_xp</a:t>
            </a:r>
            <a:r>
              <a:rPr lang="en-US" dirty="0">
                <a:sym typeface="Wingdings" pitchFamily="2" charset="2"/>
              </a:rPr>
              <a:t>  </a:t>
            </a:r>
            <a:r>
              <a:rPr lang="en-US" dirty="0" smtClean="0">
                <a:sym typeface="Wingdings" pitchFamily="2" charset="2"/>
              </a:rPr>
              <a:t>windows XP Mode</a:t>
            </a:r>
          </a:p>
          <a:p>
            <a:pPr lvl="1">
              <a:buNone/>
            </a:pPr>
            <a:r>
              <a:rPr lang="en-US" dirty="0" smtClean="0">
                <a:sym typeface="Wingdings" pitchFamily="2" charset="2"/>
              </a:rPr>
              <a:t>  </a:t>
            </a:r>
          </a:p>
          <a:p>
            <a:pPr lvl="1">
              <a:buNone/>
            </a:pPr>
            <a:endParaRPr lang="en-US" dirty="0">
              <a:sym typeface="Wingdings" pitchFamily="2" charset="2"/>
            </a:endParaRPr>
          </a:p>
          <a:p>
            <a:pPr lvl="1">
              <a:buNone/>
            </a:pPr>
            <a:endParaRPr lang="en-US" dirty="0" smtClean="0">
              <a:sym typeface="Wingdings" pitchFamily="2" charset="2"/>
            </a:endParaRPr>
          </a:p>
          <a:p>
            <a:pPr lvl="1">
              <a:buNone/>
            </a:pPr>
            <a:endParaRPr lang="en-US" dirty="0">
              <a:sym typeface="Wingdings" pitchFamily="2" charset="2"/>
            </a:endParaRPr>
          </a:p>
          <a:p>
            <a:pPr lvl="1">
              <a:buNone/>
            </a:pPr>
            <a:endParaRPr lang="en-US" dirty="0" smtClean="0">
              <a:sym typeface="Wingdings" pitchFamily="2" charset="2"/>
            </a:endParaRPr>
          </a:p>
          <a:p>
            <a:pPr lvl="1">
              <a:buNone/>
            </a:pPr>
            <a:endParaRPr lang="en-US" dirty="0">
              <a:sym typeface="Wingdings" pitchFamily="2" charset="2"/>
            </a:endParaRPr>
          </a:p>
          <a:p>
            <a:pPr lvl="1">
              <a:buNone/>
            </a:pPr>
            <a:endParaRPr lang="en-US" dirty="0" smtClean="0">
              <a:sym typeface="Wingdings" pitchFamily="2" charset="2"/>
            </a:endParaRPr>
          </a:p>
          <a:p>
            <a:pPr lvl="1">
              <a:buNone/>
            </a:pPr>
            <a:endParaRPr lang="en-US" dirty="0">
              <a:sym typeface="Wingdings" pitchFamily="2" charset="2"/>
            </a:endParaRPr>
          </a:p>
          <a:p>
            <a:pPr lvl="1">
              <a:buNone/>
            </a:pPr>
            <a:endParaRPr lang="en-US" dirty="0" smtClean="0">
              <a:sym typeface="Wingdings" pitchFamily="2" charset="2"/>
            </a:endParaRPr>
          </a:p>
          <a:p>
            <a:pPr lvl="1"/>
            <a:r>
              <a:rPr lang="en-US" dirty="0" smtClean="0"/>
              <a:t>2. plug the DSK to PC through USB port, power DSK on.</a:t>
            </a:r>
          </a:p>
          <a:p>
            <a:pPr lvl="1"/>
            <a:endParaRPr lang="en-US" dirty="0" smtClean="0"/>
          </a:p>
          <a:p>
            <a:pPr lvl="1"/>
            <a:endParaRPr lang="en-US" dirty="0" smtClean="0">
              <a:sym typeface="Wingdings" pitchFamily="2" charset="2"/>
            </a:endParaRPr>
          </a:p>
          <a:p>
            <a:pPr lvl="1">
              <a:buNone/>
            </a:pPr>
            <a:endParaRPr lang="en-US" dirty="0" smtClean="0">
              <a:sym typeface="Wingdings" pitchFamily="2" charset="2"/>
            </a:endParaRPr>
          </a:p>
          <a:p>
            <a:pPr lvl="1">
              <a:buNone/>
            </a:pPr>
            <a:endParaRPr lang="en-US" dirty="0" smtClean="0"/>
          </a:p>
          <a:p>
            <a:pPr lvl="1">
              <a:buNone/>
            </a:pPr>
            <a:endParaRPr lang="en-US" dirty="0" smtClean="0">
              <a:sym typeface="Wingdings" pitchFamily="2" charset="2"/>
            </a:endParaRP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9</a:t>
            </a:fld>
            <a:endParaRPr lang="en-US" altLang="zh-CN" dirty="0" smtClean="0"/>
          </a:p>
        </p:txBody>
      </p:sp>
      <p:pic>
        <p:nvPicPr>
          <p:cNvPr id="11" name="Picture 10"/>
          <p:cNvPicPr/>
          <p:nvPr/>
        </p:nvPicPr>
        <p:blipFill>
          <a:blip r:embed="rId2"/>
          <a:stretch>
            <a:fillRect/>
          </a:stretch>
        </p:blipFill>
        <p:spPr>
          <a:xfrm>
            <a:off x="1777426" y="1981200"/>
            <a:ext cx="4129088" cy="29378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DEVELOPMENT </a:t>
            </a:r>
            <a:r>
              <a:rPr lang="en-US" dirty="0" smtClean="0"/>
              <a:t>ENVIROMENT (cont’d)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2000"/>
            <a:ext cx="8877300" cy="5676900"/>
          </a:xfrm>
        </p:spPr>
        <p:txBody>
          <a:bodyPr/>
          <a:lstStyle/>
          <a:p>
            <a:r>
              <a:rPr lang="en-US" dirty="0" smtClean="0"/>
              <a:t>Getting started:</a:t>
            </a:r>
          </a:p>
          <a:p>
            <a:pPr lvl="1"/>
            <a:r>
              <a:rPr lang="en-US" dirty="0" smtClean="0"/>
              <a:t>3</a:t>
            </a:r>
            <a:r>
              <a:rPr lang="en-US" dirty="0" smtClean="0"/>
              <a:t>. in Windows XP mode, USB </a:t>
            </a:r>
            <a:r>
              <a:rPr lang="en-US" dirty="0" smtClean="0">
                <a:sym typeface="Wingdings" pitchFamily="2" charset="2"/>
              </a:rPr>
              <a:t> TMS320C6713DSK Attach</a:t>
            </a:r>
          </a:p>
          <a:p>
            <a:pPr lvl="1"/>
            <a:r>
              <a:rPr lang="en-US" dirty="0" smtClean="0">
                <a:sym typeface="Wingdings" pitchFamily="2" charset="2"/>
              </a:rPr>
              <a:t>4. on Windows XP mode desktop, launch</a:t>
            </a:r>
          </a:p>
          <a:p>
            <a:pPr lvl="1">
              <a:buNone/>
            </a:pPr>
            <a:r>
              <a:rPr lang="en-US" dirty="0" smtClean="0">
                <a:sym typeface="Wingdings" pitchFamily="2" charset="2"/>
              </a:rPr>
              <a:t>		6713DSK </a:t>
            </a:r>
            <a:r>
              <a:rPr lang="en-US" dirty="0" err="1" smtClean="0">
                <a:sym typeface="Wingdings" pitchFamily="2" charset="2"/>
              </a:rPr>
              <a:t>CCStudio</a:t>
            </a:r>
            <a:r>
              <a:rPr lang="en-US" dirty="0" smtClean="0">
                <a:sym typeface="Wingdings" pitchFamily="2" charset="2"/>
              </a:rPr>
              <a:t> V3.1</a:t>
            </a:r>
          </a:p>
          <a:p>
            <a:pPr lvl="1"/>
            <a:r>
              <a:rPr lang="en-US" dirty="0" smtClean="0">
                <a:sym typeface="Wingdings" pitchFamily="2" charset="2"/>
              </a:rPr>
              <a:t>5. If a “Waiting for USB enumeration” dialog box show up,</a:t>
            </a:r>
          </a:p>
          <a:p>
            <a:pPr lvl="1">
              <a:buNone/>
            </a:pPr>
            <a:r>
              <a:rPr lang="en-US" dirty="0" smtClean="0">
                <a:sym typeface="Wingdings" pitchFamily="2" charset="2"/>
              </a:rPr>
              <a:t>		repeat step 3. </a:t>
            </a:r>
          </a:p>
          <a:p>
            <a:pPr lvl="1"/>
            <a:r>
              <a:rPr lang="en-US" dirty="0" smtClean="0">
                <a:sym typeface="Wingdings" pitchFamily="2" charset="2"/>
              </a:rPr>
              <a:t>6. In CC Studio 3.1, Debug  Connect. If successful, </a:t>
            </a:r>
          </a:p>
          <a:p>
            <a:pPr lvl="1">
              <a:buNone/>
            </a:pPr>
            <a:r>
              <a:rPr lang="en-US" dirty="0" smtClean="0">
                <a:sym typeface="Wingdings" pitchFamily="2" charset="2"/>
              </a:rPr>
              <a:t>	the left lower corner of CC Studio 3.1 should be changed from           to </a:t>
            </a:r>
          </a:p>
          <a:p>
            <a:pPr marL="457200" lvl="1" indent="0">
              <a:buNone/>
            </a:pPr>
            <a:endParaRPr lang="en-US" dirty="0" smtClean="0">
              <a:sym typeface="Wingdings" pitchFamily="2" charset="2"/>
            </a:endParaRPr>
          </a:p>
          <a:p>
            <a:pPr lvl="1"/>
            <a:r>
              <a:rPr lang="en-US" dirty="0" smtClean="0">
                <a:sym typeface="Wingdings" pitchFamily="2" charset="2"/>
              </a:rPr>
              <a:t>If any of the above step does not work, try to unplug DSK, shut down Windows XP mode, and try steps 1 – 6 again.</a:t>
            </a:r>
          </a:p>
          <a:p>
            <a:pPr lvl="1">
              <a:buNone/>
            </a:pPr>
            <a:endParaRPr lang="en-US" dirty="0" smtClean="0">
              <a:sym typeface="Wingdings" pitchFamily="2" charset="2"/>
            </a:endParaRPr>
          </a:p>
          <a:p>
            <a:pPr lvl="1">
              <a:buNone/>
            </a:pPr>
            <a:endParaRPr lang="en-US" dirty="0" smtClean="0"/>
          </a:p>
          <a:p>
            <a:pPr lvl="1">
              <a:buNone/>
            </a:pPr>
            <a:endParaRPr lang="en-US" dirty="0" smtClean="0">
              <a:sym typeface="Wingdings" pitchFamily="2" charset="2"/>
            </a:endParaRP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10</a:t>
            </a:fld>
            <a:endParaRPr lang="en-US" altLang="zh-CN" dirty="0" smtClean="0"/>
          </a:p>
        </p:txBody>
      </p:sp>
      <p:pic>
        <p:nvPicPr>
          <p:cNvPr id="522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71238" y="1218267"/>
            <a:ext cx="2247900" cy="18040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9" name="Straight Arrow Connector 8"/>
          <p:cNvCxnSpPr/>
          <p:nvPr/>
        </p:nvCxnSpPr>
        <p:spPr>
          <a:xfrm>
            <a:off x="6557798" y="1358278"/>
            <a:ext cx="685800" cy="381000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3596938" y="2030756"/>
            <a:ext cx="3276600" cy="152400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2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91325" y="3064186"/>
            <a:ext cx="447675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2229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553325" y="3117610"/>
            <a:ext cx="447675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98887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sin8_LED.c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11</a:t>
            </a:fld>
            <a:endParaRPr lang="en-US" altLang="zh-CN" dirty="0" smtClean="0"/>
          </a:p>
        </p:txBody>
      </p:sp>
      <p:pic>
        <p:nvPicPr>
          <p:cNvPr id="532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1447800"/>
            <a:ext cx="7350779" cy="4786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85800"/>
            <a:ext cx="7772400" cy="5600700"/>
          </a:xfrm>
        </p:spPr>
        <p:txBody>
          <a:bodyPr/>
          <a:lstStyle/>
          <a:p>
            <a:r>
              <a:rPr lang="en-US" dirty="0" smtClean="0"/>
              <a:t>sin8_buf.c</a:t>
            </a:r>
          </a:p>
          <a:p>
            <a:pPr lvl="1"/>
            <a:r>
              <a:rPr lang="en-US" dirty="0" smtClean="0"/>
              <a:t>AIC23 will generate an interrupt at every sample instant</a:t>
            </a:r>
          </a:p>
          <a:p>
            <a:pPr lvl="1"/>
            <a:r>
              <a:rPr lang="en-US" dirty="0" smtClean="0"/>
              <a:t> </a:t>
            </a:r>
            <a:r>
              <a:rPr lang="en-US" dirty="0" err="1" smtClean="0"/>
              <a:t>fs</a:t>
            </a:r>
            <a:r>
              <a:rPr lang="en-US" dirty="0" smtClean="0"/>
              <a:t> = 8KHz: 8,000 interrupts will be generated by the AIC23</a:t>
            </a:r>
          </a:p>
          <a:p>
            <a:pPr lvl="1"/>
            <a:r>
              <a:rPr lang="en-US" dirty="0" smtClean="0"/>
              <a:t>Every time an interrupt is generated, c_int11 will be executed.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12</a:t>
            </a:fld>
            <a:endParaRPr lang="en-US" altLang="zh-CN" dirty="0" smtClean="0"/>
          </a:p>
        </p:txBody>
      </p:sp>
      <p:pic>
        <p:nvPicPr>
          <p:cNvPr id="542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2085975"/>
            <a:ext cx="6257925" cy="477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1002</TotalTime>
  <Words>586</Words>
  <Application>Microsoft Office PowerPoint</Application>
  <PresentationFormat>On-screen Show (4:3)</PresentationFormat>
  <Paragraphs>160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宋体</vt:lpstr>
      <vt:lpstr>Arial</vt:lpstr>
      <vt:lpstr>Arial Black</vt:lpstr>
      <vt:lpstr>Arial Narrow</vt:lpstr>
      <vt:lpstr>Calibri</vt:lpstr>
      <vt:lpstr>Courier New</vt:lpstr>
      <vt:lpstr>Times New Roman</vt:lpstr>
      <vt:lpstr>Wingdings</vt:lpstr>
      <vt:lpstr>Office Theme</vt:lpstr>
      <vt:lpstr>ELEG 5173L Digital Signal Processing  Introduction to TMS320C6713 DSK</vt:lpstr>
      <vt:lpstr>ANALOG V.S DIGITAL</vt:lpstr>
      <vt:lpstr>DSP</vt:lpstr>
      <vt:lpstr>DSP</vt:lpstr>
      <vt:lpstr>DSP</vt:lpstr>
      <vt:lpstr>TEXAS INSTRUMENTS’ TMS320 FAMILY</vt:lpstr>
      <vt:lpstr>TMS320C6713</vt:lpstr>
      <vt:lpstr>TMS320C6713 DSK</vt:lpstr>
      <vt:lpstr>DEVELOPMENT ENVIROMENT</vt:lpstr>
      <vt:lpstr>DEVELOPMENT ENVIROMENT (cont’d)</vt:lpstr>
      <vt:lpstr>EXAMPLE</vt:lpstr>
      <vt:lpstr>EXAMPLE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wuj</dc:creator>
  <cp:lastModifiedBy>Israel Akingeneye</cp:lastModifiedBy>
  <cp:revision>271</cp:revision>
  <dcterms:created xsi:type="dcterms:W3CDTF">2006-08-16T00:00:00Z</dcterms:created>
  <dcterms:modified xsi:type="dcterms:W3CDTF">2016-01-25T17:21:27Z</dcterms:modified>
</cp:coreProperties>
</file>