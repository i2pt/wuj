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61" r:id="rId4"/>
    <p:sldId id="262" r:id="rId5"/>
    <p:sldId id="266" r:id="rId6"/>
    <p:sldId id="263" r:id="rId7"/>
    <p:sldId id="264" r:id="rId8"/>
    <p:sldId id="265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CC"/>
    <a:srgbClr val="0033CC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05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gxian Wu" userId="baa4b864-d3c9-4802-a4e5-06b91174542f" providerId="ADAL" clId="{47F60583-6E26-465A-94CC-B25504AAD609}"/>
    <pc:docChg chg="modSld">
      <pc:chgData name="Jingxian Wu" userId="baa4b864-d3c9-4802-a4e5-06b91174542f" providerId="ADAL" clId="{47F60583-6E26-465A-94CC-B25504AAD609}" dt="2025-01-13T17:15:05.719" v="11" actId="20577"/>
      <pc:docMkLst>
        <pc:docMk/>
      </pc:docMkLst>
      <pc:sldChg chg="modSp mod">
        <pc:chgData name="Jingxian Wu" userId="baa4b864-d3c9-4802-a4e5-06b91174542f" providerId="ADAL" clId="{47F60583-6E26-465A-94CC-B25504AAD609}" dt="2025-01-13T17:14:31.526" v="3" actId="1036"/>
        <pc:sldMkLst>
          <pc:docMk/>
          <pc:sldMk cId="0" sldId="256"/>
        </pc:sldMkLst>
        <pc:spChg chg="mod">
          <ac:chgData name="Jingxian Wu" userId="baa4b864-d3c9-4802-a4e5-06b91174542f" providerId="ADAL" clId="{47F60583-6E26-465A-94CC-B25504AAD609}" dt="2025-01-13T17:14:31.526" v="3" actId="1036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Jingxian Wu" userId="baa4b864-d3c9-4802-a4e5-06b91174542f" providerId="ADAL" clId="{47F60583-6E26-465A-94CC-B25504AAD609}" dt="2025-01-13T17:15:05.719" v="11" actId="20577"/>
        <pc:sldMkLst>
          <pc:docMk/>
          <pc:sldMk cId="0" sldId="266"/>
        </pc:sldMkLst>
        <pc:graphicFrameChg chg="modGraphic">
          <ac:chgData name="Jingxian Wu" userId="baa4b864-d3c9-4802-a4e5-06b91174542f" providerId="ADAL" clId="{47F60583-6E26-465A-94CC-B25504AAD609}" dt="2025-01-13T17:15:05.719" v="11" actId="20577"/>
          <ac:graphicFrameMkLst>
            <pc:docMk/>
            <pc:sldMk cId="0" sldId="266"/>
            <ac:graphicFrameMk id="7" creationId="{00000000-0000-0000-0000-000000000000}"/>
          </ac:graphicFrameMkLst>
        </pc:graphicFrameChg>
      </pc:sldChg>
    </pc:docChg>
  </pc:docChgLst>
  <pc:docChgLst>
    <pc:chgData name="Jingxian Wu" userId="baa4b864-d3c9-4802-a4e5-06b91174542f" providerId="ADAL" clId="{F704CFD8-2AAF-49D3-8D6C-4185152830BC}"/>
    <pc:docChg chg="modSld">
      <pc:chgData name="Jingxian Wu" userId="baa4b864-d3c9-4802-a4e5-06b91174542f" providerId="ADAL" clId="{F704CFD8-2AAF-49D3-8D6C-4185152830BC}" dt="2021-01-12T16:58:02.534" v="17" actId="20577"/>
      <pc:docMkLst>
        <pc:docMk/>
      </pc:docMkLst>
      <pc:sldChg chg="modSp mod">
        <pc:chgData name="Jingxian Wu" userId="baa4b864-d3c9-4802-a4e5-06b91174542f" providerId="ADAL" clId="{F704CFD8-2AAF-49D3-8D6C-4185152830BC}" dt="2021-01-12T16:58:02.534" v="17" actId="20577"/>
        <pc:sldMkLst>
          <pc:docMk/>
          <pc:sldMk cId="0" sldId="261"/>
        </pc:sldMkLst>
      </pc:sldChg>
    </pc:docChg>
  </pc:docChgLst>
  <pc:docChgLst>
    <pc:chgData name="Jingxian Wu" userId="baa4b864-d3c9-4802-a4e5-06b91174542f" providerId="ADAL" clId="{000E718B-656E-4B10-9D65-C7E1AB1F11CD}"/>
    <pc:docChg chg="modSld">
      <pc:chgData name="Jingxian Wu" userId="baa4b864-d3c9-4802-a4e5-06b91174542f" providerId="ADAL" clId="{000E718B-656E-4B10-9D65-C7E1AB1F11CD}" dt="2021-01-11T15:32:41.867" v="46" actId="20577"/>
      <pc:docMkLst>
        <pc:docMk/>
      </pc:docMkLst>
      <pc:sldChg chg="modSp mod">
        <pc:chgData name="Jingxian Wu" userId="baa4b864-d3c9-4802-a4e5-06b91174542f" providerId="ADAL" clId="{000E718B-656E-4B10-9D65-C7E1AB1F11CD}" dt="2021-01-11T15:31:38.256" v="25" actId="20577"/>
        <pc:sldMkLst>
          <pc:docMk/>
          <pc:sldMk cId="0" sldId="260"/>
        </pc:sldMkLst>
      </pc:sldChg>
      <pc:sldChg chg="addSp delSp modSp mod">
        <pc:chgData name="Jingxian Wu" userId="baa4b864-d3c9-4802-a4e5-06b91174542f" providerId="ADAL" clId="{000E718B-656E-4B10-9D65-C7E1AB1F11CD}" dt="2021-01-11T15:32:41.867" v="46" actId="20577"/>
        <pc:sldMkLst>
          <pc:docMk/>
          <pc:sldMk cId="0" sldId="266"/>
        </pc:sldMkLst>
      </pc:sldChg>
    </pc:docChg>
  </pc:docChgLst>
  <pc:docChgLst>
    <pc:chgData name="Jingxian Wu" userId="baa4b864-d3c9-4802-a4e5-06b91174542f" providerId="ADAL" clId="{59B6DAEB-5C57-4C95-A260-1C62D9C05E94}"/>
    <pc:docChg chg="undo custSel modSld">
      <pc:chgData name="Jingxian Wu" userId="baa4b864-d3c9-4802-a4e5-06b91174542f" providerId="ADAL" clId="{59B6DAEB-5C57-4C95-A260-1C62D9C05E94}" dt="2023-01-17T03:51:28.192" v="69" actId="20577"/>
      <pc:docMkLst>
        <pc:docMk/>
      </pc:docMkLst>
      <pc:sldChg chg="modSp mod">
        <pc:chgData name="Jingxian Wu" userId="baa4b864-d3c9-4802-a4e5-06b91174542f" providerId="ADAL" clId="{59B6DAEB-5C57-4C95-A260-1C62D9C05E94}" dt="2023-01-17T03:49:46.241" v="34" actId="20577"/>
        <pc:sldMkLst>
          <pc:docMk/>
          <pc:sldMk cId="0" sldId="260"/>
        </pc:sldMkLst>
      </pc:sldChg>
      <pc:sldChg chg="modSp mod">
        <pc:chgData name="Jingxian Wu" userId="baa4b864-d3c9-4802-a4e5-06b91174542f" providerId="ADAL" clId="{59B6DAEB-5C57-4C95-A260-1C62D9C05E94}" dt="2023-01-17T03:51:28.192" v="69" actId="20577"/>
        <pc:sldMkLst>
          <pc:docMk/>
          <pc:sldMk cId="0" sldId="265"/>
        </pc:sldMkLst>
      </pc:sldChg>
      <pc:sldChg chg="modSp mod">
        <pc:chgData name="Jingxian Wu" userId="baa4b864-d3c9-4802-a4e5-06b91174542f" providerId="ADAL" clId="{59B6DAEB-5C57-4C95-A260-1C62D9C05E94}" dt="2023-01-17T03:51:20.257" v="67" actId="113"/>
        <pc:sldMkLst>
          <pc:docMk/>
          <pc:sldMk cId="0" sldId="266"/>
        </pc:sldMkLst>
      </pc:sldChg>
    </pc:docChg>
  </pc:docChgLst>
  <pc:docChgLst>
    <pc:chgData name="Jingxian Wu" userId="21dace8e071ed91c" providerId="LiveId" clId="{0A7C90C7-C6B3-483B-8B8B-00CEF8A35E1D}"/>
    <pc:docChg chg="undo custSel modSld">
      <pc:chgData name="Jingxian Wu" userId="21dace8e071ed91c" providerId="LiveId" clId="{0A7C90C7-C6B3-483B-8B8B-00CEF8A35E1D}" dt="2020-01-13T20:00:21.920" v="139" actId="20577"/>
      <pc:docMkLst>
        <pc:docMk/>
      </pc:docMkLst>
      <pc:sldChg chg="modSp">
        <pc:chgData name="Jingxian Wu" userId="21dace8e071ed91c" providerId="LiveId" clId="{0A7C90C7-C6B3-483B-8B8B-00CEF8A35E1D}" dt="2020-01-13T20:00:21.920" v="139" actId="20577"/>
        <pc:sldMkLst>
          <pc:docMk/>
          <pc:sldMk cId="0" sldId="260"/>
        </pc:sldMkLst>
      </pc:sldChg>
      <pc:sldChg chg="modSp">
        <pc:chgData name="Jingxian Wu" userId="21dace8e071ed91c" providerId="LiveId" clId="{0A7C90C7-C6B3-483B-8B8B-00CEF8A35E1D}" dt="2020-01-13T19:47:04.608" v="88" actId="20577"/>
        <pc:sldMkLst>
          <pc:docMk/>
          <pc:sldMk cId="0" sldId="261"/>
        </pc:sldMkLst>
      </pc:sldChg>
      <pc:sldChg chg="modSp">
        <pc:chgData name="Jingxian Wu" userId="21dace8e071ed91c" providerId="LiveId" clId="{0A7C90C7-C6B3-483B-8B8B-00CEF8A35E1D}" dt="2020-01-13T19:48:57.043" v="128" actId="20577"/>
        <pc:sldMkLst>
          <pc:docMk/>
          <pc:sldMk cId="0" sldId="263"/>
        </pc:sldMkLst>
      </pc:sldChg>
      <pc:sldChg chg="modSp">
        <pc:chgData name="Jingxian Wu" userId="21dace8e071ed91c" providerId="LiveId" clId="{0A7C90C7-C6B3-483B-8B8B-00CEF8A35E1D}" dt="2020-01-13T19:49:13.510" v="130" actId="20577"/>
        <pc:sldMkLst>
          <pc:docMk/>
          <pc:sldMk cId="0" sldId="265"/>
        </pc:sldMkLst>
      </pc:sldChg>
      <pc:sldChg chg="modSp">
        <pc:chgData name="Jingxian Wu" userId="21dace8e071ed91c" providerId="LiveId" clId="{0A7C90C7-C6B3-483B-8B8B-00CEF8A35E1D}" dt="2020-01-13T19:48:43.928" v="123" actId="20577"/>
        <pc:sldMkLst>
          <pc:docMk/>
          <pc:sldMk cId="0" sldId="266"/>
        </pc:sldMkLst>
      </pc:sldChg>
    </pc:docChg>
  </pc:docChgLst>
  <pc:docChgLst>
    <pc:chgData name="Jingxian Wu" userId="baa4b864-d3c9-4802-a4e5-06b91174542f" providerId="ADAL" clId="{CF89F5AD-5BE1-447A-94A9-D11E7EFBAB6A}"/>
    <pc:docChg chg="modSld">
      <pc:chgData name="Jingxian Wu" userId="baa4b864-d3c9-4802-a4e5-06b91174542f" providerId="ADAL" clId="{CF89F5AD-5BE1-447A-94A9-D11E7EFBAB6A}" dt="2024-01-17T20:56:26.729" v="25" actId="20577"/>
      <pc:docMkLst>
        <pc:docMk/>
      </pc:docMkLst>
      <pc:sldChg chg="modSp mod">
        <pc:chgData name="Jingxian Wu" userId="baa4b864-d3c9-4802-a4e5-06b91174542f" providerId="ADAL" clId="{CF89F5AD-5BE1-447A-94A9-D11E7EFBAB6A}" dt="2024-01-17T20:55:57.245" v="20" actId="20577"/>
        <pc:sldMkLst>
          <pc:docMk/>
          <pc:sldMk cId="0" sldId="260"/>
        </pc:sldMkLst>
      </pc:sldChg>
      <pc:sldChg chg="modSp mod">
        <pc:chgData name="Jingxian Wu" userId="baa4b864-d3c9-4802-a4e5-06b91174542f" providerId="ADAL" clId="{CF89F5AD-5BE1-447A-94A9-D11E7EFBAB6A}" dt="2024-01-17T20:56:26.729" v="25" actId="20577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A95B8-4588-46D8-8F50-86C1DF9AFA24}" type="datetimeFigureOut">
              <a:rPr lang="en-US" smtClean="0"/>
              <a:pPr/>
              <a:t>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7B99F5-9ED3-44CF-A144-70EBB5FD54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99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4572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2846479" y="1346200"/>
            <a:ext cx="3897221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1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Department of Electrical Engineering</a:t>
            </a:r>
          </a:p>
          <a:p>
            <a:pPr algn="r">
              <a:defRPr/>
            </a:pPr>
            <a:r>
              <a:rPr lang="en-US" altLang="zh-CN" sz="16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University of Arkansas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prstGeom prst="rect">
            <a:avLst/>
          </a:prstGeom>
        </p:spPr>
        <p:txBody>
          <a:bodyPr/>
          <a:lstStyle>
            <a:lvl1pPr algn="r">
              <a:defRPr sz="3200">
                <a:latin typeface="Arial Black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3581400"/>
            <a:ext cx="6400800" cy="762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Tx/>
              <a:buNone/>
              <a:defRPr sz="2200" b="0">
                <a:solidFill>
                  <a:srgbClr val="000099"/>
                </a:solidFill>
                <a:latin typeface="Arial Black" pitchFamily="34" charset="0"/>
              </a:defRPr>
            </a:lvl1pPr>
          </a:lstStyle>
          <a:p>
            <a:r>
              <a:rPr lang="en-US" altLang="zh-CN"/>
              <a:t>Click to edit Master subtitle style</a:t>
            </a:r>
          </a:p>
        </p:txBody>
      </p:sp>
      <p:pic>
        <p:nvPicPr>
          <p:cNvPr id="12" name="Picture 16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447800"/>
            <a:ext cx="16383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9"/>
          <p:cNvSpPr>
            <a:spLocks noChangeShapeType="1"/>
          </p:cNvSpPr>
          <p:nvPr userDrawn="1"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620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>
                <a:latin typeface="Arial Black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 b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defRPr>
            </a:lvl1pPr>
            <a:lvl2pPr>
              <a:defRPr sz="1800">
                <a:latin typeface="Times New Roman" pitchFamily="18" charset="0"/>
                <a:cs typeface="Times New Roman" pitchFamily="18" charset="0"/>
              </a:defRPr>
            </a:lvl2pPr>
            <a:lvl3pPr>
              <a:defRPr sz="1800">
                <a:latin typeface="Times New Roman" pitchFamily="18" charset="0"/>
                <a:cs typeface="Times New Roman" pitchFamily="18" charset="0"/>
              </a:defRPr>
            </a:lvl3pPr>
            <a:lvl4pPr>
              <a:defRPr sz="1800">
                <a:latin typeface="Times New Roman" pitchFamily="18" charset="0"/>
                <a:cs typeface="Times New Roman" pitchFamily="18" charset="0"/>
              </a:defRPr>
            </a:lvl4pPr>
            <a:lvl5pPr>
              <a:defRPr sz="1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6248400"/>
            <a:ext cx="1781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lide Number Placeholder 3"/>
          <p:cNvSpPr>
            <a:spLocks noGrp="1"/>
          </p:cNvSpPr>
          <p:nvPr userDrawn="1">
            <p:ph type="sldNum" sz="quarter" idx="10"/>
          </p:nvPr>
        </p:nvSpPr>
        <p:spPr>
          <a:xfrm>
            <a:off x="7239000" y="0"/>
            <a:ext cx="1905000" cy="457200"/>
          </a:xfrm>
          <a:prstGeom prst="rect">
            <a:avLst/>
          </a:prstGeom>
          <a:noFill/>
        </p:spPr>
        <p:txBody>
          <a:bodyPr/>
          <a:lstStyle>
            <a:lvl1pPr algn="r">
              <a:defRPr b="1"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7A65BF99-0365-4788-A7C5-586C0382C80B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367" y="2366433"/>
            <a:ext cx="8183033" cy="990600"/>
          </a:xfrm>
        </p:spPr>
        <p:txBody>
          <a:bodyPr/>
          <a:lstStyle/>
          <a:p>
            <a:r>
              <a:rPr lang="en-US" sz="2400" dirty="0"/>
              <a:t>ELEG 46003/51703L Digital Signal Processing </a:t>
            </a:r>
            <a:br>
              <a:rPr lang="en-US" sz="2400" dirty="0"/>
            </a:br>
            <a:r>
              <a:rPr lang="en-US" dirty="0"/>
              <a:t>Ch. 0 Preface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743200" y="3810000"/>
            <a:ext cx="5791200" cy="1752600"/>
          </a:xfrm>
          <a:prstGeom prst="rect">
            <a:avLst/>
          </a:prstGeom>
        </p:spPr>
        <p:txBody>
          <a:bodyPr/>
          <a:lstStyle/>
          <a:p>
            <a:pPr algn="r">
              <a:buNone/>
            </a:pPr>
            <a:r>
              <a:rPr lang="en-US" sz="2200">
                <a:solidFill>
                  <a:srgbClr val="000099"/>
                </a:solidFill>
                <a:latin typeface="Arial Black" pitchFamily="34" charset="0"/>
              </a:rPr>
              <a:t>Dr. Jingxian Wu</a:t>
            </a:r>
          </a:p>
          <a:p>
            <a:pPr algn="r">
              <a:buNone/>
            </a:pPr>
            <a:r>
              <a:rPr lang="en-US" sz="2200">
                <a:solidFill>
                  <a:srgbClr val="000099"/>
                </a:solidFill>
                <a:latin typeface="Arial Black" pitchFamily="34" charset="0"/>
              </a:rPr>
              <a:t>wuj@uark.edu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2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533400" y="914400"/>
            <a:ext cx="7772400" cy="56007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Instructor: Dr. Jingxian Wu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Email: wuj@uark.edu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Phone: (479) 575-6584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altLang="zh-CN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Office hour: Tue 12:30-1:30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Lecture Schedule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Tue. Thu. 11 – 12:15 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altLang="zh-CN" sz="2000" b="1" dirty="0">
              <a:solidFill>
                <a:srgbClr val="000099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altLang="zh-CN" sz="2000" b="1" dirty="0">
                <a:solidFill>
                  <a:srgbClr val="000099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Lab Schedule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Thu. 11 – 12:15 (approximately once every two weeks)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TEXTBOOK AND 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3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Textbook (Optional)</a:t>
            </a: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Luis F. </a:t>
            </a:r>
            <a:r>
              <a:rPr lang="en-US" altLang="zh-CN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Chaparro</a:t>
            </a: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</a:t>
            </a:r>
            <a:r>
              <a:rPr lang="en-US" altLang="zh-CN" i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Signals and Systems Using </a:t>
            </a:r>
            <a:r>
              <a:rPr lang="en-US" altLang="zh-CN" i="1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Matlab</a:t>
            </a: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Academic Press, 2010.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Required Software</a:t>
            </a: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Matlab</a:t>
            </a: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References (optional)</a:t>
            </a:r>
          </a:p>
          <a:p>
            <a:pPr marL="838200" lvl="1" indent="-381000">
              <a:spcBef>
                <a:spcPct val="20000"/>
              </a:spcBef>
              <a:buFont typeface="Arial" pitchFamily="34" charset="0"/>
              <a:buChar char="–"/>
            </a:pP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S.S. </a:t>
            </a:r>
            <a:r>
              <a:rPr lang="en-US" altLang="zh-CN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Soliman</a:t>
            </a: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M.D. </a:t>
            </a:r>
            <a:r>
              <a:rPr lang="en-US" altLang="zh-CN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Srinath</a:t>
            </a: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</a:t>
            </a:r>
            <a:r>
              <a:rPr lang="en-US" altLang="zh-CN" i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Continuous and discrete signals and systems</a:t>
            </a: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, 2</a:t>
            </a:r>
            <a:r>
              <a:rPr lang="en-US" altLang="zh-CN" baseline="3000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nd</a:t>
            </a: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Ed., Prentice Hall, 1998. </a:t>
            </a:r>
          </a:p>
          <a:p>
            <a:pPr marL="838200" lvl="1" indent="-381000">
              <a:spcBef>
                <a:spcPct val="20000"/>
              </a:spcBef>
            </a:pP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</a:p>
          <a:p>
            <a:pPr marL="838200" marR="0" lvl="1" indent="-3810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4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>
                <a:ea typeface="宋体" pitchFamily="2" charset="-122"/>
              </a:rPr>
              <a:t>Pre-requisite: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Signals and Systems</a:t>
            </a:r>
          </a:p>
          <a:p>
            <a:pPr eaLnBrk="1" hangingPunct="1"/>
            <a:endParaRPr lang="en-US" altLang="zh-CN">
              <a:ea typeface="宋体" pitchFamily="2" charset="-122"/>
            </a:endParaRPr>
          </a:p>
          <a:p>
            <a:pPr eaLnBrk="1" hangingPunct="1"/>
            <a:r>
              <a:rPr lang="en-US" altLang="zh-CN">
                <a:ea typeface="宋体" pitchFamily="2" charset="-122"/>
              </a:rPr>
              <a:t>This course involves heavy mathematical derivations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A large number of examples will be given in class – </a:t>
            </a:r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It’s ESSENTIAL for you to repeat all the examples by yourself after class</a:t>
            </a:r>
            <a:r>
              <a:rPr lang="en-US" altLang="zh-CN">
                <a:ea typeface="宋体" pitchFamily="2" charset="-122"/>
              </a:rPr>
              <a:t>.</a:t>
            </a:r>
          </a:p>
          <a:p>
            <a:pPr eaLnBrk="1" hangingPunct="1"/>
            <a:endParaRPr lang="en-US" altLang="zh-CN">
              <a:ea typeface="宋体" pitchFamily="2" charset="-122"/>
            </a:endParaRPr>
          </a:p>
          <a:p>
            <a:pPr eaLnBrk="1" hangingPunct="1"/>
            <a:r>
              <a:rPr lang="en-US" altLang="zh-CN">
                <a:ea typeface="宋体" pitchFamily="2" charset="-122"/>
              </a:rPr>
              <a:t>Teaching format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Slides 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Examples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Exercises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Homework assignments (problems, software)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Labs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TENTATIVE SCHEDULE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5</a:t>
            </a:fld>
            <a:endParaRPr lang="en-US" altLang="zh-CN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930932"/>
              </p:ext>
            </p:extLst>
          </p:nvPr>
        </p:nvGraphicFramePr>
        <p:xfrm>
          <a:off x="1066800" y="990600"/>
          <a:ext cx="7620000" cy="484632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7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006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ea typeface="SimSun"/>
                        </a:rPr>
                        <a:t> 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/>
                        <a:buChar char="•"/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Week 1: Ch.1 Discrete-Time Signals and Systems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/>
                        <a:buChar char="•"/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Week 2: Ch. 1 Discrete-time Signals and Systems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/>
                        <a:buChar char="•"/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Week 3: Ch. 1 Discrete-Time Signals and Systems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/>
                        <a:buChar char="•"/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Week 4: Ch. 2 The Z-Transform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/>
                        <a:buChar char="•"/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Week 5: Ch. 2 The Z-Transform 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/>
                        <a:buChar char="•"/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Week 6: Ch. 2 The Z-Transform 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/>
                        <a:buChar char="•"/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Week 7: Ch. 2 The Z-Transform (</a:t>
                      </a:r>
                      <a:r>
                        <a:rPr lang="en-US" sz="1800" b="1" dirty="0">
                          <a:effectLst/>
                          <a:latin typeface="Times New Roman"/>
                          <a:ea typeface="Times New Roman"/>
                        </a:rPr>
                        <a:t>Test 1 on 3/6 Thu.</a:t>
                      </a: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)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/>
                        <a:buChar char="•"/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Week 8: Ch. 3 Discrete-Time Fourier Transform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/>
                        <a:buChar char="•"/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Week 9: Ch. 3 Discrete-Time Fourier Transform 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/>
                        <a:buChar char="•"/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Week 10: Ch. 3 Discrete-Time Fourier Transform 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/>
                        <a:buChar char="•"/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Week 11: Ch. 3 Discrete-Time Fourier Transform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/>
                        <a:buChar char="•"/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Week 12: Ch. 4 Discrete Fourier Transform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/>
                        <a:buChar char="•"/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Week 13: Ch. 4 Discrete Fourier Transform (</a:t>
                      </a:r>
                      <a:r>
                        <a:rPr lang="en-US" sz="1800" b="1" dirty="0">
                          <a:effectLst/>
                          <a:latin typeface="Times New Roman"/>
                          <a:ea typeface="Times New Roman"/>
                        </a:rPr>
                        <a:t>Test 2 on 4/10 Thu.</a:t>
                      </a: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)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/>
                        <a:buChar char="•"/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Week 14: Ch. 4 Discrete Fourier Transform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/>
                        <a:buChar char="•"/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Week 15: Ch. 5 Discrete-Time Filters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/>
                        <a:buChar char="•"/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Week 16: Ch. 5 Discrete-Time Filters (</a:t>
                      </a:r>
                      <a:r>
                        <a:rPr lang="en-US" sz="1800" b="1" dirty="0">
                          <a:effectLst/>
                          <a:latin typeface="Times New Roman"/>
                          <a:ea typeface="Times New Roman"/>
                        </a:rPr>
                        <a:t>reading day 5/2</a:t>
                      </a: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)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Times New Roman"/>
                        <a:buChar char="•"/>
                      </a:pPr>
                      <a:r>
                        <a:rPr lang="en-US" sz="1800" dirty="0">
                          <a:effectLst/>
                          <a:latin typeface="Times New Roman"/>
                          <a:ea typeface="Times New Roman"/>
                        </a:rPr>
                        <a:t>Week 17: </a:t>
                      </a:r>
                      <a:r>
                        <a:rPr lang="en-US" sz="1800" b="1" dirty="0">
                          <a:effectLst/>
                          <a:latin typeface="Times New Roman"/>
                          <a:ea typeface="Times New Roman"/>
                        </a:rPr>
                        <a:t>Test 3 in the week </a:t>
                      </a:r>
                      <a:r>
                        <a:rPr lang="en-US" sz="1800" b="1">
                          <a:effectLst/>
                          <a:latin typeface="Times New Roman"/>
                          <a:ea typeface="Times New Roman"/>
                        </a:rPr>
                        <a:t>of 5/6</a:t>
                      </a:r>
                      <a:endParaRPr lang="en-US" sz="18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GRADING 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6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Grades Percentage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Test 1	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		24%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Test 2			24%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Test 3			24%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altLang="zh-CN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Homework			14%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Lab 			14%	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Grades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A:		90 ≤ grade ≤ 100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B:		80 ≤ grade &lt; 90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C:		70 ≤ grade &lt; 80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D:		60 ≤ grade &lt; 70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F:		0 ≤ grade &lt; 60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GRADING 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7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itchFamily="2" charset="-122"/>
              </a:rPr>
              <a:t>Due dates for homework and lab report will be strictly enforced. Late submission </a:t>
            </a:r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within one week after due </a:t>
            </a:r>
            <a:r>
              <a:rPr lang="en-US" altLang="zh-CN">
                <a:ea typeface="宋体" pitchFamily="2" charset="-122"/>
              </a:rPr>
              <a:t>will receive a </a:t>
            </a:r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20% deduction</a:t>
            </a:r>
            <a:r>
              <a:rPr lang="en-US" altLang="zh-CN">
                <a:ea typeface="宋体" pitchFamily="2" charset="-122"/>
              </a:rPr>
              <a:t>; </a:t>
            </a:r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no credit if submitted one week past due</a:t>
            </a:r>
            <a:r>
              <a:rPr lang="en-US" altLang="zh-CN">
                <a:ea typeface="宋体" pitchFamily="2" charset="-122"/>
              </a:rPr>
              <a:t>.</a:t>
            </a:r>
          </a:p>
          <a:p>
            <a:pPr eaLnBrk="1" hangingPunct="1">
              <a:buNone/>
            </a:pPr>
            <a:endParaRPr lang="en-US" altLang="zh-CN">
              <a:ea typeface="宋体" pitchFamily="2" charset="-122"/>
            </a:endParaRPr>
          </a:p>
          <a:p>
            <a:pPr eaLnBrk="1" hangingPunct="1"/>
            <a:r>
              <a:rPr lang="en-US" altLang="zh-CN">
                <a:ea typeface="宋体" pitchFamily="2" charset="-122"/>
              </a:rPr>
              <a:t>If for some legitimate reason (sickness, death in the family, etc.), you cannot take an exam on the scheduled day, you must notify the instructor prior to the exam. </a:t>
            </a:r>
          </a:p>
          <a:p>
            <a:pPr eaLnBrk="1" hangingPunct="1"/>
            <a:endParaRPr lang="en-US" altLang="zh-CN">
              <a:ea typeface="宋体" pitchFamily="2" charset="-122"/>
            </a:endParaRPr>
          </a:p>
          <a:p>
            <a:pPr eaLnBrk="1" hangingPunct="1"/>
            <a:endParaRPr lang="en-US" altLang="zh-CN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ONLINE 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8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876300"/>
            <a:ext cx="8115300" cy="564515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Course Home Page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altLang="zh-CN">
                <a:latin typeface="Times New Roman" pitchFamily="18" charset="0"/>
                <a:cs typeface="Times New Roman" pitchFamily="18" charset="0"/>
              </a:rPr>
              <a:t>https://wuj.hosted.uark.edu/teaching/eleg5173/eleg5173.html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All the course related materials, such as slides, homework assignments, links, announcements, labs, etc., will be posted on this website.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Please check the webpage regularly (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at least once per week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 for update.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ADDITIONAL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65BF99-0365-4788-A7C5-586C0382C80B}" type="slidenum">
              <a:rPr lang="zh-CN" altLang="en-US" smtClean="0"/>
              <a:pPr/>
              <a:t>9</a:t>
            </a:fld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>
                <a:ea typeface="宋体" pitchFamily="2" charset="-122"/>
              </a:rPr>
              <a:t>Academic Honesty</a:t>
            </a:r>
          </a:p>
          <a:p>
            <a:pPr lvl="1"/>
            <a:r>
              <a:rPr lang="en-US"/>
              <a:t>Each University of Arkansas student is required to be familiar with and abide by the University’s ‘Academic Integrity Policy’ which may be found at http://provost.uark.edu/</a:t>
            </a:r>
            <a:endParaRPr lang="en-US" altLang="zh-CN">
              <a:ea typeface="宋体" pitchFamily="2" charset="-122"/>
            </a:endParaRPr>
          </a:p>
          <a:p>
            <a:pPr lvl="1" eaLnBrk="1" hangingPunct="1"/>
            <a:r>
              <a:rPr lang="en-US" altLang="zh-CN">
                <a:ea typeface="宋体" pitchFamily="2" charset="-122"/>
              </a:rPr>
              <a:t>Any kind of activities related to academic dishonesty (copying homework, lab report, code, plagiarism, etc.) will be dealt with. 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If you are not sure about plagiarism, please contact the instructor.</a:t>
            </a:r>
          </a:p>
          <a:p>
            <a:pPr eaLnBrk="1" hangingPunct="1"/>
            <a:r>
              <a:rPr lang="en-US" altLang="zh-CN">
                <a:ea typeface="宋体" pitchFamily="2" charset="-122"/>
              </a:rPr>
              <a:t>Questions are welcome in my class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You are very welcome to raise any question related to course materials.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Please feel free to stop me at any time if you have any question.</a:t>
            </a:r>
          </a:p>
          <a:p>
            <a:pPr lvl="1" eaLnBrk="1" hangingPunct="1"/>
            <a:r>
              <a:rPr lang="en-US" altLang="zh-CN">
                <a:ea typeface="宋体" pitchFamily="2" charset="-122"/>
              </a:rPr>
              <a:t>You can also ask me question via email or during office hours.</a:t>
            </a:r>
          </a:p>
          <a:p>
            <a:pPr eaLnBrk="1" hangingPunct="1"/>
            <a:r>
              <a:rPr lang="en-US" altLang="zh-CN">
                <a:ea typeface="宋体" pitchFamily="2" charset="-122"/>
              </a:rPr>
              <a:t>To respect your fellow students as well as the instructor, please turn off or silencing your cell phone.</a:t>
            </a:r>
          </a:p>
          <a:p>
            <a:pPr lvl="1" eaLnBrk="1" hangingPunct="1"/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No text messaging or web surfing!</a:t>
            </a:r>
          </a:p>
          <a:p>
            <a:pPr eaLnBrk="1" hangingPunct="1"/>
            <a:r>
              <a:rPr lang="en-US" altLang="zh-CN">
                <a:solidFill>
                  <a:srgbClr val="FF0000"/>
                </a:solidFill>
                <a:ea typeface="宋体" pitchFamily="2" charset="-122"/>
              </a:rPr>
              <a:t>BE ON TIME! </a:t>
            </a:r>
          </a:p>
          <a:p>
            <a:pPr eaLnBrk="1" hangingPunct="1"/>
            <a:r>
              <a:rPr lang="en-US" altLang="zh-CN">
                <a:ea typeface="宋体" pitchFamily="2" charset="-122"/>
              </a:rPr>
              <a:t>Have Fun!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</Words>
  <Application>Microsoft Office PowerPoint</Application>
  <PresentationFormat>On-screen Show (4:3)</PresentationFormat>
  <Paragraphs>100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宋体</vt:lpstr>
      <vt:lpstr>Arial</vt:lpstr>
      <vt:lpstr>Arial Black</vt:lpstr>
      <vt:lpstr>Calibri</vt:lpstr>
      <vt:lpstr>Times New Roman</vt:lpstr>
      <vt:lpstr>Office Theme</vt:lpstr>
      <vt:lpstr>ELEG 46003/51703L Digital Signal Processing  Ch. 0 Preface</vt:lpstr>
      <vt:lpstr>GENERAL INFORMATION</vt:lpstr>
      <vt:lpstr>TEXTBOOK AND REFERENCES</vt:lpstr>
      <vt:lpstr>COURSE INFORMATION</vt:lpstr>
      <vt:lpstr>TENTATIVE SCHEDULE</vt:lpstr>
      <vt:lpstr>GRADING POLICY</vt:lpstr>
      <vt:lpstr>GRADING POLICY</vt:lpstr>
      <vt:lpstr>ONLINE RESOURCES</vt:lpstr>
      <vt:lpstr>ADDITIONAL ISSUES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wuj</dc:creator>
  <cp:lastModifiedBy>Jingxian Wu</cp:lastModifiedBy>
  <cp:revision>1</cp:revision>
  <dcterms:created xsi:type="dcterms:W3CDTF">2006-08-16T00:00:00Z</dcterms:created>
  <dcterms:modified xsi:type="dcterms:W3CDTF">2025-01-13T17:15:08Z</dcterms:modified>
</cp:coreProperties>
</file>