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1" r:id="rId4"/>
    <p:sldId id="262" r:id="rId5"/>
    <p:sldId id="270" r:id="rId6"/>
    <p:sldId id="268" r:id="rId7"/>
    <p:sldId id="263" r:id="rId8"/>
    <p:sldId id="264" r:id="rId9"/>
    <p:sldId id="26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52FF8A-A351-47EF-88C6-A73944C3D042}" v="3" dt="2026-08-17T18:31:59.8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34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xian Wu" userId="baa4b864-d3c9-4802-a4e5-06b91174542f" providerId="ADAL" clId="{034881FE-1FB2-474D-A911-6D8F4B5543F8}"/>
    <pc:docChg chg="modSld">
      <pc:chgData name="Jingxian Wu" userId="baa4b864-d3c9-4802-a4e5-06b91174542f" providerId="ADAL" clId="{034881FE-1FB2-474D-A911-6D8F4B5543F8}" dt="2026-08-17T18:44:58.211" v="52" actId="20577"/>
      <pc:docMkLst>
        <pc:docMk/>
      </pc:docMkLst>
      <pc:sldChg chg="modSp mod">
        <pc:chgData name="Jingxian Wu" userId="baa4b864-d3c9-4802-a4e5-06b91174542f" providerId="ADAL" clId="{034881FE-1FB2-474D-A911-6D8F4B5543F8}" dt="2026-08-17T18:44:58.211" v="52" actId="20577"/>
        <pc:sldMkLst>
          <pc:docMk/>
          <pc:sldMk cId="0" sldId="260"/>
        </pc:sldMkLst>
        <pc:spChg chg="mod">
          <ac:chgData name="Jingxian Wu" userId="baa4b864-d3c9-4802-a4e5-06b91174542f" providerId="ADAL" clId="{034881FE-1FB2-474D-A911-6D8F4B5543F8}" dt="2026-08-17T18:44:58.211" v="52" actId="20577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Jingxian Wu" userId="baa4b864-d3c9-4802-a4e5-06b91174542f" providerId="ADAL" clId="{034881FE-1FB2-474D-A911-6D8F4B5543F8}" dt="2026-08-17T18:32:36.235" v="24" actId="20577"/>
        <pc:sldMkLst>
          <pc:docMk/>
          <pc:sldMk cId="0" sldId="263"/>
        </pc:sldMkLst>
        <pc:spChg chg="mod">
          <ac:chgData name="Jingxian Wu" userId="baa4b864-d3c9-4802-a4e5-06b91174542f" providerId="ADAL" clId="{034881FE-1FB2-474D-A911-6D8F4B5543F8}" dt="2026-08-17T18:32:36.235" v="24" actId="20577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Jingxian Wu" userId="baa4b864-d3c9-4802-a4e5-06b91174542f" providerId="ADAL" clId="{034881FE-1FB2-474D-A911-6D8F4B5543F8}" dt="2026-08-17T18:32:29.604" v="20" actId="113"/>
        <pc:sldMkLst>
          <pc:docMk/>
          <pc:sldMk cId="21728417" sldId="268"/>
        </pc:sldMkLst>
        <pc:graphicFrameChg chg="mod modGraphic">
          <ac:chgData name="Jingxian Wu" userId="baa4b864-d3c9-4802-a4e5-06b91174542f" providerId="ADAL" clId="{034881FE-1FB2-474D-A911-6D8F4B5543F8}" dt="2026-08-17T18:32:29.604" v="20" actId="113"/>
          <ac:graphicFrameMkLst>
            <pc:docMk/>
            <pc:sldMk cId="21728417" sldId="268"/>
            <ac:graphicFrameMk id="7" creationId="{33479BA0-91D8-4E22-B900-80756C94A3A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49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wuj@uark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works.uark.edu/oer/5/" TargetMode="External"/><Relationship Id="rId2" Type="http://schemas.openxmlformats.org/officeDocument/2006/relationships/hyperlink" Target="https://wuj.hosted.uark.edu/teaching/eleg3124/eleg3124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uj.hosted.uark.edu/teaching/eleg3124/eleg3124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provost.uark.edu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/>
              <a:t>ELEG 31204 SYSTEMS AND SIGNALS </a:t>
            </a:r>
            <a:br>
              <a:rPr lang="en-US" sz="2400"/>
            </a:br>
            <a:r>
              <a:rPr lang="en-US"/>
              <a:t>Ch. 0 Preface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>
                <a:solidFill>
                  <a:srgbClr val="000099"/>
                </a:solidFill>
                <a:latin typeface="Arial Black" pitchFamily="34" charset="0"/>
              </a:rPr>
              <a:t>wuj@uark.edu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82296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Instructor: Dr. Jingxian Wu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Office: Bell 3168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Email: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  <a:hlinkClick r:id="rId2"/>
              </a:rPr>
              <a:t>wuj@uark.edu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Phone: (479) 575-6584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Office Hours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Tue. 11:00 AM – </a:t>
            </a:r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12:00 PM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or by appointment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Lecture Schedule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Tu. Th. 12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:30 PM– 1:45 PM</a:t>
            </a:r>
            <a:endParaRPr lang="en-US" altLang="zh-CN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Bell 2273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1">
              <a:spcBef>
                <a:spcPct val="20000"/>
              </a:spcBef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MATERIALS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Required Course Materials (Free!)</a:t>
            </a: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Lecture notes, homework, lab manual</a:t>
            </a: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Can be downloaded at the course website </a:t>
            </a:r>
          </a:p>
          <a:p>
            <a:pPr marL="1295400" lvl="2" indent="-381000">
              <a:spcBef>
                <a:spcPct val="20000"/>
              </a:spcBef>
              <a:buFont typeface="Arial" pitchFamily="34" charset="0"/>
              <a:buChar char="–"/>
              <a:defRPr/>
            </a:pPr>
            <a:endParaRPr lang="en-US" altLang="zh-CN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1295400" lvl="2" indent="-38100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 link: 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  <a:hlinkClick r:id="rId2"/>
              </a:rPr>
              <a:t>https://wuj.hosted.uark.edu/teaching/eleg3124/eleg3124.html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</a:p>
          <a:p>
            <a:pPr lvl="2">
              <a:spcBef>
                <a:spcPct val="20000"/>
              </a:spcBef>
              <a:defRPr/>
            </a:pPr>
            <a:endParaRPr lang="en-US" altLang="zh-CN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1295400" lvl="2" indent="-38100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Alternative link via Open Education Resource (OER)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  <a:hlinkClick r:id="rId3"/>
              </a:rPr>
              <a:t>https://scholarworks.uark.edu/oer/5/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Text Books (optional)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Luis F. </a:t>
            </a:r>
            <a:r>
              <a:rPr lang="en-US" altLang="zh-CN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Chaparro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</a:t>
            </a:r>
            <a:r>
              <a:rPr lang="en-US" altLang="zh-CN" i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Signals and Systems Using </a:t>
            </a:r>
            <a:r>
              <a:rPr lang="en-US" altLang="zh-CN" i="1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Matlab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Academic Press, 2010. ISBN :978-0-12-374716-7.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Required Software</a:t>
            </a: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Matlab</a:t>
            </a:r>
            <a:endParaRPr lang="en-US" altLang="zh-CN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Free</a:t>
            </a:r>
            <a:r>
              <a:rPr kumimoji="0" lang="en-US" altLang="zh-CN" sz="18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for all</a:t>
            </a:r>
            <a:r>
              <a:rPr kumimoji="0" lang="en-US" altLang="zh-CN" sz="18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1800" b="0" i="0" u="none" strike="noStrike" kern="1200" cap="none" spc="0" normalizeH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UofA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 students</a:t>
            </a: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References (optional)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S.S. </a:t>
            </a:r>
            <a:r>
              <a:rPr lang="en-US" altLang="zh-CN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Soliman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M.D. </a:t>
            </a:r>
            <a:r>
              <a:rPr lang="en-US" altLang="zh-CN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Srinath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</a:t>
            </a:r>
            <a:r>
              <a:rPr lang="en-US" altLang="zh-CN" i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and discrete signals and systems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2</a:t>
            </a:r>
            <a:r>
              <a:rPr lang="en-US" altLang="zh-CN" baseline="300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nd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Ed., Prentice Hall, 1998. </a:t>
            </a:r>
          </a:p>
          <a:p>
            <a:pPr marL="838200" lvl="1" indent="-381000">
              <a:spcBef>
                <a:spcPct val="20000"/>
              </a:spcBef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CN">
                <a:ea typeface="宋体" pitchFamily="2" charset="-122"/>
              </a:rPr>
              <a:t>Pre-requisite: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Calculus I, II, and III, Differential Equation (co-requisite)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Electrical Circuits I</a:t>
            </a:r>
          </a:p>
          <a:p>
            <a:pPr eaLnBrk="1" hangingPunct="1"/>
            <a:r>
              <a:rPr lang="en-US" altLang="zh-CN">
                <a:ea typeface="宋体" pitchFamily="2" charset="-122"/>
              </a:rPr>
              <a:t>This course involves heavy mathematical derivations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It is a Mathematics course.</a:t>
            </a:r>
          </a:p>
          <a:p>
            <a:pPr lvl="2"/>
            <a:r>
              <a:rPr lang="en-US" altLang="zh-CN">
                <a:ea typeface="宋体" pitchFamily="2" charset="-122"/>
              </a:rPr>
              <a:t>Integration, differentiation, differential equation, etc.</a:t>
            </a:r>
          </a:p>
          <a:p>
            <a:pPr lvl="2"/>
            <a:r>
              <a:rPr lang="en-US" altLang="zh-CN">
                <a:ea typeface="宋体" pitchFamily="2" charset="-122"/>
              </a:rPr>
              <a:t>Examples with detailed step-by-step derivation will be given during lecture</a:t>
            </a:r>
          </a:p>
          <a:p>
            <a:pPr lvl="3"/>
            <a:r>
              <a:rPr lang="en-US" altLang="zh-CN">
                <a:ea typeface="宋体" pitchFamily="2" charset="-122"/>
              </a:rPr>
              <a:t>A great opportunity for you to review and practice your Math skills!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A large number of examples will be given in class – 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It’s ESSENTIAL for you to repeat all the examples by yourself after class</a:t>
            </a:r>
            <a:r>
              <a:rPr lang="en-US" altLang="zh-CN">
                <a:ea typeface="宋体" pitchFamily="2" charset="-122"/>
              </a:rPr>
              <a:t>.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Homework solutions will be posted after the due dates.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You are encouraged to 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study in groups</a:t>
            </a:r>
            <a:r>
              <a:rPr lang="en-US" altLang="zh-CN">
                <a:ea typeface="宋体" pitchFamily="2" charset="-122"/>
              </a:rPr>
              <a:t> on homework assignments.</a:t>
            </a:r>
          </a:p>
          <a:p>
            <a:pPr lvl="1" eaLnBrk="1" hangingPunct="1"/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Use the office hours of the TA</a:t>
            </a:r>
            <a:r>
              <a:rPr lang="en-US" altLang="zh-CN">
                <a:ea typeface="宋体" pitchFamily="2" charset="-122"/>
              </a:rPr>
              <a:t>.</a:t>
            </a:r>
          </a:p>
          <a:p>
            <a:pPr eaLnBrk="1" hangingPunct="1"/>
            <a:r>
              <a:rPr lang="en-US" altLang="zh-CN">
                <a:ea typeface="宋体" pitchFamily="2" charset="-122"/>
              </a:rPr>
              <a:t>Teaching format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Slides 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Examples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Exercises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Homework assignments (problems, software)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Labs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01BF-CB94-42C3-B39D-E8AB19AC5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C1F17-5FD3-4EC3-AA74-F0D43B3C7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Tests</a:t>
            </a:r>
          </a:p>
          <a:p>
            <a:pPr lvl="1"/>
            <a:r>
              <a:rPr lang="en-US"/>
              <a:t>Three tests. Each covers 1/3 of the semester.</a:t>
            </a:r>
          </a:p>
          <a:p>
            <a:pPr lvl="2"/>
            <a:r>
              <a:rPr lang="en-US"/>
              <a:t>No comprehensive test. </a:t>
            </a:r>
          </a:p>
          <a:p>
            <a:pPr marL="457200" lvl="1" indent="0">
              <a:buNone/>
            </a:pPr>
            <a:r>
              <a:rPr lang="en-US"/>
              <a:t>	</a:t>
            </a:r>
          </a:p>
          <a:p>
            <a:pPr lvl="1"/>
            <a:endParaRPr lang="en-US"/>
          </a:p>
          <a:p>
            <a:pPr lvl="1"/>
            <a:r>
              <a:rPr lang="en-US"/>
              <a:t>You can bring a double-sided equation sheet</a:t>
            </a:r>
          </a:p>
          <a:p>
            <a:pPr lvl="2"/>
            <a:r>
              <a:rPr lang="en-US"/>
              <a:t>Handwritten</a:t>
            </a:r>
          </a:p>
          <a:p>
            <a:pPr lvl="2"/>
            <a:r>
              <a:rPr lang="en-US"/>
              <a:t>Equations only</a:t>
            </a:r>
          </a:p>
          <a:p>
            <a:pPr lvl="2"/>
            <a:r>
              <a:rPr lang="en-US"/>
              <a:t>No text description</a:t>
            </a:r>
          </a:p>
          <a:p>
            <a:pPr lvl="2"/>
            <a:r>
              <a:rPr lang="en-US"/>
              <a:t>Upload the equation sheet together with your answer sheet (attach the equation sheet to the end of the test).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The questions will be very similar to examples in class or homework problems.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77F8E-2E6A-4C4A-8A78-2B6B9FA2D3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825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TENTATIVE 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479BA0-91D8-4E22-B900-80756C94A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317324"/>
              </p:ext>
            </p:extLst>
          </p:nvPr>
        </p:nvGraphicFramePr>
        <p:xfrm>
          <a:off x="685800" y="838200"/>
          <a:ext cx="7848600" cy="55626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7848600">
                  <a:extLst>
                    <a:ext uri="{9D8B030D-6E8A-4147-A177-3AD203B41FA5}">
                      <a16:colId xmlns:a16="http://schemas.microsoft.com/office/drawing/2014/main" val="4279991369"/>
                    </a:ext>
                  </a:extLst>
                </a:gridCol>
              </a:tblGrid>
              <a:tr h="5269832">
                <a:tc>
                  <a:txBody>
                    <a:bodyPr/>
                    <a:lstStyle/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1 (8/18, 8/20): Ch.1 Continuous-Time Signals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2 (8/25, 8/27): Ch. 1 Continuous-Time Signals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3 (9/1, 9/3): Ch. 2 Continuous-Time Systems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4 (9/8, 9/10): Ch. 2 Continuous-Time Systems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5 (9/15, 9/17): Ch. 2 Continuous-Time Systems 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6 (9/22, 9/24): Ch. 3 Fourier Series 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7 (9/29, 10/1): Ch. 3 Fourier Series (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Test 1 on 10/1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8 (10/6, 10/8): Ch. 3 Fourier Series 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9 (10/13, 10/15): Ch. 4 Fourier Transform 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10 (10/20, 10/22): Ch. 4 Fourier Transform (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Fall break 10/20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11 (10/27, 10/29): Ch. 4 Fourier Transform 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12 (11/3, 11/5): Ch. 5 Laplace Transform (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Test 2 on 11/6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13 (11/10, 11/12): Ch. 5 Laplace Transform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14 (11/17, 11/19): Ch. 5 Laplace Transform 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15 (11/24, 11/26): Ch. 5 Laplace Transform (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Thanksgiving 11/27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16 (12/1, 12/3): Ch. 6 Discrete-Time System (reading day: 12/4)</a:t>
                      </a:r>
                    </a:p>
                    <a:p>
                      <a:pPr marL="342900" marR="0" lvl="0" indent="-342900">
                        <a:buFont typeface="Times New Roman" panose="02020603050405020304" pitchFamily="18" charset="0"/>
                        <a:buChar char="•"/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Test 3 in final week (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 of 12/7, date and time TBD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708259"/>
                  </a:ext>
                </a:extLst>
              </a:tr>
              <a:tr h="29276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3200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8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GRADING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Grades Percentage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Test 1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	22%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Test 2			22%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Test 3			22%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Homework			14%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Lab 			15%	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Quiz		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5%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Grades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A:		90 ≤ grade ≤ 100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B:		80 ≤ grade &lt; 90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C:		70 ≤ grade &lt; 80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D:		60 ≤ grade &lt; 70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F:		0 ≤ grade &lt; 60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GRADING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Due dates for homework and lab report will be strictly enforced. Late submission 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within one week after due </a:t>
            </a:r>
            <a:r>
              <a:rPr lang="en-US" altLang="zh-CN">
                <a:ea typeface="宋体" pitchFamily="2" charset="-122"/>
              </a:rPr>
              <a:t>will receive a 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20% deduction</a:t>
            </a:r>
            <a:r>
              <a:rPr lang="en-US" altLang="zh-CN">
                <a:ea typeface="宋体" pitchFamily="2" charset="-122"/>
              </a:rPr>
              <a:t>; 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no credit if submitted one week past due</a:t>
            </a:r>
            <a:r>
              <a:rPr lang="en-US" altLang="zh-CN">
                <a:ea typeface="宋体" pitchFamily="2" charset="-122"/>
              </a:rPr>
              <a:t>.</a:t>
            </a:r>
          </a:p>
          <a:p>
            <a:pPr eaLnBrk="1" hangingPunct="1"/>
            <a:endParaRPr lang="en-US" altLang="zh-CN">
              <a:ea typeface="宋体" pitchFamily="2" charset="-122"/>
            </a:endParaRPr>
          </a:p>
          <a:p>
            <a:pPr eaLnBrk="1" hangingPunct="1"/>
            <a:r>
              <a:rPr lang="en-US" altLang="zh-CN">
                <a:ea typeface="宋体" pitchFamily="2" charset="-122"/>
              </a:rPr>
              <a:t>Homework and lab reports should be submitted directly on blackboard</a:t>
            </a:r>
          </a:p>
          <a:p>
            <a:pPr marL="0" indent="0" eaLnBrk="1" hangingPunct="1">
              <a:buNone/>
            </a:pPr>
            <a:endParaRPr lang="en-US" altLang="zh-CN">
              <a:ea typeface="宋体" pitchFamily="2" charset="-122"/>
            </a:endParaRPr>
          </a:p>
          <a:p>
            <a:pPr eaLnBrk="1" hangingPunct="1"/>
            <a:r>
              <a:rPr lang="en-US" altLang="zh-CN">
                <a:ea typeface="宋体" pitchFamily="2" charset="-122"/>
              </a:rPr>
              <a:t>There will be NO make up for quizzes.</a:t>
            </a:r>
          </a:p>
          <a:p>
            <a:pPr eaLnBrk="1" hangingPunct="1"/>
            <a:endParaRPr lang="en-US" altLang="zh-CN">
              <a:ea typeface="宋体" pitchFamily="2" charset="-122"/>
            </a:endParaRPr>
          </a:p>
          <a:p>
            <a:pPr eaLnBrk="1" hangingPunct="1"/>
            <a:r>
              <a:rPr lang="en-US" altLang="zh-CN">
                <a:ea typeface="宋体" pitchFamily="2" charset="-122"/>
              </a:rPr>
              <a:t>If for some legitimate reason (sickness, death in the family, etc.), you cannot take an exam on the scheduled day, you must notify the instructor 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prior</a:t>
            </a:r>
            <a:r>
              <a:rPr lang="en-US" altLang="zh-CN">
                <a:ea typeface="宋体" pitchFamily="2" charset="-122"/>
              </a:rPr>
              <a:t> to the exam. </a:t>
            </a:r>
          </a:p>
          <a:p>
            <a:pPr eaLnBrk="1" hangingPunct="1"/>
            <a:endParaRPr lang="en-US" altLang="zh-CN">
              <a:ea typeface="宋体" pitchFamily="2" charset="-122"/>
            </a:endParaRPr>
          </a:p>
          <a:p>
            <a:pPr eaLnBrk="1" hangingPunct="1"/>
            <a:endParaRPr lang="en-US" altLang="zh-CN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ONLINE 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Course Home Page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>
                <a:latin typeface="Times New Roman" pitchFamily="18" charset="0"/>
                <a:cs typeface="Times New Roman" pitchFamily="18" charset="0"/>
                <a:hlinkClick r:id="rId2"/>
              </a:rPr>
              <a:t>https://wuj.hosted.uark.edu/teaching/eleg3124/eleg3124.html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>
                <a:latin typeface="Times New Roman" pitchFamily="18" charset="0"/>
                <a:cs typeface="Times New Roman" pitchFamily="18" charset="0"/>
              </a:rPr>
              <a:t>All the course related materials, such as slides, homework assignments, lecture notes,</a:t>
            </a:r>
            <a:r>
              <a:rPr kumimoji="0" lang="en-US" altLang="zh-CN" sz="1800" b="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homework solutions,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links, announcements, etc., will be posted on this website.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Please check the webpage regularly (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at least once per week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 for update.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Blackboard 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>
                <a:ea typeface="宋体" pitchFamily="2" charset="-122"/>
              </a:rPr>
              <a:t>Academic Honesty</a:t>
            </a:r>
          </a:p>
          <a:p>
            <a:pPr lvl="1"/>
            <a:r>
              <a:rPr lang="en-US"/>
              <a:t>Each University of Arkansas student is required to be familiar with and abide by the University’s ‘Academic Integrity Policy’ which may be found at </a:t>
            </a:r>
            <a:r>
              <a:rPr lang="en-US">
                <a:hlinkClick r:id="rId2"/>
              </a:rPr>
              <a:t>http://provost.uark.edu/</a:t>
            </a:r>
            <a:endParaRPr lang="en-US"/>
          </a:p>
          <a:p>
            <a:pPr lvl="1" eaLnBrk="1" hangingPunct="1"/>
            <a:r>
              <a:rPr lang="en-US" altLang="zh-CN">
                <a:ea typeface="宋体" pitchFamily="2" charset="-122"/>
              </a:rPr>
              <a:t>Any kind of activities related to academic dishonesty (copying homework, lab report, code, plagiarism, etc.) will be dealt with. 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If you are not sure about plagiarism, please contact the instructor.</a:t>
            </a:r>
          </a:p>
          <a:p>
            <a:pPr eaLnBrk="1" hangingPunct="1"/>
            <a:r>
              <a:rPr lang="en-US" altLang="zh-CN">
                <a:ea typeface="宋体" pitchFamily="2" charset="-122"/>
              </a:rPr>
              <a:t>Questions are welcome in my class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You are very welcome to raise any question related to course materials.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Please feel free to stop me at any time if you have any question.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You can also ask me question via email or during office hours.</a:t>
            </a:r>
          </a:p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BE ON TIME! </a:t>
            </a:r>
          </a:p>
          <a:p>
            <a:pPr eaLnBrk="1" hangingPunct="1"/>
            <a:r>
              <a:rPr lang="en-US" altLang="zh-CN">
                <a:ea typeface="宋体" pitchFamily="2" charset="-122"/>
              </a:rPr>
              <a:t>No texting or web surfing during class.</a:t>
            </a:r>
          </a:p>
          <a:p>
            <a:pPr eaLnBrk="1" hangingPunct="1"/>
            <a:r>
              <a:rPr lang="en-US" altLang="zh-CN">
                <a:ea typeface="宋体" pitchFamily="2" charset="-122"/>
              </a:rPr>
              <a:t>Have Fun!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1030</Words>
  <Application>Microsoft Office PowerPoint</Application>
  <PresentationFormat>On-screen Show (4:3)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宋体</vt:lpstr>
      <vt:lpstr>Arial</vt:lpstr>
      <vt:lpstr>Arial Black</vt:lpstr>
      <vt:lpstr>Calibri</vt:lpstr>
      <vt:lpstr>Times New Roman</vt:lpstr>
      <vt:lpstr>Office Theme</vt:lpstr>
      <vt:lpstr>ELEG 31204 SYSTEMS AND SIGNALS  Ch. 0 Preface</vt:lpstr>
      <vt:lpstr>GENERAL INFORMATION</vt:lpstr>
      <vt:lpstr>COURSE MATERIALS</vt:lpstr>
      <vt:lpstr>COURSE INFORMATION</vt:lpstr>
      <vt:lpstr>TEST</vt:lpstr>
      <vt:lpstr>TENTATIVE SCHEDULE</vt:lpstr>
      <vt:lpstr>GRADING POLICY</vt:lpstr>
      <vt:lpstr>GRADING POLICY</vt:lpstr>
      <vt:lpstr>ONLINE RESOURCES</vt:lpstr>
      <vt:lpstr>ADDITIONAL 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1</cp:revision>
  <dcterms:created xsi:type="dcterms:W3CDTF">2006-08-16T00:00:00Z</dcterms:created>
  <dcterms:modified xsi:type="dcterms:W3CDTF">2026-08-18T17:26:05Z</dcterms:modified>
</cp:coreProperties>
</file>